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31969" autoAdjust="0"/>
  </p:normalViewPr>
  <p:slideViewPr>
    <p:cSldViewPr snapToGrid="0">
      <p:cViewPr varScale="1">
        <p:scale>
          <a:sx n="29" d="100"/>
          <a:sy n="29" d="100"/>
        </p:scale>
        <p:origin x="3164" y="40"/>
      </p:cViewPr>
      <p:guideLst/>
    </p:cSldViewPr>
  </p:slideViewPr>
  <p:notesTextViewPr>
    <p:cViewPr>
      <p:scale>
        <a:sx n="1" d="1"/>
        <a:sy n="1" d="1"/>
      </p:scale>
      <p:origin x="0" y="-24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A77C81-42E9-4F91-A8F3-DD7B1A725B9E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C3B8C-8082-4473-8897-3B8AB5081CC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13196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Hallo everyone, for those who does not know me, my name is Stefan Kodzhabashev, I am research software engineer in TPF.</a:t>
            </a:r>
          </a:p>
          <a:p>
            <a:endParaRPr lang="en-US" dirty="0"/>
          </a:p>
          <a:p>
            <a:r>
              <a:rPr lang="en-US" dirty="0"/>
              <a:t>Some of you may remember that I already gave a presentation about </a:t>
            </a:r>
            <a:r>
              <a:rPr lang="en-US" dirty="0" err="1"/>
              <a:t>SelfHelp</a:t>
            </a:r>
            <a:r>
              <a:rPr lang="en-US" dirty="0"/>
              <a:t> some years ago, I think it was in 2021.</a:t>
            </a:r>
          </a:p>
          <a:p>
            <a:endParaRPr lang="en-US" dirty="0"/>
          </a:p>
          <a:p>
            <a:r>
              <a:rPr lang="en-US" dirty="0"/>
              <a:t>At that time, the platform was much simpler. It was mainly a website builder. Today, I want to show you how it evolved, and what it is capable now.</a:t>
            </a:r>
          </a:p>
          <a:p>
            <a:endParaRPr lang="en-US" dirty="0"/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C3B8C-8082-4473-8897-3B8AB5081CC5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58969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what is </a:t>
            </a:r>
            <a:r>
              <a:rPr lang="en-US" b="1" dirty="0" err="1"/>
              <a:t>SelfHelp</a:t>
            </a:r>
            <a:r>
              <a:rPr lang="en-US" dirty="0"/>
              <a:t> today?</a:t>
            </a:r>
          </a:p>
          <a:p>
            <a:r>
              <a:rPr lang="en-US" dirty="0"/>
              <a:t>If you ask me to describe it with one sentence, I will say:</a:t>
            </a:r>
            <a:br>
              <a:rPr lang="en-US" dirty="0"/>
            </a:br>
            <a:r>
              <a:rPr lang="en-US" dirty="0"/>
              <a:t>It is a platform that connects </a:t>
            </a:r>
            <a:r>
              <a:rPr lang="en-US" b="1" dirty="0"/>
              <a:t>different digital tools</a:t>
            </a:r>
            <a:r>
              <a:rPr lang="en-US" dirty="0"/>
              <a:t> into a single </a:t>
            </a:r>
            <a:r>
              <a:rPr lang="en-US" b="1" dirty="0"/>
              <a:t>solution</a:t>
            </a:r>
            <a:r>
              <a:rPr lang="en-US" dirty="0"/>
              <a:t>.</a:t>
            </a:r>
          </a:p>
          <a:p>
            <a:r>
              <a:rPr lang="en-US" dirty="0"/>
              <a:t>In many projects, systems are fragmented:</a:t>
            </a:r>
          </a:p>
          <a:p>
            <a:pPr lvl="1"/>
            <a:r>
              <a:rPr lang="en-US" dirty="0"/>
              <a:t>👉</a:t>
            </a:r>
            <a:r>
              <a:rPr lang="en-US" dirty="0">
                <a:solidFill>
                  <a:srgbClr val="FF0000"/>
                </a:solidFill>
              </a:rPr>
              <a:t>Data</a:t>
            </a:r>
            <a:r>
              <a:rPr lang="en-US" dirty="0"/>
              <a:t> is stored in one place </a:t>
            </a:r>
          </a:p>
          <a:p>
            <a:pPr lvl="1"/>
            <a:r>
              <a:rPr lang="en-US" dirty="0"/>
              <a:t>👉</a:t>
            </a:r>
            <a:r>
              <a:rPr lang="en-US" dirty="0">
                <a:highlight>
                  <a:srgbClr val="FFFF00"/>
                </a:highlight>
              </a:rPr>
              <a:t>Content is managed in another 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👉Scheduling or randomization happens somewhere else 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👉And mobile applications are handled separately </a:t>
            </a:r>
          </a:p>
          <a:p>
            <a:r>
              <a:rPr lang="en-US" dirty="0"/>
              <a:t>As a result, everything </a:t>
            </a:r>
            <a:r>
              <a:rPr lang="en-US" b="1" dirty="0"/>
              <a:t>becomes distributed </a:t>
            </a:r>
            <a:r>
              <a:rPr lang="en-US" dirty="0"/>
              <a:t>and harder to manage.</a:t>
            </a:r>
          </a:p>
          <a:p>
            <a:r>
              <a:rPr lang="en-US" dirty="0" err="1"/>
              <a:t>SelfHelp</a:t>
            </a:r>
            <a:r>
              <a:rPr lang="en-US" dirty="0"/>
              <a:t> </a:t>
            </a:r>
            <a:r>
              <a:rPr lang="en-US" b="1" dirty="0"/>
              <a:t>addresses this </a:t>
            </a:r>
            <a:r>
              <a:rPr lang="en-US" dirty="0"/>
              <a:t>by bringing all these components together.</a:t>
            </a:r>
          </a:p>
          <a:p>
            <a:r>
              <a:rPr lang="en-US" b="1" dirty="0"/>
              <a:t>It connects:</a:t>
            </a:r>
          </a:p>
          <a:p>
            <a:pPr lvl="1"/>
            <a:r>
              <a:rPr lang="en-US" dirty="0"/>
              <a:t>👉Content </a:t>
            </a:r>
          </a:p>
          <a:p>
            <a:pPr lvl="1"/>
            <a:r>
              <a:rPr lang="en-US" dirty="0"/>
              <a:t>👉Data </a:t>
            </a:r>
          </a:p>
          <a:p>
            <a:pPr lvl="1"/>
            <a:r>
              <a:rPr lang="en-US" dirty="0"/>
              <a:t>👉Workflows </a:t>
            </a:r>
          </a:p>
          <a:p>
            <a:pPr lvl="1"/>
            <a:r>
              <a:rPr lang="en-US" dirty="0"/>
              <a:t>👉Communication </a:t>
            </a:r>
          </a:p>
          <a:p>
            <a:pPr lvl="1"/>
            <a:r>
              <a:rPr lang="en-US" dirty="0"/>
              <a:t>👉And mobile usage </a:t>
            </a:r>
          </a:p>
          <a:p>
            <a:r>
              <a:rPr lang="en-US" dirty="0"/>
              <a:t>—all within </a:t>
            </a:r>
            <a:r>
              <a:rPr lang="en-US" b="1" dirty="0"/>
              <a:t>one unified environment</a:t>
            </a:r>
            <a:r>
              <a:rPr lang="en-US" dirty="0"/>
              <a:t>.</a:t>
            </a:r>
          </a:p>
          <a:p>
            <a:r>
              <a:rPr lang="en-US" dirty="0"/>
              <a:t>Another important aspect is that the system can be installed </a:t>
            </a:r>
            <a:r>
              <a:rPr lang="en-US" b="1" dirty="0"/>
              <a:t>locally within the university infrastructure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This means </a:t>
            </a:r>
            <a:r>
              <a:rPr lang="en-US" b="1" dirty="0"/>
              <a:t>full control </a:t>
            </a:r>
            <a:r>
              <a:rPr lang="en-US" dirty="0"/>
              <a:t>over both the data and the system itself.</a:t>
            </a:r>
          </a:p>
          <a:p>
            <a:r>
              <a:rPr lang="en-US" dirty="0"/>
              <a:t>So in summary:</a:t>
            </a:r>
          </a:p>
          <a:p>
            <a:r>
              <a:rPr lang="en-US" dirty="0"/>
              <a:t>👉 </a:t>
            </a:r>
            <a:r>
              <a:rPr lang="en-US" dirty="0" err="1"/>
              <a:t>SelfHelp</a:t>
            </a:r>
            <a:r>
              <a:rPr lang="en-US" dirty="0"/>
              <a:t> connects </a:t>
            </a:r>
            <a:r>
              <a:rPr lang="en-US" b="1" dirty="0"/>
              <a:t>different digital needs </a:t>
            </a:r>
            <a:r>
              <a:rPr lang="en-US" dirty="0"/>
              <a:t>into </a:t>
            </a:r>
            <a:r>
              <a:rPr lang="en-US" b="1" dirty="0"/>
              <a:t>one integrated system</a:t>
            </a:r>
            <a:r>
              <a:rPr lang="en-US" dirty="0"/>
              <a:t>—and removes the fragmentation we often see in projects.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C3B8C-8082-4473-8897-3B8AB5081CC5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361663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we look back to</a:t>
            </a:r>
            <a:r>
              <a:rPr lang="en-US" b="1" dirty="0"/>
              <a:t> 2021</a:t>
            </a:r>
            <a:r>
              <a:rPr lang="en-US" dirty="0"/>
              <a:t>, when I first presented </a:t>
            </a:r>
            <a:r>
              <a:rPr lang="en-US" dirty="0" err="1"/>
              <a:t>SelfHelp</a:t>
            </a:r>
            <a:r>
              <a:rPr lang="en-US" dirty="0"/>
              <a:t>, it was mostly a </a:t>
            </a:r>
            <a:r>
              <a:rPr lang="en-US" b="1" dirty="0"/>
              <a:t>website builder</a:t>
            </a:r>
            <a:r>
              <a:rPr lang="en-US" dirty="0"/>
              <a:t>. The focus was clearly on </a:t>
            </a:r>
            <a:r>
              <a:rPr lang="en-US" b="1" dirty="0"/>
              <a:t>content and page building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After that, the system slowly became </a:t>
            </a:r>
            <a:r>
              <a:rPr lang="en-US" b="1" dirty="0"/>
              <a:t>more flexible</a:t>
            </a:r>
            <a:r>
              <a:rPr lang="en-US" dirty="0"/>
              <a:t>. We added </a:t>
            </a:r>
            <a:r>
              <a:rPr lang="en-US" b="1" dirty="0"/>
              <a:t>modular pages</a:t>
            </a:r>
            <a:r>
              <a:rPr lang="en-US" dirty="0"/>
              <a:t>, </a:t>
            </a:r>
            <a:r>
              <a:rPr lang="en-US" b="1" dirty="0"/>
              <a:t>scheduling</a:t>
            </a:r>
            <a:r>
              <a:rPr lang="en-US" dirty="0"/>
              <a:t>, and </a:t>
            </a:r>
            <a:r>
              <a:rPr lang="en-US" b="1" dirty="0"/>
              <a:t>mobile support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Then later, we continued adding </a:t>
            </a:r>
            <a:r>
              <a:rPr lang="en-US" b="1" dirty="0"/>
              <a:t>new features</a:t>
            </a:r>
            <a:r>
              <a:rPr lang="en-US" dirty="0"/>
              <a:t>, but also focused on improving </a:t>
            </a:r>
            <a:r>
              <a:rPr lang="en-US" b="1" dirty="0"/>
              <a:t>how data is managed in the backend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Most of these improvements are </a:t>
            </a:r>
            <a:r>
              <a:rPr lang="en-US" b="1" dirty="0"/>
              <a:t>not directly visible to users</a:t>
            </a:r>
            <a:r>
              <a:rPr lang="en-US" dirty="0"/>
              <a:t>, but they were essential. We generalized and refined many core components to make the system more </a:t>
            </a:r>
            <a:r>
              <a:rPr lang="en-US" b="1" dirty="0"/>
              <a:t>flexible and easier to extend </a:t>
            </a:r>
            <a:r>
              <a:rPr lang="en-US" dirty="0"/>
              <a:t>in the future.</a:t>
            </a:r>
          </a:p>
          <a:p>
            <a:endParaRPr lang="en-US" dirty="0"/>
          </a:p>
          <a:p>
            <a:r>
              <a:rPr lang="en-US" dirty="0"/>
              <a:t>Our </a:t>
            </a:r>
            <a:r>
              <a:rPr lang="en-US" b="1" dirty="0"/>
              <a:t>latest step </a:t>
            </a:r>
            <a:r>
              <a:rPr lang="en-US" dirty="0"/>
              <a:t>was the integration of </a:t>
            </a:r>
            <a:r>
              <a:rPr lang="en-US" b="1" dirty="0"/>
              <a:t>AI support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However, this is </a:t>
            </a:r>
            <a:r>
              <a:rPr lang="en-US" b="1" dirty="0"/>
              <a:t>not just a simple chatbot</a:t>
            </a:r>
            <a:r>
              <a:rPr lang="en-US" dirty="0"/>
              <a:t>. It is implemented in </a:t>
            </a:r>
            <a:r>
              <a:rPr lang="en-US" b="1" dirty="0"/>
              <a:t>a structured, controlled, and testable way</a:t>
            </a:r>
            <a:r>
              <a:rPr lang="en-US" dirty="0"/>
              <a:t>—as I will show later.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C3B8C-8082-4473-8897-3B8AB5081CC5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12826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</a:t>
            </a:r>
            <a:r>
              <a:rPr lang="en-US" b="1" dirty="0"/>
              <a:t>, what can you actually do </a:t>
            </a:r>
            <a:r>
              <a:rPr lang="en-US" dirty="0"/>
              <a:t>with </a:t>
            </a:r>
            <a:r>
              <a:rPr lang="en-US" b="0" dirty="0" err="1"/>
              <a:t>SelfHelp</a:t>
            </a:r>
            <a:r>
              <a:rPr lang="en-US" dirty="0"/>
              <a:t>?</a:t>
            </a:r>
          </a:p>
          <a:p>
            <a:r>
              <a:rPr lang="en-US" dirty="0"/>
              <a:t>If you run a study, a course, or any kind of guided digital program, </a:t>
            </a:r>
            <a:r>
              <a:rPr lang="en-US" b="1" dirty="0"/>
              <a:t>a single page or form is usually not enough</a:t>
            </a:r>
            <a:r>
              <a:rPr lang="en-US" dirty="0"/>
              <a:t>.</a:t>
            </a:r>
          </a:p>
          <a:p>
            <a:r>
              <a:rPr lang="en-US" dirty="0"/>
              <a:t>What you really need is a </a:t>
            </a:r>
            <a:r>
              <a:rPr lang="en-US" b="1" dirty="0"/>
              <a:t>continuous process</a:t>
            </a:r>
            <a:r>
              <a:rPr lang="en-US" dirty="0"/>
              <a:t>.</a:t>
            </a:r>
          </a:p>
          <a:p>
            <a:r>
              <a:rPr lang="en-US" dirty="0"/>
              <a:t>For example, you might want to:</a:t>
            </a:r>
          </a:p>
          <a:p>
            <a:pPr lvl="1"/>
            <a:r>
              <a:rPr lang="en-US" dirty="0"/>
              <a:t>👉 Guide users into a program </a:t>
            </a:r>
          </a:p>
          <a:p>
            <a:pPr lvl="1"/>
            <a:r>
              <a:rPr lang="en-US" dirty="0"/>
              <a:t>👉 </a:t>
            </a:r>
            <a:r>
              <a:rPr lang="en-US" dirty="0" err="1"/>
              <a:t>Radnomize</a:t>
            </a:r>
            <a:r>
              <a:rPr lang="en-US" dirty="0"/>
              <a:t> them in groups</a:t>
            </a:r>
          </a:p>
          <a:p>
            <a:pPr lvl="1"/>
            <a:r>
              <a:rPr lang="en-US" dirty="0"/>
              <a:t>👉 Schedule multiple time points</a:t>
            </a:r>
          </a:p>
          <a:p>
            <a:pPr lvl="1"/>
            <a:r>
              <a:rPr lang="en-US" dirty="0"/>
              <a:t>👉 Collect data at these multiple time points </a:t>
            </a:r>
          </a:p>
          <a:p>
            <a:pPr lvl="1"/>
            <a:r>
              <a:rPr lang="en-US" dirty="0"/>
              <a:t>👉 Send notifications and reminders </a:t>
            </a:r>
          </a:p>
          <a:p>
            <a:pPr lvl="1"/>
            <a:r>
              <a:rPr lang="en-US" dirty="0"/>
              <a:t>👉 Assign users to different conditions </a:t>
            </a:r>
          </a:p>
          <a:p>
            <a:pPr lvl="1"/>
            <a:r>
              <a:rPr lang="en-US" dirty="0"/>
              <a:t>👉 Adapt what they see based on their responses </a:t>
            </a:r>
          </a:p>
          <a:p>
            <a:pPr lvl="1"/>
            <a:r>
              <a:rPr lang="en-US" dirty="0"/>
              <a:t>👉 And follow up over time </a:t>
            </a:r>
          </a:p>
          <a:p>
            <a:pPr lvl="1"/>
            <a:r>
              <a:rPr lang="en-US" dirty="0"/>
              <a:t>👉 You also want this experience to work seamlessly across web and mobile.</a:t>
            </a:r>
          </a:p>
          <a:p>
            <a:r>
              <a:rPr lang="en-US" dirty="0"/>
              <a:t>This is exactly what </a:t>
            </a:r>
            <a:r>
              <a:rPr lang="en-US" b="1" dirty="0" err="1"/>
              <a:t>SelfHelp</a:t>
            </a:r>
            <a:r>
              <a:rPr lang="en-US" b="1" dirty="0"/>
              <a:t> enables.</a:t>
            </a:r>
          </a:p>
          <a:p>
            <a:r>
              <a:rPr lang="en-US" dirty="0"/>
              <a:t>So the key idea is:</a:t>
            </a:r>
          </a:p>
          <a:p>
            <a:r>
              <a:rPr lang="en-US" dirty="0"/>
              <a:t>👉 </a:t>
            </a:r>
            <a:r>
              <a:rPr lang="en-US" dirty="0" err="1"/>
              <a:t>SelfHelp</a:t>
            </a:r>
            <a:r>
              <a:rPr lang="en-US" dirty="0"/>
              <a:t> doesn’t just support </a:t>
            </a:r>
            <a:r>
              <a:rPr lang="en-US" b="1" dirty="0"/>
              <a:t>individual interactions</a:t>
            </a:r>
            <a:br>
              <a:rPr lang="en-US" dirty="0"/>
            </a:br>
            <a:r>
              <a:rPr lang="en-US" dirty="0"/>
              <a:t>👉 It supports </a:t>
            </a:r>
            <a:r>
              <a:rPr lang="en-US" b="1" dirty="0"/>
              <a:t>structured, long-term processes from start to finish</a:t>
            </a:r>
            <a:r>
              <a:rPr lang="en-US" dirty="0"/>
              <a:t>.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C3B8C-8082-4473-8897-3B8AB5081CC5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52500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you’ve seen, the platform </a:t>
            </a:r>
            <a:r>
              <a:rPr lang="en-US" b="1" dirty="0"/>
              <a:t>has grown </a:t>
            </a:r>
            <a:r>
              <a:rPr lang="en-US" dirty="0"/>
              <a:t>a lot over the years.</a:t>
            </a:r>
          </a:p>
          <a:p>
            <a:r>
              <a:rPr lang="en-US" dirty="0"/>
              <a:t>So it became very important for us to </a:t>
            </a:r>
            <a:r>
              <a:rPr lang="en-US" b="1" dirty="0"/>
              <a:t>keep it maintainable</a:t>
            </a:r>
            <a:r>
              <a:rPr lang="en-US" dirty="0"/>
              <a:t>—and also </a:t>
            </a:r>
            <a:r>
              <a:rPr lang="en-US" b="1" dirty="0"/>
              <a:t>lightweight when deployed on servers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Not every project </a:t>
            </a:r>
            <a:r>
              <a:rPr lang="en-US" dirty="0"/>
              <a:t>needs all features.</a:t>
            </a:r>
          </a:p>
          <a:p>
            <a:r>
              <a:rPr lang="en-US" dirty="0"/>
              <a:t>That’s why we introduced a </a:t>
            </a:r>
            <a:r>
              <a:rPr lang="en-US" b="1" dirty="0"/>
              <a:t>plugin system</a:t>
            </a:r>
            <a:r>
              <a:rPr lang="en-US" dirty="0"/>
              <a:t>.</a:t>
            </a:r>
          </a:p>
          <a:p>
            <a:r>
              <a:rPr lang="en-US" dirty="0"/>
              <a:t>The idea is simple:</a:t>
            </a:r>
            <a:br>
              <a:rPr lang="en-US" dirty="0"/>
            </a:br>
            <a:r>
              <a:rPr lang="en-US" dirty="0"/>
              <a:t>Any functionality that doesn’t belong to the core system is </a:t>
            </a:r>
            <a:r>
              <a:rPr lang="en-US" b="1" dirty="0"/>
              <a:t>added as a plugin</a:t>
            </a:r>
            <a:r>
              <a:rPr lang="en-US" dirty="0"/>
              <a:t>.</a:t>
            </a:r>
          </a:p>
          <a:p>
            <a:r>
              <a:rPr lang="en-US" dirty="0"/>
              <a:t>This has </a:t>
            </a:r>
            <a:r>
              <a:rPr lang="en-US" b="1" dirty="0"/>
              <a:t>two main advantages.</a:t>
            </a:r>
          </a:p>
          <a:p>
            <a:pPr lvl="1"/>
            <a:r>
              <a:rPr lang="en-US" dirty="0"/>
              <a:t>👉First, from a </a:t>
            </a:r>
            <a:r>
              <a:rPr lang="en-US" b="1" dirty="0"/>
              <a:t>development perspective</a:t>
            </a:r>
            <a:r>
              <a:rPr lang="en-US" dirty="0"/>
              <a:t>, it keeps the </a:t>
            </a:r>
            <a:r>
              <a:rPr lang="en-US" b="1" dirty="0"/>
              <a:t>code cleaner, better organized, and easier to maintain.</a:t>
            </a:r>
          </a:p>
          <a:p>
            <a:pPr lvl="1"/>
            <a:r>
              <a:rPr lang="en-US" dirty="0"/>
              <a:t>👉Second, from a </a:t>
            </a:r>
            <a:r>
              <a:rPr lang="en-US" b="1" dirty="0"/>
              <a:t>deployment perspective</a:t>
            </a:r>
            <a:r>
              <a:rPr lang="en-US" dirty="0"/>
              <a:t>, it keeps the </a:t>
            </a:r>
            <a:r>
              <a:rPr lang="en-US" b="1" dirty="0"/>
              <a:t>system lightweight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If a project doesn’t need certain features, they simply don’t have to be installed.</a:t>
            </a:r>
          </a:p>
          <a:p>
            <a:r>
              <a:rPr lang="en-US" dirty="0"/>
              <a:t>We already</a:t>
            </a:r>
            <a:r>
              <a:rPr lang="en-US" b="1" dirty="0"/>
              <a:t> developed several plugins</a:t>
            </a:r>
            <a:r>
              <a:rPr lang="en-US" dirty="0"/>
              <a:t>, for example:</a:t>
            </a:r>
          </a:p>
          <a:p>
            <a:pPr lvl="1"/>
            <a:r>
              <a:rPr lang="en-US" dirty="0"/>
              <a:t>👉External authentication </a:t>
            </a:r>
          </a:p>
          <a:p>
            <a:pPr lvl="1"/>
            <a:r>
              <a:rPr lang="en-US" dirty="0"/>
              <a:t>👉Lab.js integration </a:t>
            </a:r>
          </a:p>
          <a:p>
            <a:pPr lvl="1"/>
            <a:r>
              <a:rPr lang="en-US" dirty="0"/>
              <a:t>👉R integration </a:t>
            </a:r>
          </a:p>
          <a:p>
            <a:pPr lvl="1"/>
            <a:r>
              <a:rPr lang="en-US" dirty="0"/>
              <a:t>👉Custom formulas </a:t>
            </a:r>
          </a:p>
          <a:p>
            <a:pPr lvl="1"/>
            <a:r>
              <a:rPr lang="en-US" dirty="0"/>
              <a:t>👉API import and export </a:t>
            </a:r>
          </a:p>
          <a:p>
            <a:pPr lvl="1"/>
            <a:r>
              <a:rPr lang="en-US" dirty="0"/>
              <a:t>👉Plotly.js – library for graphs</a:t>
            </a:r>
          </a:p>
          <a:p>
            <a:r>
              <a:rPr lang="en-US" dirty="0"/>
              <a:t>In the next slides, I’ll focus on </a:t>
            </a:r>
            <a:r>
              <a:rPr lang="en-US" b="1" dirty="0"/>
              <a:t>three specific plugins:</a:t>
            </a:r>
            <a:br>
              <a:rPr lang="en-US" dirty="0"/>
            </a:br>
            <a:r>
              <a:rPr lang="en-US" dirty="0" err="1"/>
              <a:t>SurveyJS</a:t>
            </a:r>
            <a:r>
              <a:rPr lang="en-US" dirty="0"/>
              <a:t>, LLM, and the LLM Therapy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C3B8C-8082-4473-8897-3B8AB5081CC5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47094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plugin I want to talk about is </a:t>
            </a:r>
            <a:r>
              <a:rPr lang="en-US" b="1" dirty="0" err="1"/>
              <a:t>SurveyJS</a:t>
            </a:r>
            <a:r>
              <a:rPr lang="en-US" dirty="0"/>
              <a:t>.</a:t>
            </a:r>
            <a:br>
              <a:rPr lang="en-US" dirty="0"/>
            </a:br>
            <a:r>
              <a:rPr lang="en-US" b="1" dirty="0"/>
              <a:t>The idea is very simple</a:t>
            </a:r>
            <a:r>
              <a:rPr lang="en-US" dirty="0"/>
              <a:t>: we can </a:t>
            </a:r>
            <a:r>
              <a:rPr lang="en-US" b="1" dirty="0"/>
              <a:t>design and manage surveys </a:t>
            </a:r>
            <a:r>
              <a:rPr lang="en-US" dirty="0"/>
              <a:t>directly inside our platform.</a:t>
            </a:r>
          </a:p>
          <a:p>
            <a:r>
              <a:rPr lang="en-US" dirty="0"/>
              <a:t>That means </a:t>
            </a:r>
            <a:r>
              <a:rPr lang="en-US" b="1" dirty="0"/>
              <a:t>we can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👉Create surveys </a:t>
            </a:r>
          </a:p>
          <a:p>
            <a:pPr lvl="1"/>
            <a:r>
              <a:rPr lang="en-US" dirty="0"/>
              <a:t>👉Store and version them </a:t>
            </a:r>
          </a:p>
          <a:p>
            <a:pPr lvl="1"/>
            <a:r>
              <a:rPr lang="en-US" dirty="0"/>
              <a:t>👉And publish them when they’re ready </a:t>
            </a:r>
          </a:p>
          <a:p>
            <a:r>
              <a:rPr lang="en-US" dirty="0"/>
              <a:t>Once published, these surveys can </a:t>
            </a:r>
            <a:r>
              <a:rPr lang="en-US" b="1" dirty="0"/>
              <a:t>be used directly in the system</a:t>
            </a:r>
            <a:r>
              <a:rPr lang="en-US" dirty="0"/>
              <a:t>—without relying on external tools.</a:t>
            </a:r>
          </a:p>
          <a:p>
            <a:r>
              <a:rPr lang="en-US" dirty="0"/>
              <a:t>All collected </a:t>
            </a:r>
            <a:r>
              <a:rPr lang="en-US" b="1" dirty="0"/>
              <a:t>data is immediately available </a:t>
            </a:r>
            <a:r>
              <a:rPr lang="en-US" dirty="0"/>
              <a:t>and can </a:t>
            </a:r>
            <a:r>
              <a:rPr lang="en-US" b="1" dirty="0"/>
              <a:t>be reused </a:t>
            </a:r>
            <a:r>
              <a:rPr lang="en-US" dirty="0"/>
              <a:t>across the platform.</a:t>
            </a:r>
            <a:br>
              <a:rPr lang="en-US" dirty="0"/>
            </a:br>
            <a:r>
              <a:rPr lang="en-US" dirty="0"/>
              <a:t>For </a:t>
            </a:r>
            <a:r>
              <a:rPr lang="en-US" b="1" dirty="0"/>
              <a:t>example</a:t>
            </a:r>
            <a:r>
              <a:rPr lang="en-US" dirty="0"/>
              <a:t>, we can:</a:t>
            </a:r>
          </a:p>
          <a:p>
            <a:pPr lvl="1"/>
            <a:r>
              <a:rPr lang="en-US" dirty="0"/>
              <a:t>👉Adapt future surveys dynamically </a:t>
            </a:r>
          </a:p>
          <a:p>
            <a:pPr lvl="1"/>
            <a:r>
              <a:rPr lang="en-US" dirty="0"/>
              <a:t>👉Show feedback to users </a:t>
            </a:r>
          </a:p>
          <a:p>
            <a:pPr lvl="1"/>
            <a:r>
              <a:rPr lang="en-US" dirty="0"/>
              <a:t>👉Or visualize results with graphs </a:t>
            </a:r>
          </a:p>
          <a:p>
            <a:r>
              <a:rPr lang="en-US" dirty="0"/>
              <a:t>We also have </a:t>
            </a:r>
            <a:r>
              <a:rPr lang="en-US" b="1" dirty="0"/>
              <a:t>full control</a:t>
            </a:r>
            <a:r>
              <a:rPr lang="en-US" dirty="0"/>
              <a:t> over how surveys are delivered.</a:t>
            </a:r>
          </a:p>
          <a:p>
            <a:r>
              <a:rPr lang="en-US" dirty="0"/>
              <a:t>We can </a:t>
            </a:r>
            <a:r>
              <a:rPr lang="en-US" b="1" dirty="0"/>
              <a:t>define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👉Whether a survey is shown once per user or maybe once per session</a:t>
            </a:r>
          </a:p>
          <a:p>
            <a:pPr lvl="1"/>
            <a:r>
              <a:rPr lang="en-US" dirty="0"/>
              <a:t>👉Time restrictions, like specific hours </a:t>
            </a:r>
          </a:p>
          <a:p>
            <a:pPr lvl="1"/>
            <a:r>
              <a:rPr lang="en-US" dirty="0"/>
              <a:t>👉Or expiration rules </a:t>
            </a:r>
          </a:p>
          <a:p>
            <a:r>
              <a:rPr lang="en-US" dirty="0"/>
              <a:t>Another important feature is support for </a:t>
            </a:r>
            <a:r>
              <a:rPr lang="en-US" b="1" dirty="0"/>
              <a:t>rich input.</a:t>
            </a:r>
            <a:br>
              <a:rPr lang="en-US" dirty="0"/>
            </a:br>
            <a:r>
              <a:rPr lang="en-US" dirty="0"/>
              <a:t>Users can </a:t>
            </a:r>
            <a:r>
              <a:rPr lang="en-US" b="1" dirty="0"/>
              <a:t>upload images, audio, or other files</a:t>
            </a:r>
            <a:r>
              <a:rPr lang="en-US" dirty="0"/>
              <a:t>, which allows for more </a:t>
            </a:r>
            <a:r>
              <a:rPr lang="en-US" b="1" dirty="0"/>
              <a:t>specialized use cases</a:t>
            </a:r>
            <a:r>
              <a:rPr lang="en-US" dirty="0"/>
              <a:t>.</a:t>
            </a:r>
          </a:p>
          <a:p>
            <a:r>
              <a:rPr lang="en-US" dirty="0"/>
              <a:t>In addition to the responses, we also collect </a:t>
            </a:r>
            <a:r>
              <a:rPr lang="en-US" b="1" dirty="0"/>
              <a:t>detailed metadata</a:t>
            </a:r>
            <a:r>
              <a:rPr lang="en-US" dirty="0"/>
              <a:t>.</a:t>
            </a:r>
          </a:p>
          <a:p>
            <a:r>
              <a:rPr lang="en-US" dirty="0"/>
              <a:t>So we don’t just see the </a:t>
            </a:r>
            <a:r>
              <a:rPr lang="en-US" b="1" dirty="0"/>
              <a:t>final answers</a:t>
            </a:r>
            <a:r>
              <a:rPr lang="en-US" dirty="0"/>
              <a:t>—we also know:</a:t>
            </a:r>
          </a:p>
          <a:p>
            <a:pPr lvl="1"/>
            <a:r>
              <a:rPr lang="en-US" dirty="0"/>
              <a:t>👉When the survey was started and completed </a:t>
            </a:r>
          </a:p>
          <a:p>
            <a:pPr lvl="1"/>
            <a:r>
              <a:rPr lang="en-US" dirty="0"/>
              <a:t>👉How much time was spent </a:t>
            </a:r>
          </a:p>
          <a:p>
            <a:pPr lvl="1"/>
            <a:r>
              <a:rPr lang="en-US" dirty="0"/>
              <a:t>👉And how users moved through it </a:t>
            </a:r>
          </a:p>
          <a:p>
            <a:r>
              <a:rPr lang="en-US" dirty="0"/>
              <a:t>This gives us much deeper insight into user behavior.</a:t>
            </a:r>
          </a:p>
          <a:p>
            <a:r>
              <a:rPr lang="en-US" i="1" dirty="0"/>
              <a:t>If you compare this to tools like </a:t>
            </a:r>
            <a:r>
              <a:rPr lang="en-US" b="1" i="1" dirty="0"/>
              <a:t>Qualtrics or </a:t>
            </a:r>
            <a:r>
              <a:rPr lang="en-US" b="1" i="1" dirty="0" err="1"/>
              <a:t>REDCap</a:t>
            </a:r>
            <a:r>
              <a:rPr lang="en-US" i="1" dirty="0"/>
              <a:t>, the key </a:t>
            </a:r>
            <a:r>
              <a:rPr lang="en-US" b="1" i="1" dirty="0"/>
              <a:t>difference is integration</a:t>
            </a:r>
            <a:r>
              <a:rPr lang="en-US" i="1" dirty="0"/>
              <a:t>.</a:t>
            </a:r>
          </a:p>
          <a:p>
            <a:r>
              <a:rPr lang="en-US" i="1" dirty="0"/>
              <a:t>Instead of connecting multiple platforms, everything is </a:t>
            </a:r>
            <a:r>
              <a:rPr lang="en-US" b="1" i="1" dirty="0"/>
              <a:t>built directly into our CMS.</a:t>
            </a:r>
          </a:p>
          <a:p>
            <a:r>
              <a:rPr lang="en-US" dirty="0"/>
              <a:t>As a </a:t>
            </a:r>
            <a:r>
              <a:rPr lang="en-US"/>
              <a:t>summary we </a:t>
            </a:r>
            <a:r>
              <a:rPr lang="en-US" dirty="0"/>
              <a:t>don’t just use surveys—we </a:t>
            </a:r>
            <a:r>
              <a:rPr lang="en-US" b="1" dirty="0"/>
              <a:t>fully integrate them into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C3B8C-8082-4473-8897-3B8AB5081CC5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4694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plugin I want to present is the </a:t>
            </a:r>
            <a:r>
              <a:rPr lang="en-US" b="1" dirty="0"/>
              <a:t>LLM plugin</a:t>
            </a:r>
            <a:r>
              <a:rPr lang="en-US" dirty="0"/>
              <a:t>.</a:t>
            </a:r>
          </a:p>
          <a:p>
            <a:r>
              <a:rPr lang="en-US" dirty="0"/>
              <a:t>I assume most of you already know what an LLM is, so the interesting part here is not the general idea of AI—but how we actually use it </a:t>
            </a:r>
            <a:r>
              <a:rPr lang="en-US" b="1" dirty="0"/>
              <a:t>in our system</a:t>
            </a:r>
            <a:r>
              <a:rPr lang="en-US" dirty="0"/>
              <a:t>.</a:t>
            </a:r>
          </a:p>
          <a:p>
            <a:r>
              <a:rPr lang="en-US" dirty="0"/>
              <a:t>One important thing to understand is that </a:t>
            </a:r>
            <a:r>
              <a:rPr lang="en-US" b="1" dirty="0"/>
              <a:t>AI can be unpredictable… a bit random</a:t>
            </a:r>
            <a:r>
              <a:rPr lang="en-US" dirty="0"/>
              <a:t>. So the key question is: how do we make it behave in a </a:t>
            </a:r>
            <a:r>
              <a:rPr lang="en-US" b="1" dirty="0"/>
              <a:t>more controlled and reliable way</a:t>
            </a:r>
            <a:r>
              <a:rPr lang="en-US" dirty="0"/>
              <a:t>?</a:t>
            </a:r>
          </a:p>
          <a:p>
            <a:r>
              <a:rPr lang="en-US" dirty="0"/>
              <a:t>This is where </a:t>
            </a:r>
            <a:r>
              <a:rPr lang="en-US" b="1" dirty="0"/>
              <a:t>prompts</a:t>
            </a:r>
            <a:r>
              <a:rPr lang="en-US" dirty="0"/>
              <a:t> and </a:t>
            </a:r>
            <a:r>
              <a:rPr lang="en-US" b="1" dirty="0"/>
              <a:t>context</a:t>
            </a:r>
            <a:r>
              <a:rPr lang="en-US" dirty="0"/>
              <a:t> come in.</a:t>
            </a:r>
          </a:p>
          <a:p>
            <a:r>
              <a:rPr lang="en-US" dirty="0"/>
              <a:t>A prompt is simply </a:t>
            </a:r>
            <a:r>
              <a:rPr lang="en-US" b="1" dirty="0"/>
              <a:t>the instruction we give </a:t>
            </a:r>
            <a:r>
              <a:rPr lang="en-US" dirty="0"/>
              <a:t>to the AI—it defines the task. For </a:t>
            </a:r>
            <a:r>
              <a:rPr lang="en-US" b="1" dirty="0"/>
              <a:t>example</a:t>
            </a:r>
            <a:r>
              <a:rPr lang="en-US" dirty="0"/>
              <a:t>: </a:t>
            </a:r>
            <a:r>
              <a:rPr lang="en-US" i="1" dirty="0"/>
              <a:t>‘Explain depression.’</a:t>
            </a:r>
            <a:endParaRPr lang="en-US" dirty="0"/>
          </a:p>
          <a:p>
            <a:r>
              <a:rPr lang="en-US" dirty="0"/>
              <a:t>But the </a:t>
            </a:r>
            <a:r>
              <a:rPr lang="en-US" b="1" dirty="0"/>
              <a:t>prompt alone is not enough.</a:t>
            </a:r>
          </a:p>
          <a:p>
            <a:r>
              <a:rPr lang="en-US" dirty="0"/>
              <a:t>We also need </a:t>
            </a:r>
            <a:r>
              <a:rPr lang="en-US" b="1" dirty="0"/>
              <a:t>context</a:t>
            </a:r>
            <a:r>
              <a:rPr lang="en-US" dirty="0"/>
              <a:t>, which defines the situation or the audience.</a:t>
            </a:r>
          </a:p>
          <a:p>
            <a:r>
              <a:rPr lang="en-US" dirty="0"/>
              <a:t>For example, we could say:</a:t>
            </a:r>
          </a:p>
          <a:p>
            <a:pPr lvl="1"/>
            <a:r>
              <a:rPr lang="en-US" dirty="0"/>
              <a:t>👉“You are a professor teaching students” </a:t>
            </a:r>
          </a:p>
          <a:p>
            <a:pPr lvl="1"/>
            <a:r>
              <a:rPr lang="en-US" dirty="0"/>
              <a:t>👉Or: “You are a therapist talking to a patient” </a:t>
            </a:r>
          </a:p>
          <a:p>
            <a:r>
              <a:rPr lang="en-US" dirty="0"/>
              <a:t>Even though the prompt </a:t>
            </a:r>
            <a:r>
              <a:rPr lang="en-US" b="1" dirty="0"/>
              <a:t>stays the same</a:t>
            </a:r>
            <a:r>
              <a:rPr lang="en-US" dirty="0"/>
              <a:t>, the result </a:t>
            </a:r>
            <a:r>
              <a:rPr lang="en-US" b="1" dirty="0"/>
              <a:t>will be very different</a:t>
            </a:r>
            <a:r>
              <a:rPr lang="en-US" dirty="0"/>
              <a:t>.</a:t>
            </a:r>
          </a:p>
          <a:p>
            <a:r>
              <a:rPr lang="en-US" dirty="0"/>
              <a:t>In one case, the explanation will be </a:t>
            </a:r>
            <a:r>
              <a:rPr lang="en-US" b="1" dirty="0"/>
              <a:t>more academic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In the other, it will </a:t>
            </a:r>
            <a:r>
              <a:rPr lang="en-US" b="1" dirty="0"/>
              <a:t>be simpler </a:t>
            </a:r>
            <a:r>
              <a:rPr lang="en-US" dirty="0"/>
              <a:t>and more empathetic.</a:t>
            </a:r>
          </a:p>
          <a:p>
            <a:pPr lvl="0"/>
            <a:r>
              <a:rPr lang="en-US" dirty="0"/>
              <a:t>So in simple terms:</a:t>
            </a:r>
            <a:br>
              <a:rPr lang="en-US" dirty="0"/>
            </a:br>
            <a:r>
              <a:rPr lang="en-US" dirty="0"/>
              <a:t>👉 </a:t>
            </a:r>
            <a:r>
              <a:rPr lang="en-US" b="1" dirty="0"/>
              <a:t>The prompt defines </a:t>
            </a:r>
            <a:r>
              <a:rPr lang="en-US" b="1" i="1" dirty="0"/>
              <a:t>what</a:t>
            </a:r>
            <a:r>
              <a:rPr lang="en-US" b="1" dirty="0"/>
              <a:t> we want</a:t>
            </a:r>
            <a:br>
              <a:rPr lang="en-US" dirty="0"/>
            </a:br>
            <a:r>
              <a:rPr lang="en-US" dirty="0"/>
              <a:t>👉 </a:t>
            </a:r>
            <a:r>
              <a:rPr lang="en-US" b="1" dirty="0"/>
              <a:t>The context defines </a:t>
            </a:r>
            <a:r>
              <a:rPr lang="en-US" b="1" i="1" dirty="0"/>
              <a:t>how</a:t>
            </a:r>
            <a:r>
              <a:rPr lang="en-US" b="1" dirty="0"/>
              <a:t> it should be delivered</a:t>
            </a:r>
          </a:p>
          <a:p>
            <a:r>
              <a:rPr lang="en-US" dirty="0"/>
              <a:t>And together, they </a:t>
            </a:r>
            <a:r>
              <a:rPr lang="en-US" b="1" dirty="0"/>
              <a:t>shape the final result.</a:t>
            </a:r>
          </a:p>
          <a:p>
            <a:r>
              <a:rPr lang="en-US" dirty="0"/>
              <a:t>To make this more reliable, we introduced a </a:t>
            </a:r>
            <a:r>
              <a:rPr lang="en-US" b="1" dirty="0"/>
              <a:t>prompt management system</a:t>
            </a:r>
            <a:r>
              <a:rPr lang="en-US" dirty="0"/>
              <a:t>.</a:t>
            </a:r>
          </a:p>
          <a:p>
            <a:r>
              <a:rPr lang="en-US" dirty="0"/>
              <a:t>With </a:t>
            </a:r>
            <a:r>
              <a:rPr lang="en-US" b="1" dirty="0"/>
              <a:t>this system, we can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👉Store and version prompts and contexts </a:t>
            </a:r>
          </a:p>
          <a:p>
            <a:pPr lvl="1"/>
            <a:r>
              <a:rPr lang="en-US" dirty="0"/>
              <a:t>👉Test them in a playground </a:t>
            </a:r>
          </a:p>
          <a:p>
            <a:pPr lvl="1"/>
            <a:r>
              <a:rPr lang="en-US" dirty="0"/>
              <a:t>👉Run them across different modules </a:t>
            </a:r>
          </a:p>
          <a:p>
            <a:pPr lvl="1"/>
            <a:r>
              <a:rPr lang="en-US" dirty="0"/>
              <a:t>👉Create datasets to evaluate responses </a:t>
            </a:r>
          </a:p>
          <a:p>
            <a:pPr lvl="1"/>
            <a:r>
              <a:rPr lang="en-US" dirty="0"/>
              <a:t>👉And continuously refine everything based on results </a:t>
            </a:r>
          </a:p>
          <a:p>
            <a:r>
              <a:rPr lang="en-US" dirty="0"/>
              <a:t>This allows us to systematically </a:t>
            </a:r>
            <a:r>
              <a:rPr lang="en-US" b="1" dirty="0"/>
              <a:t>improve how the AI behaves in our platform.</a:t>
            </a:r>
          </a:p>
          <a:p>
            <a:r>
              <a:rPr lang="en-US" dirty="0"/>
              <a:t>So in the end, this is </a:t>
            </a:r>
            <a:r>
              <a:rPr lang="en-US" b="1" dirty="0"/>
              <a:t>not just a simple chatbot. </a:t>
            </a:r>
            <a:r>
              <a:rPr lang="en-US" dirty="0"/>
              <a:t>It’s a </a:t>
            </a:r>
            <a:r>
              <a:rPr lang="en-US" b="1" dirty="0"/>
              <a:t>controlled and evolving system </a:t>
            </a:r>
            <a:r>
              <a:rPr lang="en-US" dirty="0"/>
              <a:t>for working with LLMs.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C3B8C-8082-4473-8897-3B8AB5081CC5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875628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plugin I want to show in more detail is the </a:t>
            </a:r>
            <a:r>
              <a:rPr lang="en-US" b="1" dirty="0"/>
              <a:t>LLM therapy chat</a:t>
            </a:r>
            <a:r>
              <a:rPr lang="en-US" dirty="0"/>
              <a:t>.</a:t>
            </a:r>
          </a:p>
          <a:p>
            <a:r>
              <a:rPr lang="en-US" dirty="0"/>
              <a:t>This plugin </a:t>
            </a:r>
            <a:r>
              <a:rPr lang="en-US" b="1" dirty="0"/>
              <a:t>combines AI-supported communication with human supervision </a:t>
            </a:r>
            <a:r>
              <a:rPr lang="en-US" dirty="0"/>
              <a:t>in a single framework.</a:t>
            </a:r>
          </a:p>
          <a:p>
            <a:r>
              <a:rPr lang="en-US" dirty="0"/>
              <a:t>From the </a:t>
            </a:r>
            <a:r>
              <a:rPr lang="en-US" b="1" dirty="0"/>
              <a:t>user’s perspective</a:t>
            </a:r>
            <a:r>
              <a:rPr lang="en-US" dirty="0"/>
              <a:t>, the experience is very simple.</a:t>
            </a:r>
            <a:br>
              <a:rPr lang="en-US" dirty="0"/>
            </a:br>
            <a:r>
              <a:rPr lang="en-US" dirty="0"/>
              <a:t>They interact through a </a:t>
            </a:r>
            <a:r>
              <a:rPr lang="en-US" b="1" dirty="0"/>
              <a:t>chat interface </a:t>
            </a:r>
            <a:r>
              <a:rPr lang="en-US" dirty="0"/>
              <a:t>and always know whether they are speaking with the AI or with a therapist.</a:t>
            </a:r>
          </a:p>
          <a:p>
            <a:pPr lvl="1"/>
            <a:r>
              <a:rPr lang="en-US" dirty="0"/>
              <a:t>👉If they message the AI, they get an immediate response </a:t>
            </a:r>
          </a:p>
          <a:p>
            <a:pPr lvl="1"/>
            <a:r>
              <a:rPr lang="en-US" dirty="0"/>
              <a:t>👉If they message the therapist, they wait for a human reply </a:t>
            </a:r>
          </a:p>
          <a:p>
            <a:r>
              <a:rPr lang="en-US" dirty="0"/>
              <a:t>On the professional side, we provide a dedicated </a:t>
            </a:r>
            <a:r>
              <a:rPr lang="en-US" b="1" dirty="0"/>
              <a:t>therapist dashboard</a:t>
            </a:r>
            <a:r>
              <a:rPr lang="en-US" dirty="0"/>
              <a:t>.</a:t>
            </a:r>
          </a:p>
          <a:p>
            <a:r>
              <a:rPr lang="en-US" dirty="0"/>
              <a:t>From there, therapists can:</a:t>
            </a:r>
          </a:p>
          <a:p>
            <a:pPr lvl="1"/>
            <a:r>
              <a:rPr lang="en-US" dirty="0"/>
              <a:t>👉 Monitor conversations in real time </a:t>
            </a:r>
          </a:p>
          <a:p>
            <a:pPr lvl="1"/>
            <a:r>
              <a:rPr lang="en-US" dirty="0"/>
              <a:t>👉 Receive alerts in critical situations </a:t>
            </a:r>
          </a:p>
          <a:p>
            <a:pPr lvl="1"/>
            <a:r>
              <a:rPr lang="en-US" dirty="0"/>
              <a:t>👉 Prepare draft responses </a:t>
            </a:r>
          </a:p>
          <a:p>
            <a:pPr lvl="1"/>
            <a:r>
              <a:rPr lang="en-US" dirty="0"/>
              <a:t>👉 And step into the conversation whenever needed </a:t>
            </a:r>
          </a:p>
          <a:p>
            <a:pPr lvl="1"/>
            <a:r>
              <a:rPr lang="en-US" dirty="0"/>
              <a:t>👉 they can communicate with the patient from the dashboard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👉 </a:t>
            </a:r>
            <a:r>
              <a:rPr lang="en-US" b="1" dirty="0"/>
              <a:t>Read summaries and write notes </a:t>
            </a:r>
            <a:r>
              <a:rPr lang="en-US" dirty="0"/>
              <a:t>(Here I want to add some remark and relate it to the </a:t>
            </a:r>
            <a:r>
              <a:rPr lang="en-US" b="1" dirty="0"/>
              <a:t>context that I explained in the previous slide</a:t>
            </a:r>
            <a:r>
              <a:rPr lang="en-US" dirty="0"/>
              <a:t>. These notes can also be used as additional </a:t>
            </a:r>
            <a:r>
              <a:rPr lang="en-US" b="1" dirty="0"/>
              <a:t>context</a:t>
            </a:r>
            <a:r>
              <a:rPr lang="en-US" dirty="0"/>
              <a:t> for the AI, helping to </a:t>
            </a:r>
            <a:r>
              <a:rPr lang="en-US" b="1" dirty="0"/>
              <a:t>improve the relevance and quality </a:t>
            </a:r>
            <a:r>
              <a:rPr lang="en-US" dirty="0"/>
              <a:t>of responses over time.)</a:t>
            </a:r>
          </a:p>
          <a:p>
            <a:r>
              <a:rPr lang="en-US" dirty="0"/>
              <a:t>The same system can run in a </a:t>
            </a:r>
            <a:r>
              <a:rPr lang="en-US" b="1" dirty="0"/>
              <a:t>human-only mode</a:t>
            </a:r>
            <a:r>
              <a:rPr lang="en-US" dirty="0"/>
              <a:t>, which allows us to compare different communication setups in a controlled way—for example, AI-assisted versus fully human interaction.</a:t>
            </a:r>
          </a:p>
          <a:p>
            <a:r>
              <a:rPr lang="en-US" dirty="0"/>
              <a:t>We also </a:t>
            </a:r>
            <a:r>
              <a:rPr lang="en-US" b="1" dirty="0"/>
              <a:t>implemented several safety features:</a:t>
            </a:r>
          </a:p>
          <a:p>
            <a:pPr lvl="1"/>
            <a:r>
              <a:rPr lang="en-US" dirty="0"/>
              <a:t>👉Risk detection and alerts </a:t>
            </a:r>
          </a:p>
          <a:p>
            <a:pPr lvl="1"/>
            <a:r>
              <a:rPr lang="en-US" dirty="0"/>
              <a:t>👉The ability to pause AI responses </a:t>
            </a:r>
          </a:p>
          <a:p>
            <a:pPr lvl="1"/>
            <a:r>
              <a:rPr lang="en-US" dirty="0"/>
              <a:t>👉Switching to human-only mode when needed </a:t>
            </a:r>
          </a:p>
          <a:p>
            <a:pPr lvl="1"/>
            <a:r>
              <a:rPr lang="en-US" dirty="0"/>
              <a:t>👉And notifications for both therapists and users </a:t>
            </a:r>
          </a:p>
          <a:p>
            <a:r>
              <a:rPr lang="en-US" dirty="0"/>
              <a:t>So the key point is:</a:t>
            </a:r>
          </a:p>
          <a:p>
            <a:pPr lvl="1"/>
            <a:r>
              <a:rPr lang="en-US" dirty="0"/>
              <a:t>👉 This is not just a chat system</a:t>
            </a:r>
            <a:br>
              <a:rPr lang="en-US" dirty="0"/>
            </a:br>
            <a:r>
              <a:rPr lang="en-US" dirty="0"/>
              <a:t>👉 It’s a structured communication environment with supervision, safety, and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C3B8C-8082-4473-8897-3B8AB5081CC5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507909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Another important part of </a:t>
            </a:r>
            <a:r>
              <a:rPr lang="en-US" dirty="0" err="1"/>
              <a:t>SelfHelp</a:t>
            </a:r>
            <a:r>
              <a:rPr lang="en-US" dirty="0"/>
              <a:t> is the </a:t>
            </a:r>
            <a:r>
              <a:rPr lang="en-US" b="1" dirty="0"/>
              <a:t>mobile application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This is important because </a:t>
            </a:r>
            <a:r>
              <a:rPr lang="en-US" b="1" dirty="0"/>
              <a:t>many research studies</a:t>
            </a:r>
            <a:r>
              <a:rPr lang="en-US" dirty="0"/>
              <a:t> don’t work well </a:t>
            </a:r>
            <a:r>
              <a:rPr lang="en-US" b="1" dirty="0"/>
              <a:t>as purely desktop or web-based solutions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That creates </a:t>
            </a:r>
            <a:r>
              <a:rPr lang="en-US" b="1" dirty="0"/>
              <a:t>limitations</a:t>
            </a:r>
            <a:r>
              <a:rPr lang="en-US" dirty="0"/>
              <a:t>—especially when we want to </a:t>
            </a:r>
            <a:r>
              <a:rPr lang="en-US" b="1" dirty="0"/>
              <a:t>reach people in their everyday lives</a:t>
            </a:r>
            <a:r>
              <a:rPr lang="en-US" dirty="0"/>
              <a:t>.</a:t>
            </a:r>
          </a:p>
          <a:p>
            <a:r>
              <a:rPr lang="en-US" dirty="0"/>
              <a:t>In many cases, we’re </a:t>
            </a:r>
            <a:r>
              <a:rPr lang="en-US" b="1" dirty="0"/>
              <a:t>targeting users with busy lifestyles</a:t>
            </a:r>
            <a:r>
              <a:rPr lang="en-US" dirty="0"/>
              <a:t>—people who are </a:t>
            </a:r>
            <a:r>
              <a:rPr lang="en-US" b="1" dirty="0"/>
              <a:t>not sitting in front of a computer</a:t>
            </a:r>
            <a:r>
              <a:rPr lang="en-US" dirty="0"/>
              <a:t> all day.</a:t>
            </a:r>
          </a:p>
          <a:p>
            <a:r>
              <a:rPr lang="en-US" dirty="0"/>
              <a:t>And this is where </a:t>
            </a:r>
            <a:r>
              <a:rPr lang="en-US" b="1" dirty="0"/>
              <a:t>the mobile app comes in.</a:t>
            </a:r>
          </a:p>
          <a:p>
            <a:r>
              <a:rPr lang="en-US" dirty="0"/>
              <a:t>It allows us to bring the same program </a:t>
            </a:r>
            <a:r>
              <a:rPr lang="en-US" b="1" dirty="0"/>
              <a:t>directly onto the phone.</a:t>
            </a:r>
            <a:br>
              <a:rPr lang="en-US" dirty="0"/>
            </a:br>
            <a:r>
              <a:rPr lang="en-US" dirty="0"/>
              <a:t>Everything designed on the web is </a:t>
            </a:r>
            <a:r>
              <a:rPr lang="en-US" b="1" dirty="0"/>
              <a:t>also available in a native mobile </a:t>
            </a:r>
            <a:r>
              <a:rPr lang="en-US" dirty="0"/>
              <a:t>application.</a:t>
            </a:r>
          </a:p>
          <a:p>
            <a:r>
              <a:rPr lang="en-US" dirty="0"/>
              <a:t>On top of that, we can use mobile-specific features—like </a:t>
            </a:r>
            <a:r>
              <a:rPr lang="en-US" b="1" dirty="0"/>
              <a:t>push notifications</a:t>
            </a:r>
            <a:r>
              <a:rPr lang="en-US" dirty="0"/>
              <a:t>.</a:t>
            </a:r>
          </a:p>
          <a:p>
            <a:r>
              <a:rPr lang="en-US" dirty="0"/>
              <a:t>This makes the system </a:t>
            </a:r>
            <a:r>
              <a:rPr lang="en-US" b="1" dirty="0"/>
              <a:t>much more present in everyday life.</a:t>
            </a:r>
          </a:p>
          <a:p>
            <a:r>
              <a:rPr lang="en-US" dirty="0"/>
              <a:t>It’s no longer something users open </a:t>
            </a:r>
            <a:r>
              <a:rPr lang="en-US" b="1" dirty="0"/>
              <a:t>occasionally on a website</a:t>
            </a:r>
            <a:r>
              <a:rPr lang="en-US" dirty="0"/>
              <a:t>— it becomes </a:t>
            </a:r>
            <a:r>
              <a:rPr lang="en-US" b="1" dirty="0"/>
              <a:t>part of an ongoing process.</a:t>
            </a:r>
          </a:p>
          <a:p>
            <a:r>
              <a:rPr lang="en-US" dirty="0"/>
              <a:t>And this has a </a:t>
            </a:r>
            <a:r>
              <a:rPr lang="en-US" b="1" dirty="0"/>
              <a:t>clear impact.</a:t>
            </a:r>
          </a:p>
          <a:p>
            <a:r>
              <a:rPr lang="en-US" b="1" dirty="0"/>
              <a:t>Mobile access</a:t>
            </a:r>
            <a:r>
              <a:rPr lang="en-US" dirty="0"/>
              <a:t>, especially </a:t>
            </a:r>
            <a:r>
              <a:rPr lang="en-US" b="1" dirty="0"/>
              <a:t>combined with push notifications</a:t>
            </a:r>
            <a:r>
              <a:rPr lang="en-US" dirty="0"/>
              <a:t>, significantly </a:t>
            </a:r>
            <a:r>
              <a:rPr lang="en-US" b="1" dirty="0"/>
              <a:t>increases engagement.</a:t>
            </a:r>
            <a:br>
              <a:rPr lang="en-US" b="1" dirty="0"/>
            </a:br>
            <a:r>
              <a:rPr lang="en-US" dirty="0"/>
              <a:t>When users are </a:t>
            </a:r>
            <a:r>
              <a:rPr lang="en-US" b="1" dirty="0"/>
              <a:t>reminded at the right moment </a:t>
            </a:r>
            <a:r>
              <a:rPr lang="en-US" dirty="0"/>
              <a:t>and </a:t>
            </a:r>
            <a:r>
              <a:rPr lang="en-US" b="1" dirty="0"/>
              <a:t>can respond immediately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they are much more likely to </a:t>
            </a:r>
            <a:r>
              <a:rPr lang="en-US" b="1" dirty="0"/>
              <a:t>stay active and continue using the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C3B8C-8082-4473-8897-3B8AB5081CC5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253533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we compare </a:t>
            </a:r>
            <a:r>
              <a:rPr lang="en-US" b="1" dirty="0" err="1"/>
              <a:t>SelfHelp</a:t>
            </a:r>
            <a:r>
              <a:rPr lang="en-US" dirty="0"/>
              <a:t> to other systems, it’s important to be fair.</a:t>
            </a:r>
          </a:p>
          <a:p>
            <a:r>
              <a:rPr lang="en-US" dirty="0"/>
              <a:t>There are several strong open-source tools, such as </a:t>
            </a:r>
            <a:r>
              <a:rPr lang="en-US" dirty="0" err="1"/>
              <a:t>LimeSurvey</a:t>
            </a:r>
            <a:r>
              <a:rPr lang="en-US" dirty="0"/>
              <a:t>, JATOS, </a:t>
            </a:r>
            <a:r>
              <a:rPr lang="en-US" dirty="0" err="1"/>
              <a:t>formr</a:t>
            </a:r>
            <a:r>
              <a:rPr lang="en-US" dirty="0"/>
              <a:t>, or Moodle.</a:t>
            </a:r>
          </a:p>
          <a:p>
            <a:r>
              <a:rPr lang="en-US" dirty="0"/>
              <a:t>Each of these systems is excellent in its own area:</a:t>
            </a:r>
          </a:p>
          <a:p>
            <a:pPr lvl="1"/>
            <a:r>
              <a:rPr lang="en-US" dirty="0"/>
              <a:t>👉JATOS and </a:t>
            </a:r>
            <a:r>
              <a:rPr lang="en-US" dirty="0" err="1"/>
              <a:t>formr</a:t>
            </a:r>
            <a:r>
              <a:rPr lang="en-US" dirty="0"/>
              <a:t> are very strong for online studies </a:t>
            </a:r>
          </a:p>
          <a:p>
            <a:pPr lvl="1"/>
            <a:r>
              <a:rPr lang="en-US" dirty="0"/>
              <a:t>👉</a:t>
            </a:r>
            <a:r>
              <a:rPr lang="en-US" dirty="0" err="1"/>
              <a:t>LimeSurvey</a:t>
            </a:r>
            <a:r>
              <a:rPr lang="en-US" dirty="0"/>
              <a:t> is specialized in surveys </a:t>
            </a:r>
          </a:p>
          <a:p>
            <a:pPr lvl="1"/>
            <a:r>
              <a:rPr lang="en-US" dirty="0"/>
              <a:t>👉Moodle is designed for learning environments </a:t>
            </a:r>
          </a:p>
          <a:p>
            <a:r>
              <a:rPr lang="en-US" dirty="0"/>
              <a:t>What makes </a:t>
            </a:r>
            <a:r>
              <a:rPr lang="en-US" b="1" dirty="0" err="1"/>
              <a:t>SelfHelp</a:t>
            </a:r>
            <a:r>
              <a:rPr lang="en-US" dirty="0"/>
              <a:t> different is not that it replaces these tools.</a:t>
            </a:r>
          </a:p>
          <a:p>
            <a:r>
              <a:rPr lang="en-US" dirty="0"/>
              <a:t>The real strength lies in the </a:t>
            </a:r>
            <a:r>
              <a:rPr lang="en-US" b="1" dirty="0"/>
              <a:t>connection between all components</a:t>
            </a:r>
            <a:r>
              <a:rPr lang="en-US" dirty="0"/>
              <a:t>.</a:t>
            </a:r>
          </a:p>
          <a:p>
            <a:r>
              <a:rPr lang="en-US" dirty="0" err="1"/>
              <a:t>SelfHelp</a:t>
            </a:r>
            <a:r>
              <a:rPr lang="en-US" dirty="0"/>
              <a:t> </a:t>
            </a:r>
            <a:r>
              <a:rPr lang="en-US" b="1" dirty="0"/>
              <a:t>brings together:</a:t>
            </a:r>
          </a:p>
          <a:p>
            <a:pPr lvl="1"/>
            <a:r>
              <a:rPr lang="en-US" dirty="0"/>
              <a:t>👉Surveys </a:t>
            </a:r>
          </a:p>
          <a:p>
            <a:pPr lvl="1"/>
            <a:r>
              <a:rPr lang="en-US" dirty="0"/>
              <a:t>👉Workflows and follow-up processes </a:t>
            </a:r>
          </a:p>
          <a:p>
            <a:pPr lvl="1"/>
            <a:r>
              <a:rPr lang="en-US" dirty="0"/>
              <a:t>👉Mobile usage </a:t>
            </a:r>
          </a:p>
          <a:p>
            <a:pPr lvl="1"/>
            <a:r>
              <a:rPr lang="en-US" dirty="0"/>
              <a:t>👉And AI-supported features </a:t>
            </a:r>
          </a:p>
          <a:p>
            <a:r>
              <a:rPr lang="en-US" dirty="0"/>
              <a:t>—</a:t>
            </a:r>
            <a:r>
              <a:rPr lang="en-US" b="1" dirty="0"/>
              <a:t>all within a single platform.</a:t>
            </a:r>
          </a:p>
          <a:p>
            <a:r>
              <a:rPr lang="en-US" dirty="0"/>
              <a:t>So if someone </a:t>
            </a:r>
            <a:r>
              <a:rPr lang="en-US" b="1" dirty="0"/>
              <a:t>only needs one specific function</a:t>
            </a:r>
            <a:r>
              <a:rPr lang="en-US" dirty="0"/>
              <a:t>, a specialized tool might be the better choice.</a:t>
            </a:r>
          </a:p>
          <a:p>
            <a:r>
              <a:rPr lang="en-US" dirty="0"/>
              <a:t>But if someone is looking for an integrated, </a:t>
            </a:r>
            <a:r>
              <a:rPr lang="en-US" b="1" dirty="0"/>
              <a:t>end-to-end solution</a:t>
            </a:r>
            <a:r>
              <a:rPr lang="en-US" dirty="0"/>
              <a:t>, then </a:t>
            </a:r>
            <a:r>
              <a:rPr lang="en-US" dirty="0" err="1"/>
              <a:t>SelfHelp</a:t>
            </a:r>
            <a:r>
              <a:rPr lang="en-US" dirty="0"/>
              <a:t> really </a:t>
            </a:r>
            <a:r>
              <a:rPr lang="en-US" b="1" dirty="0"/>
              <a:t>stand outs.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C3B8C-8082-4473-8897-3B8AB5081CC5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032610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why use </a:t>
            </a:r>
            <a:r>
              <a:rPr lang="en-US" b="1" dirty="0" err="1"/>
              <a:t>SelfHelp</a:t>
            </a:r>
            <a:r>
              <a:rPr lang="en-US" dirty="0"/>
              <a:t>?</a:t>
            </a:r>
          </a:p>
          <a:p>
            <a:r>
              <a:rPr lang="en-US" dirty="0"/>
              <a:t>The biggest reason is </a:t>
            </a:r>
            <a:r>
              <a:rPr lang="en-US" b="1" dirty="0"/>
              <a:t>integration</a:t>
            </a:r>
            <a:r>
              <a:rPr lang="en-US" dirty="0"/>
              <a:t>.</a:t>
            </a:r>
          </a:p>
          <a:p>
            <a:r>
              <a:rPr lang="en-US" dirty="0"/>
              <a:t>Instead of </a:t>
            </a:r>
            <a:r>
              <a:rPr lang="en-US" b="1" dirty="0"/>
              <a:t>splitting your work </a:t>
            </a:r>
            <a:r>
              <a:rPr lang="en-US" dirty="0"/>
              <a:t>across multiple tools, everything is combined in </a:t>
            </a:r>
            <a:r>
              <a:rPr lang="en-US" b="1" dirty="0"/>
              <a:t>a single platform.</a:t>
            </a:r>
          </a:p>
          <a:p>
            <a:r>
              <a:rPr lang="en-US" dirty="0"/>
              <a:t>You can manage:</a:t>
            </a:r>
          </a:p>
          <a:p>
            <a:pPr lvl="1"/>
            <a:r>
              <a:rPr lang="en-US" dirty="0"/>
              <a:t>👉Data </a:t>
            </a:r>
          </a:p>
          <a:p>
            <a:pPr lvl="1"/>
            <a:r>
              <a:rPr lang="en-US" dirty="0"/>
              <a:t>👉Content </a:t>
            </a:r>
          </a:p>
          <a:p>
            <a:pPr lvl="1"/>
            <a:r>
              <a:rPr lang="en-US" dirty="0"/>
              <a:t>👉Logic and workflows </a:t>
            </a:r>
          </a:p>
          <a:p>
            <a:pPr lvl="1"/>
            <a:r>
              <a:rPr lang="en-US" dirty="0"/>
              <a:t>👉Scheduling and randomization </a:t>
            </a:r>
          </a:p>
          <a:p>
            <a:pPr lvl="1"/>
            <a:r>
              <a:rPr lang="en-US" dirty="0"/>
              <a:t>👉Mobile usage </a:t>
            </a:r>
          </a:p>
          <a:p>
            <a:pPr lvl="1"/>
            <a:r>
              <a:rPr lang="en-US" dirty="0"/>
              <a:t>👉And AI features </a:t>
            </a:r>
          </a:p>
          <a:p>
            <a:r>
              <a:rPr lang="en-US" b="1" dirty="0"/>
              <a:t>—all in one place</a:t>
            </a:r>
            <a:r>
              <a:rPr lang="en-US" dirty="0"/>
              <a:t>. All in the University servers</a:t>
            </a:r>
          </a:p>
          <a:p>
            <a:r>
              <a:rPr lang="en-US" dirty="0"/>
              <a:t>At the same time, the system is </a:t>
            </a:r>
            <a:r>
              <a:rPr lang="en-US" b="1" dirty="0"/>
              <a:t>continuously evolving </a:t>
            </a:r>
            <a:r>
              <a:rPr lang="en-US" dirty="0"/>
              <a:t>as we’ve already seen.</a:t>
            </a:r>
          </a:p>
          <a:p>
            <a:r>
              <a:rPr lang="en-US" dirty="0"/>
              <a:t>We are currently developing </a:t>
            </a:r>
            <a:r>
              <a:rPr lang="en-US" b="1" dirty="0" err="1"/>
              <a:t>SelfHelp</a:t>
            </a:r>
            <a:r>
              <a:rPr lang="en-US" b="1" dirty="0"/>
              <a:t> 2</a:t>
            </a:r>
            <a:r>
              <a:rPr lang="en-US" dirty="0"/>
              <a:t>, a completely redesigned platform.</a:t>
            </a:r>
            <a:br>
              <a:rPr lang="en-US" dirty="0"/>
            </a:br>
            <a:r>
              <a:rPr lang="en-US" dirty="0"/>
              <a:t>It is built to </a:t>
            </a:r>
            <a:r>
              <a:rPr lang="en-US" b="1" dirty="0"/>
              <a:t>be more structured, easier to extend, and simpler to work with.</a:t>
            </a:r>
          </a:p>
          <a:p>
            <a:r>
              <a:rPr lang="en-US" dirty="0"/>
              <a:t>One particularly promising feature is </a:t>
            </a:r>
            <a:r>
              <a:rPr lang="en-US" b="1" dirty="0"/>
              <a:t>AI-supported content creation</a:t>
            </a:r>
            <a:r>
              <a:rPr lang="en-US" dirty="0"/>
              <a:t>.</a:t>
            </a:r>
          </a:p>
          <a:p>
            <a:r>
              <a:rPr lang="en-US" dirty="0"/>
              <a:t>This will </a:t>
            </a:r>
            <a:r>
              <a:rPr lang="en-US" b="1" dirty="0"/>
              <a:t>allow teams to create content </a:t>
            </a:r>
            <a:r>
              <a:rPr lang="en-US" dirty="0"/>
              <a:t>for web and mobile much faster.</a:t>
            </a:r>
            <a:br>
              <a:rPr lang="en-US" dirty="0"/>
            </a:br>
            <a:r>
              <a:rPr lang="en-US" dirty="0"/>
              <a:t>And the </a:t>
            </a:r>
            <a:r>
              <a:rPr lang="en-US" b="1" dirty="0"/>
              <a:t>time saved</a:t>
            </a:r>
            <a:r>
              <a:rPr lang="en-US" dirty="0"/>
              <a:t> </a:t>
            </a:r>
            <a:r>
              <a:rPr lang="en-US" b="1" dirty="0"/>
              <a:t>can be reinvested </a:t>
            </a:r>
            <a:r>
              <a:rPr lang="en-US" dirty="0"/>
              <a:t>into what really matters:</a:t>
            </a:r>
          </a:p>
          <a:p>
            <a:pPr lvl="1"/>
            <a:r>
              <a:rPr lang="en-US" dirty="0"/>
              <a:t>👉</a:t>
            </a:r>
            <a:r>
              <a:rPr lang="en-US" b="0" dirty="0"/>
              <a:t>Improving study quality </a:t>
            </a:r>
          </a:p>
          <a:p>
            <a:pPr lvl="1"/>
            <a:r>
              <a:rPr lang="en-US" dirty="0"/>
              <a:t>👉And refining study design </a:t>
            </a:r>
          </a:p>
          <a:p>
            <a:r>
              <a:rPr lang="en-US" dirty="0"/>
              <a:t>So the </a:t>
            </a:r>
            <a:r>
              <a:rPr lang="en-US" b="1" dirty="0"/>
              <a:t>key message </a:t>
            </a:r>
            <a:r>
              <a:rPr lang="en-US" dirty="0"/>
              <a:t>is:</a:t>
            </a:r>
          </a:p>
          <a:p>
            <a:pPr lvl="1"/>
            <a:r>
              <a:rPr lang="en-US" dirty="0"/>
              <a:t>👉 </a:t>
            </a:r>
            <a:r>
              <a:rPr lang="en-US" dirty="0" err="1"/>
              <a:t>SelfHelp</a:t>
            </a:r>
            <a:r>
              <a:rPr lang="en-US" dirty="0"/>
              <a:t> moves us away from </a:t>
            </a:r>
            <a:r>
              <a:rPr lang="en-US" b="1" dirty="0"/>
              <a:t>isolated digital tools</a:t>
            </a:r>
            <a:br>
              <a:rPr lang="en-US" dirty="0"/>
            </a:br>
            <a:r>
              <a:rPr lang="en-US" dirty="0"/>
              <a:t>👉 toward a </a:t>
            </a:r>
            <a:r>
              <a:rPr lang="en-US" b="1" dirty="0"/>
              <a:t>single, integrated platform for research.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C3B8C-8082-4473-8897-3B8AB5081CC5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388290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but not least, I would like to thank </a:t>
            </a:r>
            <a:r>
              <a:rPr lang="en-US" b="1" dirty="0"/>
              <a:t>Thomas Ber</a:t>
            </a:r>
            <a:r>
              <a:rPr lang="en-US" dirty="0"/>
              <a:t>ger and his group, as well as </a:t>
            </a:r>
            <a:r>
              <a:rPr lang="en-US" b="1" dirty="0"/>
              <a:t>Tina Hascher </a:t>
            </a:r>
            <a:r>
              <a:rPr lang="en-US" dirty="0"/>
              <a:t>and her team, for the great collaboration on the LLM plugin implementations.</a:t>
            </a:r>
          </a:p>
          <a:p>
            <a:endParaRPr lang="en-US" dirty="0"/>
          </a:p>
          <a:p>
            <a:r>
              <a:rPr lang="en-US" dirty="0"/>
              <a:t>I would also like </a:t>
            </a:r>
            <a:r>
              <a:rPr lang="en-US" b="1" dirty="0"/>
              <a:t>to highlight</a:t>
            </a:r>
            <a:r>
              <a:rPr lang="en-US" dirty="0"/>
              <a:t> that all of this is </a:t>
            </a:r>
            <a:r>
              <a:rPr lang="en-US" b="1" dirty="0"/>
              <a:t>made possible </a:t>
            </a:r>
            <a:r>
              <a:rPr lang="en-US" dirty="0"/>
              <a:t>by the local LLM infrastructure, which </a:t>
            </a:r>
            <a:r>
              <a:rPr lang="en-US" b="1" dirty="0"/>
              <a:t>is currently being developed </a:t>
            </a:r>
            <a:r>
              <a:rPr lang="en-US" dirty="0"/>
              <a:t>by the </a:t>
            </a:r>
            <a:r>
              <a:rPr lang="en-US" dirty="0" err="1"/>
              <a:t>Informatikdienste</a:t>
            </a:r>
            <a:r>
              <a:rPr lang="en-US" dirty="0"/>
              <a:t> at the university.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And if you see value in this direction, I will really encourage you to support ID with a short letter of support so that this local LLM service can </a:t>
            </a:r>
            <a:r>
              <a:rPr lang="en-US" b="1" dirty="0"/>
              <a:t>become a permanent university service.</a:t>
            </a:r>
          </a:p>
          <a:p>
            <a:endParaRPr lang="en-US" dirty="0"/>
          </a:p>
          <a:p>
            <a:r>
              <a:rPr lang="en-US" dirty="0"/>
              <a:t>Thank you very much for your attention.</a:t>
            </a:r>
          </a:p>
          <a:p>
            <a:endParaRPr lang="en-US" dirty="0"/>
          </a:p>
          <a:p>
            <a:r>
              <a:rPr lang="en-US" dirty="0"/>
              <a:t>I will be happy to answer questions, and also happy to talk afterwards if someone wants </a:t>
            </a:r>
            <a:r>
              <a:rPr lang="en-US" b="1" dirty="0"/>
              <a:t>to discuss ideas in more detail.</a:t>
            </a:r>
          </a:p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6C3B8C-8082-4473-8897-3B8AB5081CC5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67421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4BD2B-564D-7321-4513-33BF1035F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6B8C13-7303-9F41-E728-847A2B4A18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9600A-197E-5476-92C3-C8B6B06FB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A5CE0-F7C1-476F-AF9B-2B5B68296F02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AB0124-2852-A409-0AE0-BC89AE7D1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E46550-72EB-E51B-48C8-AD71092A6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96EF-1120-4097-84F2-2B2FFA8889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84925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43BA0-ACE2-F91C-A44E-D3262AD4A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52BCAD-A142-0E3E-A2E3-306F299F2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5E3344-F657-1E2C-0CF0-413133A3C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A5CE0-F7C1-476F-AF9B-2B5B68296F02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1BEDC-B964-3E09-A973-CAAE9B2D4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C75246-5DAC-837D-5E7B-15D0B3EAF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96EF-1120-4097-84F2-2B2FFA8889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67367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BA262-F1CB-6663-49E8-8A01801C4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AD4C48-4BEA-7A7B-BECF-E2DB9DC37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FC7F8-5F75-F0E7-DD31-85BA4A956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A5CE0-F7C1-476F-AF9B-2B5B68296F02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396AF-4658-5B42-2D46-38790618D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6B349-45AC-CBDD-ADE6-5C9E99A9D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96EF-1120-4097-84F2-2B2FFA8889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5409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61CEB-16E0-B73B-5DD7-CCE85C1FB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92C4A-7813-DB8A-0BC6-7C3D9E1E96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322AA-32C1-5395-3445-66CEFEEFDF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397118-61D4-B4AF-B44C-E538B2A77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A5CE0-F7C1-476F-AF9B-2B5B68296F02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DF358B-3DF4-2150-0B53-1793EF46B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A8A3CC-F0D1-C0BE-DCE3-C2D06FCC0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96EF-1120-4097-84F2-2B2FFA8889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25770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798B6-9C6C-0B3A-266B-7DB06B356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5A700E-76F2-BD48-A759-4703CA310F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4B8655-0974-4588-6E36-1628AD0962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37CABC-7D3A-62C3-DB71-DA9E71111B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EB86A-1608-A0BD-A914-23E5CE1F4B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418443-9821-8B97-3594-8135CD546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A5CE0-F7C1-476F-AF9B-2B5B68296F02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1295B-0BF8-CC84-CC6F-BE24C60F1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2AD039-7323-0B9B-9188-EDAB5CF9B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96EF-1120-4097-84F2-2B2FFA8889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7795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070B4-11C9-4B93-1CA1-68311C53D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2B3754-B160-F29F-75A2-D076F63FE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A5CE0-F7C1-476F-AF9B-2B5B68296F02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15F8A2-9963-69BF-255D-48BD84CFE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52753A-DEBE-A150-4F2A-960E2B307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96EF-1120-4097-84F2-2B2FFA8889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33871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C486DB-74FD-7F3C-2F20-B3FB06A94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A5CE0-F7C1-476F-AF9B-2B5B68296F02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4EC45-089C-D4CD-BA58-43D997088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B437A-5408-5345-76A6-3D8477BB1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96EF-1120-4097-84F2-2B2FFA8889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11300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7A5A1-C03F-47A0-4F17-1A7C58515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48AFD5-D3DC-C532-8950-5532A791A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8A7B9C-5836-ACF7-DC74-9CF87D44F8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AB4402-81EB-E05B-94E5-EC738925E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A5CE0-F7C1-476F-AF9B-2B5B68296F02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79AA6-8908-9B6A-393F-6D8342AA0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27223B-B920-0B67-0C0E-A9A86CCC6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96EF-1120-4097-84F2-2B2FFA8889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56735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2A81A-B4F1-2F09-3878-8DA0BC1E8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43B25-1ACE-BEEB-FCEF-68506D38F4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73F3F-1405-82B7-49E7-6AC6ECC384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5B862-1476-BACD-ECB9-57CDB5CA2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A5CE0-F7C1-476F-AF9B-2B5B68296F02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7CD3F1-BD5E-4C5B-2F28-0D8E5CA3C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02C2DE-CBB3-3C7C-D169-16FCC274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96EF-1120-4097-84F2-2B2FFA8889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3607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60056-EADE-562F-6D1C-D4113696F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3348CE-AE19-8B56-3930-43DBCEF70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5993FD-ACE7-8F52-7625-0BE5E17FD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A5CE0-F7C1-476F-AF9B-2B5B68296F02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A314B-A41F-47DA-DB34-FB6CC7512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04AE90-8EC2-2393-29EA-7411AA4D7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96EF-1120-4097-84F2-2B2FFA8889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00892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61E974-B7CD-8226-9F8F-5F42377FFD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AB609E-6EA2-8F70-12B3-C78FDF191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A3FB6-7601-449A-FD61-B0527B0B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A5CE0-F7C1-476F-AF9B-2B5B68296F02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A0BC7-0274-2876-0DD2-BFCA5714F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A8F15-C0B5-0CC7-2C7D-E46B832A2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96EF-1120-4097-84F2-2B2FFA8889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29698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0A04F9-F1EE-E13B-CB03-6D2EF0C57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7847C2-6EF3-F5A2-34D5-AAFA1BA79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989B1A-08EA-D194-8829-2D8EE1F0B0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CA5CE0-F7C1-476F-AF9B-2B5B68296F02}" type="datetimeFigureOut">
              <a:rPr lang="LID4096" smtClean="0"/>
              <a:t>03/28/2026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5B0288-223B-BDD5-6A78-D2B1C14A55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95025-126A-0F26-44DD-EA2489B0F0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5996EF-1120-4097-84F2-2B2FFA8889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17215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333C0E-2992-B32D-AA33-A245EA5923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943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07E65C-4859-42EB-ECC8-E9307030D2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713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4DD70F-466C-1D07-0087-31EAE0BC9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236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5D5AA9-2AC5-F074-74EA-90689418CF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61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5E7B72-0553-FB19-AD56-0451B26CB6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668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7848E1-4385-3A6D-8894-0A768A462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109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3204E8-4D1E-13A2-F577-258778D99F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04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8E8D67-38D8-E01D-D7DE-4C5801F822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40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E8089E-20BE-2080-BED7-3CDD253DB3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361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725B56-3A39-34AE-2184-427195B87A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492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4E3024-4A8C-7CBC-07D3-574465EF21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6304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A976AB-ADB7-027B-162E-A8B34A7B79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96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2314</Words>
  <Application>Microsoft Office PowerPoint</Application>
  <PresentationFormat>Widescreen</PresentationFormat>
  <Paragraphs>197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Kodzhabashev, Stefan Tiholov (HUMDEK)</dc:creator>
  <cp:lastModifiedBy>Kodzhabashev, Stefan Tiholov (HUMDEK)</cp:lastModifiedBy>
  <cp:revision>62</cp:revision>
  <dcterms:created xsi:type="dcterms:W3CDTF">2026-03-28T10:50:04Z</dcterms:created>
  <dcterms:modified xsi:type="dcterms:W3CDTF">2026-03-28T13:48:42Z</dcterms:modified>
</cp:coreProperties>
</file>