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60" r:id="rId4"/>
    <p:sldId id="261" r:id="rId5"/>
    <p:sldId id="262" r:id="rId6"/>
    <p:sldId id="268" r:id="rId7"/>
    <p:sldId id="263" r:id="rId8"/>
    <p:sldId id="269" r:id="rId9"/>
    <p:sldId id="265" r:id="rId10"/>
    <p:sldId id="266" r:id="rId11"/>
    <p:sldId id="267" r:id="rId12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21564" autoAdjust="0"/>
  </p:normalViewPr>
  <p:slideViewPr>
    <p:cSldViewPr snapToGrid="0">
      <p:cViewPr varScale="1">
        <p:scale>
          <a:sx n="27" d="100"/>
          <a:sy n="27" d="100"/>
        </p:scale>
        <p:origin x="3834" y="4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76" d="100"/>
        <a:sy n="176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A77C81-42E9-4F91-A8F3-DD7B1A725B9E}" type="datetimeFigureOut">
              <a:rPr lang="LID4096" smtClean="0"/>
              <a:t>03/30/2026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6C3B8C-8082-4473-8897-3B8AB5081CC5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131961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Hallo everyone, for those who does not know me, my name is Stefan Kodzhabashev, I am research software engineer in TPF.</a:t>
            </a:r>
          </a:p>
          <a:p>
            <a:endParaRPr lang="en-US" dirty="0"/>
          </a:p>
          <a:p>
            <a:r>
              <a:rPr lang="en-US" dirty="0"/>
              <a:t>I am here to present </a:t>
            </a:r>
            <a:r>
              <a:rPr lang="en-US" dirty="0" err="1"/>
              <a:t>Selfhelp</a:t>
            </a:r>
            <a:r>
              <a:rPr lang="en-US" dirty="0"/>
              <a:t>. Some of you may remember that I already gave a presentation about it some years ago, I think it was in 2021.</a:t>
            </a:r>
          </a:p>
          <a:p>
            <a:endParaRPr lang="en-US" dirty="0"/>
          </a:p>
          <a:p>
            <a:r>
              <a:rPr lang="en-US" dirty="0"/>
              <a:t>At that time, the platform was much simpler. It was mainly a website builder. Today, I want to show you how it evolved, and what it is capable now.</a:t>
            </a:r>
          </a:p>
          <a:p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6C3B8C-8082-4473-8897-3B8AB5081CC5}" type="slidenum">
              <a:rPr lang="LID4096" smtClean="0"/>
              <a:t>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9589699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So, what is </a:t>
            </a:r>
            <a:r>
              <a:rPr lang="en-US" b="1" dirty="0" err="1"/>
              <a:t>SelfHelp</a:t>
            </a:r>
            <a:r>
              <a:rPr lang="en-US" dirty="0"/>
              <a:t> today?</a:t>
            </a:r>
          </a:p>
          <a:p>
            <a:r>
              <a:rPr lang="en-US" dirty="0"/>
              <a:t>If you ask me to describe it with one sentence, I will say:</a:t>
            </a:r>
          </a:p>
          <a:p>
            <a:br>
              <a:rPr lang="en-US" dirty="0"/>
            </a:br>
            <a:r>
              <a:rPr lang="en-US" dirty="0"/>
              <a:t>It is a platform that connects </a:t>
            </a:r>
            <a:r>
              <a:rPr lang="en-US" b="1" dirty="0"/>
              <a:t>different digital tools</a:t>
            </a:r>
            <a:r>
              <a:rPr lang="en-US" dirty="0"/>
              <a:t> into a single </a:t>
            </a:r>
            <a:r>
              <a:rPr lang="en-US" b="1" dirty="0"/>
              <a:t>solution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In many research projects or online interventions, systems are fragmented:</a:t>
            </a:r>
          </a:p>
          <a:p>
            <a:pPr lvl="1"/>
            <a:r>
              <a:rPr lang="en-US" dirty="0"/>
              <a:t>👉</a:t>
            </a:r>
            <a:r>
              <a:rPr lang="en-US" dirty="0">
                <a:solidFill>
                  <a:srgbClr val="FF0000"/>
                </a:solidFill>
              </a:rPr>
              <a:t>Data</a:t>
            </a:r>
            <a:r>
              <a:rPr lang="en-US" dirty="0"/>
              <a:t> is stored in one place </a:t>
            </a:r>
          </a:p>
          <a:p>
            <a:pPr lvl="1"/>
            <a:r>
              <a:rPr lang="en-US" dirty="0"/>
              <a:t>👉</a:t>
            </a:r>
            <a:r>
              <a:rPr lang="en-US" dirty="0">
                <a:highlight>
                  <a:srgbClr val="FFFF00"/>
                </a:highlight>
              </a:rPr>
              <a:t>Content is managed in another </a:t>
            </a:r>
          </a:p>
          <a:p>
            <a:pPr lvl="1"/>
            <a:r>
              <a:rPr lang="en-US" dirty="0">
                <a:highlight>
                  <a:srgbClr val="FFFF00"/>
                </a:highlight>
              </a:rPr>
              <a:t>👉Scheduling or randomization happens somewhere else </a:t>
            </a:r>
          </a:p>
          <a:p>
            <a:r>
              <a:rPr lang="en-US" dirty="0"/>
              <a:t>As a result, everything </a:t>
            </a:r>
            <a:r>
              <a:rPr lang="en-US" b="1" dirty="0"/>
              <a:t>becomes distributed </a:t>
            </a:r>
            <a:r>
              <a:rPr lang="en-US" dirty="0"/>
              <a:t>and harder to manage.</a:t>
            </a:r>
          </a:p>
          <a:p>
            <a:endParaRPr lang="en-US" dirty="0"/>
          </a:p>
          <a:p>
            <a:r>
              <a:rPr lang="en-US" dirty="0" err="1"/>
              <a:t>SelfHelp</a:t>
            </a:r>
            <a:r>
              <a:rPr lang="en-US" dirty="0"/>
              <a:t> </a:t>
            </a:r>
            <a:r>
              <a:rPr lang="en-US" b="1" dirty="0"/>
              <a:t>addresses this </a:t>
            </a:r>
            <a:r>
              <a:rPr lang="en-US" dirty="0"/>
              <a:t>by bringing all these components together.</a:t>
            </a:r>
          </a:p>
          <a:p>
            <a:r>
              <a:rPr lang="en-US" b="1" dirty="0"/>
              <a:t>It connects:</a:t>
            </a:r>
          </a:p>
          <a:p>
            <a:pPr lvl="1"/>
            <a:r>
              <a:rPr lang="en-US" dirty="0"/>
              <a:t>👉Content </a:t>
            </a:r>
          </a:p>
          <a:p>
            <a:pPr lvl="1"/>
            <a:r>
              <a:rPr lang="en-US" dirty="0"/>
              <a:t>👉Data </a:t>
            </a:r>
          </a:p>
          <a:p>
            <a:pPr lvl="1"/>
            <a:r>
              <a:rPr lang="en-US" dirty="0"/>
              <a:t>👉Workflows </a:t>
            </a:r>
          </a:p>
          <a:p>
            <a:pPr lvl="1"/>
            <a:r>
              <a:rPr lang="en-US" dirty="0"/>
              <a:t>👉Communication </a:t>
            </a:r>
          </a:p>
          <a:p>
            <a:pPr lvl="1"/>
            <a:r>
              <a:rPr lang="en-US" dirty="0"/>
              <a:t>👉And even native mobile application</a:t>
            </a:r>
          </a:p>
          <a:p>
            <a:r>
              <a:rPr lang="en-US" dirty="0"/>
              <a:t>—all within </a:t>
            </a:r>
            <a:r>
              <a:rPr lang="en-US" b="1" dirty="0"/>
              <a:t>one unified environment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Another important aspect is that the system can be installed </a:t>
            </a:r>
            <a:r>
              <a:rPr lang="en-US" b="1" dirty="0"/>
              <a:t>locally within the university infrastructure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This means that we have </a:t>
            </a:r>
            <a:r>
              <a:rPr lang="en-US" b="1" dirty="0"/>
              <a:t>full control </a:t>
            </a:r>
            <a:r>
              <a:rPr lang="en-US" dirty="0"/>
              <a:t>over the data and the system.</a:t>
            </a:r>
          </a:p>
          <a:p>
            <a:r>
              <a:rPr lang="en-US" dirty="0"/>
              <a:t>In summary: </a:t>
            </a:r>
            <a:r>
              <a:rPr lang="en-US" dirty="0" err="1"/>
              <a:t>SelfHelp</a:t>
            </a:r>
            <a:r>
              <a:rPr lang="en-US" dirty="0"/>
              <a:t> supports </a:t>
            </a:r>
            <a:r>
              <a:rPr lang="en-US" b="1" dirty="0"/>
              <a:t>structured, long-term processes from start to finish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6C3B8C-8082-4473-8897-3B8AB5081CC5}" type="slidenum">
              <a:rPr lang="LID4096" smtClean="0"/>
              <a:t>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361663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platform </a:t>
            </a:r>
            <a:r>
              <a:rPr lang="en-US" b="1" dirty="0"/>
              <a:t>has grown </a:t>
            </a:r>
            <a:r>
              <a:rPr lang="en-US" dirty="0"/>
              <a:t>a lot over the years.</a:t>
            </a:r>
          </a:p>
          <a:p>
            <a:endParaRPr lang="en-US" dirty="0"/>
          </a:p>
          <a:p>
            <a:r>
              <a:rPr lang="en-US" dirty="0"/>
              <a:t>So it became very important for us to </a:t>
            </a:r>
            <a:r>
              <a:rPr lang="en-US" b="1" dirty="0"/>
              <a:t>keep it maintainable</a:t>
            </a:r>
            <a:r>
              <a:rPr lang="en-US" dirty="0"/>
              <a:t>—and also </a:t>
            </a:r>
            <a:r>
              <a:rPr lang="en-US" b="1" dirty="0"/>
              <a:t>lightweight when deployed on servers</a:t>
            </a:r>
            <a:r>
              <a:rPr lang="en-US" dirty="0"/>
              <a:t>.</a:t>
            </a:r>
          </a:p>
          <a:p>
            <a:br>
              <a:rPr lang="en-US" dirty="0"/>
            </a:br>
            <a:r>
              <a:rPr lang="en-US" b="1" dirty="0"/>
              <a:t>Not every project </a:t>
            </a:r>
            <a:r>
              <a:rPr lang="en-US" dirty="0"/>
              <a:t>needs all features.</a:t>
            </a:r>
          </a:p>
          <a:p>
            <a:endParaRPr lang="en-US" dirty="0"/>
          </a:p>
          <a:p>
            <a:r>
              <a:rPr lang="en-US" dirty="0"/>
              <a:t>That’s why we introduced a </a:t>
            </a:r>
            <a:r>
              <a:rPr lang="en-US" b="1" dirty="0"/>
              <a:t>plugin system</a:t>
            </a:r>
            <a:r>
              <a:rPr lang="en-US" dirty="0"/>
              <a:t>.</a:t>
            </a:r>
          </a:p>
          <a:p>
            <a:r>
              <a:rPr lang="en-US" dirty="0"/>
              <a:t>The idea is simple:</a:t>
            </a:r>
            <a:br>
              <a:rPr lang="en-US" dirty="0"/>
            </a:br>
            <a:r>
              <a:rPr lang="en-US" dirty="0"/>
              <a:t>Any functionality that doesn’t belong to the core system is </a:t>
            </a:r>
            <a:r>
              <a:rPr lang="en-US" b="1" dirty="0"/>
              <a:t>added as a plugin</a:t>
            </a:r>
            <a:r>
              <a:rPr lang="en-US" dirty="0"/>
              <a:t>.</a:t>
            </a:r>
          </a:p>
          <a:p>
            <a:r>
              <a:rPr lang="en-US" dirty="0"/>
              <a:t>This has </a:t>
            </a:r>
            <a:r>
              <a:rPr lang="en-US" b="1" dirty="0"/>
              <a:t>two main advantages.</a:t>
            </a:r>
          </a:p>
          <a:p>
            <a:pPr lvl="1"/>
            <a:r>
              <a:rPr lang="en-US" dirty="0"/>
              <a:t>👉First, from a </a:t>
            </a:r>
            <a:r>
              <a:rPr lang="en-US" b="1" dirty="0"/>
              <a:t>development perspective</a:t>
            </a:r>
            <a:r>
              <a:rPr lang="en-US" dirty="0"/>
              <a:t>, it keeps the </a:t>
            </a:r>
            <a:r>
              <a:rPr lang="en-US" b="1" dirty="0"/>
              <a:t>code cleaner, better organized, and easier to maintain.</a:t>
            </a:r>
          </a:p>
          <a:p>
            <a:pPr lvl="1"/>
            <a:r>
              <a:rPr lang="en-US" dirty="0"/>
              <a:t>👉Second, from a </a:t>
            </a:r>
            <a:r>
              <a:rPr lang="en-US" b="1" dirty="0"/>
              <a:t>deployment perspective</a:t>
            </a:r>
            <a:r>
              <a:rPr lang="en-US" dirty="0"/>
              <a:t>, it keeps the </a:t>
            </a:r>
            <a:r>
              <a:rPr lang="en-US" b="1" dirty="0"/>
              <a:t>system lightweight</a:t>
            </a:r>
            <a:r>
              <a:rPr lang="en-US" dirty="0"/>
              <a:t>.</a:t>
            </a:r>
          </a:p>
          <a:p>
            <a:pPr lvl="0"/>
            <a:r>
              <a:rPr lang="en-US" dirty="0"/>
              <a:t>If a project doesn’t need certain features, they simply don’t have to be installed.</a:t>
            </a:r>
          </a:p>
          <a:p>
            <a:pPr lvl="0"/>
            <a:endParaRPr lang="en-US" dirty="0"/>
          </a:p>
          <a:p>
            <a:r>
              <a:rPr lang="en-US" dirty="0"/>
              <a:t>We already</a:t>
            </a:r>
            <a:r>
              <a:rPr lang="en-US" b="1" dirty="0"/>
              <a:t> developed several plugins</a:t>
            </a:r>
            <a:r>
              <a:rPr lang="en-US" dirty="0"/>
              <a:t>, for example:</a:t>
            </a:r>
          </a:p>
          <a:p>
            <a:pPr lvl="1"/>
            <a:r>
              <a:rPr lang="en-US" dirty="0"/>
              <a:t>👉External authentication </a:t>
            </a:r>
          </a:p>
          <a:p>
            <a:pPr lvl="1"/>
            <a:r>
              <a:rPr lang="en-US" dirty="0"/>
              <a:t>👉Lab.js integration </a:t>
            </a:r>
          </a:p>
          <a:p>
            <a:pPr lvl="1"/>
            <a:r>
              <a:rPr lang="en-US" dirty="0"/>
              <a:t>👉R integration </a:t>
            </a:r>
          </a:p>
          <a:p>
            <a:pPr lvl="1"/>
            <a:r>
              <a:rPr lang="en-US" dirty="0"/>
              <a:t>👉Custom formulas </a:t>
            </a:r>
          </a:p>
          <a:p>
            <a:pPr lvl="1"/>
            <a:r>
              <a:rPr lang="en-US" dirty="0"/>
              <a:t>👉API import and export </a:t>
            </a:r>
          </a:p>
          <a:p>
            <a:pPr lvl="1"/>
            <a:r>
              <a:rPr lang="en-US" dirty="0"/>
              <a:t>👉Plotly.js – library for graphs</a:t>
            </a:r>
          </a:p>
          <a:p>
            <a:r>
              <a:rPr lang="en-US" dirty="0"/>
              <a:t>In the next slides, I’ll focus on </a:t>
            </a:r>
            <a:r>
              <a:rPr lang="en-US" b="1" dirty="0"/>
              <a:t>three specific plugins:</a:t>
            </a:r>
            <a:br>
              <a:rPr lang="en-US" dirty="0"/>
            </a:br>
            <a:r>
              <a:rPr lang="en-US" dirty="0" err="1"/>
              <a:t>SurveyJS</a:t>
            </a:r>
            <a:r>
              <a:rPr lang="en-US" dirty="0"/>
              <a:t>, LLM, and the LLM Therapy Chat.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6C3B8C-8082-4473-8897-3B8AB5081CC5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747094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 plugin I want to talk about is </a:t>
            </a:r>
            <a:r>
              <a:rPr lang="en-US" b="1" dirty="0" err="1"/>
              <a:t>SurveyJS</a:t>
            </a:r>
            <a:r>
              <a:rPr lang="en-US" dirty="0"/>
              <a:t>.</a:t>
            </a:r>
            <a:br>
              <a:rPr lang="en-US" dirty="0"/>
            </a:br>
            <a:r>
              <a:rPr lang="en-US" b="1" dirty="0"/>
              <a:t>The idea is very simple</a:t>
            </a:r>
            <a:r>
              <a:rPr lang="en-US" dirty="0"/>
              <a:t>: we can </a:t>
            </a:r>
            <a:r>
              <a:rPr lang="en-US" b="1" dirty="0"/>
              <a:t>design and manage surveys </a:t>
            </a:r>
            <a:r>
              <a:rPr lang="en-US" dirty="0"/>
              <a:t>directly inside our platform.</a:t>
            </a:r>
          </a:p>
          <a:p>
            <a:r>
              <a:rPr lang="en-US" dirty="0"/>
              <a:t>That means </a:t>
            </a:r>
            <a:r>
              <a:rPr lang="en-US" b="1" dirty="0"/>
              <a:t>we can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👉Create surveys </a:t>
            </a:r>
          </a:p>
          <a:p>
            <a:pPr lvl="1"/>
            <a:r>
              <a:rPr lang="en-US" dirty="0"/>
              <a:t>👉Store and version them </a:t>
            </a:r>
          </a:p>
          <a:p>
            <a:pPr lvl="1"/>
            <a:r>
              <a:rPr lang="en-US" dirty="0"/>
              <a:t>👉And publish them when they’re ready </a:t>
            </a:r>
          </a:p>
          <a:p>
            <a:r>
              <a:rPr lang="en-US" dirty="0"/>
              <a:t>Once published, these surveys can </a:t>
            </a:r>
            <a:r>
              <a:rPr lang="en-US" b="1" dirty="0"/>
              <a:t>be used directly in the system</a:t>
            </a:r>
            <a:r>
              <a:rPr lang="en-US" dirty="0"/>
              <a:t>—without relying on external tools.</a:t>
            </a:r>
          </a:p>
          <a:p>
            <a:r>
              <a:rPr lang="en-US" dirty="0"/>
              <a:t>All collected </a:t>
            </a:r>
            <a:r>
              <a:rPr lang="en-US" b="1" dirty="0"/>
              <a:t>data is immediately available </a:t>
            </a:r>
            <a:r>
              <a:rPr lang="en-US" dirty="0"/>
              <a:t>and can </a:t>
            </a:r>
            <a:r>
              <a:rPr lang="en-US" b="1" dirty="0"/>
              <a:t>be reused </a:t>
            </a:r>
            <a:r>
              <a:rPr lang="en-US" dirty="0"/>
              <a:t>across the platform.</a:t>
            </a:r>
            <a:br>
              <a:rPr lang="en-US" dirty="0"/>
            </a:br>
            <a:r>
              <a:rPr lang="en-US" dirty="0"/>
              <a:t>For </a:t>
            </a:r>
            <a:r>
              <a:rPr lang="en-US" b="1" dirty="0"/>
              <a:t>example</a:t>
            </a:r>
            <a:r>
              <a:rPr lang="en-US" dirty="0"/>
              <a:t>, we can:</a:t>
            </a:r>
          </a:p>
          <a:p>
            <a:pPr lvl="1"/>
            <a:r>
              <a:rPr lang="en-US" dirty="0"/>
              <a:t>👉Adapt future surveys dynamically </a:t>
            </a:r>
          </a:p>
          <a:p>
            <a:pPr lvl="1"/>
            <a:r>
              <a:rPr lang="en-US" dirty="0"/>
              <a:t>👉Show feedback to users </a:t>
            </a:r>
          </a:p>
          <a:p>
            <a:pPr lvl="1"/>
            <a:r>
              <a:rPr lang="en-US" dirty="0"/>
              <a:t>👉Or visualize results with graphs </a:t>
            </a:r>
          </a:p>
          <a:p>
            <a:r>
              <a:rPr lang="en-US" dirty="0"/>
              <a:t>We also have </a:t>
            </a:r>
            <a:r>
              <a:rPr lang="en-US" b="1" dirty="0"/>
              <a:t>full control</a:t>
            </a:r>
            <a:r>
              <a:rPr lang="en-US" dirty="0"/>
              <a:t> over how surveys are delivered.</a:t>
            </a:r>
          </a:p>
          <a:p>
            <a:r>
              <a:rPr lang="en-US" dirty="0"/>
              <a:t>We can </a:t>
            </a:r>
            <a:r>
              <a:rPr lang="en-US" b="1" dirty="0"/>
              <a:t>define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👉Whether a survey is shown once per user or maybe once per session</a:t>
            </a:r>
          </a:p>
          <a:p>
            <a:pPr lvl="1"/>
            <a:r>
              <a:rPr lang="en-US" dirty="0"/>
              <a:t>👉Time restrictions, like specific hours </a:t>
            </a:r>
          </a:p>
          <a:p>
            <a:pPr lvl="1"/>
            <a:r>
              <a:rPr lang="en-US" dirty="0"/>
              <a:t>👉Or expiration rules </a:t>
            </a:r>
          </a:p>
          <a:p>
            <a:r>
              <a:rPr lang="en-US" dirty="0"/>
              <a:t>In addition to the responses, we also collect </a:t>
            </a:r>
            <a:r>
              <a:rPr lang="en-US" b="1" dirty="0"/>
              <a:t>detailed metadata</a:t>
            </a:r>
            <a:r>
              <a:rPr lang="en-US" dirty="0"/>
              <a:t>.</a:t>
            </a:r>
          </a:p>
          <a:p>
            <a:r>
              <a:rPr lang="en-US" dirty="0"/>
              <a:t>So we don’t just see the </a:t>
            </a:r>
            <a:r>
              <a:rPr lang="en-US" b="1" dirty="0"/>
              <a:t>final answers</a:t>
            </a:r>
            <a:r>
              <a:rPr lang="en-US" dirty="0"/>
              <a:t>—we also know:</a:t>
            </a:r>
          </a:p>
          <a:p>
            <a:pPr lvl="1"/>
            <a:r>
              <a:rPr lang="en-US" dirty="0"/>
              <a:t>👉When the survey was started and completed </a:t>
            </a:r>
          </a:p>
          <a:p>
            <a:pPr lvl="1"/>
            <a:r>
              <a:rPr lang="en-US" dirty="0"/>
              <a:t>👉How much time was spent </a:t>
            </a:r>
          </a:p>
          <a:p>
            <a:pPr lvl="1"/>
            <a:r>
              <a:rPr lang="en-US" dirty="0"/>
              <a:t>👉And how users moved through it </a:t>
            </a:r>
          </a:p>
          <a:p>
            <a:r>
              <a:rPr lang="en-US" dirty="0"/>
              <a:t>This gives us much deeper insight into users behavior.</a:t>
            </a:r>
          </a:p>
          <a:p>
            <a:r>
              <a:rPr lang="en-US" dirty="0"/>
              <a:t>As you see we don’t just use surveys—we </a:t>
            </a:r>
            <a:r>
              <a:rPr lang="en-US" b="1" dirty="0"/>
              <a:t>fully integrate them into the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6C3B8C-8082-4473-8897-3B8AB5081CC5}" type="slidenum">
              <a:rPr lang="LID4096" smtClean="0"/>
              <a:t>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746947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second plugin I want to present is the </a:t>
            </a:r>
            <a:r>
              <a:rPr lang="en-US" b="1" dirty="0"/>
              <a:t>LLM plugin</a:t>
            </a:r>
            <a:r>
              <a:rPr lang="en-US" dirty="0"/>
              <a:t>.</a:t>
            </a:r>
          </a:p>
          <a:p>
            <a:r>
              <a:rPr lang="en-US" dirty="0"/>
              <a:t>Here I want to show you how </a:t>
            </a:r>
            <a:r>
              <a:rPr lang="en-US"/>
              <a:t>we actually use </a:t>
            </a:r>
            <a:r>
              <a:rPr lang="en-US" dirty="0"/>
              <a:t>Large Language Models </a:t>
            </a:r>
            <a:r>
              <a:rPr lang="en-US" b="1" dirty="0"/>
              <a:t>in </a:t>
            </a:r>
            <a:r>
              <a:rPr lang="en-US" b="1" dirty="0" err="1"/>
              <a:t>SelfHelp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Before I continue I want to point it out, that </a:t>
            </a:r>
            <a:r>
              <a:rPr lang="en-US" b="1" dirty="0"/>
              <a:t>AI can be unpredictable… a bit random</a:t>
            </a:r>
            <a:r>
              <a:rPr lang="en-US" dirty="0"/>
              <a:t>. So the key question is: how do we make it behave in a </a:t>
            </a:r>
            <a:r>
              <a:rPr lang="en-US" b="1" dirty="0"/>
              <a:t>more controlled and reliable way</a:t>
            </a:r>
            <a:r>
              <a:rPr lang="en-US" dirty="0"/>
              <a:t>?</a:t>
            </a:r>
          </a:p>
          <a:p>
            <a:endParaRPr lang="en-US" dirty="0"/>
          </a:p>
          <a:p>
            <a:r>
              <a:rPr lang="en-US" dirty="0"/>
              <a:t>This is where </a:t>
            </a:r>
            <a:r>
              <a:rPr lang="en-US" b="1" dirty="0"/>
              <a:t>prompts</a:t>
            </a:r>
            <a:r>
              <a:rPr lang="en-US" dirty="0"/>
              <a:t> and </a:t>
            </a:r>
            <a:r>
              <a:rPr lang="en-US" b="1" dirty="0"/>
              <a:t>context</a:t>
            </a:r>
            <a:r>
              <a:rPr lang="en-US" dirty="0"/>
              <a:t> come in.</a:t>
            </a:r>
          </a:p>
          <a:p>
            <a:endParaRPr lang="en-US" dirty="0"/>
          </a:p>
          <a:p>
            <a:r>
              <a:rPr lang="en-US" dirty="0"/>
              <a:t>A prompt is simply </a:t>
            </a:r>
            <a:r>
              <a:rPr lang="en-US" b="1" dirty="0"/>
              <a:t>the instruction we give </a:t>
            </a:r>
            <a:r>
              <a:rPr lang="en-US" dirty="0"/>
              <a:t>to the AI—it defines the task. For </a:t>
            </a:r>
            <a:r>
              <a:rPr lang="en-US" b="1" dirty="0"/>
              <a:t>example</a:t>
            </a:r>
            <a:r>
              <a:rPr lang="en-US" dirty="0"/>
              <a:t>: </a:t>
            </a:r>
            <a:r>
              <a:rPr lang="en-US" i="1" dirty="0"/>
              <a:t>‘Explain depression.’</a:t>
            </a:r>
          </a:p>
          <a:p>
            <a:endParaRPr lang="en-US" dirty="0"/>
          </a:p>
          <a:p>
            <a:r>
              <a:rPr lang="en-US" dirty="0"/>
              <a:t>But the </a:t>
            </a:r>
            <a:r>
              <a:rPr lang="en-US" b="1" dirty="0"/>
              <a:t>prompt alone is not enough.</a:t>
            </a:r>
          </a:p>
          <a:p>
            <a:endParaRPr lang="en-US" b="1" dirty="0"/>
          </a:p>
          <a:p>
            <a:r>
              <a:rPr lang="en-US" dirty="0"/>
              <a:t>We also need </a:t>
            </a:r>
            <a:r>
              <a:rPr lang="en-US" b="1" dirty="0"/>
              <a:t>context</a:t>
            </a:r>
            <a:r>
              <a:rPr lang="en-US" dirty="0"/>
              <a:t>, which defines the situation or the audience.</a:t>
            </a:r>
          </a:p>
          <a:p>
            <a:endParaRPr lang="en-US" dirty="0"/>
          </a:p>
          <a:p>
            <a:r>
              <a:rPr lang="en-US" dirty="0"/>
              <a:t>For example, we could say:</a:t>
            </a:r>
          </a:p>
          <a:p>
            <a:pPr lvl="1"/>
            <a:r>
              <a:rPr lang="en-US" dirty="0"/>
              <a:t>👉“You are a professor teaching students” </a:t>
            </a:r>
          </a:p>
          <a:p>
            <a:pPr lvl="1"/>
            <a:r>
              <a:rPr lang="en-US" dirty="0"/>
              <a:t>👉Or: “You are a therapist talking to a patient”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6C3B8C-8082-4473-8897-3B8AB5081CC5}" type="slidenum">
              <a:rPr lang="LID4096" smtClean="0"/>
              <a:t>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875628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38D375-7CDB-27DC-268C-0CA80F1427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4F55F2-E30F-A5B6-D497-D7DE799288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5DEC7C-245F-42A7-5237-1EDE8B3BD1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Even though the prompt </a:t>
            </a:r>
            <a:r>
              <a:rPr lang="en-US" b="1" dirty="0"/>
              <a:t>stays the same</a:t>
            </a:r>
            <a:r>
              <a:rPr lang="en-US" dirty="0"/>
              <a:t>, the result </a:t>
            </a:r>
            <a:r>
              <a:rPr lang="en-US" b="1" dirty="0"/>
              <a:t>will be very different</a:t>
            </a:r>
            <a:r>
              <a:rPr lang="en-US" dirty="0"/>
              <a:t>.</a:t>
            </a:r>
          </a:p>
          <a:p>
            <a:r>
              <a:rPr lang="en-US" dirty="0"/>
              <a:t>In one case, the explanation will be </a:t>
            </a:r>
            <a:r>
              <a:rPr lang="en-US" b="1" dirty="0"/>
              <a:t>more academic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In the other, it will </a:t>
            </a:r>
            <a:r>
              <a:rPr lang="en-US" b="1" dirty="0"/>
              <a:t>be simpler </a:t>
            </a:r>
            <a:r>
              <a:rPr lang="en-US" dirty="0"/>
              <a:t>and more empathetic.</a:t>
            </a:r>
          </a:p>
          <a:p>
            <a:endParaRPr lang="en-US" dirty="0"/>
          </a:p>
          <a:p>
            <a:r>
              <a:rPr lang="en-US" dirty="0"/>
              <a:t>So in simple terms:</a:t>
            </a:r>
          </a:p>
          <a:p>
            <a:r>
              <a:rPr lang="en-US" dirty="0"/>
              <a:t>           👉 </a:t>
            </a:r>
            <a:r>
              <a:rPr lang="en-US" b="1" dirty="0"/>
              <a:t>The prompt defines </a:t>
            </a:r>
            <a:r>
              <a:rPr lang="en-US" b="1" i="1" dirty="0"/>
              <a:t>what</a:t>
            </a:r>
            <a:r>
              <a:rPr lang="en-US" b="1" dirty="0"/>
              <a:t> we want</a:t>
            </a:r>
            <a:br>
              <a:rPr lang="en-US" dirty="0"/>
            </a:br>
            <a:r>
              <a:rPr lang="en-US" dirty="0"/>
              <a:t>           👉 </a:t>
            </a:r>
            <a:r>
              <a:rPr lang="en-US" b="1" dirty="0"/>
              <a:t>The context defines </a:t>
            </a:r>
            <a:r>
              <a:rPr lang="en-US" b="1" i="1" dirty="0"/>
              <a:t>how</a:t>
            </a:r>
            <a:r>
              <a:rPr lang="en-US" b="1" dirty="0"/>
              <a:t> it should be delivered</a:t>
            </a:r>
          </a:p>
          <a:p>
            <a:r>
              <a:rPr lang="en-US" dirty="0"/>
              <a:t>And together, they </a:t>
            </a:r>
            <a:r>
              <a:rPr lang="en-US" b="1" dirty="0"/>
              <a:t>shape the final result.</a:t>
            </a:r>
          </a:p>
          <a:p>
            <a:endParaRPr lang="en-US" b="1" dirty="0"/>
          </a:p>
          <a:p>
            <a:r>
              <a:rPr lang="en-US" dirty="0"/>
              <a:t>To make this more reliable, we introduced a </a:t>
            </a:r>
            <a:r>
              <a:rPr lang="en-US" b="1" dirty="0"/>
              <a:t>prompt &amp; context management system</a:t>
            </a:r>
            <a:r>
              <a:rPr lang="en-US" dirty="0"/>
              <a:t>.</a:t>
            </a:r>
          </a:p>
          <a:p>
            <a:r>
              <a:rPr lang="en-US" dirty="0"/>
              <a:t>With </a:t>
            </a:r>
            <a:r>
              <a:rPr lang="en-US" b="1" dirty="0"/>
              <a:t>this system, we can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👉Store and version prompts and contexts </a:t>
            </a:r>
          </a:p>
          <a:p>
            <a:pPr lvl="1"/>
            <a:r>
              <a:rPr lang="en-US" dirty="0"/>
              <a:t>👉Test them in a playground </a:t>
            </a:r>
          </a:p>
          <a:p>
            <a:pPr lvl="1"/>
            <a:r>
              <a:rPr lang="en-US" dirty="0"/>
              <a:t>👉Run them across different modules </a:t>
            </a:r>
          </a:p>
          <a:p>
            <a:pPr lvl="1"/>
            <a:r>
              <a:rPr lang="en-US" dirty="0"/>
              <a:t>👉Create datasets to evaluate responses </a:t>
            </a:r>
          </a:p>
          <a:p>
            <a:pPr lvl="1"/>
            <a:r>
              <a:rPr lang="en-US" dirty="0"/>
              <a:t>👉And continuously refine everything based on the results </a:t>
            </a:r>
          </a:p>
          <a:p>
            <a:r>
              <a:rPr lang="en-US" dirty="0"/>
              <a:t>This allows us to systematically </a:t>
            </a:r>
            <a:r>
              <a:rPr lang="en-US" b="1" dirty="0"/>
              <a:t>improve how the AI behaves in our platform.</a:t>
            </a:r>
          </a:p>
          <a:p>
            <a:endParaRPr lang="en-US" b="1" dirty="0"/>
          </a:p>
          <a:p>
            <a:r>
              <a:rPr lang="en-US" dirty="0"/>
              <a:t>So in the end, this is </a:t>
            </a:r>
            <a:r>
              <a:rPr lang="en-US" b="1" dirty="0"/>
              <a:t>not just a simple chatbot. </a:t>
            </a:r>
            <a:r>
              <a:rPr lang="en-US" dirty="0"/>
              <a:t>It’s a </a:t>
            </a:r>
            <a:r>
              <a:rPr lang="en-US" b="1" dirty="0"/>
              <a:t>controlled and evolving system </a:t>
            </a:r>
            <a:r>
              <a:rPr lang="en-US" dirty="0"/>
              <a:t>for working with LLMs.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09D09F-D749-CD12-2EFC-D3A7A53086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6C3B8C-8082-4473-8897-3B8AB5081CC5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824985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last plugin I want to show in more detail is the </a:t>
            </a:r>
            <a:r>
              <a:rPr lang="en-US" b="1" dirty="0"/>
              <a:t>LLM therapy chat</a:t>
            </a:r>
            <a:r>
              <a:rPr lang="en-US" dirty="0"/>
              <a:t>.</a:t>
            </a:r>
          </a:p>
          <a:p>
            <a:r>
              <a:rPr lang="en-US" dirty="0"/>
              <a:t>This plugin </a:t>
            </a:r>
            <a:r>
              <a:rPr lang="en-US" b="1" dirty="0"/>
              <a:t>combines AI-supported communication with human supervision </a:t>
            </a:r>
            <a:r>
              <a:rPr lang="en-US" dirty="0"/>
              <a:t>in a single framework.</a:t>
            </a:r>
          </a:p>
          <a:p>
            <a:r>
              <a:rPr lang="en-US" dirty="0"/>
              <a:t>From the </a:t>
            </a:r>
            <a:r>
              <a:rPr lang="en-US" b="1" dirty="0"/>
              <a:t>user’s perspective</a:t>
            </a:r>
            <a:r>
              <a:rPr lang="en-US" dirty="0"/>
              <a:t>, the experience is very simple.</a:t>
            </a:r>
            <a:br>
              <a:rPr lang="en-US" dirty="0"/>
            </a:br>
            <a:r>
              <a:rPr lang="en-US" dirty="0"/>
              <a:t>They interact through a </a:t>
            </a:r>
            <a:r>
              <a:rPr lang="en-US" b="1" dirty="0"/>
              <a:t>chat interface </a:t>
            </a:r>
            <a:r>
              <a:rPr lang="en-US" dirty="0"/>
              <a:t>and always know whether they are speaking with the AI or with a therapist.</a:t>
            </a:r>
          </a:p>
          <a:p>
            <a:pPr lvl="1"/>
            <a:r>
              <a:rPr lang="en-US" dirty="0"/>
              <a:t>👉If they message the AI, they get an immediate response </a:t>
            </a:r>
          </a:p>
          <a:p>
            <a:pPr lvl="1"/>
            <a:r>
              <a:rPr lang="en-US" dirty="0"/>
              <a:t>👉If they message the therapist, they wait for a human reply </a:t>
            </a:r>
          </a:p>
          <a:p>
            <a:pPr lvl="1"/>
            <a:endParaRPr lang="en-US" dirty="0"/>
          </a:p>
          <a:p>
            <a:r>
              <a:rPr lang="en-US" dirty="0"/>
              <a:t>On the professional side, we provide a dedicated </a:t>
            </a:r>
            <a:r>
              <a:rPr lang="en-US" b="1" dirty="0"/>
              <a:t>therapist dashboard</a:t>
            </a:r>
            <a:r>
              <a:rPr lang="en-US" dirty="0"/>
              <a:t>.</a:t>
            </a:r>
          </a:p>
          <a:p>
            <a:r>
              <a:rPr lang="en-US" dirty="0"/>
              <a:t>From there, therapists can:</a:t>
            </a:r>
          </a:p>
          <a:p>
            <a:pPr lvl="1"/>
            <a:r>
              <a:rPr lang="en-US" dirty="0"/>
              <a:t>👉 Monitor conversations in real time </a:t>
            </a:r>
          </a:p>
          <a:p>
            <a:pPr lvl="1"/>
            <a:r>
              <a:rPr lang="en-US" dirty="0"/>
              <a:t>👉 Receive alerts and notifications</a:t>
            </a:r>
          </a:p>
          <a:p>
            <a:pPr lvl="1"/>
            <a:r>
              <a:rPr lang="en-US" dirty="0"/>
              <a:t>👉 Communicate with the patient  </a:t>
            </a:r>
          </a:p>
          <a:p>
            <a:pPr lvl="1"/>
            <a:r>
              <a:rPr lang="en-US" dirty="0"/>
              <a:t>👉 Use AI to improve the responses to the patients</a:t>
            </a:r>
          </a:p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👉 </a:t>
            </a:r>
            <a:r>
              <a:rPr lang="en-US" b="1" dirty="0"/>
              <a:t>Create summaries and write notes </a:t>
            </a:r>
            <a:r>
              <a:rPr lang="en-US" b="0" dirty="0"/>
              <a:t>for the patients</a:t>
            </a:r>
            <a:r>
              <a:rPr lang="en-US" b="1" dirty="0"/>
              <a:t> </a:t>
            </a:r>
            <a:r>
              <a:rPr lang="en-US" dirty="0"/>
              <a:t>(Here I want to relate  to the previous slide where I explained the </a:t>
            </a:r>
            <a:r>
              <a:rPr lang="en-US" b="1" dirty="0"/>
              <a:t>context</a:t>
            </a:r>
            <a:r>
              <a:rPr lang="en-US" dirty="0"/>
              <a:t>.</a:t>
            </a:r>
          </a:p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These notes and summaries can be used as additional </a:t>
            </a:r>
            <a:r>
              <a:rPr lang="en-US" b="1" dirty="0"/>
              <a:t>context</a:t>
            </a:r>
            <a:r>
              <a:rPr lang="en-US" dirty="0"/>
              <a:t> for the AI, helping to </a:t>
            </a:r>
            <a:r>
              <a:rPr lang="en-US" b="1" dirty="0"/>
              <a:t>improve the quality </a:t>
            </a:r>
            <a:r>
              <a:rPr lang="en-US" dirty="0"/>
              <a:t>of the responses)</a:t>
            </a:r>
          </a:p>
          <a:p>
            <a:endParaRPr lang="en-US" dirty="0"/>
          </a:p>
          <a:p>
            <a:r>
              <a:rPr lang="en-US" dirty="0"/>
              <a:t>The same system can run in a </a:t>
            </a:r>
            <a:r>
              <a:rPr lang="en-US" b="1" dirty="0"/>
              <a:t>human-only mode</a:t>
            </a:r>
            <a:r>
              <a:rPr lang="en-US" dirty="0"/>
              <a:t>, which allows us to compare different communication setups in a controlled way—for example, AI-assisted versus fully human interaction.</a:t>
            </a:r>
          </a:p>
          <a:p>
            <a:r>
              <a:rPr lang="en-US" dirty="0"/>
              <a:t>So the key point is:</a:t>
            </a:r>
          </a:p>
          <a:p>
            <a:pPr lvl="1"/>
            <a:r>
              <a:rPr lang="en-US" dirty="0"/>
              <a:t>👉 This is not just a chat system</a:t>
            </a:r>
            <a:br>
              <a:rPr lang="en-US" dirty="0"/>
            </a:br>
            <a:r>
              <a:rPr lang="en-US" dirty="0"/>
              <a:t>👉 It’s a structured communication environment with supervision, safety, and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6C3B8C-8082-4473-8897-3B8AB5081CC5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507909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5586F-C6BA-379A-E0A2-27CA9930A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BB6F9D-FCF8-3B4C-3957-4A99E6C432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1A1300-85C5-12E1-F951-995C01D38C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Just to briefly mention — the platform also comes with a </a:t>
            </a:r>
            <a:r>
              <a:rPr lang="en-US" b="1" dirty="0"/>
              <a:t>native mobile app</a:t>
            </a:r>
            <a:r>
              <a:rPr lang="en-US" dirty="0"/>
              <a:t>.</a:t>
            </a:r>
          </a:p>
          <a:p>
            <a:br>
              <a:rPr lang="en-US" dirty="0"/>
            </a:br>
            <a:r>
              <a:rPr lang="en-US" b="1" dirty="0"/>
              <a:t>Not every study </a:t>
            </a:r>
            <a:r>
              <a:rPr lang="en-US" dirty="0"/>
              <a:t>works well on desktop or in the browser, and a mobile app </a:t>
            </a:r>
            <a:r>
              <a:rPr lang="en-US" b="1" dirty="0"/>
              <a:t>can really boost engagement.</a:t>
            </a:r>
          </a:p>
          <a:p>
            <a:endParaRPr lang="en-US" b="1" dirty="0"/>
          </a:p>
          <a:p>
            <a:r>
              <a:rPr lang="en-US" dirty="0"/>
              <a:t>It makes it easier for users to </a:t>
            </a:r>
            <a:r>
              <a:rPr lang="en-US" b="1" dirty="0"/>
              <a:t>participate and stay active.</a:t>
            </a:r>
          </a:p>
          <a:p>
            <a:br>
              <a:rPr lang="en-US" dirty="0"/>
            </a:br>
            <a:r>
              <a:rPr lang="en-US" b="1" dirty="0"/>
              <a:t>And the best part is</a:t>
            </a:r>
            <a:r>
              <a:rPr lang="en-US" dirty="0"/>
              <a:t>, everything you’ve already built for the web </a:t>
            </a:r>
            <a:r>
              <a:rPr lang="en-US" b="1" dirty="0"/>
              <a:t>works seamlessly </a:t>
            </a:r>
            <a:r>
              <a:rPr lang="en-US" dirty="0"/>
              <a:t>in the app too.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3C822A-80BB-28E1-4639-9588562E58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6C3B8C-8082-4473-8897-3B8AB5081CC5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8982918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we compare </a:t>
            </a:r>
            <a:r>
              <a:rPr lang="en-US" b="1" dirty="0" err="1"/>
              <a:t>SelfHelp</a:t>
            </a:r>
            <a:r>
              <a:rPr lang="en-US" dirty="0"/>
              <a:t> to other systems, it’s important to be fair.</a:t>
            </a:r>
          </a:p>
          <a:p>
            <a:r>
              <a:rPr lang="en-US" dirty="0"/>
              <a:t>There are several strong open-source tools, such as </a:t>
            </a:r>
            <a:r>
              <a:rPr lang="en-US" dirty="0" err="1"/>
              <a:t>LimeSurvey</a:t>
            </a:r>
            <a:r>
              <a:rPr lang="en-US" dirty="0"/>
              <a:t>, JATOS, </a:t>
            </a:r>
            <a:r>
              <a:rPr lang="en-US" dirty="0" err="1"/>
              <a:t>formr</a:t>
            </a:r>
            <a:r>
              <a:rPr lang="en-US" dirty="0"/>
              <a:t>, or Moodle.</a:t>
            </a:r>
          </a:p>
          <a:p>
            <a:r>
              <a:rPr lang="en-US" dirty="0"/>
              <a:t>Each of these systems is excellent in its own area:</a:t>
            </a:r>
          </a:p>
          <a:p>
            <a:pPr lvl="1"/>
            <a:r>
              <a:rPr lang="en-US" dirty="0"/>
              <a:t>👉JATOS and </a:t>
            </a:r>
            <a:r>
              <a:rPr lang="en-US" dirty="0" err="1"/>
              <a:t>formr</a:t>
            </a:r>
            <a:r>
              <a:rPr lang="en-US" dirty="0"/>
              <a:t> are very strong for online studies </a:t>
            </a:r>
          </a:p>
          <a:p>
            <a:pPr lvl="1"/>
            <a:r>
              <a:rPr lang="en-US" dirty="0"/>
              <a:t>👉</a:t>
            </a:r>
            <a:r>
              <a:rPr lang="en-US" dirty="0" err="1"/>
              <a:t>LimeSurvey</a:t>
            </a:r>
            <a:r>
              <a:rPr lang="en-US" dirty="0"/>
              <a:t> is specialized in surveys </a:t>
            </a:r>
          </a:p>
          <a:p>
            <a:pPr lvl="1"/>
            <a:r>
              <a:rPr lang="en-US" dirty="0"/>
              <a:t>👉Moodle is designed for learning environments </a:t>
            </a:r>
          </a:p>
          <a:p>
            <a:pPr lvl="1"/>
            <a:endParaRPr lang="en-US" dirty="0"/>
          </a:p>
          <a:p>
            <a:r>
              <a:rPr lang="en-US" dirty="0"/>
              <a:t>What makes </a:t>
            </a:r>
            <a:r>
              <a:rPr lang="en-US" b="1" dirty="0" err="1"/>
              <a:t>SelfHelp</a:t>
            </a:r>
            <a:r>
              <a:rPr lang="en-US" dirty="0"/>
              <a:t> different is not that it replaces these tools.</a:t>
            </a:r>
          </a:p>
          <a:p>
            <a:endParaRPr lang="en-US" dirty="0"/>
          </a:p>
          <a:p>
            <a:r>
              <a:rPr lang="en-US" dirty="0"/>
              <a:t>The real strength lies in the </a:t>
            </a:r>
            <a:r>
              <a:rPr lang="en-US" b="1" dirty="0"/>
              <a:t>connection between all components bringing them all within a single platform.</a:t>
            </a:r>
          </a:p>
          <a:p>
            <a:endParaRPr lang="en-US" b="1" dirty="0"/>
          </a:p>
          <a:p>
            <a:r>
              <a:rPr lang="en-US" dirty="0"/>
              <a:t>So if someone </a:t>
            </a:r>
            <a:r>
              <a:rPr lang="en-US" b="1" dirty="0"/>
              <a:t>only needs one specific function</a:t>
            </a:r>
            <a:r>
              <a:rPr lang="en-US" dirty="0"/>
              <a:t>, a specialized tool might be the better choice.</a:t>
            </a:r>
          </a:p>
          <a:p>
            <a:r>
              <a:rPr lang="en-US" dirty="0"/>
              <a:t>But if someone is looking for an integrated, </a:t>
            </a:r>
            <a:r>
              <a:rPr lang="en-US" b="1" dirty="0"/>
              <a:t>end-to-end solution</a:t>
            </a:r>
            <a:r>
              <a:rPr lang="en-US" dirty="0"/>
              <a:t>, then </a:t>
            </a:r>
            <a:r>
              <a:rPr lang="en-US" dirty="0" err="1"/>
              <a:t>SelfHelp</a:t>
            </a:r>
            <a:r>
              <a:rPr lang="en-US" dirty="0"/>
              <a:t> really </a:t>
            </a:r>
            <a:r>
              <a:rPr lang="en-US" b="1" dirty="0"/>
              <a:t>stand outs.</a:t>
            </a:r>
          </a:p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6C3B8C-8082-4473-8897-3B8AB5081CC5}" type="slidenum">
              <a:rPr lang="LID4096" smtClean="0"/>
              <a:t>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032610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So, why use </a:t>
            </a:r>
            <a:r>
              <a:rPr lang="en-US" b="1" dirty="0" err="1"/>
              <a:t>SelfHelp</a:t>
            </a:r>
            <a:r>
              <a:rPr lang="en-US" dirty="0"/>
              <a:t>?</a:t>
            </a:r>
          </a:p>
          <a:p>
            <a:endParaRPr lang="en-US" dirty="0"/>
          </a:p>
          <a:p>
            <a:r>
              <a:rPr lang="en-US" dirty="0"/>
              <a:t>The biggest reason is </a:t>
            </a:r>
            <a:r>
              <a:rPr lang="en-US" b="1" dirty="0"/>
              <a:t>integration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Instead of </a:t>
            </a:r>
            <a:r>
              <a:rPr lang="en-US" b="1" dirty="0"/>
              <a:t>splitting your work </a:t>
            </a:r>
            <a:r>
              <a:rPr lang="en-US" dirty="0"/>
              <a:t>across multiple tools, everything is combined in </a:t>
            </a:r>
            <a:r>
              <a:rPr lang="en-US" b="1" dirty="0"/>
              <a:t>a single platform </a:t>
            </a:r>
            <a:r>
              <a:rPr lang="en-US" b="0" dirty="0"/>
              <a:t>which can be installed locally in the University.</a:t>
            </a:r>
          </a:p>
          <a:p>
            <a:endParaRPr lang="en-US" b="0" dirty="0"/>
          </a:p>
          <a:p>
            <a:r>
              <a:rPr lang="en-US" dirty="0"/>
              <a:t>As we have seen, the platform is evolving, we’re continuously improving and maintaining it.</a:t>
            </a:r>
          </a:p>
          <a:p>
            <a:endParaRPr lang="en-US" dirty="0"/>
          </a:p>
          <a:p>
            <a:r>
              <a:rPr lang="en-US" dirty="0"/>
              <a:t>We are also developing </a:t>
            </a:r>
            <a:r>
              <a:rPr lang="en-US" b="1" dirty="0" err="1"/>
              <a:t>SelfHelp</a:t>
            </a:r>
            <a:r>
              <a:rPr lang="en-US" b="1" dirty="0"/>
              <a:t> 2</a:t>
            </a:r>
            <a:r>
              <a:rPr lang="en-US" dirty="0"/>
              <a:t>, a completely redesigned version </a:t>
            </a:r>
            <a:r>
              <a:rPr lang="en-US" b="1" dirty="0"/>
              <a:t>with the goal of making it simpler to use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One particularly promising feature is </a:t>
            </a:r>
            <a:r>
              <a:rPr lang="en-US" b="1" dirty="0"/>
              <a:t>AI-supported content creation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This will </a:t>
            </a:r>
            <a:r>
              <a:rPr lang="en-US" b="1" dirty="0"/>
              <a:t>allow teams to create content </a:t>
            </a:r>
            <a:r>
              <a:rPr lang="en-US" dirty="0"/>
              <a:t>for web and mobile much faster.</a:t>
            </a:r>
          </a:p>
          <a:p>
            <a:br>
              <a:rPr lang="en-US" dirty="0"/>
            </a:br>
            <a:r>
              <a:rPr lang="en-US" dirty="0"/>
              <a:t>And the </a:t>
            </a:r>
            <a:r>
              <a:rPr lang="en-US" b="1" dirty="0"/>
              <a:t>time saved</a:t>
            </a:r>
            <a:r>
              <a:rPr lang="en-US" dirty="0"/>
              <a:t> </a:t>
            </a:r>
            <a:r>
              <a:rPr lang="en-US" b="1" dirty="0"/>
              <a:t>can be reinvested </a:t>
            </a:r>
            <a:r>
              <a:rPr lang="en-US" dirty="0"/>
              <a:t>into what really matters for you as researchers:</a:t>
            </a:r>
          </a:p>
          <a:p>
            <a:pPr lvl="1"/>
            <a:r>
              <a:rPr lang="en-US" dirty="0"/>
              <a:t>👉</a:t>
            </a:r>
            <a:r>
              <a:rPr lang="en-US" b="0" dirty="0"/>
              <a:t>Improving study quality </a:t>
            </a:r>
          </a:p>
          <a:p>
            <a:pPr lvl="1"/>
            <a:r>
              <a:rPr lang="en-US" dirty="0"/>
              <a:t>👉And refining study design</a:t>
            </a:r>
          </a:p>
          <a:p>
            <a:pPr lvl="1"/>
            <a:endParaRPr lang="en-US" dirty="0"/>
          </a:p>
          <a:p>
            <a:r>
              <a:rPr lang="en-US" dirty="0"/>
              <a:t>So the </a:t>
            </a:r>
            <a:r>
              <a:rPr lang="en-US" b="1" dirty="0"/>
              <a:t>key message </a:t>
            </a:r>
            <a:r>
              <a:rPr lang="en-US" dirty="0"/>
              <a:t>is:</a:t>
            </a:r>
          </a:p>
          <a:p>
            <a:pPr lvl="1"/>
            <a:r>
              <a:rPr lang="en-US" dirty="0"/>
              <a:t>👉 </a:t>
            </a:r>
            <a:r>
              <a:rPr lang="en-US" dirty="0" err="1"/>
              <a:t>SelfHelp</a:t>
            </a:r>
            <a:r>
              <a:rPr lang="en-US" dirty="0"/>
              <a:t> moves us away from </a:t>
            </a:r>
            <a:r>
              <a:rPr lang="en-US" b="1" dirty="0"/>
              <a:t>isolated digital tools</a:t>
            </a:r>
            <a:br>
              <a:rPr lang="en-US" dirty="0"/>
            </a:br>
            <a:r>
              <a:rPr lang="en-US" dirty="0"/>
              <a:t>👉 toward a </a:t>
            </a:r>
            <a:r>
              <a:rPr lang="en-US" b="1" dirty="0"/>
              <a:t>single, integrated platform for research.</a:t>
            </a:r>
          </a:p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6C3B8C-8082-4473-8897-3B8AB5081CC5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3882901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Last but not least, I would like to thank </a:t>
            </a:r>
            <a:r>
              <a:rPr lang="en-US" b="1" dirty="0"/>
              <a:t>Thomas Berger</a:t>
            </a:r>
            <a:r>
              <a:rPr lang="en-US" dirty="0"/>
              <a:t> and his group, as well as </a:t>
            </a:r>
            <a:r>
              <a:rPr lang="en-US" b="1" dirty="0"/>
              <a:t>Tina Hascher </a:t>
            </a:r>
            <a:r>
              <a:rPr lang="en-US" dirty="0"/>
              <a:t>and her team, for the great collaboration on the LLM plugin implementations.</a:t>
            </a:r>
          </a:p>
          <a:p>
            <a:endParaRPr lang="en-US" dirty="0"/>
          </a:p>
          <a:p>
            <a:r>
              <a:rPr lang="en-US" dirty="0"/>
              <a:t>I would also like </a:t>
            </a:r>
            <a:r>
              <a:rPr lang="en-US" b="1" dirty="0"/>
              <a:t>to highlight</a:t>
            </a:r>
            <a:r>
              <a:rPr lang="en-US" dirty="0"/>
              <a:t> that all of this is </a:t>
            </a:r>
            <a:r>
              <a:rPr lang="en-US" b="1" dirty="0"/>
              <a:t>made possible </a:t>
            </a:r>
            <a:r>
              <a:rPr lang="en-US" dirty="0"/>
              <a:t>by the local LLM infrastructure, which </a:t>
            </a:r>
            <a:r>
              <a:rPr lang="en-US" b="1" dirty="0"/>
              <a:t>is currently being developed </a:t>
            </a:r>
            <a:r>
              <a:rPr lang="en-US" dirty="0"/>
              <a:t>by the </a:t>
            </a:r>
            <a:r>
              <a:rPr lang="en-US" dirty="0" err="1"/>
              <a:t>Informatikdienste</a:t>
            </a:r>
            <a:r>
              <a:rPr lang="en-US" dirty="0"/>
              <a:t> at the university.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And if you see value in this direction, I will really encourage you to support ID with a short letter of support so that this local LLM service can </a:t>
            </a:r>
            <a:r>
              <a:rPr lang="en-US" b="1" dirty="0"/>
              <a:t>become a permanent university service.</a:t>
            </a:r>
          </a:p>
          <a:p>
            <a:endParaRPr lang="en-US" dirty="0"/>
          </a:p>
          <a:p>
            <a:r>
              <a:rPr lang="en-US" dirty="0"/>
              <a:t>Thank you very much for your attention.</a:t>
            </a:r>
          </a:p>
          <a:p>
            <a:endParaRPr lang="en-US" dirty="0"/>
          </a:p>
          <a:p>
            <a:r>
              <a:rPr lang="en-US" dirty="0"/>
              <a:t>I will be happy to answer questions, and also happy to talk afterwards if someone wants </a:t>
            </a:r>
            <a:r>
              <a:rPr lang="en-US" b="1" dirty="0"/>
              <a:t>to discuss ideas in more detail.</a:t>
            </a:r>
          </a:p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6C3B8C-8082-4473-8897-3B8AB5081CC5}" type="slidenum">
              <a:rPr lang="LID4096" smtClean="0"/>
              <a:t>11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674213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BD2B-564D-7321-4513-33BF1035F3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6B8C13-7303-9F41-E728-847A2B4A18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99600A-197E-5476-92C3-C8B6B06FB5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CA5CE0-F7C1-476F-AF9B-2B5B68296F02}" type="datetimeFigureOut">
              <a:rPr lang="LID4096" smtClean="0"/>
              <a:t>03/30/2026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AB0124-2852-A409-0AE0-BC89AE7D1F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E46550-72EB-E51B-48C8-AD71092A6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996EF-1120-4097-84F2-2B2FFA8889C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84925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43BA0-ACE2-F91C-A44E-D3262AD4AB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52BCAD-A142-0E3E-A2E3-306F299F20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5E3344-F657-1E2C-0CF0-413133A3CE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CA5CE0-F7C1-476F-AF9B-2B5B68296F02}" type="datetimeFigureOut">
              <a:rPr lang="LID4096" smtClean="0"/>
              <a:t>03/30/2026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E1BEDC-B964-3E09-A973-CAAE9B2D4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C75246-5DAC-837D-5E7B-15D0B3EAF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996EF-1120-4097-84F2-2B2FFA8889C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673673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6BA262-F1CB-6663-49E8-8A01801C4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AD4C48-4BEA-7A7B-BECF-E2DB9DC372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4FC7F8-5F75-F0E7-DD31-85BA4A956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CA5CE0-F7C1-476F-AF9B-2B5B68296F02}" type="datetimeFigureOut">
              <a:rPr lang="LID4096" smtClean="0"/>
              <a:t>03/30/2026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8396AF-4658-5B42-2D46-38790618D8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56B349-45AC-CBDD-ADE6-5C9E99A9D4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996EF-1120-4097-84F2-2B2FFA8889C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54092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061CEB-16E0-B73B-5DD7-CCE85C1FB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192C4A-7813-DB8A-0BC6-7C3D9E1E96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6322AA-32C1-5395-3445-66CEFEEFDF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397118-61D4-B4AF-B44C-E538B2A772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CA5CE0-F7C1-476F-AF9B-2B5B68296F02}" type="datetimeFigureOut">
              <a:rPr lang="LID4096" smtClean="0"/>
              <a:t>03/30/2026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DF358B-3DF4-2150-0B53-1793EF46B1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A8A3CC-F0D1-C0BE-DCE3-C2D06FCC0A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996EF-1120-4097-84F2-2B2FFA8889C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257701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4798B6-9C6C-0B3A-266B-7DB06B356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5A700E-76F2-BD48-A759-4703CA310F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4B8655-0974-4588-6E36-1628AD0962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F37CABC-7D3A-62C3-DB71-DA9E71111B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F7EB86A-1608-A0BD-A914-23E5CE1F4B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7418443-9821-8B97-3594-8135CD5466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CA5CE0-F7C1-476F-AF9B-2B5B68296F02}" type="datetimeFigureOut">
              <a:rPr lang="LID4096" smtClean="0"/>
              <a:t>03/30/2026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8C1295B-0BF8-CC84-CC6F-BE24C60F13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2AD039-7323-0B9B-9188-EDAB5CF9B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996EF-1120-4097-84F2-2B2FFA8889C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77952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70B4-11C9-4B93-1CA1-68311C53D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92B3754-B160-F29F-75A2-D076F63FE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CA5CE0-F7C1-476F-AF9B-2B5B68296F02}" type="datetimeFigureOut">
              <a:rPr lang="LID4096" smtClean="0"/>
              <a:t>03/30/2026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615F8A2-9963-69BF-255D-48BD84CFE0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52753A-DEBE-A150-4F2A-960E2B307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996EF-1120-4097-84F2-2B2FFA8889C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338710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7C486DB-74FD-7F3C-2F20-B3FB06A94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CA5CE0-F7C1-476F-AF9B-2B5B68296F02}" type="datetimeFigureOut">
              <a:rPr lang="LID4096" smtClean="0"/>
              <a:t>03/30/2026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7F4EC45-089C-D4CD-BA58-43D997088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7B437A-5408-5345-76A6-3D8477BB15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996EF-1120-4097-84F2-2B2FFA8889C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511300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7A5A1-C03F-47A0-4F17-1A7C585159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48AFD5-D3DC-C532-8950-5532A791A1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8A7B9C-5836-ACF7-DC74-9CF87D44F8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AB4402-81EB-E05B-94E5-EC738925E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CA5CE0-F7C1-476F-AF9B-2B5B68296F02}" type="datetimeFigureOut">
              <a:rPr lang="LID4096" smtClean="0"/>
              <a:t>03/30/2026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D79AA6-8908-9B6A-393F-6D8342AA0B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27223B-B920-0B67-0C0E-A9A86CCC6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996EF-1120-4097-84F2-2B2FFA8889C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567354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2A81A-B4F1-2F09-3878-8DA0BC1E8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D743B25-1ACE-BEEB-FCEF-68506D38F4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773F3F-1405-82B7-49E7-6AC6ECC384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45B862-1476-BACD-ECB9-57CDB5CA24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CA5CE0-F7C1-476F-AF9B-2B5B68296F02}" type="datetimeFigureOut">
              <a:rPr lang="LID4096" smtClean="0"/>
              <a:t>03/30/2026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7CD3F1-BD5E-4C5B-2F28-0D8E5CA3C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02C2DE-CBB3-3C7C-D169-16FCC274C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996EF-1120-4097-84F2-2B2FFA8889C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736079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060056-EADE-562F-6D1C-D4113696F8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3348CE-AE19-8B56-3930-43DBCEF708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5993FD-ACE7-8F52-7625-0BE5E17FD4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CA5CE0-F7C1-476F-AF9B-2B5B68296F02}" type="datetimeFigureOut">
              <a:rPr lang="LID4096" smtClean="0"/>
              <a:t>03/30/2026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7A314B-A41F-47DA-DB34-FB6CC7512E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04AE90-8EC2-2393-29EA-7411AA4D71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996EF-1120-4097-84F2-2B2FFA8889C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008924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61E974-B7CD-8226-9F8F-5F42377FFD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FAB609E-6EA2-8F70-12B3-C78FDF1913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4A3FB6-7601-449A-FD61-B0527B0B5A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CA5CE0-F7C1-476F-AF9B-2B5B68296F02}" type="datetimeFigureOut">
              <a:rPr lang="LID4096" smtClean="0"/>
              <a:t>03/30/2026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BA0BC7-0274-2876-0DD2-BFCA5714F7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CA8F15-C0B5-0CC7-2C7D-E46B832A2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996EF-1120-4097-84F2-2B2FFA8889C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8829698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C0A04F9-F1EE-E13B-CB03-6D2EF0C574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7847C2-6EF3-F5A2-34D5-AAFA1BA79D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989B1A-08EA-D194-8829-2D8EE1F0B09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CA5CE0-F7C1-476F-AF9B-2B5B68296F02}" type="datetimeFigureOut">
              <a:rPr lang="LID4096" smtClean="0"/>
              <a:t>03/30/2026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5B0288-223B-BDD5-6A78-D2B1C14A55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D95025-126A-0F26-44DD-EA2489B0F0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5996EF-1120-4097-84F2-2B2FFA8889C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172155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333C0E-2992-B32D-AA33-A245EA5923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79438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E07E65C-4859-42EB-ECC8-E9307030D2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77139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5E7B72-0553-FB19-AD56-0451B26CB6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46687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7848E1-4385-3A6D-8894-0A768A4625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6109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A3204E8-4D1E-13A2-F577-258778D99F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42049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30BBD2-FF55-E99E-C744-3BF1FED422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0512BB3-F708-84FD-D255-AC002DF204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778AE2-7F50-53EF-4361-1ACB5E7BFB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27918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58E8D67-38D8-E01D-D7DE-4C5801F8228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76401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7C7169-A39C-CEB8-9D2D-93D92DD02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95410E3-DB68-8813-FFC4-7E6CC7D19C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5CE2BA7-D5C2-3229-CCE4-79ECFFEC8C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84192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725B56-3A39-34AE-2184-427195B87A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5492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4E3024-4A8C-7CBC-07D3-574465EF21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63043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0A976AB-ADB7-027B-162E-A8B34A7B79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44967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1706</Words>
  <Application>Microsoft Office PowerPoint</Application>
  <PresentationFormat>Widescreen</PresentationFormat>
  <Paragraphs>175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Kodzhabashev, Stefan Tiholov (HUMDEK)</dc:creator>
  <cp:lastModifiedBy>Kodzhabashev, Stefan Tiholov (HUMDEK)</cp:lastModifiedBy>
  <cp:revision>137</cp:revision>
  <dcterms:created xsi:type="dcterms:W3CDTF">2026-03-28T10:50:04Z</dcterms:created>
  <dcterms:modified xsi:type="dcterms:W3CDTF">2026-03-30T16:35:18Z</dcterms:modified>
</cp:coreProperties>
</file>