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1430000" cy="6445250"/>
  <p:notesSz cx="11430000" cy="64452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7250" y="1998027"/>
            <a:ext cx="9715500" cy="13535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rgbClr val="1F1E1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rgbClr val="1F1E1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rgbClr val="1F1E1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871514" y="1886102"/>
            <a:ext cx="4398645" cy="35140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3A3535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00" b="1" i="0">
                <a:solidFill>
                  <a:srgbClr val="1F1E1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640" y="494411"/>
            <a:ext cx="6170295" cy="8648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00" b="1" i="0">
                <a:solidFill>
                  <a:srgbClr val="1F1E1E"/>
                </a:solidFill>
                <a:latin typeface="Verdana"/>
                <a:cs typeface="Verdan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71500" y="1482407"/>
            <a:ext cx="1028700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48900" y="676274"/>
            <a:ext cx="685799" cy="6857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92721" y="2407602"/>
            <a:ext cx="1709420" cy="481965"/>
          </a:xfrm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3000" spc="-100"/>
              <a:t>SelfHelp</a:t>
            </a:r>
            <a:endParaRPr sz="3000"/>
          </a:p>
        </p:txBody>
      </p:sp>
      <p:sp>
        <p:nvSpPr>
          <p:cNvPr id="4" name="object 4"/>
          <p:cNvSpPr txBox="1"/>
          <p:nvPr/>
        </p:nvSpPr>
        <p:spPr>
          <a:xfrm>
            <a:off x="492721" y="3033776"/>
            <a:ext cx="3565525" cy="19875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100" spc="70">
                <a:solidFill>
                  <a:srgbClr val="3A3535"/>
                </a:solidFill>
                <a:latin typeface="Century Gothic"/>
                <a:cs typeface="Century Gothic"/>
              </a:rPr>
              <a:t>From</a:t>
            </a:r>
            <a:r>
              <a:rPr dirty="0" sz="1100" spc="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100" spc="50">
                <a:solidFill>
                  <a:srgbClr val="3A3535"/>
                </a:solidFill>
                <a:latin typeface="Century Gothic"/>
                <a:cs typeface="Century Gothic"/>
              </a:rPr>
              <a:t>website</a:t>
            </a:r>
            <a:r>
              <a:rPr dirty="0" sz="1100" spc="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100" spc="80">
                <a:solidFill>
                  <a:srgbClr val="3A3535"/>
                </a:solidFill>
                <a:latin typeface="Century Gothic"/>
                <a:cs typeface="Century Gothic"/>
              </a:rPr>
              <a:t>system</a:t>
            </a:r>
            <a:r>
              <a:rPr dirty="0" sz="11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100" spc="60">
                <a:solidFill>
                  <a:srgbClr val="3A3535"/>
                </a:solidFill>
                <a:latin typeface="Century Gothic"/>
                <a:cs typeface="Century Gothic"/>
              </a:rPr>
              <a:t>to</a:t>
            </a:r>
            <a:r>
              <a:rPr dirty="0" sz="1100" spc="20">
                <a:solidFill>
                  <a:srgbClr val="3A3535"/>
                </a:solidFill>
                <a:latin typeface="Century Gothic"/>
                <a:cs typeface="Century Gothic"/>
              </a:rPr>
              <a:t> digital</a:t>
            </a:r>
            <a:r>
              <a:rPr dirty="0" sz="11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100" spc="20">
                <a:solidFill>
                  <a:srgbClr val="3A3535"/>
                </a:solidFill>
                <a:latin typeface="Century Gothic"/>
                <a:cs typeface="Century Gothic"/>
              </a:rPr>
              <a:t>program </a:t>
            </a:r>
            <a:r>
              <a:rPr dirty="0" sz="1100" spc="-10">
                <a:solidFill>
                  <a:srgbClr val="3A3535"/>
                </a:solidFill>
                <a:latin typeface="Century Gothic"/>
                <a:cs typeface="Century Gothic"/>
              </a:rPr>
              <a:t>platform</a:t>
            </a:r>
            <a:endParaRPr sz="1100">
              <a:latin typeface="Century Gothic"/>
              <a:cs typeface="Century Gothic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91375" y="2133600"/>
            <a:ext cx="2666999" cy="265747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837635" y="5405780"/>
            <a:ext cx="3756660" cy="478790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110"/>
              </a:spcBef>
            </a:pPr>
            <a:r>
              <a:rPr dirty="0" sz="900">
                <a:solidFill>
                  <a:srgbClr val="3A3535"/>
                </a:solidFill>
                <a:latin typeface="Century Gothic"/>
                <a:cs typeface="Century Gothic"/>
              </a:rPr>
              <a:t>Stefan</a:t>
            </a:r>
            <a:r>
              <a:rPr dirty="0" sz="900" spc="6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>
                <a:solidFill>
                  <a:srgbClr val="3A3535"/>
                </a:solidFill>
                <a:latin typeface="Century Gothic"/>
                <a:cs typeface="Century Gothic"/>
              </a:rPr>
              <a:t>Kodzhabashev</a:t>
            </a:r>
            <a:r>
              <a:rPr dirty="0" sz="900" spc="6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 spc="-75">
                <a:solidFill>
                  <a:srgbClr val="3A3535"/>
                </a:solidFill>
                <a:latin typeface="Century Gothic"/>
                <a:cs typeface="Century Gothic"/>
              </a:rPr>
              <a:t>·</a:t>
            </a:r>
            <a:r>
              <a:rPr dirty="0" sz="900" spc="6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 spc="65">
                <a:solidFill>
                  <a:srgbClr val="3A3535"/>
                </a:solidFill>
                <a:latin typeface="Century Gothic"/>
                <a:cs typeface="Century Gothic"/>
              </a:rPr>
              <a:t>30.03.2026</a:t>
            </a:r>
            <a:endParaRPr sz="9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sz="900">
              <a:latin typeface="Century Gothic"/>
              <a:cs typeface="Century Gothic"/>
            </a:endParaRPr>
          </a:p>
          <a:p>
            <a:pPr algn="ctr">
              <a:lnSpc>
                <a:spcPct val="100000"/>
              </a:lnSpc>
            </a:pPr>
            <a:r>
              <a:rPr dirty="0" sz="900">
                <a:solidFill>
                  <a:srgbClr val="3A3535"/>
                </a:solidFill>
                <a:latin typeface="Century Gothic"/>
                <a:cs typeface="Century Gothic"/>
              </a:rPr>
              <a:t>Faculty</a:t>
            </a:r>
            <a:r>
              <a:rPr dirty="0" sz="9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>
                <a:solidFill>
                  <a:srgbClr val="3A3535"/>
                </a:solidFill>
                <a:latin typeface="Century Gothic"/>
                <a:cs typeface="Century Gothic"/>
              </a:rPr>
              <a:t>Meeting</a:t>
            </a:r>
            <a:r>
              <a:rPr dirty="0" sz="9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 spc="-75">
                <a:solidFill>
                  <a:srgbClr val="3A3535"/>
                </a:solidFill>
                <a:latin typeface="Century Gothic"/>
                <a:cs typeface="Century Gothic"/>
              </a:rPr>
              <a:t>·</a:t>
            </a:r>
            <a:r>
              <a:rPr dirty="0" sz="900" spc="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 spc="-10">
                <a:solidFill>
                  <a:srgbClr val="3A3535"/>
                </a:solidFill>
                <a:latin typeface="Century Gothic"/>
                <a:cs typeface="Century Gothic"/>
              </a:rPr>
              <a:t>March</a:t>
            </a:r>
            <a:r>
              <a:rPr dirty="0" sz="9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 spc="95">
                <a:solidFill>
                  <a:srgbClr val="3A3535"/>
                </a:solidFill>
                <a:latin typeface="Century Gothic"/>
                <a:cs typeface="Century Gothic"/>
              </a:rPr>
              <a:t>2026</a:t>
            </a:r>
            <a:r>
              <a:rPr dirty="0" sz="900" spc="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 spc="-75">
                <a:solidFill>
                  <a:srgbClr val="3A3535"/>
                </a:solidFill>
                <a:latin typeface="Century Gothic"/>
                <a:cs typeface="Century Gothic"/>
              </a:rPr>
              <a:t>·</a:t>
            </a:r>
            <a:r>
              <a:rPr dirty="0" sz="9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 spc="50">
                <a:solidFill>
                  <a:srgbClr val="3A3535"/>
                </a:solidFill>
                <a:latin typeface="Century Gothic"/>
                <a:cs typeface="Century Gothic"/>
              </a:rPr>
              <a:t>Building</a:t>
            </a:r>
            <a:r>
              <a:rPr dirty="0" sz="900" spc="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>
                <a:solidFill>
                  <a:srgbClr val="3A3535"/>
                </a:solidFill>
                <a:latin typeface="Century Gothic"/>
                <a:cs typeface="Century Gothic"/>
              </a:rPr>
              <a:t>on</a:t>
            </a:r>
            <a:r>
              <a:rPr dirty="0" sz="9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>
                <a:solidFill>
                  <a:srgbClr val="3A3535"/>
                </a:solidFill>
                <a:latin typeface="Century Gothic"/>
                <a:cs typeface="Century Gothic"/>
              </a:rPr>
              <a:t>our</a:t>
            </a:r>
            <a:r>
              <a:rPr dirty="0" sz="9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>
                <a:solidFill>
                  <a:srgbClr val="3A3535"/>
                </a:solidFill>
                <a:latin typeface="Century Gothic"/>
                <a:cs typeface="Century Gothic"/>
              </a:rPr>
              <a:t>2021</a:t>
            </a:r>
            <a:r>
              <a:rPr dirty="0" sz="900" spc="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900" spc="-10">
                <a:solidFill>
                  <a:srgbClr val="3A3535"/>
                </a:solidFill>
                <a:latin typeface="Century Gothic"/>
                <a:cs typeface="Century Gothic"/>
              </a:rPr>
              <a:t>presentation</a:t>
            </a:r>
            <a:endParaRPr sz="9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79640" y="1589786"/>
            <a:ext cx="3785235" cy="56007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215"/>
              <a:t>What</a:t>
            </a:r>
            <a:r>
              <a:rPr dirty="0" spc="-400"/>
              <a:t> </a:t>
            </a:r>
            <a:r>
              <a:rPr dirty="0" spc="-130"/>
              <a:t>SelfHelp</a:t>
            </a:r>
            <a:r>
              <a:rPr dirty="0" spc="-395"/>
              <a:t> </a:t>
            </a:r>
            <a:r>
              <a:rPr dirty="0" spc="-505"/>
              <a:t>Is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79635" y="2459550"/>
            <a:ext cx="9766300" cy="5778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39400"/>
              </a:lnSpc>
              <a:spcBef>
                <a:spcPts val="9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A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modular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platform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that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brings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content,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assessments,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workflows,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mobile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delivery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into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one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connected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system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— 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hostable</a:t>
            </a:r>
            <a:r>
              <a:rPr dirty="0" sz="1300" spc="10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under</a:t>
            </a:r>
            <a:r>
              <a:rPr dirty="0" sz="1300" spc="10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university</a:t>
            </a:r>
            <a:r>
              <a:rPr dirty="0" sz="1300" spc="1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control.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90550" y="3257550"/>
            <a:ext cx="3305175" cy="1552575"/>
            <a:chOff x="590550" y="3257550"/>
            <a:chExt cx="3305175" cy="1552575"/>
          </a:xfrm>
        </p:grpSpPr>
        <p:sp>
          <p:nvSpPr>
            <p:cNvPr id="5" name="object 5"/>
            <p:cNvSpPr/>
            <p:nvPr/>
          </p:nvSpPr>
          <p:spPr>
            <a:xfrm>
              <a:off x="595312" y="3262312"/>
              <a:ext cx="3295650" cy="1543050"/>
            </a:xfrm>
            <a:custGeom>
              <a:avLst/>
              <a:gdLst/>
              <a:ahLst/>
              <a:cxnLst/>
              <a:rect l="l" t="t" r="r" b="b"/>
              <a:pathLst>
                <a:path w="3295650" h="1543050">
                  <a:moveTo>
                    <a:pt x="3244748" y="0"/>
                  </a:moveTo>
                  <a:lnTo>
                    <a:pt x="50904" y="0"/>
                  </a:lnTo>
                  <a:lnTo>
                    <a:pt x="47362" y="342"/>
                  </a:lnTo>
                  <a:lnTo>
                    <a:pt x="13428" y="18491"/>
                  </a:lnTo>
                  <a:lnTo>
                    <a:pt x="0" y="50901"/>
                  </a:lnTo>
                  <a:lnTo>
                    <a:pt x="0" y="1488567"/>
                  </a:lnTo>
                  <a:lnTo>
                    <a:pt x="0" y="1492148"/>
                  </a:lnTo>
                  <a:lnTo>
                    <a:pt x="18484" y="1529626"/>
                  </a:lnTo>
                  <a:lnTo>
                    <a:pt x="50904" y="1543050"/>
                  </a:lnTo>
                  <a:lnTo>
                    <a:pt x="3244748" y="1543050"/>
                  </a:lnTo>
                  <a:lnTo>
                    <a:pt x="3282226" y="1524558"/>
                  </a:lnTo>
                  <a:lnTo>
                    <a:pt x="3295650" y="1492148"/>
                  </a:lnTo>
                  <a:lnTo>
                    <a:pt x="3295650" y="50901"/>
                  </a:lnTo>
                  <a:lnTo>
                    <a:pt x="3277158" y="13423"/>
                  </a:lnTo>
                  <a:lnTo>
                    <a:pt x="3248291" y="342"/>
                  </a:lnTo>
                  <a:lnTo>
                    <a:pt x="3244748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95312" y="3262312"/>
              <a:ext cx="3295650" cy="1543050"/>
            </a:xfrm>
            <a:custGeom>
              <a:avLst/>
              <a:gdLst/>
              <a:ahLst/>
              <a:cxnLst/>
              <a:rect l="l" t="t" r="r" b="b"/>
              <a:pathLst>
                <a:path w="3295650" h="1543050">
                  <a:moveTo>
                    <a:pt x="0" y="1488567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6" y="47358"/>
                  </a:lnTo>
                  <a:lnTo>
                    <a:pt x="1046" y="43853"/>
                  </a:lnTo>
                  <a:lnTo>
                    <a:pt x="1746" y="40347"/>
                  </a:lnTo>
                  <a:lnTo>
                    <a:pt x="2778" y="36931"/>
                  </a:lnTo>
                  <a:lnTo>
                    <a:pt x="4147" y="33629"/>
                  </a:lnTo>
                  <a:lnTo>
                    <a:pt x="5516" y="30327"/>
                  </a:lnTo>
                  <a:lnTo>
                    <a:pt x="24213" y="9182"/>
                  </a:lnTo>
                  <a:lnTo>
                    <a:pt x="27185" y="7188"/>
                  </a:lnTo>
                  <a:lnTo>
                    <a:pt x="30326" y="5511"/>
                  </a:lnTo>
                  <a:lnTo>
                    <a:pt x="33629" y="4152"/>
                  </a:lnTo>
                  <a:lnTo>
                    <a:pt x="36939" y="2781"/>
                  </a:lnTo>
                  <a:lnTo>
                    <a:pt x="40342" y="1739"/>
                  </a:lnTo>
                  <a:lnTo>
                    <a:pt x="43854" y="1041"/>
                  </a:lnTo>
                  <a:lnTo>
                    <a:pt x="47362" y="342"/>
                  </a:lnTo>
                  <a:lnTo>
                    <a:pt x="50904" y="0"/>
                  </a:lnTo>
                  <a:lnTo>
                    <a:pt x="54480" y="0"/>
                  </a:lnTo>
                  <a:lnTo>
                    <a:pt x="3241167" y="0"/>
                  </a:lnTo>
                  <a:lnTo>
                    <a:pt x="3244748" y="0"/>
                  </a:lnTo>
                  <a:lnTo>
                    <a:pt x="3248291" y="342"/>
                  </a:lnTo>
                  <a:lnTo>
                    <a:pt x="3251796" y="1041"/>
                  </a:lnTo>
                  <a:lnTo>
                    <a:pt x="3255302" y="1739"/>
                  </a:lnTo>
                  <a:lnTo>
                    <a:pt x="3258705" y="2781"/>
                  </a:lnTo>
                  <a:lnTo>
                    <a:pt x="3262020" y="4152"/>
                  </a:lnTo>
                  <a:lnTo>
                    <a:pt x="3265322" y="5511"/>
                  </a:lnTo>
                  <a:lnTo>
                    <a:pt x="3268459" y="7188"/>
                  </a:lnTo>
                  <a:lnTo>
                    <a:pt x="3271431" y="9182"/>
                  </a:lnTo>
                  <a:lnTo>
                    <a:pt x="3274415" y="11163"/>
                  </a:lnTo>
                  <a:lnTo>
                    <a:pt x="3277158" y="13423"/>
                  </a:lnTo>
                  <a:lnTo>
                    <a:pt x="3279686" y="15951"/>
                  </a:lnTo>
                  <a:lnTo>
                    <a:pt x="3282226" y="18491"/>
                  </a:lnTo>
                  <a:lnTo>
                    <a:pt x="3284486" y="21234"/>
                  </a:lnTo>
                  <a:lnTo>
                    <a:pt x="3286467" y="24206"/>
                  </a:lnTo>
                  <a:lnTo>
                    <a:pt x="3288461" y="27190"/>
                  </a:lnTo>
                  <a:lnTo>
                    <a:pt x="3290138" y="30327"/>
                  </a:lnTo>
                  <a:lnTo>
                    <a:pt x="3291497" y="33629"/>
                  </a:lnTo>
                  <a:lnTo>
                    <a:pt x="3292868" y="36931"/>
                  </a:lnTo>
                  <a:lnTo>
                    <a:pt x="3293910" y="40347"/>
                  </a:lnTo>
                  <a:lnTo>
                    <a:pt x="3294608" y="43853"/>
                  </a:lnTo>
                  <a:lnTo>
                    <a:pt x="3295307" y="47358"/>
                  </a:lnTo>
                  <a:lnTo>
                    <a:pt x="3295650" y="50901"/>
                  </a:lnTo>
                  <a:lnTo>
                    <a:pt x="3295650" y="54483"/>
                  </a:lnTo>
                  <a:lnTo>
                    <a:pt x="3295650" y="1488567"/>
                  </a:lnTo>
                  <a:lnTo>
                    <a:pt x="3295650" y="1492148"/>
                  </a:lnTo>
                  <a:lnTo>
                    <a:pt x="3295307" y="1495691"/>
                  </a:lnTo>
                  <a:lnTo>
                    <a:pt x="3294608" y="1499196"/>
                  </a:lnTo>
                  <a:lnTo>
                    <a:pt x="3293910" y="1502702"/>
                  </a:lnTo>
                  <a:lnTo>
                    <a:pt x="3292868" y="1506105"/>
                  </a:lnTo>
                  <a:lnTo>
                    <a:pt x="3291497" y="1509420"/>
                  </a:lnTo>
                  <a:lnTo>
                    <a:pt x="3290138" y="1512722"/>
                  </a:lnTo>
                  <a:lnTo>
                    <a:pt x="3288461" y="1515859"/>
                  </a:lnTo>
                  <a:lnTo>
                    <a:pt x="3286467" y="1518831"/>
                  </a:lnTo>
                  <a:lnTo>
                    <a:pt x="3284486" y="1521802"/>
                  </a:lnTo>
                  <a:lnTo>
                    <a:pt x="3282226" y="1524558"/>
                  </a:lnTo>
                  <a:lnTo>
                    <a:pt x="3279686" y="1527086"/>
                  </a:lnTo>
                  <a:lnTo>
                    <a:pt x="3277158" y="1529626"/>
                  </a:lnTo>
                  <a:lnTo>
                    <a:pt x="3244748" y="1543050"/>
                  </a:lnTo>
                  <a:lnTo>
                    <a:pt x="3241167" y="1543050"/>
                  </a:lnTo>
                  <a:lnTo>
                    <a:pt x="54480" y="1543050"/>
                  </a:lnTo>
                  <a:lnTo>
                    <a:pt x="50904" y="1543050"/>
                  </a:lnTo>
                  <a:lnTo>
                    <a:pt x="47362" y="1542694"/>
                  </a:lnTo>
                  <a:lnTo>
                    <a:pt x="15958" y="1527086"/>
                  </a:lnTo>
                  <a:lnTo>
                    <a:pt x="13428" y="1524558"/>
                  </a:lnTo>
                  <a:lnTo>
                    <a:pt x="11167" y="1521802"/>
                  </a:lnTo>
                  <a:lnTo>
                    <a:pt x="9182" y="1518831"/>
                  </a:lnTo>
                  <a:lnTo>
                    <a:pt x="7193" y="1515859"/>
                  </a:lnTo>
                  <a:lnTo>
                    <a:pt x="1046" y="1499196"/>
                  </a:lnTo>
                  <a:lnTo>
                    <a:pt x="346" y="1495691"/>
                  </a:lnTo>
                  <a:lnTo>
                    <a:pt x="0" y="1492148"/>
                  </a:lnTo>
                  <a:lnTo>
                    <a:pt x="0" y="1488567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758377" y="3412680"/>
            <a:ext cx="2436495" cy="11868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Modular</a:t>
            </a:r>
            <a:endParaRPr sz="1750">
              <a:latin typeface="Verdana"/>
              <a:cs typeface="Verdana"/>
            </a:endParaRPr>
          </a:p>
          <a:p>
            <a:pPr algn="just" marL="12700" marR="5080">
              <a:lnSpc>
                <a:spcPct val="137000"/>
              </a:lnSpc>
              <a:spcBef>
                <a:spcPts val="625"/>
              </a:spcBef>
            </a:pP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Reusable</a:t>
            </a:r>
            <a:r>
              <a:rPr dirty="0" sz="1300" spc="1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components</a:t>
            </a:r>
            <a:r>
              <a:rPr dirty="0" sz="1300" spc="1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0">
                <a:solidFill>
                  <a:srgbClr val="3A3535"/>
                </a:solidFill>
                <a:latin typeface="Century Gothic"/>
                <a:cs typeface="Century Gothic"/>
              </a:rPr>
              <a:t>make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programs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faster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to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build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and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easier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to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adapt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067175" y="3257550"/>
            <a:ext cx="3295650" cy="1552575"/>
            <a:chOff x="4067175" y="3257550"/>
            <a:chExt cx="3295650" cy="1552575"/>
          </a:xfrm>
        </p:grpSpPr>
        <p:sp>
          <p:nvSpPr>
            <p:cNvPr id="9" name="object 9"/>
            <p:cNvSpPr/>
            <p:nvPr/>
          </p:nvSpPr>
          <p:spPr>
            <a:xfrm>
              <a:off x="4071937" y="3262312"/>
              <a:ext cx="3286125" cy="1543050"/>
            </a:xfrm>
            <a:custGeom>
              <a:avLst/>
              <a:gdLst/>
              <a:ahLst/>
              <a:cxnLst/>
              <a:rect l="l" t="t" r="r" b="b"/>
              <a:pathLst>
                <a:path w="3286125" h="1543050">
                  <a:moveTo>
                    <a:pt x="3235223" y="0"/>
                  </a:moveTo>
                  <a:lnTo>
                    <a:pt x="50901" y="0"/>
                  </a:lnTo>
                  <a:lnTo>
                    <a:pt x="47358" y="342"/>
                  </a:lnTo>
                  <a:lnTo>
                    <a:pt x="13423" y="18491"/>
                  </a:lnTo>
                  <a:lnTo>
                    <a:pt x="0" y="50901"/>
                  </a:lnTo>
                  <a:lnTo>
                    <a:pt x="0" y="1488567"/>
                  </a:lnTo>
                  <a:lnTo>
                    <a:pt x="0" y="1492148"/>
                  </a:lnTo>
                  <a:lnTo>
                    <a:pt x="15963" y="1527086"/>
                  </a:lnTo>
                  <a:lnTo>
                    <a:pt x="18478" y="1529626"/>
                  </a:lnTo>
                  <a:lnTo>
                    <a:pt x="50901" y="1543050"/>
                  </a:lnTo>
                  <a:lnTo>
                    <a:pt x="3235223" y="1543050"/>
                  </a:lnTo>
                  <a:lnTo>
                    <a:pt x="3272701" y="1524558"/>
                  </a:lnTo>
                  <a:lnTo>
                    <a:pt x="3286125" y="1492148"/>
                  </a:lnTo>
                  <a:lnTo>
                    <a:pt x="3286125" y="50901"/>
                  </a:lnTo>
                  <a:lnTo>
                    <a:pt x="3267633" y="13423"/>
                  </a:lnTo>
                  <a:lnTo>
                    <a:pt x="3238766" y="342"/>
                  </a:lnTo>
                  <a:lnTo>
                    <a:pt x="323522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071937" y="3262312"/>
              <a:ext cx="3286125" cy="1543050"/>
            </a:xfrm>
            <a:custGeom>
              <a:avLst/>
              <a:gdLst/>
              <a:ahLst/>
              <a:cxnLst/>
              <a:rect l="l" t="t" r="r" b="b"/>
              <a:pathLst>
                <a:path w="3286125" h="1543050">
                  <a:moveTo>
                    <a:pt x="0" y="1488567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2" y="47358"/>
                  </a:lnTo>
                  <a:lnTo>
                    <a:pt x="1041" y="43853"/>
                  </a:lnTo>
                  <a:lnTo>
                    <a:pt x="1752" y="40347"/>
                  </a:lnTo>
                  <a:lnTo>
                    <a:pt x="2781" y="36931"/>
                  </a:lnTo>
                  <a:lnTo>
                    <a:pt x="4152" y="33629"/>
                  </a:lnTo>
                  <a:lnTo>
                    <a:pt x="5511" y="30327"/>
                  </a:lnTo>
                  <a:lnTo>
                    <a:pt x="7188" y="27190"/>
                  </a:lnTo>
                  <a:lnTo>
                    <a:pt x="9182" y="24206"/>
                  </a:lnTo>
                  <a:lnTo>
                    <a:pt x="11163" y="21234"/>
                  </a:lnTo>
                  <a:lnTo>
                    <a:pt x="13423" y="18491"/>
                  </a:lnTo>
                  <a:lnTo>
                    <a:pt x="15963" y="15951"/>
                  </a:lnTo>
                  <a:lnTo>
                    <a:pt x="18478" y="13423"/>
                  </a:lnTo>
                  <a:lnTo>
                    <a:pt x="21234" y="11163"/>
                  </a:lnTo>
                  <a:lnTo>
                    <a:pt x="24218" y="9182"/>
                  </a:lnTo>
                  <a:lnTo>
                    <a:pt x="27190" y="7188"/>
                  </a:lnTo>
                  <a:lnTo>
                    <a:pt x="30327" y="5511"/>
                  </a:lnTo>
                  <a:lnTo>
                    <a:pt x="33629" y="4152"/>
                  </a:lnTo>
                  <a:lnTo>
                    <a:pt x="36931" y="2781"/>
                  </a:lnTo>
                  <a:lnTo>
                    <a:pt x="40347" y="1739"/>
                  </a:lnTo>
                  <a:lnTo>
                    <a:pt x="43853" y="1041"/>
                  </a:lnTo>
                  <a:lnTo>
                    <a:pt x="47358" y="342"/>
                  </a:lnTo>
                  <a:lnTo>
                    <a:pt x="50901" y="0"/>
                  </a:lnTo>
                  <a:lnTo>
                    <a:pt x="54483" y="0"/>
                  </a:lnTo>
                  <a:lnTo>
                    <a:pt x="3231642" y="0"/>
                  </a:lnTo>
                  <a:lnTo>
                    <a:pt x="3235223" y="0"/>
                  </a:lnTo>
                  <a:lnTo>
                    <a:pt x="3238766" y="342"/>
                  </a:lnTo>
                  <a:lnTo>
                    <a:pt x="3242271" y="1041"/>
                  </a:lnTo>
                  <a:lnTo>
                    <a:pt x="3245777" y="1739"/>
                  </a:lnTo>
                  <a:lnTo>
                    <a:pt x="3249180" y="2781"/>
                  </a:lnTo>
                  <a:lnTo>
                    <a:pt x="3252495" y="4152"/>
                  </a:lnTo>
                  <a:lnTo>
                    <a:pt x="3255797" y="5511"/>
                  </a:lnTo>
                  <a:lnTo>
                    <a:pt x="3258934" y="7188"/>
                  </a:lnTo>
                  <a:lnTo>
                    <a:pt x="3261906" y="9182"/>
                  </a:lnTo>
                  <a:lnTo>
                    <a:pt x="3264890" y="11163"/>
                  </a:lnTo>
                  <a:lnTo>
                    <a:pt x="3267633" y="13423"/>
                  </a:lnTo>
                  <a:lnTo>
                    <a:pt x="3270161" y="15951"/>
                  </a:lnTo>
                  <a:lnTo>
                    <a:pt x="3272701" y="18491"/>
                  </a:lnTo>
                  <a:lnTo>
                    <a:pt x="3281972" y="33629"/>
                  </a:lnTo>
                  <a:lnTo>
                    <a:pt x="3283343" y="36931"/>
                  </a:lnTo>
                  <a:lnTo>
                    <a:pt x="3284385" y="40347"/>
                  </a:lnTo>
                  <a:lnTo>
                    <a:pt x="3285083" y="43853"/>
                  </a:lnTo>
                  <a:lnTo>
                    <a:pt x="3285782" y="47358"/>
                  </a:lnTo>
                  <a:lnTo>
                    <a:pt x="3286125" y="50901"/>
                  </a:lnTo>
                  <a:lnTo>
                    <a:pt x="3286125" y="54483"/>
                  </a:lnTo>
                  <a:lnTo>
                    <a:pt x="3286125" y="1488567"/>
                  </a:lnTo>
                  <a:lnTo>
                    <a:pt x="3286125" y="1492148"/>
                  </a:lnTo>
                  <a:lnTo>
                    <a:pt x="3285782" y="1495691"/>
                  </a:lnTo>
                  <a:lnTo>
                    <a:pt x="3285083" y="1499196"/>
                  </a:lnTo>
                  <a:lnTo>
                    <a:pt x="3284385" y="1502702"/>
                  </a:lnTo>
                  <a:lnTo>
                    <a:pt x="3283343" y="1506105"/>
                  </a:lnTo>
                  <a:lnTo>
                    <a:pt x="3281972" y="1509420"/>
                  </a:lnTo>
                  <a:lnTo>
                    <a:pt x="3280613" y="1512722"/>
                  </a:lnTo>
                  <a:lnTo>
                    <a:pt x="3278936" y="1515859"/>
                  </a:lnTo>
                  <a:lnTo>
                    <a:pt x="3276942" y="1518831"/>
                  </a:lnTo>
                  <a:lnTo>
                    <a:pt x="3274949" y="1521802"/>
                  </a:lnTo>
                  <a:lnTo>
                    <a:pt x="3272701" y="1524558"/>
                  </a:lnTo>
                  <a:lnTo>
                    <a:pt x="3270161" y="1527086"/>
                  </a:lnTo>
                  <a:lnTo>
                    <a:pt x="3267633" y="1529626"/>
                  </a:lnTo>
                  <a:lnTo>
                    <a:pt x="3235223" y="1543050"/>
                  </a:lnTo>
                  <a:lnTo>
                    <a:pt x="3231642" y="1543050"/>
                  </a:lnTo>
                  <a:lnTo>
                    <a:pt x="54483" y="1543050"/>
                  </a:lnTo>
                  <a:lnTo>
                    <a:pt x="50901" y="1543050"/>
                  </a:lnTo>
                  <a:lnTo>
                    <a:pt x="47358" y="1542694"/>
                  </a:lnTo>
                  <a:lnTo>
                    <a:pt x="15963" y="1527086"/>
                  </a:lnTo>
                  <a:lnTo>
                    <a:pt x="13423" y="1524558"/>
                  </a:lnTo>
                  <a:lnTo>
                    <a:pt x="11163" y="1521802"/>
                  </a:lnTo>
                  <a:lnTo>
                    <a:pt x="9182" y="1518831"/>
                  </a:lnTo>
                  <a:lnTo>
                    <a:pt x="7188" y="1515859"/>
                  </a:lnTo>
                  <a:lnTo>
                    <a:pt x="5511" y="1512722"/>
                  </a:lnTo>
                  <a:lnTo>
                    <a:pt x="4152" y="1509420"/>
                  </a:lnTo>
                  <a:lnTo>
                    <a:pt x="2781" y="1506105"/>
                  </a:lnTo>
                  <a:lnTo>
                    <a:pt x="1752" y="1502702"/>
                  </a:lnTo>
                  <a:lnTo>
                    <a:pt x="1041" y="1499196"/>
                  </a:lnTo>
                  <a:lnTo>
                    <a:pt x="342" y="1495691"/>
                  </a:lnTo>
                  <a:lnTo>
                    <a:pt x="0" y="1492148"/>
                  </a:lnTo>
                  <a:lnTo>
                    <a:pt x="0" y="1488567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4229798" y="3412680"/>
            <a:ext cx="2832100" cy="9105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Connected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4600"/>
              </a:lnSpc>
              <a:spcBef>
                <a:spcPts val="66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Content,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data,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workflows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0">
                <a:solidFill>
                  <a:srgbClr val="3A3535"/>
                </a:solidFill>
                <a:latin typeface="Century Gothic"/>
                <a:cs typeface="Century Gothic"/>
              </a:rPr>
              <a:t>live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in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one</a:t>
            </a:r>
            <a:r>
              <a:rPr dirty="0" sz="1300" spc="-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environment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7534275" y="3257550"/>
            <a:ext cx="3305175" cy="1552575"/>
            <a:chOff x="7534275" y="3257550"/>
            <a:chExt cx="3305175" cy="1552575"/>
          </a:xfrm>
        </p:grpSpPr>
        <p:sp>
          <p:nvSpPr>
            <p:cNvPr id="13" name="object 13"/>
            <p:cNvSpPr/>
            <p:nvPr/>
          </p:nvSpPr>
          <p:spPr>
            <a:xfrm>
              <a:off x="7539037" y="3262312"/>
              <a:ext cx="3295650" cy="1543050"/>
            </a:xfrm>
            <a:custGeom>
              <a:avLst/>
              <a:gdLst/>
              <a:ahLst/>
              <a:cxnLst/>
              <a:rect l="l" t="t" r="r" b="b"/>
              <a:pathLst>
                <a:path w="3295650" h="1543050">
                  <a:moveTo>
                    <a:pt x="3244748" y="0"/>
                  </a:moveTo>
                  <a:lnTo>
                    <a:pt x="50901" y="0"/>
                  </a:lnTo>
                  <a:lnTo>
                    <a:pt x="47358" y="342"/>
                  </a:lnTo>
                  <a:lnTo>
                    <a:pt x="13423" y="18491"/>
                  </a:lnTo>
                  <a:lnTo>
                    <a:pt x="0" y="50901"/>
                  </a:lnTo>
                  <a:lnTo>
                    <a:pt x="0" y="1488567"/>
                  </a:lnTo>
                  <a:lnTo>
                    <a:pt x="0" y="1492148"/>
                  </a:lnTo>
                  <a:lnTo>
                    <a:pt x="18478" y="1529626"/>
                  </a:lnTo>
                  <a:lnTo>
                    <a:pt x="50901" y="1543050"/>
                  </a:lnTo>
                  <a:lnTo>
                    <a:pt x="3244748" y="1543050"/>
                  </a:lnTo>
                  <a:lnTo>
                    <a:pt x="3282226" y="1524558"/>
                  </a:lnTo>
                  <a:lnTo>
                    <a:pt x="3295650" y="1492148"/>
                  </a:lnTo>
                  <a:lnTo>
                    <a:pt x="3295650" y="50901"/>
                  </a:lnTo>
                  <a:lnTo>
                    <a:pt x="3277158" y="13423"/>
                  </a:lnTo>
                  <a:lnTo>
                    <a:pt x="3248291" y="342"/>
                  </a:lnTo>
                  <a:lnTo>
                    <a:pt x="3244748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7539037" y="3262312"/>
              <a:ext cx="3295650" cy="1543050"/>
            </a:xfrm>
            <a:custGeom>
              <a:avLst/>
              <a:gdLst/>
              <a:ahLst/>
              <a:cxnLst/>
              <a:rect l="l" t="t" r="r" b="b"/>
              <a:pathLst>
                <a:path w="3295650" h="1543050">
                  <a:moveTo>
                    <a:pt x="0" y="1488567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2" y="47358"/>
                  </a:lnTo>
                  <a:lnTo>
                    <a:pt x="1041" y="43853"/>
                  </a:lnTo>
                  <a:lnTo>
                    <a:pt x="1752" y="40347"/>
                  </a:lnTo>
                  <a:lnTo>
                    <a:pt x="2781" y="36931"/>
                  </a:lnTo>
                  <a:lnTo>
                    <a:pt x="4152" y="33629"/>
                  </a:lnTo>
                  <a:lnTo>
                    <a:pt x="5511" y="30327"/>
                  </a:lnTo>
                  <a:lnTo>
                    <a:pt x="7188" y="27190"/>
                  </a:lnTo>
                  <a:lnTo>
                    <a:pt x="9182" y="24206"/>
                  </a:lnTo>
                  <a:lnTo>
                    <a:pt x="11163" y="21234"/>
                  </a:lnTo>
                  <a:lnTo>
                    <a:pt x="24206" y="9182"/>
                  </a:lnTo>
                  <a:lnTo>
                    <a:pt x="27190" y="7188"/>
                  </a:lnTo>
                  <a:lnTo>
                    <a:pt x="30327" y="5511"/>
                  </a:lnTo>
                  <a:lnTo>
                    <a:pt x="33629" y="4152"/>
                  </a:lnTo>
                  <a:lnTo>
                    <a:pt x="36931" y="2781"/>
                  </a:lnTo>
                  <a:lnTo>
                    <a:pt x="40347" y="1739"/>
                  </a:lnTo>
                  <a:lnTo>
                    <a:pt x="43853" y="1041"/>
                  </a:lnTo>
                  <a:lnTo>
                    <a:pt x="47358" y="342"/>
                  </a:lnTo>
                  <a:lnTo>
                    <a:pt x="50901" y="0"/>
                  </a:lnTo>
                  <a:lnTo>
                    <a:pt x="54483" y="0"/>
                  </a:lnTo>
                  <a:lnTo>
                    <a:pt x="3241167" y="0"/>
                  </a:lnTo>
                  <a:lnTo>
                    <a:pt x="3244748" y="0"/>
                  </a:lnTo>
                  <a:lnTo>
                    <a:pt x="3248291" y="342"/>
                  </a:lnTo>
                  <a:lnTo>
                    <a:pt x="3251796" y="1041"/>
                  </a:lnTo>
                  <a:lnTo>
                    <a:pt x="3255302" y="1739"/>
                  </a:lnTo>
                  <a:lnTo>
                    <a:pt x="3258705" y="2781"/>
                  </a:lnTo>
                  <a:lnTo>
                    <a:pt x="3262020" y="4152"/>
                  </a:lnTo>
                  <a:lnTo>
                    <a:pt x="3265322" y="5511"/>
                  </a:lnTo>
                  <a:lnTo>
                    <a:pt x="3268459" y="7188"/>
                  </a:lnTo>
                  <a:lnTo>
                    <a:pt x="3271431" y="9182"/>
                  </a:lnTo>
                  <a:lnTo>
                    <a:pt x="3274415" y="11163"/>
                  </a:lnTo>
                  <a:lnTo>
                    <a:pt x="3277158" y="13423"/>
                  </a:lnTo>
                  <a:lnTo>
                    <a:pt x="3279686" y="15951"/>
                  </a:lnTo>
                  <a:lnTo>
                    <a:pt x="3282226" y="18491"/>
                  </a:lnTo>
                  <a:lnTo>
                    <a:pt x="3291497" y="33629"/>
                  </a:lnTo>
                  <a:lnTo>
                    <a:pt x="3292868" y="36931"/>
                  </a:lnTo>
                  <a:lnTo>
                    <a:pt x="3293910" y="40347"/>
                  </a:lnTo>
                  <a:lnTo>
                    <a:pt x="3294608" y="43853"/>
                  </a:lnTo>
                  <a:lnTo>
                    <a:pt x="3295307" y="47358"/>
                  </a:lnTo>
                  <a:lnTo>
                    <a:pt x="3295650" y="50901"/>
                  </a:lnTo>
                  <a:lnTo>
                    <a:pt x="3295650" y="54483"/>
                  </a:lnTo>
                  <a:lnTo>
                    <a:pt x="3295650" y="1488567"/>
                  </a:lnTo>
                  <a:lnTo>
                    <a:pt x="3295650" y="1492148"/>
                  </a:lnTo>
                  <a:lnTo>
                    <a:pt x="3295307" y="1495691"/>
                  </a:lnTo>
                  <a:lnTo>
                    <a:pt x="3294608" y="1499196"/>
                  </a:lnTo>
                  <a:lnTo>
                    <a:pt x="3293910" y="1502702"/>
                  </a:lnTo>
                  <a:lnTo>
                    <a:pt x="3292868" y="1506105"/>
                  </a:lnTo>
                  <a:lnTo>
                    <a:pt x="3291497" y="1509420"/>
                  </a:lnTo>
                  <a:lnTo>
                    <a:pt x="3290138" y="1512722"/>
                  </a:lnTo>
                  <a:lnTo>
                    <a:pt x="3288461" y="1515859"/>
                  </a:lnTo>
                  <a:lnTo>
                    <a:pt x="3286467" y="1518831"/>
                  </a:lnTo>
                  <a:lnTo>
                    <a:pt x="3284486" y="1521802"/>
                  </a:lnTo>
                  <a:lnTo>
                    <a:pt x="3282226" y="1524558"/>
                  </a:lnTo>
                  <a:lnTo>
                    <a:pt x="3279686" y="1527086"/>
                  </a:lnTo>
                  <a:lnTo>
                    <a:pt x="3277158" y="1529626"/>
                  </a:lnTo>
                  <a:lnTo>
                    <a:pt x="3244748" y="1543050"/>
                  </a:lnTo>
                  <a:lnTo>
                    <a:pt x="3241167" y="1543050"/>
                  </a:lnTo>
                  <a:lnTo>
                    <a:pt x="54483" y="1543050"/>
                  </a:lnTo>
                  <a:lnTo>
                    <a:pt x="50901" y="1543050"/>
                  </a:lnTo>
                  <a:lnTo>
                    <a:pt x="47358" y="1542694"/>
                  </a:lnTo>
                  <a:lnTo>
                    <a:pt x="15951" y="1527086"/>
                  </a:lnTo>
                  <a:lnTo>
                    <a:pt x="13423" y="1524558"/>
                  </a:lnTo>
                  <a:lnTo>
                    <a:pt x="11163" y="1521802"/>
                  </a:lnTo>
                  <a:lnTo>
                    <a:pt x="9182" y="1518831"/>
                  </a:lnTo>
                  <a:lnTo>
                    <a:pt x="7188" y="1515859"/>
                  </a:lnTo>
                  <a:lnTo>
                    <a:pt x="5511" y="1512722"/>
                  </a:lnTo>
                  <a:lnTo>
                    <a:pt x="4152" y="1509420"/>
                  </a:lnTo>
                  <a:lnTo>
                    <a:pt x="2781" y="1506105"/>
                  </a:lnTo>
                  <a:lnTo>
                    <a:pt x="1752" y="1502702"/>
                  </a:lnTo>
                  <a:lnTo>
                    <a:pt x="1041" y="1499196"/>
                  </a:lnTo>
                  <a:lnTo>
                    <a:pt x="342" y="1495691"/>
                  </a:lnTo>
                  <a:lnTo>
                    <a:pt x="0" y="1492148"/>
                  </a:lnTo>
                  <a:lnTo>
                    <a:pt x="0" y="1488567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7701356" y="3412680"/>
            <a:ext cx="2760980" cy="11868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Controlled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7000"/>
              </a:lnSpc>
              <a:spcBef>
                <a:spcPts val="625"/>
              </a:spcBef>
            </a:pP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Can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run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under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university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governance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data 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protection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requirements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79640" y="1132586"/>
            <a:ext cx="5031740" cy="56007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80"/>
              <a:t>How</a:t>
            </a:r>
            <a:r>
              <a:rPr dirty="0" spc="-400"/>
              <a:t> </a:t>
            </a:r>
            <a:r>
              <a:rPr dirty="0" spc="-130"/>
              <a:t>SelfHelp</a:t>
            </a:r>
            <a:r>
              <a:rPr dirty="0" spc="-400"/>
              <a:t> </a:t>
            </a:r>
            <a:r>
              <a:rPr dirty="0" spc="-150"/>
              <a:t>Evolved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90550" y="3162223"/>
            <a:ext cx="10248900" cy="695325"/>
            <a:chOff x="590550" y="3162223"/>
            <a:chExt cx="10248900" cy="695325"/>
          </a:xfrm>
        </p:grpSpPr>
        <p:sp>
          <p:nvSpPr>
            <p:cNvPr id="4" name="object 4"/>
            <p:cNvSpPr/>
            <p:nvPr/>
          </p:nvSpPr>
          <p:spPr>
            <a:xfrm>
              <a:off x="590550" y="3162223"/>
              <a:ext cx="10248900" cy="524510"/>
            </a:xfrm>
            <a:custGeom>
              <a:avLst/>
              <a:gdLst/>
              <a:ahLst/>
              <a:cxnLst/>
              <a:rect l="l" t="t" r="r" b="b"/>
              <a:pathLst>
                <a:path w="10248900" h="524510">
                  <a:moveTo>
                    <a:pt x="2000250" y="6896"/>
                  </a:moveTo>
                  <a:lnTo>
                    <a:pt x="1999322" y="4648"/>
                  </a:lnTo>
                  <a:lnTo>
                    <a:pt x="1995601" y="927"/>
                  </a:lnTo>
                  <a:lnTo>
                    <a:pt x="1993353" y="0"/>
                  </a:lnTo>
                  <a:lnTo>
                    <a:pt x="1988096" y="0"/>
                  </a:lnTo>
                  <a:lnTo>
                    <a:pt x="1985848" y="927"/>
                  </a:lnTo>
                  <a:lnTo>
                    <a:pt x="1982127" y="4648"/>
                  </a:lnTo>
                  <a:lnTo>
                    <a:pt x="1981200" y="6896"/>
                  </a:lnTo>
                  <a:lnTo>
                    <a:pt x="1981200" y="495300"/>
                  </a:lnTo>
                  <a:lnTo>
                    <a:pt x="1981200" y="497928"/>
                  </a:lnTo>
                  <a:lnTo>
                    <a:pt x="1982127" y="500176"/>
                  </a:lnTo>
                  <a:lnTo>
                    <a:pt x="1985848" y="503897"/>
                  </a:lnTo>
                  <a:lnTo>
                    <a:pt x="1988096" y="504825"/>
                  </a:lnTo>
                  <a:lnTo>
                    <a:pt x="1993353" y="504825"/>
                  </a:lnTo>
                  <a:lnTo>
                    <a:pt x="1995601" y="503897"/>
                  </a:lnTo>
                  <a:lnTo>
                    <a:pt x="1999322" y="500176"/>
                  </a:lnTo>
                  <a:lnTo>
                    <a:pt x="2000250" y="497928"/>
                  </a:lnTo>
                  <a:lnTo>
                    <a:pt x="2000250" y="6896"/>
                  </a:lnTo>
                  <a:close/>
                </a:path>
                <a:path w="10248900" h="524510">
                  <a:moveTo>
                    <a:pt x="10248900" y="511797"/>
                  </a:moveTo>
                  <a:lnTo>
                    <a:pt x="10247973" y="509549"/>
                  </a:lnTo>
                  <a:lnTo>
                    <a:pt x="10244252" y="505828"/>
                  </a:lnTo>
                  <a:lnTo>
                    <a:pt x="10242004" y="504901"/>
                  </a:lnTo>
                  <a:lnTo>
                    <a:pt x="6896" y="504901"/>
                  </a:lnTo>
                  <a:lnTo>
                    <a:pt x="4648" y="505828"/>
                  </a:lnTo>
                  <a:lnTo>
                    <a:pt x="927" y="509549"/>
                  </a:lnTo>
                  <a:lnTo>
                    <a:pt x="0" y="511797"/>
                  </a:lnTo>
                  <a:lnTo>
                    <a:pt x="0" y="514426"/>
                  </a:lnTo>
                  <a:lnTo>
                    <a:pt x="0" y="517055"/>
                  </a:lnTo>
                  <a:lnTo>
                    <a:pt x="927" y="519303"/>
                  </a:lnTo>
                  <a:lnTo>
                    <a:pt x="4648" y="523024"/>
                  </a:lnTo>
                  <a:lnTo>
                    <a:pt x="6896" y="523951"/>
                  </a:lnTo>
                  <a:lnTo>
                    <a:pt x="10242004" y="523951"/>
                  </a:lnTo>
                  <a:lnTo>
                    <a:pt x="10244252" y="523024"/>
                  </a:lnTo>
                  <a:lnTo>
                    <a:pt x="10247973" y="519303"/>
                  </a:lnTo>
                  <a:lnTo>
                    <a:pt x="10248900" y="517055"/>
                  </a:lnTo>
                  <a:lnTo>
                    <a:pt x="10248900" y="511797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2395537" y="3481311"/>
              <a:ext cx="371475" cy="371475"/>
            </a:xfrm>
            <a:custGeom>
              <a:avLst/>
              <a:gdLst/>
              <a:ahLst/>
              <a:cxnLst/>
              <a:rect l="l" t="t" r="r" b="b"/>
              <a:pathLst>
                <a:path w="371475" h="371475">
                  <a:moveTo>
                    <a:pt x="320573" y="0"/>
                  </a:moveTo>
                  <a:lnTo>
                    <a:pt x="50901" y="0"/>
                  </a:lnTo>
                  <a:lnTo>
                    <a:pt x="47358" y="355"/>
                  </a:lnTo>
                  <a:lnTo>
                    <a:pt x="13423" y="18491"/>
                  </a:lnTo>
                  <a:lnTo>
                    <a:pt x="0" y="50901"/>
                  </a:lnTo>
                  <a:lnTo>
                    <a:pt x="0" y="316992"/>
                  </a:lnTo>
                  <a:lnTo>
                    <a:pt x="0" y="320573"/>
                  </a:lnTo>
                  <a:lnTo>
                    <a:pt x="18478" y="358051"/>
                  </a:lnTo>
                  <a:lnTo>
                    <a:pt x="50901" y="371475"/>
                  </a:lnTo>
                  <a:lnTo>
                    <a:pt x="320573" y="371475"/>
                  </a:lnTo>
                  <a:lnTo>
                    <a:pt x="358051" y="352983"/>
                  </a:lnTo>
                  <a:lnTo>
                    <a:pt x="371475" y="320573"/>
                  </a:lnTo>
                  <a:lnTo>
                    <a:pt x="371475" y="50901"/>
                  </a:lnTo>
                  <a:lnTo>
                    <a:pt x="352996" y="13423"/>
                  </a:lnTo>
                  <a:lnTo>
                    <a:pt x="324116" y="355"/>
                  </a:lnTo>
                  <a:lnTo>
                    <a:pt x="32057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395537" y="3481311"/>
              <a:ext cx="371475" cy="371475"/>
            </a:xfrm>
            <a:custGeom>
              <a:avLst/>
              <a:gdLst/>
              <a:ahLst/>
              <a:cxnLst/>
              <a:rect l="l" t="t" r="r" b="b"/>
              <a:pathLst>
                <a:path w="371475" h="371475">
                  <a:moveTo>
                    <a:pt x="0" y="316992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2" y="47358"/>
                  </a:lnTo>
                  <a:lnTo>
                    <a:pt x="1041" y="43853"/>
                  </a:lnTo>
                  <a:lnTo>
                    <a:pt x="1752" y="40347"/>
                  </a:lnTo>
                  <a:lnTo>
                    <a:pt x="2781" y="36931"/>
                  </a:lnTo>
                  <a:lnTo>
                    <a:pt x="4152" y="33629"/>
                  </a:lnTo>
                  <a:lnTo>
                    <a:pt x="5511" y="30327"/>
                  </a:lnTo>
                  <a:lnTo>
                    <a:pt x="7188" y="27190"/>
                  </a:lnTo>
                  <a:lnTo>
                    <a:pt x="9182" y="24206"/>
                  </a:lnTo>
                  <a:lnTo>
                    <a:pt x="11163" y="21234"/>
                  </a:lnTo>
                  <a:lnTo>
                    <a:pt x="13423" y="18491"/>
                  </a:lnTo>
                  <a:lnTo>
                    <a:pt x="15963" y="15951"/>
                  </a:lnTo>
                  <a:lnTo>
                    <a:pt x="18478" y="13423"/>
                  </a:lnTo>
                  <a:lnTo>
                    <a:pt x="43853" y="1054"/>
                  </a:lnTo>
                  <a:lnTo>
                    <a:pt x="47358" y="355"/>
                  </a:lnTo>
                  <a:lnTo>
                    <a:pt x="50901" y="0"/>
                  </a:lnTo>
                  <a:lnTo>
                    <a:pt x="54483" y="0"/>
                  </a:lnTo>
                  <a:lnTo>
                    <a:pt x="316992" y="0"/>
                  </a:lnTo>
                  <a:lnTo>
                    <a:pt x="320573" y="0"/>
                  </a:lnTo>
                  <a:lnTo>
                    <a:pt x="324116" y="355"/>
                  </a:lnTo>
                  <a:lnTo>
                    <a:pt x="327621" y="1054"/>
                  </a:lnTo>
                  <a:lnTo>
                    <a:pt x="331127" y="1739"/>
                  </a:lnTo>
                  <a:lnTo>
                    <a:pt x="355511" y="15951"/>
                  </a:lnTo>
                  <a:lnTo>
                    <a:pt x="358051" y="18491"/>
                  </a:lnTo>
                  <a:lnTo>
                    <a:pt x="360311" y="21234"/>
                  </a:lnTo>
                  <a:lnTo>
                    <a:pt x="362292" y="24206"/>
                  </a:lnTo>
                  <a:lnTo>
                    <a:pt x="364286" y="27190"/>
                  </a:lnTo>
                  <a:lnTo>
                    <a:pt x="365963" y="30327"/>
                  </a:lnTo>
                  <a:lnTo>
                    <a:pt x="367322" y="33629"/>
                  </a:lnTo>
                  <a:lnTo>
                    <a:pt x="368693" y="36931"/>
                  </a:lnTo>
                  <a:lnTo>
                    <a:pt x="369735" y="40347"/>
                  </a:lnTo>
                  <a:lnTo>
                    <a:pt x="370433" y="43853"/>
                  </a:lnTo>
                  <a:lnTo>
                    <a:pt x="371132" y="47358"/>
                  </a:lnTo>
                  <a:lnTo>
                    <a:pt x="371475" y="50901"/>
                  </a:lnTo>
                  <a:lnTo>
                    <a:pt x="371475" y="54483"/>
                  </a:lnTo>
                  <a:lnTo>
                    <a:pt x="371475" y="316992"/>
                  </a:lnTo>
                  <a:lnTo>
                    <a:pt x="371475" y="320573"/>
                  </a:lnTo>
                  <a:lnTo>
                    <a:pt x="371132" y="324116"/>
                  </a:lnTo>
                  <a:lnTo>
                    <a:pt x="370433" y="327621"/>
                  </a:lnTo>
                  <a:lnTo>
                    <a:pt x="369735" y="331127"/>
                  </a:lnTo>
                  <a:lnTo>
                    <a:pt x="368693" y="334543"/>
                  </a:lnTo>
                  <a:lnTo>
                    <a:pt x="367322" y="337845"/>
                  </a:lnTo>
                  <a:lnTo>
                    <a:pt x="365963" y="341147"/>
                  </a:lnTo>
                  <a:lnTo>
                    <a:pt x="364286" y="344284"/>
                  </a:lnTo>
                  <a:lnTo>
                    <a:pt x="362292" y="347268"/>
                  </a:lnTo>
                  <a:lnTo>
                    <a:pt x="360311" y="350240"/>
                  </a:lnTo>
                  <a:lnTo>
                    <a:pt x="358051" y="352983"/>
                  </a:lnTo>
                  <a:lnTo>
                    <a:pt x="355511" y="355523"/>
                  </a:lnTo>
                  <a:lnTo>
                    <a:pt x="352996" y="358051"/>
                  </a:lnTo>
                  <a:lnTo>
                    <a:pt x="350240" y="360311"/>
                  </a:lnTo>
                  <a:lnTo>
                    <a:pt x="347256" y="362292"/>
                  </a:lnTo>
                  <a:lnTo>
                    <a:pt x="344284" y="364274"/>
                  </a:lnTo>
                  <a:lnTo>
                    <a:pt x="320573" y="371475"/>
                  </a:lnTo>
                  <a:lnTo>
                    <a:pt x="316992" y="371475"/>
                  </a:lnTo>
                  <a:lnTo>
                    <a:pt x="54483" y="371475"/>
                  </a:lnTo>
                  <a:lnTo>
                    <a:pt x="50901" y="371475"/>
                  </a:lnTo>
                  <a:lnTo>
                    <a:pt x="47358" y="371119"/>
                  </a:lnTo>
                  <a:lnTo>
                    <a:pt x="24218" y="362292"/>
                  </a:lnTo>
                  <a:lnTo>
                    <a:pt x="21234" y="360311"/>
                  </a:lnTo>
                  <a:lnTo>
                    <a:pt x="18478" y="358051"/>
                  </a:lnTo>
                  <a:lnTo>
                    <a:pt x="15963" y="355523"/>
                  </a:lnTo>
                  <a:lnTo>
                    <a:pt x="13423" y="352983"/>
                  </a:lnTo>
                  <a:lnTo>
                    <a:pt x="11163" y="350240"/>
                  </a:lnTo>
                  <a:lnTo>
                    <a:pt x="9182" y="347268"/>
                  </a:lnTo>
                  <a:lnTo>
                    <a:pt x="7188" y="344284"/>
                  </a:lnTo>
                  <a:lnTo>
                    <a:pt x="5511" y="341147"/>
                  </a:lnTo>
                  <a:lnTo>
                    <a:pt x="4152" y="337845"/>
                  </a:lnTo>
                  <a:lnTo>
                    <a:pt x="2781" y="334543"/>
                  </a:lnTo>
                  <a:lnTo>
                    <a:pt x="1752" y="331127"/>
                  </a:lnTo>
                  <a:lnTo>
                    <a:pt x="1041" y="327621"/>
                  </a:lnTo>
                  <a:lnTo>
                    <a:pt x="342" y="324116"/>
                  </a:lnTo>
                  <a:lnTo>
                    <a:pt x="0" y="320573"/>
                  </a:lnTo>
                  <a:lnTo>
                    <a:pt x="0" y="316992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2508224" y="3467836"/>
            <a:ext cx="139065" cy="3460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100" spc="-645" b="1">
                <a:solidFill>
                  <a:srgbClr val="3A3535"/>
                </a:solidFill>
                <a:latin typeface="Verdana"/>
                <a:cs typeface="Verdana"/>
              </a:rPr>
              <a:t>1</a:t>
            </a:r>
            <a:endParaRPr sz="2100">
              <a:latin typeface="Verdana"/>
              <a:cs typeface="Verdan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293988" y="2041080"/>
            <a:ext cx="567690" cy="29273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70" b="1">
                <a:solidFill>
                  <a:srgbClr val="3A3535"/>
                </a:solidFill>
                <a:latin typeface="Verdana"/>
                <a:cs typeface="Verdana"/>
              </a:rPr>
              <a:t>2021</a:t>
            </a:r>
            <a:endParaRPr sz="1750">
              <a:latin typeface="Verdana"/>
              <a:cs typeface="Verdan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52424" y="2392875"/>
            <a:ext cx="3651885" cy="55880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118235" marR="5080" indent="-1106170">
              <a:lnSpc>
                <a:spcPct val="134600"/>
              </a:lnSpc>
              <a:spcBef>
                <a:spcPts val="90"/>
              </a:spcBef>
            </a:pP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Self-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help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research</a:t>
            </a: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websites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2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content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publishing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focus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476750" y="3476700"/>
            <a:ext cx="381000" cy="695325"/>
            <a:chOff x="4476750" y="3476700"/>
            <a:chExt cx="381000" cy="695325"/>
          </a:xfrm>
        </p:grpSpPr>
        <p:sp>
          <p:nvSpPr>
            <p:cNvPr id="11" name="object 11"/>
            <p:cNvSpPr/>
            <p:nvPr/>
          </p:nvSpPr>
          <p:spPr>
            <a:xfrm>
              <a:off x="4657725" y="3667200"/>
              <a:ext cx="19050" cy="504825"/>
            </a:xfrm>
            <a:custGeom>
              <a:avLst/>
              <a:gdLst/>
              <a:ahLst/>
              <a:cxnLst/>
              <a:rect l="l" t="t" r="r" b="b"/>
              <a:pathLst>
                <a:path w="19050" h="504825">
                  <a:moveTo>
                    <a:pt x="12153" y="0"/>
                  </a:moveTo>
                  <a:lnTo>
                    <a:pt x="6896" y="0"/>
                  </a:lnTo>
                  <a:lnTo>
                    <a:pt x="4648" y="927"/>
                  </a:lnTo>
                  <a:lnTo>
                    <a:pt x="927" y="4648"/>
                  </a:lnTo>
                  <a:lnTo>
                    <a:pt x="0" y="6896"/>
                  </a:lnTo>
                  <a:lnTo>
                    <a:pt x="0" y="495300"/>
                  </a:lnTo>
                  <a:lnTo>
                    <a:pt x="0" y="497928"/>
                  </a:lnTo>
                  <a:lnTo>
                    <a:pt x="927" y="500176"/>
                  </a:lnTo>
                  <a:lnTo>
                    <a:pt x="4648" y="503885"/>
                  </a:lnTo>
                  <a:lnTo>
                    <a:pt x="6896" y="504825"/>
                  </a:lnTo>
                  <a:lnTo>
                    <a:pt x="12153" y="504825"/>
                  </a:lnTo>
                  <a:lnTo>
                    <a:pt x="14401" y="503885"/>
                  </a:lnTo>
                  <a:lnTo>
                    <a:pt x="18122" y="500176"/>
                  </a:lnTo>
                  <a:lnTo>
                    <a:pt x="19050" y="497928"/>
                  </a:lnTo>
                  <a:lnTo>
                    <a:pt x="19050" y="6896"/>
                  </a:lnTo>
                  <a:lnTo>
                    <a:pt x="18122" y="4648"/>
                  </a:lnTo>
                  <a:lnTo>
                    <a:pt x="14401" y="927"/>
                  </a:lnTo>
                  <a:lnTo>
                    <a:pt x="12153" y="0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481512" y="3481463"/>
              <a:ext cx="371475" cy="371475"/>
            </a:xfrm>
            <a:custGeom>
              <a:avLst/>
              <a:gdLst/>
              <a:ahLst/>
              <a:cxnLst/>
              <a:rect l="l" t="t" r="r" b="b"/>
              <a:pathLst>
                <a:path w="371475" h="371475">
                  <a:moveTo>
                    <a:pt x="320573" y="0"/>
                  </a:moveTo>
                  <a:lnTo>
                    <a:pt x="50901" y="0"/>
                  </a:lnTo>
                  <a:lnTo>
                    <a:pt x="47358" y="342"/>
                  </a:lnTo>
                  <a:lnTo>
                    <a:pt x="13423" y="18478"/>
                  </a:lnTo>
                  <a:lnTo>
                    <a:pt x="0" y="50901"/>
                  </a:lnTo>
                  <a:lnTo>
                    <a:pt x="0" y="316992"/>
                  </a:lnTo>
                  <a:lnTo>
                    <a:pt x="0" y="320573"/>
                  </a:lnTo>
                  <a:lnTo>
                    <a:pt x="15963" y="355511"/>
                  </a:lnTo>
                  <a:lnTo>
                    <a:pt x="18478" y="358051"/>
                  </a:lnTo>
                  <a:lnTo>
                    <a:pt x="50901" y="371475"/>
                  </a:lnTo>
                  <a:lnTo>
                    <a:pt x="320573" y="371475"/>
                  </a:lnTo>
                  <a:lnTo>
                    <a:pt x="355511" y="355511"/>
                  </a:lnTo>
                  <a:lnTo>
                    <a:pt x="358051" y="352983"/>
                  </a:lnTo>
                  <a:lnTo>
                    <a:pt x="371475" y="320573"/>
                  </a:lnTo>
                  <a:lnTo>
                    <a:pt x="371475" y="50901"/>
                  </a:lnTo>
                  <a:lnTo>
                    <a:pt x="352996" y="13423"/>
                  </a:lnTo>
                  <a:lnTo>
                    <a:pt x="324116" y="342"/>
                  </a:lnTo>
                  <a:lnTo>
                    <a:pt x="32057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481512" y="3481463"/>
              <a:ext cx="371475" cy="371475"/>
            </a:xfrm>
            <a:custGeom>
              <a:avLst/>
              <a:gdLst/>
              <a:ahLst/>
              <a:cxnLst/>
              <a:rect l="l" t="t" r="r" b="b"/>
              <a:pathLst>
                <a:path w="371475" h="371475">
                  <a:moveTo>
                    <a:pt x="0" y="316992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2" y="47358"/>
                  </a:lnTo>
                  <a:lnTo>
                    <a:pt x="1041" y="43853"/>
                  </a:lnTo>
                  <a:lnTo>
                    <a:pt x="1752" y="40335"/>
                  </a:lnTo>
                  <a:lnTo>
                    <a:pt x="2781" y="36931"/>
                  </a:lnTo>
                  <a:lnTo>
                    <a:pt x="4152" y="33629"/>
                  </a:lnTo>
                  <a:lnTo>
                    <a:pt x="5511" y="30327"/>
                  </a:lnTo>
                  <a:lnTo>
                    <a:pt x="7188" y="27190"/>
                  </a:lnTo>
                  <a:lnTo>
                    <a:pt x="9182" y="24206"/>
                  </a:lnTo>
                  <a:lnTo>
                    <a:pt x="11163" y="21234"/>
                  </a:lnTo>
                  <a:lnTo>
                    <a:pt x="13423" y="18478"/>
                  </a:lnTo>
                  <a:lnTo>
                    <a:pt x="15963" y="15951"/>
                  </a:lnTo>
                  <a:lnTo>
                    <a:pt x="18478" y="13423"/>
                  </a:lnTo>
                  <a:lnTo>
                    <a:pt x="21234" y="11163"/>
                  </a:lnTo>
                  <a:lnTo>
                    <a:pt x="24218" y="9182"/>
                  </a:lnTo>
                  <a:lnTo>
                    <a:pt x="27190" y="7188"/>
                  </a:lnTo>
                  <a:lnTo>
                    <a:pt x="43853" y="1041"/>
                  </a:lnTo>
                  <a:lnTo>
                    <a:pt x="47358" y="342"/>
                  </a:lnTo>
                  <a:lnTo>
                    <a:pt x="50901" y="0"/>
                  </a:lnTo>
                  <a:lnTo>
                    <a:pt x="54483" y="0"/>
                  </a:lnTo>
                  <a:lnTo>
                    <a:pt x="316992" y="0"/>
                  </a:lnTo>
                  <a:lnTo>
                    <a:pt x="320573" y="0"/>
                  </a:lnTo>
                  <a:lnTo>
                    <a:pt x="324116" y="342"/>
                  </a:lnTo>
                  <a:lnTo>
                    <a:pt x="347256" y="9182"/>
                  </a:lnTo>
                  <a:lnTo>
                    <a:pt x="350240" y="11163"/>
                  </a:lnTo>
                  <a:lnTo>
                    <a:pt x="352996" y="13423"/>
                  </a:lnTo>
                  <a:lnTo>
                    <a:pt x="355511" y="15951"/>
                  </a:lnTo>
                  <a:lnTo>
                    <a:pt x="358051" y="18478"/>
                  </a:lnTo>
                  <a:lnTo>
                    <a:pt x="360311" y="21234"/>
                  </a:lnTo>
                  <a:lnTo>
                    <a:pt x="362292" y="24206"/>
                  </a:lnTo>
                  <a:lnTo>
                    <a:pt x="364286" y="27190"/>
                  </a:lnTo>
                  <a:lnTo>
                    <a:pt x="365963" y="30327"/>
                  </a:lnTo>
                  <a:lnTo>
                    <a:pt x="367322" y="33629"/>
                  </a:lnTo>
                  <a:lnTo>
                    <a:pt x="368693" y="36931"/>
                  </a:lnTo>
                  <a:lnTo>
                    <a:pt x="369735" y="40335"/>
                  </a:lnTo>
                  <a:lnTo>
                    <a:pt x="370433" y="43853"/>
                  </a:lnTo>
                  <a:lnTo>
                    <a:pt x="371132" y="47358"/>
                  </a:lnTo>
                  <a:lnTo>
                    <a:pt x="371475" y="50901"/>
                  </a:lnTo>
                  <a:lnTo>
                    <a:pt x="371475" y="54483"/>
                  </a:lnTo>
                  <a:lnTo>
                    <a:pt x="371475" y="316992"/>
                  </a:lnTo>
                  <a:lnTo>
                    <a:pt x="371475" y="320573"/>
                  </a:lnTo>
                  <a:lnTo>
                    <a:pt x="371132" y="324116"/>
                  </a:lnTo>
                  <a:lnTo>
                    <a:pt x="370433" y="327621"/>
                  </a:lnTo>
                  <a:lnTo>
                    <a:pt x="369735" y="331127"/>
                  </a:lnTo>
                  <a:lnTo>
                    <a:pt x="368693" y="334530"/>
                  </a:lnTo>
                  <a:lnTo>
                    <a:pt x="367322" y="337832"/>
                  </a:lnTo>
                  <a:lnTo>
                    <a:pt x="365963" y="341147"/>
                  </a:lnTo>
                  <a:lnTo>
                    <a:pt x="364286" y="344284"/>
                  </a:lnTo>
                  <a:lnTo>
                    <a:pt x="362292" y="347256"/>
                  </a:lnTo>
                  <a:lnTo>
                    <a:pt x="360311" y="350227"/>
                  </a:lnTo>
                  <a:lnTo>
                    <a:pt x="358051" y="352983"/>
                  </a:lnTo>
                  <a:lnTo>
                    <a:pt x="355511" y="355511"/>
                  </a:lnTo>
                  <a:lnTo>
                    <a:pt x="352996" y="358051"/>
                  </a:lnTo>
                  <a:lnTo>
                    <a:pt x="337845" y="367322"/>
                  </a:lnTo>
                  <a:lnTo>
                    <a:pt x="334530" y="368693"/>
                  </a:lnTo>
                  <a:lnTo>
                    <a:pt x="331127" y="369722"/>
                  </a:lnTo>
                  <a:lnTo>
                    <a:pt x="327621" y="370433"/>
                  </a:lnTo>
                  <a:lnTo>
                    <a:pt x="324116" y="371119"/>
                  </a:lnTo>
                  <a:lnTo>
                    <a:pt x="320573" y="371475"/>
                  </a:lnTo>
                  <a:lnTo>
                    <a:pt x="316992" y="371475"/>
                  </a:lnTo>
                  <a:lnTo>
                    <a:pt x="54483" y="371475"/>
                  </a:lnTo>
                  <a:lnTo>
                    <a:pt x="50901" y="371475"/>
                  </a:lnTo>
                  <a:lnTo>
                    <a:pt x="47358" y="371119"/>
                  </a:lnTo>
                  <a:lnTo>
                    <a:pt x="43853" y="370433"/>
                  </a:lnTo>
                  <a:lnTo>
                    <a:pt x="40347" y="369722"/>
                  </a:lnTo>
                  <a:lnTo>
                    <a:pt x="36944" y="368693"/>
                  </a:lnTo>
                  <a:lnTo>
                    <a:pt x="33629" y="367322"/>
                  </a:lnTo>
                  <a:lnTo>
                    <a:pt x="30327" y="365963"/>
                  </a:lnTo>
                  <a:lnTo>
                    <a:pt x="15963" y="355511"/>
                  </a:lnTo>
                  <a:lnTo>
                    <a:pt x="13423" y="352983"/>
                  </a:lnTo>
                  <a:lnTo>
                    <a:pt x="11163" y="350227"/>
                  </a:lnTo>
                  <a:lnTo>
                    <a:pt x="9182" y="347256"/>
                  </a:lnTo>
                  <a:lnTo>
                    <a:pt x="7188" y="344284"/>
                  </a:lnTo>
                  <a:lnTo>
                    <a:pt x="5511" y="341147"/>
                  </a:lnTo>
                  <a:lnTo>
                    <a:pt x="4152" y="337832"/>
                  </a:lnTo>
                  <a:lnTo>
                    <a:pt x="2781" y="334530"/>
                  </a:lnTo>
                  <a:lnTo>
                    <a:pt x="1752" y="331127"/>
                  </a:lnTo>
                  <a:lnTo>
                    <a:pt x="1041" y="327621"/>
                  </a:lnTo>
                  <a:lnTo>
                    <a:pt x="342" y="324116"/>
                  </a:lnTo>
                  <a:lnTo>
                    <a:pt x="0" y="320573"/>
                  </a:lnTo>
                  <a:lnTo>
                    <a:pt x="0" y="316992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4572469" y="3467976"/>
            <a:ext cx="193040" cy="3460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100" spc="-125" b="1">
                <a:solidFill>
                  <a:srgbClr val="3A3535"/>
                </a:solidFill>
                <a:latin typeface="Verdana"/>
                <a:cs typeface="Verdana"/>
              </a:rPr>
              <a:t>2</a:t>
            </a:r>
            <a:endParaRPr sz="2100">
              <a:latin typeface="Verdana"/>
              <a:cs typeface="Verdan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000768" y="4317555"/>
            <a:ext cx="3337560" cy="9105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dirty="0" sz="1750" spc="-20" b="1">
                <a:solidFill>
                  <a:srgbClr val="3A3535"/>
                </a:solidFill>
                <a:latin typeface="Verdana"/>
                <a:cs typeface="Verdana"/>
              </a:rPr>
              <a:t>2023</a:t>
            </a:r>
            <a:endParaRPr sz="1750">
              <a:latin typeface="Verdana"/>
              <a:cs typeface="Verdana"/>
            </a:endParaRPr>
          </a:p>
          <a:p>
            <a:pPr algn="ctr" marL="12700" marR="5080">
              <a:lnSpc>
                <a:spcPct val="134600"/>
              </a:lnSpc>
              <a:spcBef>
                <a:spcPts val="66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Modular</a:t>
            </a:r>
            <a:r>
              <a:rPr dirty="0" sz="1300" spc="1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pages,</a:t>
            </a:r>
            <a:r>
              <a:rPr dirty="0" sz="1300" spc="1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scheduling,</a:t>
            </a:r>
            <a:r>
              <a:rPr dirty="0" sz="1300" spc="1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1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mobile 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integration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572250" y="3162223"/>
            <a:ext cx="381000" cy="695325"/>
            <a:chOff x="6572250" y="3162223"/>
            <a:chExt cx="381000" cy="695325"/>
          </a:xfrm>
        </p:grpSpPr>
        <p:sp>
          <p:nvSpPr>
            <p:cNvPr id="17" name="object 17"/>
            <p:cNvSpPr/>
            <p:nvPr/>
          </p:nvSpPr>
          <p:spPr>
            <a:xfrm>
              <a:off x="6753225" y="3162223"/>
              <a:ext cx="19050" cy="504825"/>
            </a:xfrm>
            <a:custGeom>
              <a:avLst/>
              <a:gdLst/>
              <a:ahLst/>
              <a:cxnLst/>
              <a:rect l="l" t="t" r="r" b="b"/>
              <a:pathLst>
                <a:path w="19050" h="504825">
                  <a:moveTo>
                    <a:pt x="12153" y="0"/>
                  </a:moveTo>
                  <a:lnTo>
                    <a:pt x="6896" y="0"/>
                  </a:lnTo>
                  <a:lnTo>
                    <a:pt x="4648" y="927"/>
                  </a:lnTo>
                  <a:lnTo>
                    <a:pt x="927" y="4648"/>
                  </a:lnTo>
                  <a:lnTo>
                    <a:pt x="0" y="6896"/>
                  </a:lnTo>
                  <a:lnTo>
                    <a:pt x="0" y="495300"/>
                  </a:lnTo>
                  <a:lnTo>
                    <a:pt x="0" y="497928"/>
                  </a:lnTo>
                  <a:lnTo>
                    <a:pt x="927" y="500176"/>
                  </a:lnTo>
                  <a:lnTo>
                    <a:pt x="4648" y="503897"/>
                  </a:lnTo>
                  <a:lnTo>
                    <a:pt x="6896" y="504825"/>
                  </a:lnTo>
                  <a:lnTo>
                    <a:pt x="12153" y="504825"/>
                  </a:lnTo>
                  <a:lnTo>
                    <a:pt x="14401" y="503897"/>
                  </a:lnTo>
                  <a:lnTo>
                    <a:pt x="18122" y="500176"/>
                  </a:lnTo>
                  <a:lnTo>
                    <a:pt x="19050" y="497928"/>
                  </a:lnTo>
                  <a:lnTo>
                    <a:pt x="19050" y="6896"/>
                  </a:lnTo>
                  <a:lnTo>
                    <a:pt x="18122" y="4648"/>
                  </a:lnTo>
                  <a:lnTo>
                    <a:pt x="14401" y="927"/>
                  </a:lnTo>
                  <a:lnTo>
                    <a:pt x="12153" y="0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6577012" y="3481311"/>
              <a:ext cx="371475" cy="371475"/>
            </a:xfrm>
            <a:custGeom>
              <a:avLst/>
              <a:gdLst/>
              <a:ahLst/>
              <a:cxnLst/>
              <a:rect l="l" t="t" r="r" b="b"/>
              <a:pathLst>
                <a:path w="371475" h="371475">
                  <a:moveTo>
                    <a:pt x="320573" y="0"/>
                  </a:moveTo>
                  <a:lnTo>
                    <a:pt x="50901" y="0"/>
                  </a:lnTo>
                  <a:lnTo>
                    <a:pt x="47358" y="355"/>
                  </a:lnTo>
                  <a:lnTo>
                    <a:pt x="13423" y="18491"/>
                  </a:lnTo>
                  <a:lnTo>
                    <a:pt x="0" y="50901"/>
                  </a:lnTo>
                  <a:lnTo>
                    <a:pt x="0" y="316992"/>
                  </a:lnTo>
                  <a:lnTo>
                    <a:pt x="0" y="320573"/>
                  </a:lnTo>
                  <a:lnTo>
                    <a:pt x="18478" y="358051"/>
                  </a:lnTo>
                  <a:lnTo>
                    <a:pt x="50901" y="371475"/>
                  </a:lnTo>
                  <a:lnTo>
                    <a:pt x="320573" y="371475"/>
                  </a:lnTo>
                  <a:lnTo>
                    <a:pt x="358051" y="352983"/>
                  </a:lnTo>
                  <a:lnTo>
                    <a:pt x="371475" y="320573"/>
                  </a:lnTo>
                  <a:lnTo>
                    <a:pt x="371475" y="50901"/>
                  </a:lnTo>
                  <a:lnTo>
                    <a:pt x="352983" y="13423"/>
                  </a:lnTo>
                  <a:lnTo>
                    <a:pt x="324116" y="355"/>
                  </a:lnTo>
                  <a:lnTo>
                    <a:pt x="32057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6577012" y="3481311"/>
              <a:ext cx="371475" cy="371475"/>
            </a:xfrm>
            <a:custGeom>
              <a:avLst/>
              <a:gdLst/>
              <a:ahLst/>
              <a:cxnLst/>
              <a:rect l="l" t="t" r="r" b="b"/>
              <a:pathLst>
                <a:path w="371475" h="371475">
                  <a:moveTo>
                    <a:pt x="0" y="316992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2" y="47358"/>
                  </a:lnTo>
                  <a:lnTo>
                    <a:pt x="1041" y="43853"/>
                  </a:lnTo>
                  <a:lnTo>
                    <a:pt x="1752" y="40347"/>
                  </a:lnTo>
                  <a:lnTo>
                    <a:pt x="2781" y="36931"/>
                  </a:lnTo>
                  <a:lnTo>
                    <a:pt x="4152" y="33629"/>
                  </a:lnTo>
                  <a:lnTo>
                    <a:pt x="5511" y="30327"/>
                  </a:lnTo>
                  <a:lnTo>
                    <a:pt x="7188" y="27190"/>
                  </a:lnTo>
                  <a:lnTo>
                    <a:pt x="9182" y="24206"/>
                  </a:lnTo>
                  <a:lnTo>
                    <a:pt x="11163" y="21234"/>
                  </a:lnTo>
                  <a:lnTo>
                    <a:pt x="43853" y="1054"/>
                  </a:lnTo>
                  <a:lnTo>
                    <a:pt x="47358" y="355"/>
                  </a:lnTo>
                  <a:lnTo>
                    <a:pt x="50901" y="0"/>
                  </a:lnTo>
                  <a:lnTo>
                    <a:pt x="54483" y="0"/>
                  </a:lnTo>
                  <a:lnTo>
                    <a:pt x="316992" y="0"/>
                  </a:lnTo>
                  <a:lnTo>
                    <a:pt x="320573" y="0"/>
                  </a:lnTo>
                  <a:lnTo>
                    <a:pt x="324116" y="355"/>
                  </a:lnTo>
                  <a:lnTo>
                    <a:pt x="327621" y="1054"/>
                  </a:lnTo>
                  <a:lnTo>
                    <a:pt x="331127" y="1739"/>
                  </a:lnTo>
                  <a:lnTo>
                    <a:pt x="355511" y="15951"/>
                  </a:lnTo>
                  <a:lnTo>
                    <a:pt x="358051" y="18491"/>
                  </a:lnTo>
                  <a:lnTo>
                    <a:pt x="360311" y="21234"/>
                  </a:lnTo>
                  <a:lnTo>
                    <a:pt x="362292" y="24206"/>
                  </a:lnTo>
                  <a:lnTo>
                    <a:pt x="364286" y="27190"/>
                  </a:lnTo>
                  <a:lnTo>
                    <a:pt x="365963" y="30327"/>
                  </a:lnTo>
                  <a:lnTo>
                    <a:pt x="367322" y="33629"/>
                  </a:lnTo>
                  <a:lnTo>
                    <a:pt x="368693" y="36931"/>
                  </a:lnTo>
                  <a:lnTo>
                    <a:pt x="369735" y="40347"/>
                  </a:lnTo>
                  <a:lnTo>
                    <a:pt x="370433" y="43853"/>
                  </a:lnTo>
                  <a:lnTo>
                    <a:pt x="371132" y="47358"/>
                  </a:lnTo>
                  <a:lnTo>
                    <a:pt x="371475" y="50901"/>
                  </a:lnTo>
                  <a:lnTo>
                    <a:pt x="371475" y="54483"/>
                  </a:lnTo>
                  <a:lnTo>
                    <a:pt x="371475" y="316992"/>
                  </a:lnTo>
                  <a:lnTo>
                    <a:pt x="371475" y="320573"/>
                  </a:lnTo>
                  <a:lnTo>
                    <a:pt x="371132" y="324116"/>
                  </a:lnTo>
                  <a:lnTo>
                    <a:pt x="370433" y="327621"/>
                  </a:lnTo>
                  <a:lnTo>
                    <a:pt x="369735" y="331127"/>
                  </a:lnTo>
                  <a:lnTo>
                    <a:pt x="368693" y="334543"/>
                  </a:lnTo>
                  <a:lnTo>
                    <a:pt x="367322" y="337845"/>
                  </a:lnTo>
                  <a:lnTo>
                    <a:pt x="365963" y="341147"/>
                  </a:lnTo>
                  <a:lnTo>
                    <a:pt x="364286" y="344284"/>
                  </a:lnTo>
                  <a:lnTo>
                    <a:pt x="362292" y="347268"/>
                  </a:lnTo>
                  <a:lnTo>
                    <a:pt x="360311" y="350240"/>
                  </a:lnTo>
                  <a:lnTo>
                    <a:pt x="358051" y="352983"/>
                  </a:lnTo>
                  <a:lnTo>
                    <a:pt x="355511" y="355523"/>
                  </a:lnTo>
                  <a:lnTo>
                    <a:pt x="352983" y="358051"/>
                  </a:lnTo>
                  <a:lnTo>
                    <a:pt x="350240" y="360311"/>
                  </a:lnTo>
                  <a:lnTo>
                    <a:pt x="347256" y="362292"/>
                  </a:lnTo>
                  <a:lnTo>
                    <a:pt x="344284" y="364274"/>
                  </a:lnTo>
                  <a:lnTo>
                    <a:pt x="320573" y="371475"/>
                  </a:lnTo>
                  <a:lnTo>
                    <a:pt x="316992" y="371475"/>
                  </a:lnTo>
                  <a:lnTo>
                    <a:pt x="54483" y="371475"/>
                  </a:lnTo>
                  <a:lnTo>
                    <a:pt x="50901" y="371475"/>
                  </a:lnTo>
                  <a:lnTo>
                    <a:pt x="47358" y="371119"/>
                  </a:lnTo>
                  <a:lnTo>
                    <a:pt x="24218" y="362292"/>
                  </a:lnTo>
                  <a:lnTo>
                    <a:pt x="21234" y="360311"/>
                  </a:lnTo>
                  <a:lnTo>
                    <a:pt x="9182" y="347268"/>
                  </a:lnTo>
                  <a:lnTo>
                    <a:pt x="7188" y="344284"/>
                  </a:lnTo>
                  <a:lnTo>
                    <a:pt x="5511" y="341147"/>
                  </a:lnTo>
                  <a:lnTo>
                    <a:pt x="4152" y="337845"/>
                  </a:lnTo>
                  <a:lnTo>
                    <a:pt x="2781" y="334543"/>
                  </a:lnTo>
                  <a:lnTo>
                    <a:pt x="1752" y="331127"/>
                  </a:lnTo>
                  <a:lnTo>
                    <a:pt x="1041" y="327621"/>
                  </a:lnTo>
                  <a:lnTo>
                    <a:pt x="342" y="324116"/>
                  </a:lnTo>
                  <a:lnTo>
                    <a:pt x="0" y="320573"/>
                  </a:lnTo>
                  <a:lnTo>
                    <a:pt x="0" y="316992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6663956" y="3467836"/>
            <a:ext cx="193040" cy="3460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100" spc="-125" b="1">
                <a:solidFill>
                  <a:srgbClr val="3A3535"/>
                </a:solidFill>
                <a:latin typeface="Verdana"/>
                <a:cs typeface="Verdana"/>
              </a:rPr>
              <a:t>3</a:t>
            </a:r>
            <a:endParaRPr sz="2100">
              <a:latin typeface="Verdana"/>
              <a:cs typeface="Verdan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093129" y="2041080"/>
            <a:ext cx="1335405" cy="29273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20" b="1">
                <a:solidFill>
                  <a:srgbClr val="3A3535"/>
                </a:solidFill>
                <a:latin typeface="Verdana"/>
                <a:cs typeface="Verdana"/>
              </a:rPr>
              <a:t>2024–</a:t>
            </a:r>
            <a:r>
              <a:rPr dirty="0" sz="1750" spc="-85" b="1">
                <a:solidFill>
                  <a:srgbClr val="3A3535"/>
                </a:solidFill>
                <a:latin typeface="Verdana"/>
                <a:cs typeface="Verdana"/>
              </a:rPr>
              <a:t>2026</a:t>
            </a:r>
            <a:endParaRPr sz="1750">
              <a:latin typeface="Verdana"/>
              <a:cs typeface="Verdan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977206" y="2392875"/>
            <a:ext cx="3567429" cy="55880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 indent="394970">
              <a:lnSpc>
                <a:spcPct val="134600"/>
              </a:lnSpc>
              <a:spcBef>
                <a:spcPts val="90"/>
              </a:spcBef>
            </a:pP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Stronger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data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model,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workflows,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permissions,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2FA,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background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processing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8658225" y="3476700"/>
            <a:ext cx="381000" cy="695325"/>
            <a:chOff x="8658225" y="3476700"/>
            <a:chExt cx="381000" cy="695325"/>
          </a:xfrm>
        </p:grpSpPr>
        <p:sp>
          <p:nvSpPr>
            <p:cNvPr id="24" name="object 24"/>
            <p:cNvSpPr/>
            <p:nvPr/>
          </p:nvSpPr>
          <p:spPr>
            <a:xfrm>
              <a:off x="8839200" y="3667200"/>
              <a:ext cx="19050" cy="504825"/>
            </a:xfrm>
            <a:custGeom>
              <a:avLst/>
              <a:gdLst/>
              <a:ahLst/>
              <a:cxnLst/>
              <a:rect l="l" t="t" r="r" b="b"/>
              <a:pathLst>
                <a:path w="19050" h="504825">
                  <a:moveTo>
                    <a:pt x="12153" y="0"/>
                  </a:moveTo>
                  <a:lnTo>
                    <a:pt x="6896" y="0"/>
                  </a:lnTo>
                  <a:lnTo>
                    <a:pt x="4648" y="927"/>
                  </a:lnTo>
                  <a:lnTo>
                    <a:pt x="927" y="4648"/>
                  </a:lnTo>
                  <a:lnTo>
                    <a:pt x="0" y="6896"/>
                  </a:lnTo>
                  <a:lnTo>
                    <a:pt x="0" y="495300"/>
                  </a:lnTo>
                  <a:lnTo>
                    <a:pt x="0" y="497928"/>
                  </a:lnTo>
                  <a:lnTo>
                    <a:pt x="927" y="500176"/>
                  </a:lnTo>
                  <a:lnTo>
                    <a:pt x="4648" y="503885"/>
                  </a:lnTo>
                  <a:lnTo>
                    <a:pt x="6896" y="504825"/>
                  </a:lnTo>
                  <a:lnTo>
                    <a:pt x="12153" y="504825"/>
                  </a:lnTo>
                  <a:lnTo>
                    <a:pt x="14401" y="503885"/>
                  </a:lnTo>
                  <a:lnTo>
                    <a:pt x="18122" y="500176"/>
                  </a:lnTo>
                  <a:lnTo>
                    <a:pt x="19050" y="497928"/>
                  </a:lnTo>
                  <a:lnTo>
                    <a:pt x="19050" y="6896"/>
                  </a:lnTo>
                  <a:lnTo>
                    <a:pt x="18122" y="4648"/>
                  </a:lnTo>
                  <a:lnTo>
                    <a:pt x="14401" y="927"/>
                  </a:lnTo>
                  <a:lnTo>
                    <a:pt x="12153" y="0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8662987" y="3481463"/>
              <a:ext cx="371475" cy="371475"/>
            </a:xfrm>
            <a:custGeom>
              <a:avLst/>
              <a:gdLst/>
              <a:ahLst/>
              <a:cxnLst/>
              <a:rect l="l" t="t" r="r" b="b"/>
              <a:pathLst>
                <a:path w="371475" h="371475">
                  <a:moveTo>
                    <a:pt x="320573" y="0"/>
                  </a:moveTo>
                  <a:lnTo>
                    <a:pt x="50901" y="0"/>
                  </a:lnTo>
                  <a:lnTo>
                    <a:pt x="47358" y="342"/>
                  </a:lnTo>
                  <a:lnTo>
                    <a:pt x="13423" y="18478"/>
                  </a:lnTo>
                  <a:lnTo>
                    <a:pt x="0" y="50901"/>
                  </a:lnTo>
                  <a:lnTo>
                    <a:pt x="0" y="316992"/>
                  </a:lnTo>
                  <a:lnTo>
                    <a:pt x="0" y="320573"/>
                  </a:lnTo>
                  <a:lnTo>
                    <a:pt x="18478" y="358051"/>
                  </a:lnTo>
                  <a:lnTo>
                    <a:pt x="50901" y="371475"/>
                  </a:lnTo>
                  <a:lnTo>
                    <a:pt x="320573" y="371475"/>
                  </a:lnTo>
                  <a:lnTo>
                    <a:pt x="358051" y="352983"/>
                  </a:lnTo>
                  <a:lnTo>
                    <a:pt x="371475" y="320573"/>
                  </a:lnTo>
                  <a:lnTo>
                    <a:pt x="371475" y="50901"/>
                  </a:lnTo>
                  <a:lnTo>
                    <a:pt x="352983" y="13423"/>
                  </a:lnTo>
                  <a:lnTo>
                    <a:pt x="324116" y="342"/>
                  </a:lnTo>
                  <a:lnTo>
                    <a:pt x="32057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8662987" y="3481463"/>
              <a:ext cx="371475" cy="371475"/>
            </a:xfrm>
            <a:custGeom>
              <a:avLst/>
              <a:gdLst/>
              <a:ahLst/>
              <a:cxnLst/>
              <a:rect l="l" t="t" r="r" b="b"/>
              <a:pathLst>
                <a:path w="371475" h="371475">
                  <a:moveTo>
                    <a:pt x="0" y="316992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2" y="47358"/>
                  </a:lnTo>
                  <a:lnTo>
                    <a:pt x="1041" y="43853"/>
                  </a:lnTo>
                  <a:lnTo>
                    <a:pt x="1752" y="40335"/>
                  </a:lnTo>
                  <a:lnTo>
                    <a:pt x="2781" y="36931"/>
                  </a:lnTo>
                  <a:lnTo>
                    <a:pt x="4152" y="33629"/>
                  </a:lnTo>
                  <a:lnTo>
                    <a:pt x="5511" y="30327"/>
                  </a:lnTo>
                  <a:lnTo>
                    <a:pt x="7188" y="27190"/>
                  </a:lnTo>
                  <a:lnTo>
                    <a:pt x="9182" y="24206"/>
                  </a:lnTo>
                  <a:lnTo>
                    <a:pt x="11163" y="21234"/>
                  </a:lnTo>
                  <a:lnTo>
                    <a:pt x="24218" y="9182"/>
                  </a:lnTo>
                  <a:lnTo>
                    <a:pt x="27190" y="7188"/>
                  </a:lnTo>
                  <a:lnTo>
                    <a:pt x="43853" y="1041"/>
                  </a:lnTo>
                  <a:lnTo>
                    <a:pt x="47358" y="342"/>
                  </a:lnTo>
                  <a:lnTo>
                    <a:pt x="50901" y="0"/>
                  </a:lnTo>
                  <a:lnTo>
                    <a:pt x="54483" y="0"/>
                  </a:lnTo>
                  <a:lnTo>
                    <a:pt x="316992" y="0"/>
                  </a:lnTo>
                  <a:lnTo>
                    <a:pt x="320573" y="0"/>
                  </a:lnTo>
                  <a:lnTo>
                    <a:pt x="324116" y="342"/>
                  </a:lnTo>
                  <a:lnTo>
                    <a:pt x="347256" y="9182"/>
                  </a:lnTo>
                  <a:lnTo>
                    <a:pt x="350240" y="11163"/>
                  </a:lnTo>
                  <a:lnTo>
                    <a:pt x="352983" y="13423"/>
                  </a:lnTo>
                  <a:lnTo>
                    <a:pt x="355511" y="15951"/>
                  </a:lnTo>
                  <a:lnTo>
                    <a:pt x="358051" y="18478"/>
                  </a:lnTo>
                  <a:lnTo>
                    <a:pt x="360311" y="21234"/>
                  </a:lnTo>
                  <a:lnTo>
                    <a:pt x="362292" y="24206"/>
                  </a:lnTo>
                  <a:lnTo>
                    <a:pt x="364286" y="27190"/>
                  </a:lnTo>
                  <a:lnTo>
                    <a:pt x="365963" y="30327"/>
                  </a:lnTo>
                  <a:lnTo>
                    <a:pt x="367322" y="33629"/>
                  </a:lnTo>
                  <a:lnTo>
                    <a:pt x="368693" y="36931"/>
                  </a:lnTo>
                  <a:lnTo>
                    <a:pt x="369735" y="40335"/>
                  </a:lnTo>
                  <a:lnTo>
                    <a:pt x="370433" y="43853"/>
                  </a:lnTo>
                  <a:lnTo>
                    <a:pt x="371132" y="47358"/>
                  </a:lnTo>
                  <a:lnTo>
                    <a:pt x="371475" y="50901"/>
                  </a:lnTo>
                  <a:lnTo>
                    <a:pt x="371475" y="54483"/>
                  </a:lnTo>
                  <a:lnTo>
                    <a:pt x="371475" y="316992"/>
                  </a:lnTo>
                  <a:lnTo>
                    <a:pt x="371475" y="320573"/>
                  </a:lnTo>
                  <a:lnTo>
                    <a:pt x="371132" y="324116"/>
                  </a:lnTo>
                  <a:lnTo>
                    <a:pt x="370433" y="327621"/>
                  </a:lnTo>
                  <a:lnTo>
                    <a:pt x="369735" y="331127"/>
                  </a:lnTo>
                  <a:lnTo>
                    <a:pt x="368693" y="334530"/>
                  </a:lnTo>
                  <a:lnTo>
                    <a:pt x="367322" y="337832"/>
                  </a:lnTo>
                  <a:lnTo>
                    <a:pt x="365963" y="341147"/>
                  </a:lnTo>
                  <a:lnTo>
                    <a:pt x="364286" y="344284"/>
                  </a:lnTo>
                  <a:lnTo>
                    <a:pt x="362292" y="347256"/>
                  </a:lnTo>
                  <a:lnTo>
                    <a:pt x="360311" y="350227"/>
                  </a:lnTo>
                  <a:lnTo>
                    <a:pt x="358051" y="352983"/>
                  </a:lnTo>
                  <a:lnTo>
                    <a:pt x="355511" y="355511"/>
                  </a:lnTo>
                  <a:lnTo>
                    <a:pt x="352983" y="358051"/>
                  </a:lnTo>
                  <a:lnTo>
                    <a:pt x="337845" y="367322"/>
                  </a:lnTo>
                  <a:lnTo>
                    <a:pt x="334530" y="368693"/>
                  </a:lnTo>
                  <a:lnTo>
                    <a:pt x="331127" y="369722"/>
                  </a:lnTo>
                  <a:lnTo>
                    <a:pt x="327621" y="370433"/>
                  </a:lnTo>
                  <a:lnTo>
                    <a:pt x="324116" y="371119"/>
                  </a:lnTo>
                  <a:lnTo>
                    <a:pt x="320573" y="371475"/>
                  </a:lnTo>
                  <a:lnTo>
                    <a:pt x="316992" y="371475"/>
                  </a:lnTo>
                  <a:lnTo>
                    <a:pt x="54483" y="371475"/>
                  </a:lnTo>
                  <a:lnTo>
                    <a:pt x="50901" y="371475"/>
                  </a:lnTo>
                  <a:lnTo>
                    <a:pt x="47358" y="371119"/>
                  </a:lnTo>
                  <a:lnTo>
                    <a:pt x="43853" y="370433"/>
                  </a:lnTo>
                  <a:lnTo>
                    <a:pt x="40347" y="369722"/>
                  </a:lnTo>
                  <a:lnTo>
                    <a:pt x="36944" y="368693"/>
                  </a:lnTo>
                  <a:lnTo>
                    <a:pt x="33629" y="367322"/>
                  </a:lnTo>
                  <a:lnTo>
                    <a:pt x="30327" y="365963"/>
                  </a:lnTo>
                  <a:lnTo>
                    <a:pt x="15951" y="355511"/>
                  </a:lnTo>
                  <a:lnTo>
                    <a:pt x="13423" y="352983"/>
                  </a:lnTo>
                  <a:lnTo>
                    <a:pt x="11163" y="350227"/>
                  </a:lnTo>
                  <a:lnTo>
                    <a:pt x="9182" y="347256"/>
                  </a:lnTo>
                  <a:lnTo>
                    <a:pt x="7188" y="344284"/>
                  </a:lnTo>
                  <a:lnTo>
                    <a:pt x="5511" y="341147"/>
                  </a:lnTo>
                  <a:lnTo>
                    <a:pt x="4152" y="337832"/>
                  </a:lnTo>
                  <a:lnTo>
                    <a:pt x="2781" y="334530"/>
                  </a:lnTo>
                  <a:lnTo>
                    <a:pt x="1752" y="331127"/>
                  </a:lnTo>
                  <a:lnTo>
                    <a:pt x="1041" y="327621"/>
                  </a:lnTo>
                  <a:lnTo>
                    <a:pt x="342" y="324116"/>
                  </a:lnTo>
                  <a:lnTo>
                    <a:pt x="0" y="320573"/>
                  </a:lnTo>
                  <a:lnTo>
                    <a:pt x="0" y="316992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7" name="object 27"/>
          <p:cNvSpPr txBox="1"/>
          <p:nvPr/>
        </p:nvSpPr>
        <p:spPr>
          <a:xfrm>
            <a:off x="8750668" y="3467976"/>
            <a:ext cx="202565" cy="3460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100" spc="-50" b="1">
                <a:solidFill>
                  <a:srgbClr val="3A3535"/>
                </a:solidFill>
                <a:latin typeface="Verdana"/>
                <a:cs typeface="Verdana"/>
              </a:rPr>
              <a:t>4</a:t>
            </a:r>
            <a:endParaRPr sz="2100">
              <a:latin typeface="Verdana"/>
              <a:cs typeface="Verdan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7292378" y="4317555"/>
            <a:ext cx="3119755" cy="9105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dirty="0" sz="1750" spc="-25" b="1">
                <a:solidFill>
                  <a:srgbClr val="3A3535"/>
                </a:solidFill>
                <a:latin typeface="Verdana"/>
                <a:cs typeface="Verdana"/>
              </a:rPr>
              <a:t>Now</a:t>
            </a:r>
            <a:endParaRPr sz="1750">
              <a:latin typeface="Verdana"/>
              <a:cs typeface="Verdana"/>
            </a:endParaRPr>
          </a:p>
          <a:p>
            <a:pPr algn="ctr" marL="12700" marR="5080">
              <a:lnSpc>
                <a:spcPct val="134600"/>
              </a:lnSpc>
              <a:spcBef>
                <a:spcPts val="66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General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LLM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support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supervised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therapy-</a:t>
            </a:r>
            <a:r>
              <a:rPr dirty="0" sz="1300" spc="100">
                <a:solidFill>
                  <a:srgbClr val="3A3535"/>
                </a:solidFill>
                <a:latin typeface="Century Gothic"/>
                <a:cs typeface="Century Gothic"/>
              </a:rPr>
              <a:t>style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AI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0">
                <a:solidFill>
                  <a:srgbClr val="3A3535"/>
                </a:solidFill>
                <a:latin typeface="Century Gothic"/>
                <a:cs typeface="Century Gothic"/>
              </a:rPr>
              <a:t>chat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3181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215"/>
              <a:t>What</a:t>
            </a:r>
            <a:r>
              <a:rPr dirty="0" spc="-420"/>
              <a:t> </a:t>
            </a:r>
            <a:r>
              <a:rPr dirty="0" spc="-280"/>
              <a:t>Teams</a:t>
            </a:r>
            <a:r>
              <a:rPr dirty="0" spc="-420"/>
              <a:t> </a:t>
            </a:r>
            <a:r>
              <a:rPr dirty="0" spc="-105"/>
              <a:t>Can</a:t>
            </a:r>
            <a:r>
              <a:rPr dirty="0" spc="-420"/>
              <a:t> </a:t>
            </a:r>
            <a:r>
              <a:rPr dirty="0" spc="-114"/>
              <a:t>Do</a:t>
            </a:r>
            <a:r>
              <a:rPr dirty="0" spc="-420"/>
              <a:t> </a:t>
            </a:r>
            <a:r>
              <a:rPr dirty="0" spc="-170"/>
              <a:t>With</a:t>
            </a:r>
            <a:r>
              <a:rPr dirty="0" spc="-420"/>
              <a:t> </a:t>
            </a:r>
            <a:r>
              <a:rPr dirty="0" spc="-465"/>
              <a:t>It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5152" y="1728152"/>
            <a:ext cx="5133975" cy="688340"/>
            <a:chOff x="585152" y="1728152"/>
            <a:chExt cx="5133975" cy="688340"/>
          </a:xfrm>
        </p:grpSpPr>
        <p:sp>
          <p:nvSpPr>
            <p:cNvPr id="4" name="object 4"/>
            <p:cNvSpPr/>
            <p:nvPr/>
          </p:nvSpPr>
          <p:spPr>
            <a:xfrm>
              <a:off x="590550" y="1733549"/>
              <a:ext cx="5123180" cy="677545"/>
            </a:xfrm>
            <a:custGeom>
              <a:avLst/>
              <a:gdLst/>
              <a:ahLst/>
              <a:cxnLst/>
              <a:rect l="l" t="t" r="r" b="b"/>
              <a:pathLst>
                <a:path w="5123180" h="677544">
                  <a:moveTo>
                    <a:pt x="4953393" y="0"/>
                  </a:moveTo>
                  <a:lnTo>
                    <a:pt x="0" y="0"/>
                  </a:lnTo>
                  <a:lnTo>
                    <a:pt x="169266" y="338531"/>
                  </a:lnTo>
                  <a:lnTo>
                    <a:pt x="0" y="677062"/>
                  </a:lnTo>
                  <a:lnTo>
                    <a:pt x="4953393" y="677062"/>
                  </a:lnTo>
                  <a:lnTo>
                    <a:pt x="5122659" y="338531"/>
                  </a:lnTo>
                  <a:lnTo>
                    <a:pt x="495339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590550" y="1733549"/>
              <a:ext cx="5123180" cy="677545"/>
            </a:xfrm>
            <a:custGeom>
              <a:avLst/>
              <a:gdLst/>
              <a:ahLst/>
              <a:cxnLst/>
              <a:rect l="l" t="t" r="r" b="b"/>
              <a:pathLst>
                <a:path w="5123180" h="677544">
                  <a:moveTo>
                    <a:pt x="4953393" y="0"/>
                  </a:moveTo>
                  <a:lnTo>
                    <a:pt x="5122659" y="338531"/>
                  </a:lnTo>
                  <a:lnTo>
                    <a:pt x="4953393" y="677062"/>
                  </a:lnTo>
                  <a:lnTo>
                    <a:pt x="0" y="677062"/>
                  </a:lnTo>
                  <a:lnTo>
                    <a:pt x="169266" y="338531"/>
                  </a:lnTo>
                  <a:lnTo>
                    <a:pt x="0" y="0"/>
                  </a:lnTo>
                  <a:lnTo>
                    <a:pt x="4953393" y="0"/>
                  </a:lnTo>
                  <a:close/>
                </a:path>
              </a:pathLst>
            </a:custGeom>
            <a:ln w="10579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748842" y="1886102"/>
            <a:ext cx="3919854" cy="130429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algn="ctr" marL="889635">
              <a:lnSpc>
                <a:spcPct val="100000"/>
              </a:lnSpc>
              <a:spcBef>
                <a:spcPts val="95"/>
              </a:spcBef>
            </a:pPr>
            <a:r>
              <a:rPr dirty="0" sz="2000" spc="-635" b="1">
                <a:solidFill>
                  <a:srgbClr val="3A3535"/>
                </a:solidFill>
                <a:latin typeface="Verdana"/>
                <a:cs typeface="Verdana"/>
              </a:rPr>
              <a:t>1</a:t>
            </a:r>
            <a:endParaRPr sz="20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445"/>
              </a:spcBef>
            </a:pPr>
            <a:endParaRPr sz="20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Onboard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125"/>
              </a:spcBef>
            </a:pPr>
            <a:r>
              <a:rPr dirty="0" sz="1300" spc="100">
                <a:solidFill>
                  <a:srgbClr val="3A3535"/>
                </a:solidFill>
                <a:latin typeface="Century Gothic"/>
                <a:cs typeface="Century Gothic"/>
              </a:rPr>
              <a:t>Turn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40">
                <a:solidFill>
                  <a:srgbClr val="3A3535"/>
                </a:solidFill>
                <a:latin typeface="Century Gothic"/>
                <a:cs typeface="Century Gothic"/>
              </a:rPr>
              <a:t>a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concept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into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40">
                <a:solidFill>
                  <a:srgbClr val="3A3535"/>
                </a:solidFill>
                <a:latin typeface="Century Gothic"/>
                <a:cs typeface="Century Gothic"/>
              </a:rPr>
              <a:t>a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guided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entry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experience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5709710" y="1728260"/>
            <a:ext cx="5133340" cy="687705"/>
            <a:chOff x="5709710" y="1728260"/>
            <a:chExt cx="5133340" cy="687705"/>
          </a:xfrm>
        </p:grpSpPr>
        <p:sp>
          <p:nvSpPr>
            <p:cNvPr id="8" name="object 8"/>
            <p:cNvSpPr/>
            <p:nvPr/>
          </p:nvSpPr>
          <p:spPr>
            <a:xfrm>
              <a:off x="5714999" y="1733549"/>
              <a:ext cx="5123180" cy="677545"/>
            </a:xfrm>
            <a:custGeom>
              <a:avLst/>
              <a:gdLst/>
              <a:ahLst/>
              <a:cxnLst/>
              <a:rect l="l" t="t" r="r" b="b"/>
              <a:pathLst>
                <a:path w="5123180" h="677544">
                  <a:moveTo>
                    <a:pt x="4953393" y="0"/>
                  </a:moveTo>
                  <a:lnTo>
                    <a:pt x="0" y="0"/>
                  </a:lnTo>
                  <a:lnTo>
                    <a:pt x="169265" y="338531"/>
                  </a:lnTo>
                  <a:lnTo>
                    <a:pt x="0" y="677062"/>
                  </a:lnTo>
                  <a:lnTo>
                    <a:pt x="4953393" y="677062"/>
                  </a:lnTo>
                  <a:lnTo>
                    <a:pt x="5122659" y="338531"/>
                  </a:lnTo>
                  <a:lnTo>
                    <a:pt x="495339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714999" y="1733549"/>
              <a:ext cx="5123180" cy="677545"/>
            </a:xfrm>
            <a:custGeom>
              <a:avLst/>
              <a:gdLst/>
              <a:ahLst/>
              <a:cxnLst/>
              <a:rect l="l" t="t" r="r" b="b"/>
              <a:pathLst>
                <a:path w="5123180" h="677544">
                  <a:moveTo>
                    <a:pt x="4953393" y="0"/>
                  </a:moveTo>
                  <a:lnTo>
                    <a:pt x="5122659" y="338531"/>
                  </a:lnTo>
                  <a:lnTo>
                    <a:pt x="4953393" y="677062"/>
                  </a:lnTo>
                  <a:lnTo>
                    <a:pt x="0" y="677062"/>
                  </a:lnTo>
                  <a:lnTo>
                    <a:pt x="169265" y="338531"/>
                  </a:lnTo>
                  <a:lnTo>
                    <a:pt x="0" y="0"/>
                  </a:lnTo>
                  <a:lnTo>
                    <a:pt x="4953393" y="0"/>
                  </a:lnTo>
                  <a:close/>
                </a:path>
              </a:pathLst>
            </a:custGeom>
            <a:ln w="10579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0" name="object 10"/>
          <p:cNvGrpSpPr/>
          <p:nvPr/>
        </p:nvGrpSpPr>
        <p:grpSpPr>
          <a:xfrm>
            <a:off x="585152" y="3661727"/>
            <a:ext cx="5133975" cy="688340"/>
            <a:chOff x="585152" y="3661727"/>
            <a:chExt cx="5133975" cy="688340"/>
          </a:xfrm>
        </p:grpSpPr>
        <p:sp>
          <p:nvSpPr>
            <p:cNvPr id="11" name="object 11"/>
            <p:cNvSpPr/>
            <p:nvPr/>
          </p:nvSpPr>
          <p:spPr>
            <a:xfrm>
              <a:off x="590550" y="3667124"/>
              <a:ext cx="5123180" cy="677545"/>
            </a:xfrm>
            <a:custGeom>
              <a:avLst/>
              <a:gdLst/>
              <a:ahLst/>
              <a:cxnLst/>
              <a:rect l="l" t="t" r="r" b="b"/>
              <a:pathLst>
                <a:path w="5123180" h="677545">
                  <a:moveTo>
                    <a:pt x="4953393" y="0"/>
                  </a:moveTo>
                  <a:lnTo>
                    <a:pt x="0" y="0"/>
                  </a:lnTo>
                  <a:lnTo>
                    <a:pt x="169266" y="338531"/>
                  </a:lnTo>
                  <a:lnTo>
                    <a:pt x="0" y="677062"/>
                  </a:lnTo>
                  <a:lnTo>
                    <a:pt x="4953393" y="677062"/>
                  </a:lnTo>
                  <a:lnTo>
                    <a:pt x="5122659" y="338531"/>
                  </a:lnTo>
                  <a:lnTo>
                    <a:pt x="495339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90550" y="3667124"/>
              <a:ext cx="5123180" cy="677545"/>
            </a:xfrm>
            <a:custGeom>
              <a:avLst/>
              <a:gdLst/>
              <a:ahLst/>
              <a:cxnLst/>
              <a:rect l="l" t="t" r="r" b="b"/>
              <a:pathLst>
                <a:path w="5123180" h="677545">
                  <a:moveTo>
                    <a:pt x="4953393" y="0"/>
                  </a:moveTo>
                  <a:lnTo>
                    <a:pt x="5122659" y="338531"/>
                  </a:lnTo>
                  <a:lnTo>
                    <a:pt x="4953393" y="677062"/>
                  </a:lnTo>
                  <a:lnTo>
                    <a:pt x="0" y="677062"/>
                  </a:lnTo>
                  <a:lnTo>
                    <a:pt x="169266" y="338531"/>
                  </a:lnTo>
                  <a:lnTo>
                    <a:pt x="0" y="0"/>
                  </a:lnTo>
                  <a:lnTo>
                    <a:pt x="4953393" y="0"/>
                  </a:lnTo>
                  <a:close/>
                </a:path>
              </a:pathLst>
            </a:custGeom>
            <a:ln w="10579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748855" y="3819677"/>
            <a:ext cx="4589145" cy="158051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algn="ctr" marL="220345">
              <a:lnSpc>
                <a:spcPct val="100000"/>
              </a:lnSpc>
              <a:spcBef>
                <a:spcPts val="95"/>
              </a:spcBef>
            </a:pPr>
            <a:r>
              <a:rPr dirty="0" sz="2000" spc="-50" b="1">
                <a:solidFill>
                  <a:srgbClr val="3A3535"/>
                </a:solidFill>
                <a:latin typeface="Verdana"/>
                <a:cs typeface="Verdana"/>
              </a:rPr>
              <a:t>3</a:t>
            </a:r>
            <a:endParaRPr sz="20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445"/>
              </a:spcBef>
            </a:pPr>
            <a:endParaRPr sz="20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Adapt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4600"/>
              </a:lnSpc>
              <a:spcBef>
                <a:spcPts val="660"/>
              </a:spcBef>
            </a:pP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Adjust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content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timing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by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role,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group,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language,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or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user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state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709710" y="3661835"/>
            <a:ext cx="5133340" cy="687705"/>
            <a:chOff x="5709710" y="3661835"/>
            <a:chExt cx="5133340" cy="687705"/>
          </a:xfrm>
        </p:grpSpPr>
        <p:sp>
          <p:nvSpPr>
            <p:cNvPr id="15" name="object 15"/>
            <p:cNvSpPr/>
            <p:nvPr/>
          </p:nvSpPr>
          <p:spPr>
            <a:xfrm>
              <a:off x="5714999" y="3667124"/>
              <a:ext cx="5123180" cy="677545"/>
            </a:xfrm>
            <a:custGeom>
              <a:avLst/>
              <a:gdLst/>
              <a:ahLst/>
              <a:cxnLst/>
              <a:rect l="l" t="t" r="r" b="b"/>
              <a:pathLst>
                <a:path w="5123180" h="677545">
                  <a:moveTo>
                    <a:pt x="4953393" y="0"/>
                  </a:moveTo>
                  <a:lnTo>
                    <a:pt x="0" y="0"/>
                  </a:lnTo>
                  <a:lnTo>
                    <a:pt x="169265" y="338531"/>
                  </a:lnTo>
                  <a:lnTo>
                    <a:pt x="0" y="677062"/>
                  </a:lnTo>
                  <a:lnTo>
                    <a:pt x="4953393" y="677062"/>
                  </a:lnTo>
                  <a:lnTo>
                    <a:pt x="5122659" y="338531"/>
                  </a:lnTo>
                  <a:lnTo>
                    <a:pt x="495339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5714999" y="3667124"/>
              <a:ext cx="5123180" cy="677545"/>
            </a:xfrm>
            <a:custGeom>
              <a:avLst/>
              <a:gdLst/>
              <a:ahLst/>
              <a:cxnLst/>
              <a:rect l="l" t="t" r="r" b="b"/>
              <a:pathLst>
                <a:path w="5123180" h="677545">
                  <a:moveTo>
                    <a:pt x="4953393" y="0"/>
                  </a:moveTo>
                  <a:lnTo>
                    <a:pt x="5122659" y="338531"/>
                  </a:lnTo>
                  <a:lnTo>
                    <a:pt x="4953393" y="677062"/>
                  </a:lnTo>
                  <a:lnTo>
                    <a:pt x="0" y="677062"/>
                  </a:lnTo>
                  <a:lnTo>
                    <a:pt x="169265" y="338531"/>
                  </a:lnTo>
                  <a:lnTo>
                    <a:pt x="0" y="0"/>
                  </a:lnTo>
                  <a:lnTo>
                    <a:pt x="4953393" y="0"/>
                  </a:lnTo>
                  <a:close/>
                </a:path>
              </a:pathLst>
            </a:custGeom>
            <a:ln w="10579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>
            <a:spLocks noGrp="1"/>
          </p:cNvSpPr>
          <p:nvPr>
            <p:ph idx="3" sz="half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algn="ctr" marL="410845">
              <a:lnSpc>
                <a:spcPct val="100000"/>
              </a:lnSpc>
              <a:spcBef>
                <a:spcPts val="95"/>
              </a:spcBef>
            </a:pPr>
            <a:r>
              <a:rPr dirty="0" spc="-50"/>
              <a:t>2</a:t>
            </a:r>
          </a:p>
          <a:p>
            <a:pPr>
              <a:lnSpc>
                <a:spcPct val="100000"/>
              </a:lnSpc>
              <a:spcBef>
                <a:spcPts val="445"/>
              </a:spcBef>
            </a:pPr>
          </a:p>
          <a:p>
            <a:pPr marL="12700">
              <a:lnSpc>
                <a:spcPct val="100000"/>
              </a:lnSpc>
            </a:pPr>
            <a:r>
              <a:rPr dirty="0" sz="1750" spc="-10"/>
              <a:t>Assess</a:t>
            </a:r>
            <a:endParaRPr sz="1750"/>
          </a:p>
          <a:p>
            <a:pPr marL="12700" marR="5080">
              <a:lnSpc>
                <a:spcPct val="139400"/>
              </a:lnSpc>
              <a:spcBef>
                <a:spcPts val="509"/>
              </a:spcBef>
            </a:pPr>
            <a:r>
              <a:rPr dirty="0" sz="1300" spc="70" b="0">
                <a:latin typeface="Century Gothic"/>
                <a:cs typeface="Century Gothic"/>
              </a:rPr>
              <a:t>Run</a:t>
            </a:r>
            <a:r>
              <a:rPr dirty="0" sz="1300" b="0">
                <a:latin typeface="Century Gothic"/>
                <a:cs typeface="Century Gothic"/>
              </a:rPr>
              <a:t> repeated</a:t>
            </a:r>
            <a:r>
              <a:rPr dirty="0" sz="1300" spc="5" b="0">
                <a:latin typeface="Century Gothic"/>
                <a:cs typeface="Century Gothic"/>
              </a:rPr>
              <a:t> </a:t>
            </a:r>
            <a:r>
              <a:rPr dirty="0" sz="1300" spc="90" b="0">
                <a:latin typeface="Century Gothic"/>
                <a:cs typeface="Century Gothic"/>
              </a:rPr>
              <a:t>assessments</a:t>
            </a:r>
            <a:r>
              <a:rPr dirty="0" sz="1300" spc="5" b="0">
                <a:latin typeface="Century Gothic"/>
                <a:cs typeface="Century Gothic"/>
              </a:rPr>
              <a:t> </a:t>
            </a:r>
            <a:r>
              <a:rPr dirty="0" sz="1300" spc="-10" b="0">
                <a:latin typeface="Century Gothic"/>
                <a:cs typeface="Century Gothic"/>
              </a:rPr>
              <a:t>and</a:t>
            </a:r>
            <a:r>
              <a:rPr dirty="0" sz="1300" b="0">
                <a:latin typeface="Century Gothic"/>
                <a:cs typeface="Century Gothic"/>
              </a:rPr>
              <a:t> collect</a:t>
            </a:r>
            <a:r>
              <a:rPr dirty="0" sz="1300" spc="5" b="0">
                <a:latin typeface="Century Gothic"/>
                <a:cs typeface="Century Gothic"/>
              </a:rPr>
              <a:t> </a:t>
            </a:r>
            <a:r>
              <a:rPr dirty="0" sz="1300" spc="70" b="0">
                <a:latin typeface="Century Gothic"/>
                <a:cs typeface="Century Gothic"/>
              </a:rPr>
              <a:t>richer</a:t>
            </a:r>
            <a:r>
              <a:rPr dirty="0" sz="1300" spc="5" b="0">
                <a:latin typeface="Century Gothic"/>
                <a:cs typeface="Century Gothic"/>
              </a:rPr>
              <a:t> </a:t>
            </a:r>
            <a:r>
              <a:rPr dirty="0" sz="1300" spc="85" b="0">
                <a:latin typeface="Century Gothic"/>
                <a:cs typeface="Century Gothic"/>
              </a:rPr>
              <a:t>inputs </a:t>
            </a:r>
            <a:r>
              <a:rPr dirty="0" sz="1300" b="0">
                <a:latin typeface="Century Gothic"/>
                <a:cs typeface="Century Gothic"/>
              </a:rPr>
              <a:t>over</a:t>
            </a:r>
            <a:r>
              <a:rPr dirty="0" sz="1300" spc="50" b="0">
                <a:latin typeface="Century Gothic"/>
                <a:cs typeface="Century Gothic"/>
              </a:rPr>
              <a:t> </a:t>
            </a:r>
            <a:r>
              <a:rPr dirty="0" sz="1300" spc="45" b="0">
                <a:latin typeface="Century Gothic"/>
                <a:cs typeface="Century Gothic"/>
              </a:rPr>
              <a:t>time</a:t>
            </a:r>
            <a:endParaRPr sz="13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1395"/>
              </a:spcBef>
            </a:pPr>
            <a:endParaRPr sz="1300">
              <a:latin typeface="Century Gothic"/>
              <a:cs typeface="Century Gothic"/>
            </a:endParaRPr>
          </a:p>
          <a:p>
            <a:pPr algn="ctr" marL="410845">
              <a:lnSpc>
                <a:spcPct val="100000"/>
              </a:lnSpc>
              <a:spcBef>
                <a:spcPts val="5"/>
              </a:spcBef>
            </a:pPr>
            <a:r>
              <a:rPr dirty="0" spc="-50"/>
              <a:t>4</a:t>
            </a:r>
          </a:p>
          <a:p>
            <a:pPr>
              <a:lnSpc>
                <a:spcPct val="100000"/>
              </a:lnSpc>
              <a:spcBef>
                <a:spcPts val="440"/>
              </a:spcBef>
            </a:pPr>
          </a:p>
          <a:p>
            <a:pPr marL="12700">
              <a:lnSpc>
                <a:spcPct val="100000"/>
              </a:lnSpc>
            </a:pPr>
            <a:r>
              <a:rPr dirty="0" sz="1750" spc="-100"/>
              <a:t>Follow</a:t>
            </a:r>
            <a:r>
              <a:rPr dirty="0" sz="1750" spc="-165"/>
              <a:t> </a:t>
            </a:r>
            <a:r>
              <a:rPr dirty="0" sz="1750" spc="-25"/>
              <a:t>Up</a:t>
            </a:r>
            <a:endParaRPr sz="1750"/>
          </a:p>
          <a:p>
            <a:pPr marL="12700" marR="236220">
              <a:lnSpc>
                <a:spcPct val="134600"/>
              </a:lnSpc>
              <a:spcBef>
                <a:spcPts val="665"/>
              </a:spcBef>
            </a:pPr>
            <a:r>
              <a:rPr dirty="0" sz="1300" b="0">
                <a:latin typeface="Century Gothic"/>
                <a:cs typeface="Century Gothic"/>
              </a:rPr>
              <a:t>Automate</a:t>
            </a:r>
            <a:r>
              <a:rPr dirty="0" sz="1300" spc="-10" b="0">
                <a:latin typeface="Century Gothic"/>
                <a:cs typeface="Century Gothic"/>
              </a:rPr>
              <a:t> </a:t>
            </a:r>
            <a:r>
              <a:rPr dirty="0" sz="1300" spc="60" b="0">
                <a:latin typeface="Century Gothic"/>
                <a:cs typeface="Century Gothic"/>
              </a:rPr>
              <a:t>reminders,</a:t>
            </a:r>
            <a:r>
              <a:rPr dirty="0" sz="1300" spc="-5" b="0">
                <a:latin typeface="Century Gothic"/>
                <a:cs typeface="Century Gothic"/>
              </a:rPr>
              <a:t> </a:t>
            </a:r>
            <a:r>
              <a:rPr dirty="0" sz="1300" spc="65" b="0">
                <a:latin typeface="Century Gothic"/>
                <a:cs typeface="Century Gothic"/>
              </a:rPr>
              <a:t>tasks,</a:t>
            </a:r>
            <a:r>
              <a:rPr dirty="0" sz="1300" spc="-5" b="0">
                <a:latin typeface="Century Gothic"/>
                <a:cs typeface="Century Gothic"/>
              </a:rPr>
              <a:t> </a:t>
            </a:r>
            <a:r>
              <a:rPr dirty="0" sz="1300" spc="-10" b="0">
                <a:latin typeface="Century Gothic"/>
                <a:cs typeface="Century Gothic"/>
              </a:rPr>
              <a:t>and </a:t>
            </a:r>
            <a:r>
              <a:rPr dirty="0" sz="1300" spc="55" b="0">
                <a:latin typeface="Century Gothic"/>
                <a:cs typeface="Century Gothic"/>
              </a:rPr>
              <a:t>next</a:t>
            </a:r>
            <a:r>
              <a:rPr dirty="0" sz="1300" spc="-5" b="0">
                <a:latin typeface="Century Gothic"/>
                <a:cs typeface="Century Gothic"/>
              </a:rPr>
              <a:t> </a:t>
            </a:r>
            <a:r>
              <a:rPr dirty="0" sz="1300" spc="95" b="0">
                <a:latin typeface="Century Gothic"/>
                <a:cs typeface="Century Gothic"/>
              </a:rPr>
              <a:t>steps</a:t>
            </a:r>
            <a:r>
              <a:rPr dirty="0" sz="1300" spc="-5" b="0">
                <a:latin typeface="Century Gothic"/>
                <a:cs typeface="Century Gothic"/>
              </a:rPr>
              <a:t> </a:t>
            </a:r>
            <a:r>
              <a:rPr dirty="0" sz="1300" b="0">
                <a:latin typeface="Century Gothic"/>
                <a:cs typeface="Century Gothic"/>
              </a:rPr>
              <a:t>as</a:t>
            </a:r>
            <a:r>
              <a:rPr dirty="0" sz="1300" spc="-10" b="0">
                <a:latin typeface="Century Gothic"/>
                <a:cs typeface="Century Gothic"/>
              </a:rPr>
              <a:t> </a:t>
            </a:r>
            <a:r>
              <a:rPr dirty="0" sz="1300" spc="-25" b="0">
                <a:latin typeface="Century Gothic"/>
                <a:cs typeface="Century Gothic"/>
              </a:rPr>
              <a:t>the </a:t>
            </a:r>
            <a:r>
              <a:rPr dirty="0" sz="1300" b="0">
                <a:latin typeface="Century Gothic"/>
                <a:cs typeface="Century Gothic"/>
              </a:rPr>
              <a:t>program</a:t>
            </a:r>
            <a:r>
              <a:rPr dirty="0" sz="1300" spc="204" b="0">
                <a:latin typeface="Century Gothic"/>
                <a:cs typeface="Century Gothic"/>
              </a:rPr>
              <a:t> </a:t>
            </a:r>
            <a:r>
              <a:rPr dirty="0" sz="1300" spc="70" b="0">
                <a:latin typeface="Century Gothic"/>
                <a:cs typeface="Century Gothic"/>
              </a:rPr>
              <a:t>progresses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80"/>
              <a:t>How</a:t>
            </a:r>
            <a:r>
              <a:rPr dirty="0" spc="-400"/>
              <a:t> </a:t>
            </a:r>
            <a:r>
              <a:rPr dirty="0" spc="-130"/>
              <a:t>SelfHelp</a:t>
            </a:r>
            <a:r>
              <a:rPr dirty="0" spc="-400"/>
              <a:t> </a:t>
            </a:r>
            <a:r>
              <a:rPr dirty="0" spc="-160"/>
              <a:t>Expands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79640" y="1437297"/>
            <a:ext cx="7090409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New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capabilities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are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added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through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plugins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2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without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rebuilding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core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platform.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79635" y="2041080"/>
            <a:ext cx="2844165" cy="29273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40" b="1">
                <a:solidFill>
                  <a:srgbClr val="1F1E1E"/>
                </a:solidFill>
                <a:latin typeface="Verdana"/>
                <a:cs typeface="Verdana"/>
              </a:rPr>
              <a:t>Core</a:t>
            </a:r>
            <a:r>
              <a:rPr dirty="0" sz="1750" spc="-160" b="1">
                <a:solidFill>
                  <a:srgbClr val="1F1E1E"/>
                </a:solidFill>
                <a:latin typeface="Verdana"/>
                <a:cs typeface="Verdana"/>
              </a:rPr>
              <a:t> </a:t>
            </a:r>
            <a:r>
              <a:rPr dirty="0" sz="1750" spc="-65" b="1">
                <a:solidFill>
                  <a:srgbClr val="1F1E1E"/>
                </a:solidFill>
                <a:latin typeface="Verdana"/>
                <a:cs typeface="Verdana"/>
              </a:rPr>
              <a:t>Supporting</a:t>
            </a:r>
            <a:r>
              <a:rPr dirty="0" sz="1750" spc="-160" b="1">
                <a:solidFill>
                  <a:srgbClr val="1F1E1E"/>
                </a:solidFill>
                <a:latin typeface="Verdana"/>
                <a:cs typeface="Verdana"/>
              </a:rPr>
              <a:t> </a:t>
            </a:r>
            <a:r>
              <a:rPr dirty="0" sz="1750" spc="-75" b="1">
                <a:solidFill>
                  <a:srgbClr val="1F1E1E"/>
                </a:solidFill>
                <a:latin typeface="Verdana"/>
                <a:cs typeface="Verdana"/>
              </a:rPr>
              <a:t>Plugins</a:t>
            </a:r>
            <a:endParaRPr sz="1750">
              <a:latin typeface="Verdana"/>
              <a:cs typeface="Verdan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00075" y="2543174"/>
            <a:ext cx="2352675" cy="1343025"/>
          </a:xfrm>
          <a:custGeom>
            <a:avLst/>
            <a:gdLst/>
            <a:ahLst/>
            <a:cxnLst/>
            <a:rect l="l" t="t" r="r" b="b"/>
            <a:pathLst>
              <a:path w="2352675" h="1343025">
                <a:moveTo>
                  <a:pt x="0" y="1293304"/>
                </a:moveTo>
                <a:lnTo>
                  <a:pt x="0" y="49720"/>
                </a:lnTo>
                <a:lnTo>
                  <a:pt x="0" y="43129"/>
                </a:lnTo>
                <a:lnTo>
                  <a:pt x="1259" y="36779"/>
                </a:lnTo>
                <a:lnTo>
                  <a:pt x="3784" y="30683"/>
                </a:lnTo>
                <a:lnTo>
                  <a:pt x="6305" y="24599"/>
                </a:lnTo>
                <a:lnTo>
                  <a:pt x="9902" y="19227"/>
                </a:lnTo>
                <a:lnTo>
                  <a:pt x="14560" y="14566"/>
                </a:lnTo>
                <a:lnTo>
                  <a:pt x="19223" y="9893"/>
                </a:lnTo>
                <a:lnTo>
                  <a:pt x="24601" y="6311"/>
                </a:lnTo>
                <a:lnTo>
                  <a:pt x="30693" y="3784"/>
                </a:lnTo>
                <a:lnTo>
                  <a:pt x="36785" y="1257"/>
                </a:lnTo>
                <a:lnTo>
                  <a:pt x="43125" y="0"/>
                </a:lnTo>
                <a:lnTo>
                  <a:pt x="49717" y="0"/>
                </a:lnTo>
                <a:lnTo>
                  <a:pt x="2302954" y="0"/>
                </a:lnTo>
                <a:lnTo>
                  <a:pt x="2309545" y="0"/>
                </a:lnTo>
                <a:lnTo>
                  <a:pt x="2315895" y="1257"/>
                </a:lnTo>
                <a:lnTo>
                  <a:pt x="2321979" y="3784"/>
                </a:lnTo>
                <a:lnTo>
                  <a:pt x="2328075" y="6311"/>
                </a:lnTo>
                <a:lnTo>
                  <a:pt x="2351417" y="36779"/>
                </a:lnTo>
                <a:lnTo>
                  <a:pt x="2352675" y="43129"/>
                </a:lnTo>
                <a:lnTo>
                  <a:pt x="2352675" y="49720"/>
                </a:lnTo>
                <a:lnTo>
                  <a:pt x="2352675" y="1293304"/>
                </a:lnTo>
                <a:lnTo>
                  <a:pt x="2352675" y="1299895"/>
                </a:lnTo>
                <a:lnTo>
                  <a:pt x="2351417" y="1306245"/>
                </a:lnTo>
                <a:lnTo>
                  <a:pt x="2348890" y="1312329"/>
                </a:lnTo>
                <a:lnTo>
                  <a:pt x="2346363" y="1318425"/>
                </a:lnTo>
                <a:lnTo>
                  <a:pt x="2315895" y="1341755"/>
                </a:lnTo>
                <a:lnTo>
                  <a:pt x="2309545" y="1343025"/>
                </a:lnTo>
                <a:lnTo>
                  <a:pt x="2302954" y="1343025"/>
                </a:lnTo>
                <a:lnTo>
                  <a:pt x="49717" y="1343025"/>
                </a:lnTo>
                <a:lnTo>
                  <a:pt x="43125" y="1343025"/>
                </a:lnTo>
                <a:lnTo>
                  <a:pt x="36785" y="1341755"/>
                </a:lnTo>
                <a:lnTo>
                  <a:pt x="6305" y="1318425"/>
                </a:lnTo>
                <a:lnTo>
                  <a:pt x="3784" y="1312329"/>
                </a:lnTo>
                <a:lnTo>
                  <a:pt x="1259" y="1306245"/>
                </a:lnTo>
                <a:lnTo>
                  <a:pt x="0" y="1299895"/>
                </a:lnTo>
                <a:lnTo>
                  <a:pt x="0" y="1293304"/>
                </a:lnTo>
                <a:close/>
              </a:path>
            </a:pathLst>
          </a:custGeom>
          <a:ln w="19050">
            <a:solidFill>
              <a:srgbClr val="DFB7BB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767902" y="2698305"/>
            <a:ext cx="2022475" cy="9772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25" b="1">
                <a:solidFill>
                  <a:srgbClr val="3A3535"/>
                </a:solidFill>
                <a:latin typeface="Verdana"/>
                <a:cs typeface="Verdana"/>
              </a:rPr>
              <a:t>External</a:t>
            </a:r>
            <a:r>
              <a:rPr dirty="0" sz="1750" spc="-15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750" spc="-20" b="1">
                <a:solidFill>
                  <a:srgbClr val="3A3535"/>
                </a:solidFill>
                <a:latin typeface="Verdana"/>
                <a:cs typeface="Verdana"/>
              </a:rPr>
              <a:t>Auth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4600"/>
              </a:lnSpc>
              <a:spcBef>
                <a:spcPts val="1185"/>
              </a:spcBef>
            </a:pPr>
            <a:r>
              <a:rPr dirty="0" sz="1300" spc="135">
                <a:solidFill>
                  <a:srgbClr val="3A3535"/>
                </a:solidFill>
                <a:latin typeface="Century Gothic"/>
                <a:cs typeface="Century Gothic"/>
              </a:rPr>
              <a:t>Fits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institutional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access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models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143250" y="2543174"/>
            <a:ext cx="2352675" cy="1343025"/>
          </a:xfrm>
          <a:custGeom>
            <a:avLst/>
            <a:gdLst/>
            <a:ahLst/>
            <a:cxnLst/>
            <a:rect l="l" t="t" r="r" b="b"/>
            <a:pathLst>
              <a:path w="2352675" h="1343025">
                <a:moveTo>
                  <a:pt x="0" y="1293304"/>
                </a:moveTo>
                <a:lnTo>
                  <a:pt x="0" y="49720"/>
                </a:lnTo>
                <a:lnTo>
                  <a:pt x="0" y="43129"/>
                </a:lnTo>
                <a:lnTo>
                  <a:pt x="1257" y="36779"/>
                </a:lnTo>
                <a:lnTo>
                  <a:pt x="3784" y="30683"/>
                </a:lnTo>
                <a:lnTo>
                  <a:pt x="6299" y="24599"/>
                </a:lnTo>
                <a:lnTo>
                  <a:pt x="9893" y="19227"/>
                </a:lnTo>
                <a:lnTo>
                  <a:pt x="14554" y="14566"/>
                </a:lnTo>
                <a:lnTo>
                  <a:pt x="19227" y="9893"/>
                </a:lnTo>
                <a:lnTo>
                  <a:pt x="24599" y="6311"/>
                </a:lnTo>
                <a:lnTo>
                  <a:pt x="30695" y="3784"/>
                </a:lnTo>
                <a:lnTo>
                  <a:pt x="36779" y="1257"/>
                </a:lnTo>
                <a:lnTo>
                  <a:pt x="43129" y="0"/>
                </a:lnTo>
                <a:lnTo>
                  <a:pt x="49720" y="0"/>
                </a:lnTo>
                <a:lnTo>
                  <a:pt x="2302954" y="0"/>
                </a:lnTo>
                <a:lnTo>
                  <a:pt x="2309545" y="0"/>
                </a:lnTo>
                <a:lnTo>
                  <a:pt x="2315895" y="1257"/>
                </a:lnTo>
                <a:lnTo>
                  <a:pt x="2321979" y="3784"/>
                </a:lnTo>
                <a:lnTo>
                  <a:pt x="2328075" y="6311"/>
                </a:lnTo>
                <a:lnTo>
                  <a:pt x="2351405" y="36779"/>
                </a:lnTo>
                <a:lnTo>
                  <a:pt x="2352675" y="43129"/>
                </a:lnTo>
                <a:lnTo>
                  <a:pt x="2352675" y="49720"/>
                </a:lnTo>
                <a:lnTo>
                  <a:pt x="2352675" y="1293304"/>
                </a:lnTo>
                <a:lnTo>
                  <a:pt x="2352675" y="1299895"/>
                </a:lnTo>
                <a:lnTo>
                  <a:pt x="2351405" y="1306245"/>
                </a:lnTo>
                <a:lnTo>
                  <a:pt x="2328075" y="1336713"/>
                </a:lnTo>
                <a:lnTo>
                  <a:pt x="2309545" y="1343025"/>
                </a:lnTo>
                <a:lnTo>
                  <a:pt x="2302954" y="1343025"/>
                </a:lnTo>
                <a:lnTo>
                  <a:pt x="49720" y="1343025"/>
                </a:lnTo>
                <a:lnTo>
                  <a:pt x="43129" y="1343025"/>
                </a:lnTo>
                <a:lnTo>
                  <a:pt x="36779" y="1341755"/>
                </a:lnTo>
                <a:lnTo>
                  <a:pt x="6299" y="1318425"/>
                </a:lnTo>
                <a:lnTo>
                  <a:pt x="3784" y="1312329"/>
                </a:lnTo>
                <a:lnTo>
                  <a:pt x="1257" y="1306245"/>
                </a:lnTo>
                <a:lnTo>
                  <a:pt x="0" y="1299895"/>
                </a:lnTo>
                <a:lnTo>
                  <a:pt x="0" y="1293304"/>
                </a:lnTo>
                <a:close/>
              </a:path>
            </a:pathLst>
          </a:custGeom>
          <a:ln w="19050">
            <a:solidFill>
              <a:srgbClr val="DFB7BB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3310635" y="2698305"/>
            <a:ext cx="1322070" cy="9772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Lab.js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4600"/>
              </a:lnSpc>
              <a:spcBef>
                <a:spcPts val="1185"/>
              </a:spcBef>
            </a:pP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Browser-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based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experiments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00075" y="4076700"/>
            <a:ext cx="2352675" cy="1628775"/>
          </a:xfrm>
          <a:custGeom>
            <a:avLst/>
            <a:gdLst/>
            <a:ahLst/>
            <a:cxnLst/>
            <a:rect l="l" t="t" r="r" b="b"/>
            <a:pathLst>
              <a:path w="2352675" h="1628775">
                <a:moveTo>
                  <a:pt x="0" y="1579057"/>
                </a:moveTo>
                <a:lnTo>
                  <a:pt x="0" y="49720"/>
                </a:lnTo>
                <a:lnTo>
                  <a:pt x="0" y="43129"/>
                </a:lnTo>
                <a:lnTo>
                  <a:pt x="1259" y="36779"/>
                </a:lnTo>
                <a:lnTo>
                  <a:pt x="3784" y="30683"/>
                </a:lnTo>
                <a:lnTo>
                  <a:pt x="6305" y="24599"/>
                </a:lnTo>
                <a:lnTo>
                  <a:pt x="9902" y="19227"/>
                </a:lnTo>
                <a:lnTo>
                  <a:pt x="14560" y="14566"/>
                </a:lnTo>
                <a:lnTo>
                  <a:pt x="19223" y="9893"/>
                </a:lnTo>
                <a:lnTo>
                  <a:pt x="24601" y="6311"/>
                </a:lnTo>
                <a:lnTo>
                  <a:pt x="30693" y="3784"/>
                </a:lnTo>
                <a:lnTo>
                  <a:pt x="36785" y="1257"/>
                </a:lnTo>
                <a:lnTo>
                  <a:pt x="43125" y="0"/>
                </a:lnTo>
                <a:lnTo>
                  <a:pt x="49717" y="0"/>
                </a:lnTo>
                <a:lnTo>
                  <a:pt x="2302954" y="0"/>
                </a:lnTo>
                <a:lnTo>
                  <a:pt x="2309545" y="0"/>
                </a:lnTo>
                <a:lnTo>
                  <a:pt x="2315895" y="1257"/>
                </a:lnTo>
                <a:lnTo>
                  <a:pt x="2321979" y="3784"/>
                </a:lnTo>
                <a:lnTo>
                  <a:pt x="2328075" y="6311"/>
                </a:lnTo>
                <a:lnTo>
                  <a:pt x="2351417" y="36779"/>
                </a:lnTo>
                <a:lnTo>
                  <a:pt x="2352675" y="43129"/>
                </a:lnTo>
                <a:lnTo>
                  <a:pt x="2352675" y="49720"/>
                </a:lnTo>
                <a:lnTo>
                  <a:pt x="2352675" y="1579057"/>
                </a:lnTo>
                <a:lnTo>
                  <a:pt x="2352675" y="1585650"/>
                </a:lnTo>
                <a:lnTo>
                  <a:pt x="2351417" y="1591990"/>
                </a:lnTo>
                <a:lnTo>
                  <a:pt x="2348890" y="1598082"/>
                </a:lnTo>
                <a:lnTo>
                  <a:pt x="2346363" y="1604175"/>
                </a:lnTo>
                <a:lnTo>
                  <a:pt x="2321979" y="1624990"/>
                </a:lnTo>
                <a:lnTo>
                  <a:pt x="2315895" y="1627511"/>
                </a:lnTo>
                <a:lnTo>
                  <a:pt x="2309545" y="1628771"/>
                </a:lnTo>
                <a:lnTo>
                  <a:pt x="2302954" y="1628776"/>
                </a:lnTo>
                <a:lnTo>
                  <a:pt x="49717" y="1628776"/>
                </a:lnTo>
                <a:lnTo>
                  <a:pt x="9902" y="1609547"/>
                </a:lnTo>
                <a:lnTo>
                  <a:pt x="3784" y="1598082"/>
                </a:lnTo>
                <a:lnTo>
                  <a:pt x="1259" y="1591990"/>
                </a:lnTo>
                <a:lnTo>
                  <a:pt x="0" y="1585650"/>
                </a:lnTo>
                <a:lnTo>
                  <a:pt x="0" y="1579057"/>
                </a:lnTo>
                <a:close/>
              </a:path>
            </a:pathLst>
          </a:custGeom>
          <a:ln w="19050">
            <a:solidFill>
              <a:srgbClr val="DFB7BB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767902" y="4231830"/>
            <a:ext cx="1871980" cy="9772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30" b="1">
                <a:solidFill>
                  <a:srgbClr val="3A3535"/>
                </a:solidFill>
                <a:latin typeface="Verdana"/>
                <a:cs typeface="Verdana"/>
              </a:rPr>
              <a:t>R</a:t>
            </a:r>
            <a:r>
              <a:rPr dirty="0" sz="1750" spc="-21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750" spc="-25" b="1">
                <a:solidFill>
                  <a:srgbClr val="3A3535"/>
                </a:solidFill>
                <a:latin typeface="Verdana"/>
                <a:cs typeface="Verdana"/>
              </a:rPr>
              <a:t>Integration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4600"/>
              </a:lnSpc>
              <a:spcBef>
                <a:spcPts val="1185"/>
              </a:spcBef>
            </a:pP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Advanced</a:t>
            </a:r>
            <a:r>
              <a:rPr dirty="0" sz="1300" spc="-6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analysis</a:t>
            </a:r>
            <a:r>
              <a:rPr dirty="0" sz="1300" spc="-6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10">
                <a:solidFill>
                  <a:srgbClr val="3A3535"/>
                </a:solidFill>
                <a:latin typeface="Century Gothic"/>
                <a:cs typeface="Century Gothic"/>
              </a:rPr>
              <a:t>in-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platform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143250" y="4076700"/>
            <a:ext cx="2352675" cy="1628775"/>
          </a:xfrm>
          <a:custGeom>
            <a:avLst/>
            <a:gdLst/>
            <a:ahLst/>
            <a:cxnLst/>
            <a:rect l="l" t="t" r="r" b="b"/>
            <a:pathLst>
              <a:path w="2352675" h="1628775">
                <a:moveTo>
                  <a:pt x="0" y="1579057"/>
                </a:moveTo>
                <a:lnTo>
                  <a:pt x="0" y="49720"/>
                </a:lnTo>
                <a:lnTo>
                  <a:pt x="0" y="43129"/>
                </a:lnTo>
                <a:lnTo>
                  <a:pt x="1257" y="36779"/>
                </a:lnTo>
                <a:lnTo>
                  <a:pt x="3784" y="30683"/>
                </a:lnTo>
                <a:lnTo>
                  <a:pt x="6299" y="24599"/>
                </a:lnTo>
                <a:lnTo>
                  <a:pt x="9893" y="19227"/>
                </a:lnTo>
                <a:lnTo>
                  <a:pt x="14554" y="14566"/>
                </a:lnTo>
                <a:lnTo>
                  <a:pt x="19227" y="9893"/>
                </a:lnTo>
                <a:lnTo>
                  <a:pt x="24599" y="6311"/>
                </a:lnTo>
                <a:lnTo>
                  <a:pt x="30695" y="3784"/>
                </a:lnTo>
                <a:lnTo>
                  <a:pt x="36779" y="1257"/>
                </a:lnTo>
                <a:lnTo>
                  <a:pt x="43129" y="0"/>
                </a:lnTo>
                <a:lnTo>
                  <a:pt x="49720" y="0"/>
                </a:lnTo>
                <a:lnTo>
                  <a:pt x="2302954" y="0"/>
                </a:lnTo>
                <a:lnTo>
                  <a:pt x="2309545" y="0"/>
                </a:lnTo>
                <a:lnTo>
                  <a:pt x="2315895" y="1257"/>
                </a:lnTo>
                <a:lnTo>
                  <a:pt x="2321979" y="3784"/>
                </a:lnTo>
                <a:lnTo>
                  <a:pt x="2328075" y="6311"/>
                </a:lnTo>
                <a:lnTo>
                  <a:pt x="2351405" y="36779"/>
                </a:lnTo>
                <a:lnTo>
                  <a:pt x="2352675" y="43129"/>
                </a:lnTo>
                <a:lnTo>
                  <a:pt x="2352675" y="49720"/>
                </a:lnTo>
                <a:lnTo>
                  <a:pt x="2352675" y="1579057"/>
                </a:lnTo>
                <a:lnTo>
                  <a:pt x="2352675" y="1585650"/>
                </a:lnTo>
                <a:lnTo>
                  <a:pt x="2351405" y="1591990"/>
                </a:lnTo>
                <a:lnTo>
                  <a:pt x="2328075" y="1622465"/>
                </a:lnTo>
                <a:lnTo>
                  <a:pt x="2321979" y="1624990"/>
                </a:lnTo>
                <a:lnTo>
                  <a:pt x="2315895" y="1627511"/>
                </a:lnTo>
                <a:lnTo>
                  <a:pt x="2309545" y="1628771"/>
                </a:lnTo>
                <a:lnTo>
                  <a:pt x="2302954" y="1628776"/>
                </a:lnTo>
                <a:lnTo>
                  <a:pt x="49720" y="1628776"/>
                </a:lnTo>
                <a:lnTo>
                  <a:pt x="43129" y="1628771"/>
                </a:lnTo>
                <a:lnTo>
                  <a:pt x="36779" y="1627511"/>
                </a:lnTo>
                <a:lnTo>
                  <a:pt x="30695" y="1624990"/>
                </a:lnTo>
                <a:lnTo>
                  <a:pt x="24599" y="1622465"/>
                </a:lnTo>
                <a:lnTo>
                  <a:pt x="3784" y="1598082"/>
                </a:lnTo>
                <a:lnTo>
                  <a:pt x="1257" y="1591990"/>
                </a:lnTo>
                <a:lnTo>
                  <a:pt x="0" y="1585650"/>
                </a:lnTo>
                <a:lnTo>
                  <a:pt x="0" y="1579057"/>
                </a:lnTo>
                <a:close/>
              </a:path>
            </a:pathLst>
          </a:custGeom>
          <a:ln w="19050">
            <a:solidFill>
              <a:srgbClr val="DFB7BB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3310635" y="4231830"/>
            <a:ext cx="1744980" cy="1253490"/>
          </a:xfrm>
          <a:prstGeom prst="rect">
            <a:avLst/>
          </a:prstGeom>
        </p:spPr>
        <p:txBody>
          <a:bodyPr wrap="square" lIns="0" tIns="3175" rIns="0" bIns="0" rtlCol="0" vert="horz">
            <a:spAutoFit/>
          </a:bodyPr>
          <a:lstStyle/>
          <a:p>
            <a:pPr marL="12700" marR="676910">
              <a:lnSpc>
                <a:spcPct val="103600"/>
              </a:lnSpc>
              <a:spcBef>
                <a:spcPts val="25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Custom </a:t>
            </a:r>
            <a:r>
              <a:rPr dirty="0" sz="1750" spc="-120" b="1">
                <a:solidFill>
                  <a:srgbClr val="3A3535"/>
                </a:solidFill>
                <a:latin typeface="Verdana"/>
                <a:cs typeface="Verdana"/>
              </a:rPr>
              <a:t>Formulas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4600"/>
              </a:lnSpc>
              <a:spcBef>
                <a:spcPts val="1185"/>
              </a:spcBef>
            </a:pP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Scoring</a:t>
            </a: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derived values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810250" y="1895474"/>
            <a:ext cx="5162550" cy="4010025"/>
          </a:xfrm>
          <a:custGeom>
            <a:avLst/>
            <a:gdLst/>
            <a:ahLst/>
            <a:cxnLst/>
            <a:rect l="l" t="t" r="r" b="b"/>
            <a:pathLst>
              <a:path w="5162550" h="4010025">
                <a:moveTo>
                  <a:pt x="5067655" y="0"/>
                </a:moveTo>
                <a:lnTo>
                  <a:pt x="94894" y="0"/>
                </a:lnTo>
                <a:lnTo>
                  <a:pt x="88290" y="647"/>
                </a:lnTo>
                <a:lnTo>
                  <a:pt x="50685" y="13411"/>
                </a:lnTo>
                <a:lnTo>
                  <a:pt x="20815" y="39585"/>
                </a:lnTo>
                <a:lnTo>
                  <a:pt x="3251" y="75209"/>
                </a:lnTo>
                <a:lnTo>
                  <a:pt x="0" y="94894"/>
                </a:lnTo>
                <a:lnTo>
                  <a:pt x="0" y="3908465"/>
                </a:lnTo>
                <a:lnTo>
                  <a:pt x="0" y="3915133"/>
                </a:lnTo>
                <a:lnTo>
                  <a:pt x="10287" y="3953491"/>
                </a:lnTo>
                <a:lnTo>
                  <a:pt x="34467" y="3984993"/>
                </a:lnTo>
                <a:lnTo>
                  <a:pt x="68846" y="4004847"/>
                </a:lnTo>
                <a:lnTo>
                  <a:pt x="94894" y="4010026"/>
                </a:lnTo>
                <a:lnTo>
                  <a:pt x="5067655" y="4010026"/>
                </a:lnTo>
                <a:lnTo>
                  <a:pt x="5106009" y="3999741"/>
                </a:lnTo>
                <a:lnTo>
                  <a:pt x="5137518" y="3975562"/>
                </a:lnTo>
                <a:lnTo>
                  <a:pt x="5157368" y="3941168"/>
                </a:lnTo>
                <a:lnTo>
                  <a:pt x="5162550" y="3915133"/>
                </a:lnTo>
                <a:lnTo>
                  <a:pt x="5162550" y="94894"/>
                </a:lnTo>
                <a:lnTo>
                  <a:pt x="5152263" y="56527"/>
                </a:lnTo>
                <a:lnTo>
                  <a:pt x="5128082" y="25031"/>
                </a:lnTo>
                <a:lnTo>
                  <a:pt x="5093690" y="5181"/>
                </a:lnTo>
                <a:lnTo>
                  <a:pt x="5074259" y="647"/>
                </a:lnTo>
                <a:lnTo>
                  <a:pt x="5067655" y="0"/>
                </a:lnTo>
                <a:close/>
              </a:path>
            </a:pathLst>
          </a:custGeom>
          <a:solidFill>
            <a:srgbClr val="F9D2D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/>
          <p:nvPr/>
        </p:nvSpPr>
        <p:spPr>
          <a:xfrm>
            <a:off x="5965571" y="2041080"/>
            <a:ext cx="4077335" cy="7105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70" b="1">
                <a:solidFill>
                  <a:srgbClr val="1F1E1E"/>
                </a:solidFill>
                <a:latin typeface="Verdana"/>
                <a:cs typeface="Verdana"/>
              </a:rPr>
              <a:t>3</a:t>
            </a:r>
            <a:r>
              <a:rPr dirty="0" sz="1750" spc="-195" b="1">
                <a:solidFill>
                  <a:srgbClr val="1F1E1E"/>
                </a:solidFill>
                <a:latin typeface="Verdana"/>
                <a:cs typeface="Verdana"/>
              </a:rPr>
              <a:t> </a:t>
            </a:r>
            <a:r>
              <a:rPr dirty="0" sz="1750" spc="-114" b="1">
                <a:solidFill>
                  <a:srgbClr val="1F1E1E"/>
                </a:solidFill>
                <a:latin typeface="Verdana"/>
                <a:cs typeface="Verdana"/>
              </a:rPr>
              <a:t>Featured</a:t>
            </a:r>
            <a:r>
              <a:rPr dirty="0" sz="1750" spc="-190" b="1">
                <a:solidFill>
                  <a:srgbClr val="1F1E1E"/>
                </a:solidFill>
                <a:latin typeface="Verdana"/>
                <a:cs typeface="Verdana"/>
              </a:rPr>
              <a:t> </a:t>
            </a:r>
            <a:r>
              <a:rPr dirty="0" sz="1750" spc="-10" b="1">
                <a:solidFill>
                  <a:srgbClr val="1F1E1E"/>
                </a:solidFill>
                <a:latin typeface="Verdana"/>
                <a:cs typeface="Verdana"/>
              </a:rPr>
              <a:t>Plugins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725"/>
              </a:spcBef>
            </a:pPr>
            <a:r>
              <a:rPr dirty="0" sz="1300" spc="-45" b="1">
                <a:solidFill>
                  <a:srgbClr val="3A3535"/>
                </a:solidFill>
                <a:latin typeface="Verdana"/>
                <a:cs typeface="Verdana"/>
              </a:rPr>
              <a:t>SurveyJS</a:t>
            </a:r>
            <a:r>
              <a:rPr dirty="0" sz="1300" spc="-11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12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r>
              <a:rPr dirty="0" sz="1300" spc="-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structured</a:t>
            </a:r>
            <a:r>
              <a:rPr dirty="0" sz="1300" spc="-2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longitudinal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assessment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65571" y="2942247"/>
            <a:ext cx="2603500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45" b="1">
                <a:solidFill>
                  <a:srgbClr val="3A3535"/>
                </a:solidFill>
                <a:latin typeface="Verdana"/>
                <a:cs typeface="Verdana"/>
              </a:rPr>
              <a:t>LLM</a:t>
            </a:r>
            <a:r>
              <a:rPr dirty="0" sz="1300" spc="-12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12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controlled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AI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assistants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965571" y="3361347"/>
            <a:ext cx="412559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45" b="1">
                <a:solidFill>
                  <a:srgbClr val="3A3535"/>
                </a:solidFill>
                <a:latin typeface="Verdana"/>
                <a:cs typeface="Verdana"/>
              </a:rPr>
              <a:t>LLM</a:t>
            </a:r>
            <a:r>
              <a:rPr dirty="0" sz="1300" spc="-15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70" b="1">
                <a:solidFill>
                  <a:srgbClr val="3A3535"/>
                </a:solidFill>
                <a:latin typeface="Verdana"/>
                <a:cs typeface="Verdana"/>
              </a:rPr>
              <a:t>Therapy</a:t>
            </a:r>
            <a:r>
              <a:rPr dirty="0" sz="1300" spc="-14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10" b="1">
                <a:solidFill>
                  <a:srgbClr val="3A3535"/>
                </a:solidFill>
                <a:latin typeface="Verdana"/>
                <a:cs typeface="Verdana"/>
              </a:rPr>
              <a:t>Chat</a:t>
            </a:r>
            <a:r>
              <a:rPr dirty="0" sz="1300" spc="-11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12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supervised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communication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895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75"/>
              <a:t>Plugin</a:t>
            </a:r>
            <a:r>
              <a:rPr dirty="0" spc="-409"/>
              <a:t> </a:t>
            </a:r>
            <a:r>
              <a:rPr dirty="0" spc="-745"/>
              <a:t>1:</a:t>
            </a:r>
            <a:r>
              <a:rPr dirty="0" spc="-405"/>
              <a:t> </a:t>
            </a:r>
            <a:r>
              <a:rPr dirty="0" spc="-140"/>
              <a:t>SurveyJS</a:t>
            </a:r>
          </a:p>
        </p:txBody>
      </p:sp>
      <p:sp>
        <p:nvSpPr>
          <p:cNvPr id="3" name="object 3"/>
          <p:cNvSpPr/>
          <p:nvPr/>
        </p:nvSpPr>
        <p:spPr>
          <a:xfrm>
            <a:off x="628650" y="2857500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A353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28650" y="3181350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A353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628650" y="351472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A353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579635" y="1707075"/>
            <a:ext cx="4725670" cy="21971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 marR="5080">
              <a:lnSpc>
                <a:spcPct val="137000"/>
              </a:lnSpc>
              <a:spcBef>
                <a:spcPts val="130"/>
              </a:spcBef>
            </a:pPr>
            <a:r>
              <a:rPr dirty="0" sz="1300" spc="114">
                <a:solidFill>
                  <a:srgbClr val="3A3535"/>
                </a:solidFill>
                <a:latin typeface="Century Gothic"/>
                <a:cs typeface="Century Gothic"/>
              </a:rPr>
              <a:t>SurveyJS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moves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beyond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simple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00">
                <a:solidFill>
                  <a:srgbClr val="3A3535"/>
                </a:solidFill>
                <a:latin typeface="Century Gothic"/>
                <a:cs typeface="Century Gothic"/>
              </a:rPr>
              <a:t>forms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2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surveys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can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be </a:t>
            </a:r>
            <a:r>
              <a:rPr dirty="0" sz="1300" spc="-50" b="1">
                <a:solidFill>
                  <a:srgbClr val="3A3535"/>
                </a:solidFill>
                <a:latin typeface="Verdana"/>
                <a:cs typeface="Verdana"/>
              </a:rPr>
              <a:t>versioned,</a:t>
            </a:r>
            <a:r>
              <a:rPr dirty="0" sz="1300" spc="-12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40" b="1">
                <a:solidFill>
                  <a:srgbClr val="3A3535"/>
                </a:solidFill>
                <a:latin typeface="Verdana"/>
                <a:cs typeface="Verdana"/>
              </a:rPr>
              <a:t>scheduled,</a:t>
            </a:r>
            <a:r>
              <a:rPr dirty="0" sz="1300" spc="-114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30" b="1">
                <a:solidFill>
                  <a:srgbClr val="3A3535"/>
                </a:solidFill>
                <a:latin typeface="Verdana"/>
                <a:cs typeface="Verdana"/>
              </a:rPr>
              <a:t>edited,</a:t>
            </a:r>
            <a:r>
              <a:rPr dirty="0" sz="1300" spc="-114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45" b="1">
                <a:solidFill>
                  <a:srgbClr val="3A3535"/>
                </a:solidFill>
                <a:latin typeface="Verdana"/>
                <a:cs typeface="Verdana"/>
              </a:rPr>
              <a:t>and</a:t>
            </a:r>
            <a:r>
              <a:rPr dirty="0" sz="1300" spc="-114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10" b="1">
                <a:solidFill>
                  <a:srgbClr val="3A3535"/>
                </a:solidFill>
                <a:latin typeface="Verdana"/>
                <a:cs typeface="Verdana"/>
              </a:rPr>
              <a:t>connected</a:t>
            </a:r>
            <a:r>
              <a:rPr dirty="0" sz="1300" spc="-114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25" b="1">
                <a:solidFill>
                  <a:srgbClr val="3A3535"/>
                </a:solidFill>
                <a:latin typeface="Verdana"/>
                <a:cs typeface="Verdana"/>
              </a:rPr>
              <a:t>to </a:t>
            </a:r>
            <a:r>
              <a:rPr dirty="0" sz="1300" spc="-35" b="1">
                <a:solidFill>
                  <a:srgbClr val="3A3535"/>
                </a:solidFill>
                <a:latin typeface="Verdana"/>
                <a:cs typeface="Verdana"/>
              </a:rPr>
              <a:t>dashboards</a:t>
            </a:r>
            <a:r>
              <a:rPr dirty="0" sz="1300" spc="-7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inside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platform.</a:t>
            </a:r>
            <a:endParaRPr sz="13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sz="1300">
              <a:latin typeface="Century Gothic"/>
              <a:cs typeface="Century Gothic"/>
            </a:endParaRPr>
          </a:p>
          <a:p>
            <a:pPr marL="283210">
              <a:lnSpc>
                <a:spcPct val="100000"/>
              </a:lnSpc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Autosave,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edit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mode,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timing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metadata</a:t>
            </a:r>
            <a:endParaRPr sz="1300">
              <a:latin typeface="Century Gothic"/>
              <a:cs typeface="Century Gothic"/>
            </a:endParaRPr>
          </a:p>
          <a:p>
            <a:pPr marL="283210">
              <a:lnSpc>
                <a:spcPct val="100000"/>
              </a:lnSpc>
              <a:spcBef>
                <a:spcPts val="990"/>
              </a:spcBef>
            </a:pP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File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upload,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PDF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export,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voice-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record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responses</a:t>
            </a:r>
            <a:endParaRPr sz="1300">
              <a:latin typeface="Century Gothic"/>
              <a:cs typeface="Century Gothic"/>
            </a:endParaRPr>
          </a:p>
          <a:p>
            <a:pPr marL="283210" marR="120014">
              <a:lnSpc>
                <a:spcPct val="134600"/>
              </a:lnSpc>
              <a:spcBef>
                <a:spcPts val="525"/>
              </a:spcBef>
            </a:pP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Stronger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data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quality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for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repeated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longitudinal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assessment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5915025" y="1809749"/>
            <a:ext cx="4933950" cy="1095375"/>
            <a:chOff x="5915025" y="1809749"/>
            <a:chExt cx="4933950" cy="1095375"/>
          </a:xfrm>
        </p:grpSpPr>
        <p:sp>
          <p:nvSpPr>
            <p:cNvPr id="8" name="object 8"/>
            <p:cNvSpPr/>
            <p:nvPr/>
          </p:nvSpPr>
          <p:spPr>
            <a:xfrm>
              <a:off x="5934913" y="1809762"/>
              <a:ext cx="4914265" cy="1095375"/>
            </a:xfrm>
            <a:custGeom>
              <a:avLst/>
              <a:gdLst/>
              <a:ahLst/>
              <a:cxnLst/>
              <a:rect l="l" t="t" r="r" b="b"/>
              <a:pathLst>
                <a:path w="4914265" h="1095375">
                  <a:moveTo>
                    <a:pt x="4914023" y="51219"/>
                  </a:moveTo>
                  <a:lnTo>
                    <a:pt x="4912550" y="43827"/>
                  </a:lnTo>
                  <a:lnTo>
                    <a:pt x="4906530" y="29311"/>
                  </a:lnTo>
                  <a:lnTo>
                    <a:pt x="4902251" y="22910"/>
                  </a:lnTo>
                  <a:lnTo>
                    <a:pt x="4897171" y="17830"/>
                  </a:lnTo>
                  <a:lnTo>
                    <a:pt x="4896701" y="17348"/>
                  </a:lnTo>
                  <a:lnTo>
                    <a:pt x="4891138" y="11798"/>
                  </a:lnTo>
                  <a:lnTo>
                    <a:pt x="4884737" y="7518"/>
                  </a:lnTo>
                  <a:lnTo>
                    <a:pt x="4870310" y="1524"/>
                  </a:lnTo>
                  <a:lnTo>
                    <a:pt x="4862665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59931" y="1524"/>
                  </a:lnTo>
                  <a:lnTo>
                    <a:pt x="60159" y="1524"/>
                  </a:lnTo>
                  <a:lnTo>
                    <a:pt x="53263" y="3251"/>
                  </a:lnTo>
                  <a:lnTo>
                    <a:pt x="16421" y="27876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4854803" y="19050"/>
                  </a:lnTo>
                  <a:lnTo>
                    <a:pt x="4892065" y="43827"/>
                  </a:lnTo>
                  <a:lnTo>
                    <a:pt x="4894999" y="59245"/>
                  </a:lnTo>
                  <a:lnTo>
                    <a:pt x="4894999" y="1036129"/>
                  </a:lnTo>
                  <a:lnTo>
                    <a:pt x="4894288" y="1043990"/>
                  </a:lnTo>
                  <a:lnTo>
                    <a:pt x="4894275" y="1044143"/>
                  </a:lnTo>
                  <a:lnTo>
                    <a:pt x="4862830" y="1075588"/>
                  </a:lnTo>
                  <a:lnTo>
                    <a:pt x="4854803" y="1076325"/>
                  </a:lnTo>
                  <a:lnTo>
                    <a:pt x="75349" y="1076325"/>
                  </a:lnTo>
                  <a:lnTo>
                    <a:pt x="33007" y="1066698"/>
                  </a:lnTo>
                  <a:lnTo>
                    <a:pt x="1079" y="1034046"/>
                  </a:lnTo>
                  <a:lnTo>
                    <a:pt x="0" y="1029944"/>
                  </a:lnTo>
                  <a:lnTo>
                    <a:pt x="609" y="1034046"/>
                  </a:lnTo>
                  <a:lnTo>
                    <a:pt x="2413" y="1041247"/>
                  </a:lnTo>
                  <a:lnTo>
                    <a:pt x="4851" y="1048042"/>
                  </a:lnTo>
                  <a:lnTo>
                    <a:pt x="4953" y="1048334"/>
                  </a:lnTo>
                  <a:lnTo>
                    <a:pt x="33007" y="1082535"/>
                  </a:lnTo>
                  <a:lnTo>
                    <a:pt x="75349" y="1095375"/>
                  </a:lnTo>
                  <a:lnTo>
                    <a:pt x="4862665" y="1095375"/>
                  </a:lnTo>
                  <a:lnTo>
                    <a:pt x="4869980" y="1093914"/>
                  </a:lnTo>
                  <a:lnTo>
                    <a:pt x="4870107" y="1093914"/>
                  </a:lnTo>
                  <a:lnTo>
                    <a:pt x="4884737" y="1087856"/>
                  </a:lnTo>
                  <a:lnTo>
                    <a:pt x="4891138" y="1083576"/>
                  </a:lnTo>
                  <a:lnTo>
                    <a:pt x="4896701" y="1078014"/>
                  </a:lnTo>
                  <a:lnTo>
                    <a:pt x="4897171" y="1077544"/>
                  </a:lnTo>
                  <a:lnTo>
                    <a:pt x="4902251" y="1072464"/>
                  </a:lnTo>
                  <a:lnTo>
                    <a:pt x="4906530" y="1066063"/>
                  </a:lnTo>
                  <a:lnTo>
                    <a:pt x="4912550" y="1051560"/>
                  </a:lnTo>
                  <a:lnTo>
                    <a:pt x="4914023" y="1044143"/>
                  </a:lnTo>
                  <a:lnTo>
                    <a:pt x="4914023" y="51219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915025" y="1809749"/>
              <a:ext cx="76200" cy="1095375"/>
            </a:xfrm>
            <a:custGeom>
              <a:avLst/>
              <a:gdLst/>
              <a:ahLst/>
              <a:cxnLst/>
              <a:rect l="l" t="t" r="r" b="b"/>
              <a:pathLst>
                <a:path w="76200" h="1095375">
                  <a:moveTo>
                    <a:pt x="76200" y="0"/>
                  </a:moveTo>
                  <a:lnTo>
                    <a:pt x="55359" y="0"/>
                  </a:lnTo>
                  <a:lnTo>
                    <a:pt x="51498" y="381"/>
                  </a:lnTo>
                  <a:lnTo>
                    <a:pt x="14605" y="20104"/>
                  </a:lnTo>
                  <a:lnTo>
                    <a:pt x="0" y="55359"/>
                  </a:lnTo>
                  <a:lnTo>
                    <a:pt x="0" y="1036129"/>
                  </a:lnTo>
                  <a:lnTo>
                    <a:pt x="0" y="1040015"/>
                  </a:lnTo>
                  <a:lnTo>
                    <a:pt x="14605" y="1075270"/>
                  </a:lnTo>
                  <a:lnTo>
                    <a:pt x="51498" y="1094994"/>
                  </a:lnTo>
                  <a:lnTo>
                    <a:pt x="55359" y="1095375"/>
                  </a:lnTo>
                  <a:lnTo>
                    <a:pt x="76200" y="109537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DA1B2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163665" y="1974405"/>
            <a:ext cx="3510915" cy="7105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Create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725"/>
              </a:spcBef>
            </a:pP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Versioned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survey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builder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with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scheduling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915025" y="3076575"/>
            <a:ext cx="4933950" cy="1095375"/>
            <a:chOff x="5915025" y="3076575"/>
            <a:chExt cx="4933950" cy="1095375"/>
          </a:xfrm>
        </p:grpSpPr>
        <p:sp>
          <p:nvSpPr>
            <p:cNvPr id="12" name="object 12"/>
            <p:cNvSpPr/>
            <p:nvPr/>
          </p:nvSpPr>
          <p:spPr>
            <a:xfrm>
              <a:off x="5934913" y="3076587"/>
              <a:ext cx="4914265" cy="1095375"/>
            </a:xfrm>
            <a:custGeom>
              <a:avLst/>
              <a:gdLst/>
              <a:ahLst/>
              <a:cxnLst/>
              <a:rect l="l" t="t" r="r" b="b"/>
              <a:pathLst>
                <a:path w="4914265" h="1095375">
                  <a:moveTo>
                    <a:pt x="4914023" y="51219"/>
                  </a:moveTo>
                  <a:lnTo>
                    <a:pt x="4912550" y="43827"/>
                  </a:lnTo>
                  <a:lnTo>
                    <a:pt x="4906530" y="29311"/>
                  </a:lnTo>
                  <a:lnTo>
                    <a:pt x="4902251" y="22910"/>
                  </a:lnTo>
                  <a:lnTo>
                    <a:pt x="4897171" y="17830"/>
                  </a:lnTo>
                  <a:lnTo>
                    <a:pt x="4896701" y="17348"/>
                  </a:lnTo>
                  <a:lnTo>
                    <a:pt x="4891138" y="11798"/>
                  </a:lnTo>
                  <a:lnTo>
                    <a:pt x="4884737" y="7518"/>
                  </a:lnTo>
                  <a:lnTo>
                    <a:pt x="4870310" y="1524"/>
                  </a:lnTo>
                  <a:lnTo>
                    <a:pt x="4862665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59931" y="1524"/>
                  </a:lnTo>
                  <a:lnTo>
                    <a:pt x="60159" y="1524"/>
                  </a:lnTo>
                  <a:lnTo>
                    <a:pt x="53263" y="3251"/>
                  </a:lnTo>
                  <a:lnTo>
                    <a:pt x="16421" y="27876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4854803" y="19050"/>
                  </a:lnTo>
                  <a:lnTo>
                    <a:pt x="4892065" y="43827"/>
                  </a:lnTo>
                  <a:lnTo>
                    <a:pt x="4894999" y="59245"/>
                  </a:lnTo>
                  <a:lnTo>
                    <a:pt x="4894999" y="1036129"/>
                  </a:lnTo>
                  <a:lnTo>
                    <a:pt x="4894288" y="1043990"/>
                  </a:lnTo>
                  <a:lnTo>
                    <a:pt x="4894275" y="1044143"/>
                  </a:lnTo>
                  <a:lnTo>
                    <a:pt x="4862830" y="1075588"/>
                  </a:lnTo>
                  <a:lnTo>
                    <a:pt x="4854803" y="1076325"/>
                  </a:lnTo>
                  <a:lnTo>
                    <a:pt x="75349" y="1076325"/>
                  </a:lnTo>
                  <a:lnTo>
                    <a:pt x="33007" y="1066698"/>
                  </a:lnTo>
                  <a:lnTo>
                    <a:pt x="1079" y="1034046"/>
                  </a:lnTo>
                  <a:lnTo>
                    <a:pt x="0" y="1029931"/>
                  </a:lnTo>
                  <a:lnTo>
                    <a:pt x="609" y="1034046"/>
                  </a:lnTo>
                  <a:lnTo>
                    <a:pt x="2413" y="1041260"/>
                  </a:lnTo>
                  <a:lnTo>
                    <a:pt x="4851" y="1048042"/>
                  </a:lnTo>
                  <a:lnTo>
                    <a:pt x="4953" y="1048334"/>
                  </a:lnTo>
                  <a:lnTo>
                    <a:pt x="33007" y="1082535"/>
                  </a:lnTo>
                  <a:lnTo>
                    <a:pt x="75349" y="1095375"/>
                  </a:lnTo>
                  <a:lnTo>
                    <a:pt x="4862665" y="1095375"/>
                  </a:lnTo>
                  <a:lnTo>
                    <a:pt x="4869980" y="1093914"/>
                  </a:lnTo>
                  <a:lnTo>
                    <a:pt x="4870107" y="1093914"/>
                  </a:lnTo>
                  <a:lnTo>
                    <a:pt x="4884737" y="1087856"/>
                  </a:lnTo>
                  <a:lnTo>
                    <a:pt x="4891138" y="1083576"/>
                  </a:lnTo>
                  <a:lnTo>
                    <a:pt x="4896701" y="1078014"/>
                  </a:lnTo>
                  <a:lnTo>
                    <a:pt x="4897171" y="1077544"/>
                  </a:lnTo>
                  <a:lnTo>
                    <a:pt x="4902251" y="1072464"/>
                  </a:lnTo>
                  <a:lnTo>
                    <a:pt x="4906530" y="1066063"/>
                  </a:lnTo>
                  <a:lnTo>
                    <a:pt x="4912550" y="1051560"/>
                  </a:lnTo>
                  <a:lnTo>
                    <a:pt x="4914023" y="1044143"/>
                  </a:lnTo>
                  <a:lnTo>
                    <a:pt x="4914023" y="51219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915025" y="3076575"/>
              <a:ext cx="76200" cy="1095375"/>
            </a:xfrm>
            <a:custGeom>
              <a:avLst/>
              <a:gdLst/>
              <a:ahLst/>
              <a:cxnLst/>
              <a:rect l="l" t="t" r="r" b="b"/>
              <a:pathLst>
                <a:path w="76200" h="1095375">
                  <a:moveTo>
                    <a:pt x="76200" y="0"/>
                  </a:moveTo>
                  <a:lnTo>
                    <a:pt x="55359" y="0"/>
                  </a:lnTo>
                  <a:lnTo>
                    <a:pt x="51498" y="381"/>
                  </a:lnTo>
                  <a:lnTo>
                    <a:pt x="14605" y="20104"/>
                  </a:lnTo>
                  <a:lnTo>
                    <a:pt x="0" y="55359"/>
                  </a:lnTo>
                  <a:lnTo>
                    <a:pt x="0" y="1036129"/>
                  </a:lnTo>
                  <a:lnTo>
                    <a:pt x="0" y="1040015"/>
                  </a:lnTo>
                  <a:lnTo>
                    <a:pt x="14605" y="1075270"/>
                  </a:lnTo>
                  <a:lnTo>
                    <a:pt x="51498" y="1094994"/>
                  </a:lnTo>
                  <a:lnTo>
                    <a:pt x="55359" y="1095375"/>
                  </a:lnTo>
                  <a:lnTo>
                    <a:pt x="76200" y="109537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DA1B2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6163665" y="3241230"/>
            <a:ext cx="3206750" cy="7105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Collect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725"/>
              </a:spcBef>
            </a:pP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Files,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voice,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structured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responses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915025" y="4343400"/>
            <a:ext cx="4933950" cy="1095375"/>
            <a:chOff x="5915025" y="4343400"/>
            <a:chExt cx="4933950" cy="1095375"/>
          </a:xfrm>
        </p:grpSpPr>
        <p:sp>
          <p:nvSpPr>
            <p:cNvPr id="16" name="object 16"/>
            <p:cNvSpPr/>
            <p:nvPr/>
          </p:nvSpPr>
          <p:spPr>
            <a:xfrm>
              <a:off x="5934913" y="4343412"/>
              <a:ext cx="4914265" cy="1095375"/>
            </a:xfrm>
            <a:custGeom>
              <a:avLst/>
              <a:gdLst/>
              <a:ahLst/>
              <a:cxnLst/>
              <a:rect l="l" t="t" r="r" b="b"/>
              <a:pathLst>
                <a:path w="4914265" h="1095375">
                  <a:moveTo>
                    <a:pt x="4914023" y="51219"/>
                  </a:moveTo>
                  <a:lnTo>
                    <a:pt x="4912550" y="43827"/>
                  </a:lnTo>
                  <a:lnTo>
                    <a:pt x="4906530" y="29311"/>
                  </a:lnTo>
                  <a:lnTo>
                    <a:pt x="4902251" y="22910"/>
                  </a:lnTo>
                  <a:lnTo>
                    <a:pt x="4897171" y="17830"/>
                  </a:lnTo>
                  <a:lnTo>
                    <a:pt x="4896701" y="17348"/>
                  </a:lnTo>
                  <a:lnTo>
                    <a:pt x="4891138" y="11798"/>
                  </a:lnTo>
                  <a:lnTo>
                    <a:pt x="4884737" y="7518"/>
                  </a:lnTo>
                  <a:lnTo>
                    <a:pt x="4870310" y="1524"/>
                  </a:lnTo>
                  <a:lnTo>
                    <a:pt x="4862665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59931" y="1524"/>
                  </a:lnTo>
                  <a:lnTo>
                    <a:pt x="60159" y="1524"/>
                  </a:lnTo>
                  <a:lnTo>
                    <a:pt x="53263" y="3251"/>
                  </a:lnTo>
                  <a:lnTo>
                    <a:pt x="16421" y="27876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4854803" y="19050"/>
                  </a:lnTo>
                  <a:lnTo>
                    <a:pt x="4892065" y="43827"/>
                  </a:lnTo>
                  <a:lnTo>
                    <a:pt x="4894999" y="59245"/>
                  </a:lnTo>
                  <a:lnTo>
                    <a:pt x="4894999" y="1036129"/>
                  </a:lnTo>
                  <a:lnTo>
                    <a:pt x="4894288" y="1043978"/>
                  </a:lnTo>
                  <a:lnTo>
                    <a:pt x="4894275" y="1044143"/>
                  </a:lnTo>
                  <a:lnTo>
                    <a:pt x="4892065" y="1051547"/>
                  </a:lnTo>
                  <a:lnTo>
                    <a:pt x="4888382" y="1058354"/>
                  </a:lnTo>
                  <a:lnTo>
                    <a:pt x="4883658" y="1064018"/>
                  </a:lnTo>
                  <a:lnTo>
                    <a:pt x="4883226" y="1064539"/>
                  </a:lnTo>
                  <a:lnTo>
                    <a:pt x="4877041" y="1069695"/>
                  </a:lnTo>
                  <a:lnTo>
                    <a:pt x="4870234" y="1073378"/>
                  </a:lnTo>
                  <a:lnTo>
                    <a:pt x="4862830" y="1075588"/>
                  </a:lnTo>
                  <a:lnTo>
                    <a:pt x="4854803" y="1076325"/>
                  </a:lnTo>
                  <a:lnTo>
                    <a:pt x="75349" y="1076325"/>
                  </a:lnTo>
                  <a:lnTo>
                    <a:pt x="33007" y="1066698"/>
                  </a:lnTo>
                  <a:lnTo>
                    <a:pt x="1079" y="1034034"/>
                  </a:lnTo>
                  <a:lnTo>
                    <a:pt x="0" y="1029931"/>
                  </a:lnTo>
                  <a:lnTo>
                    <a:pt x="609" y="1034034"/>
                  </a:lnTo>
                  <a:lnTo>
                    <a:pt x="2413" y="1041260"/>
                  </a:lnTo>
                  <a:lnTo>
                    <a:pt x="4851" y="1048042"/>
                  </a:lnTo>
                  <a:lnTo>
                    <a:pt x="4953" y="1048334"/>
                  </a:lnTo>
                  <a:lnTo>
                    <a:pt x="33007" y="1082535"/>
                  </a:lnTo>
                  <a:lnTo>
                    <a:pt x="75349" y="1095375"/>
                  </a:lnTo>
                  <a:lnTo>
                    <a:pt x="4862665" y="1095375"/>
                  </a:lnTo>
                  <a:lnTo>
                    <a:pt x="4869942" y="1093914"/>
                  </a:lnTo>
                  <a:lnTo>
                    <a:pt x="4870094" y="1093914"/>
                  </a:lnTo>
                  <a:lnTo>
                    <a:pt x="4884737" y="1087843"/>
                  </a:lnTo>
                  <a:lnTo>
                    <a:pt x="4891138" y="1083576"/>
                  </a:lnTo>
                  <a:lnTo>
                    <a:pt x="4896701" y="1078014"/>
                  </a:lnTo>
                  <a:lnTo>
                    <a:pt x="4897171" y="1077544"/>
                  </a:lnTo>
                  <a:lnTo>
                    <a:pt x="4902251" y="1072464"/>
                  </a:lnTo>
                  <a:lnTo>
                    <a:pt x="4906530" y="1066050"/>
                  </a:lnTo>
                  <a:lnTo>
                    <a:pt x="4912550" y="1051547"/>
                  </a:lnTo>
                  <a:lnTo>
                    <a:pt x="4914023" y="1044143"/>
                  </a:lnTo>
                  <a:lnTo>
                    <a:pt x="4914023" y="51219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5915025" y="4343400"/>
              <a:ext cx="76200" cy="1095375"/>
            </a:xfrm>
            <a:custGeom>
              <a:avLst/>
              <a:gdLst/>
              <a:ahLst/>
              <a:cxnLst/>
              <a:rect l="l" t="t" r="r" b="b"/>
              <a:pathLst>
                <a:path w="76200" h="1095375">
                  <a:moveTo>
                    <a:pt x="76200" y="0"/>
                  </a:moveTo>
                  <a:lnTo>
                    <a:pt x="55359" y="0"/>
                  </a:lnTo>
                  <a:lnTo>
                    <a:pt x="51498" y="381"/>
                  </a:lnTo>
                  <a:lnTo>
                    <a:pt x="14605" y="20104"/>
                  </a:lnTo>
                  <a:lnTo>
                    <a:pt x="0" y="55346"/>
                  </a:lnTo>
                  <a:lnTo>
                    <a:pt x="0" y="1036132"/>
                  </a:lnTo>
                  <a:lnTo>
                    <a:pt x="0" y="1040022"/>
                  </a:lnTo>
                  <a:lnTo>
                    <a:pt x="14605" y="1075269"/>
                  </a:lnTo>
                  <a:lnTo>
                    <a:pt x="51498" y="1094994"/>
                  </a:lnTo>
                  <a:lnTo>
                    <a:pt x="55359" y="1095376"/>
                  </a:lnTo>
                  <a:lnTo>
                    <a:pt x="76200" y="1095376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DA1B2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6163665" y="4508055"/>
            <a:ext cx="2679065" cy="7105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Analyze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725"/>
              </a:spcBef>
            </a:pP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Dashboards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filtered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results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895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75"/>
              <a:t>Plugin</a:t>
            </a:r>
            <a:r>
              <a:rPr dirty="0" spc="-409"/>
              <a:t> </a:t>
            </a:r>
            <a:r>
              <a:rPr dirty="0" spc="-745"/>
              <a:t>1:</a:t>
            </a:r>
            <a:r>
              <a:rPr dirty="0" spc="-405"/>
              <a:t> </a:t>
            </a:r>
            <a:r>
              <a:rPr dirty="0" spc="-140"/>
              <a:t>SurveyJS</a:t>
            </a:r>
          </a:p>
        </p:txBody>
      </p:sp>
      <p:sp>
        <p:nvSpPr>
          <p:cNvPr id="3" name="object 3"/>
          <p:cNvSpPr/>
          <p:nvPr/>
        </p:nvSpPr>
        <p:spPr>
          <a:xfrm>
            <a:off x="628650" y="2857500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A353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/>
          <p:nvPr/>
        </p:nvSpPr>
        <p:spPr>
          <a:xfrm>
            <a:off x="628650" y="3181350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A353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628650" y="351472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A353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579635" y="1707075"/>
            <a:ext cx="4725670" cy="21971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 marR="5080">
              <a:lnSpc>
                <a:spcPct val="137000"/>
              </a:lnSpc>
              <a:spcBef>
                <a:spcPts val="130"/>
              </a:spcBef>
            </a:pPr>
            <a:r>
              <a:rPr dirty="0" sz="1300" spc="114">
                <a:solidFill>
                  <a:srgbClr val="3A3535"/>
                </a:solidFill>
                <a:latin typeface="Century Gothic"/>
                <a:cs typeface="Century Gothic"/>
              </a:rPr>
              <a:t>SurveyJS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moves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beyond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simple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00">
                <a:solidFill>
                  <a:srgbClr val="3A3535"/>
                </a:solidFill>
                <a:latin typeface="Century Gothic"/>
                <a:cs typeface="Century Gothic"/>
              </a:rPr>
              <a:t>forms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2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surveys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can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be </a:t>
            </a:r>
            <a:r>
              <a:rPr dirty="0" sz="1300" spc="-50" b="1">
                <a:solidFill>
                  <a:srgbClr val="3A3535"/>
                </a:solidFill>
                <a:latin typeface="Verdana"/>
                <a:cs typeface="Verdana"/>
              </a:rPr>
              <a:t>versioned,</a:t>
            </a:r>
            <a:r>
              <a:rPr dirty="0" sz="1300" spc="-12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40" b="1">
                <a:solidFill>
                  <a:srgbClr val="3A3535"/>
                </a:solidFill>
                <a:latin typeface="Verdana"/>
                <a:cs typeface="Verdana"/>
              </a:rPr>
              <a:t>scheduled,</a:t>
            </a:r>
            <a:r>
              <a:rPr dirty="0" sz="1300" spc="-114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30" b="1">
                <a:solidFill>
                  <a:srgbClr val="3A3535"/>
                </a:solidFill>
                <a:latin typeface="Verdana"/>
                <a:cs typeface="Verdana"/>
              </a:rPr>
              <a:t>edited,</a:t>
            </a:r>
            <a:r>
              <a:rPr dirty="0" sz="1300" spc="-114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45" b="1">
                <a:solidFill>
                  <a:srgbClr val="3A3535"/>
                </a:solidFill>
                <a:latin typeface="Verdana"/>
                <a:cs typeface="Verdana"/>
              </a:rPr>
              <a:t>and</a:t>
            </a:r>
            <a:r>
              <a:rPr dirty="0" sz="1300" spc="-114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10" b="1">
                <a:solidFill>
                  <a:srgbClr val="3A3535"/>
                </a:solidFill>
                <a:latin typeface="Verdana"/>
                <a:cs typeface="Verdana"/>
              </a:rPr>
              <a:t>connected</a:t>
            </a:r>
            <a:r>
              <a:rPr dirty="0" sz="1300" spc="-114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25" b="1">
                <a:solidFill>
                  <a:srgbClr val="3A3535"/>
                </a:solidFill>
                <a:latin typeface="Verdana"/>
                <a:cs typeface="Verdana"/>
              </a:rPr>
              <a:t>to </a:t>
            </a:r>
            <a:r>
              <a:rPr dirty="0" sz="1300" spc="-35" b="1">
                <a:solidFill>
                  <a:srgbClr val="3A3535"/>
                </a:solidFill>
                <a:latin typeface="Verdana"/>
                <a:cs typeface="Verdana"/>
              </a:rPr>
              <a:t>dashboards</a:t>
            </a:r>
            <a:r>
              <a:rPr dirty="0" sz="1300" spc="-7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inside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platform.</a:t>
            </a:r>
            <a:endParaRPr sz="13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sz="1300">
              <a:latin typeface="Century Gothic"/>
              <a:cs typeface="Century Gothic"/>
            </a:endParaRPr>
          </a:p>
          <a:p>
            <a:pPr marL="283210">
              <a:lnSpc>
                <a:spcPct val="100000"/>
              </a:lnSpc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Autosave,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edit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mode,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timing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metadata</a:t>
            </a:r>
            <a:endParaRPr sz="1300">
              <a:latin typeface="Century Gothic"/>
              <a:cs typeface="Century Gothic"/>
            </a:endParaRPr>
          </a:p>
          <a:p>
            <a:pPr marL="283210">
              <a:lnSpc>
                <a:spcPct val="100000"/>
              </a:lnSpc>
              <a:spcBef>
                <a:spcPts val="990"/>
              </a:spcBef>
            </a:pP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File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upload,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PDF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export,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voice-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record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responses</a:t>
            </a:r>
            <a:endParaRPr sz="1300">
              <a:latin typeface="Century Gothic"/>
              <a:cs typeface="Century Gothic"/>
            </a:endParaRPr>
          </a:p>
          <a:p>
            <a:pPr marL="283210" marR="120014">
              <a:lnSpc>
                <a:spcPct val="134600"/>
              </a:lnSpc>
              <a:spcBef>
                <a:spcPts val="525"/>
              </a:spcBef>
            </a:pP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Stronger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data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quality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for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repeated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longitudinal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assessment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5915025" y="1809749"/>
            <a:ext cx="4933950" cy="1095375"/>
            <a:chOff x="5915025" y="1809749"/>
            <a:chExt cx="4933950" cy="1095375"/>
          </a:xfrm>
        </p:grpSpPr>
        <p:sp>
          <p:nvSpPr>
            <p:cNvPr id="8" name="object 8"/>
            <p:cNvSpPr/>
            <p:nvPr/>
          </p:nvSpPr>
          <p:spPr>
            <a:xfrm>
              <a:off x="5934913" y="1809762"/>
              <a:ext cx="4914265" cy="1095375"/>
            </a:xfrm>
            <a:custGeom>
              <a:avLst/>
              <a:gdLst/>
              <a:ahLst/>
              <a:cxnLst/>
              <a:rect l="l" t="t" r="r" b="b"/>
              <a:pathLst>
                <a:path w="4914265" h="1095375">
                  <a:moveTo>
                    <a:pt x="4914023" y="51219"/>
                  </a:moveTo>
                  <a:lnTo>
                    <a:pt x="4912550" y="43827"/>
                  </a:lnTo>
                  <a:lnTo>
                    <a:pt x="4906530" y="29311"/>
                  </a:lnTo>
                  <a:lnTo>
                    <a:pt x="4902251" y="22910"/>
                  </a:lnTo>
                  <a:lnTo>
                    <a:pt x="4897171" y="17830"/>
                  </a:lnTo>
                  <a:lnTo>
                    <a:pt x="4896701" y="17348"/>
                  </a:lnTo>
                  <a:lnTo>
                    <a:pt x="4891138" y="11798"/>
                  </a:lnTo>
                  <a:lnTo>
                    <a:pt x="4884737" y="7518"/>
                  </a:lnTo>
                  <a:lnTo>
                    <a:pt x="4870310" y="1524"/>
                  </a:lnTo>
                  <a:lnTo>
                    <a:pt x="4862665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59931" y="1524"/>
                  </a:lnTo>
                  <a:lnTo>
                    <a:pt x="60159" y="1524"/>
                  </a:lnTo>
                  <a:lnTo>
                    <a:pt x="53263" y="3251"/>
                  </a:lnTo>
                  <a:lnTo>
                    <a:pt x="16421" y="27876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4854803" y="19050"/>
                  </a:lnTo>
                  <a:lnTo>
                    <a:pt x="4892065" y="43827"/>
                  </a:lnTo>
                  <a:lnTo>
                    <a:pt x="4894999" y="59245"/>
                  </a:lnTo>
                  <a:lnTo>
                    <a:pt x="4894999" y="1036129"/>
                  </a:lnTo>
                  <a:lnTo>
                    <a:pt x="4894288" y="1043990"/>
                  </a:lnTo>
                  <a:lnTo>
                    <a:pt x="4894275" y="1044143"/>
                  </a:lnTo>
                  <a:lnTo>
                    <a:pt x="4862830" y="1075588"/>
                  </a:lnTo>
                  <a:lnTo>
                    <a:pt x="4854803" y="1076325"/>
                  </a:lnTo>
                  <a:lnTo>
                    <a:pt x="75349" y="1076325"/>
                  </a:lnTo>
                  <a:lnTo>
                    <a:pt x="33007" y="1066698"/>
                  </a:lnTo>
                  <a:lnTo>
                    <a:pt x="1079" y="1034046"/>
                  </a:lnTo>
                  <a:lnTo>
                    <a:pt x="0" y="1029944"/>
                  </a:lnTo>
                  <a:lnTo>
                    <a:pt x="609" y="1034046"/>
                  </a:lnTo>
                  <a:lnTo>
                    <a:pt x="2413" y="1041247"/>
                  </a:lnTo>
                  <a:lnTo>
                    <a:pt x="4851" y="1048042"/>
                  </a:lnTo>
                  <a:lnTo>
                    <a:pt x="4953" y="1048334"/>
                  </a:lnTo>
                  <a:lnTo>
                    <a:pt x="33007" y="1082535"/>
                  </a:lnTo>
                  <a:lnTo>
                    <a:pt x="75349" y="1095375"/>
                  </a:lnTo>
                  <a:lnTo>
                    <a:pt x="4862665" y="1095375"/>
                  </a:lnTo>
                  <a:lnTo>
                    <a:pt x="4869980" y="1093914"/>
                  </a:lnTo>
                  <a:lnTo>
                    <a:pt x="4870107" y="1093914"/>
                  </a:lnTo>
                  <a:lnTo>
                    <a:pt x="4884737" y="1087856"/>
                  </a:lnTo>
                  <a:lnTo>
                    <a:pt x="4891138" y="1083576"/>
                  </a:lnTo>
                  <a:lnTo>
                    <a:pt x="4896701" y="1078014"/>
                  </a:lnTo>
                  <a:lnTo>
                    <a:pt x="4897171" y="1077544"/>
                  </a:lnTo>
                  <a:lnTo>
                    <a:pt x="4902251" y="1072464"/>
                  </a:lnTo>
                  <a:lnTo>
                    <a:pt x="4906530" y="1066063"/>
                  </a:lnTo>
                  <a:lnTo>
                    <a:pt x="4912550" y="1051560"/>
                  </a:lnTo>
                  <a:lnTo>
                    <a:pt x="4914023" y="1044143"/>
                  </a:lnTo>
                  <a:lnTo>
                    <a:pt x="4914023" y="51219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915025" y="1809749"/>
              <a:ext cx="76200" cy="1095375"/>
            </a:xfrm>
            <a:custGeom>
              <a:avLst/>
              <a:gdLst/>
              <a:ahLst/>
              <a:cxnLst/>
              <a:rect l="l" t="t" r="r" b="b"/>
              <a:pathLst>
                <a:path w="76200" h="1095375">
                  <a:moveTo>
                    <a:pt x="76200" y="0"/>
                  </a:moveTo>
                  <a:lnTo>
                    <a:pt x="55359" y="0"/>
                  </a:lnTo>
                  <a:lnTo>
                    <a:pt x="51498" y="381"/>
                  </a:lnTo>
                  <a:lnTo>
                    <a:pt x="14605" y="20104"/>
                  </a:lnTo>
                  <a:lnTo>
                    <a:pt x="0" y="55359"/>
                  </a:lnTo>
                  <a:lnTo>
                    <a:pt x="0" y="1036129"/>
                  </a:lnTo>
                  <a:lnTo>
                    <a:pt x="0" y="1040015"/>
                  </a:lnTo>
                  <a:lnTo>
                    <a:pt x="14605" y="1075270"/>
                  </a:lnTo>
                  <a:lnTo>
                    <a:pt x="51498" y="1094994"/>
                  </a:lnTo>
                  <a:lnTo>
                    <a:pt x="55359" y="1095375"/>
                  </a:lnTo>
                  <a:lnTo>
                    <a:pt x="76200" y="109537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DA1B2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163665" y="1974405"/>
            <a:ext cx="3510915" cy="7105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Create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725"/>
              </a:spcBef>
            </a:pP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Versioned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survey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builder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with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scheduling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5915025" y="3076575"/>
            <a:ext cx="4933950" cy="1095375"/>
            <a:chOff x="5915025" y="3076575"/>
            <a:chExt cx="4933950" cy="1095375"/>
          </a:xfrm>
        </p:grpSpPr>
        <p:sp>
          <p:nvSpPr>
            <p:cNvPr id="12" name="object 12"/>
            <p:cNvSpPr/>
            <p:nvPr/>
          </p:nvSpPr>
          <p:spPr>
            <a:xfrm>
              <a:off x="5934913" y="3076587"/>
              <a:ext cx="4914265" cy="1095375"/>
            </a:xfrm>
            <a:custGeom>
              <a:avLst/>
              <a:gdLst/>
              <a:ahLst/>
              <a:cxnLst/>
              <a:rect l="l" t="t" r="r" b="b"/>
              <a:pathLst>
                <a:path w="4914265" h="1095375">
                  <a:moveTo>
                    <a:pt x="4914023" y="51219"/>
                  </a:moveTo>
                  <a:lnTo>
                    <a:pt x="4912550" y="43827"/>
                  </a:lnTo>
                  <a:lnTo>
                    <a:pt x="4906530" y="29311"/>
                  </a:lnTo>
                  <a:lnTo>
                    <a:pt x="4902251" y="22910"/>
                  </a:lnTo>
                  <a:lnTo>
                    <a:pt x="4897171" y="17830"/>
                  </a:lnTo>
                  <a:lnTo>
                    <a:pt x="4896701" y="17348"/>
                  </a:lnTo>
                  <a:lnTo>
                    <a:pt x="4891138" y="11798"/>
                  </a:lnTo>
                  <a:lnTo>
                    <a:pt x="4884737" y="7518"/>
                  </a:lnTo>
                  <a:lnTo>
                    <a:pt x="4870310" y="1524"/>
                  </a:lnTo>
                  <a:lnTo>
                    <a:pt x="4862665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59931" y="1524"/>
                  </a:lnTo>
                  <a:lnTo>
                    <a:pt x="60159" y="1524"/>
                  </a:lnTo>
                  <a:lnTo>
                    <a:pt x="53263" y="3251"/>
                  </a:lnTo>
                  <a:lnTo>
                    <a:pt x="16421" y="27876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406"/>
                  </a:lnTo>
                  <a:lnTo>
                    <a:pt x="75349" y="19050"/>
                  </a:lnTo>
                  <a:lnTo>
                    <a:pt x="4854803" y="19050"/>
                  </a:lnTo>
                  <a:lnTo>
                    <a:pt x="4892065" y="43827"/>
                  </a:lnTo>
                  <a:lnTo>
                    <a:pt x="4894999" y="59245"/>
                  </a:lnTo>
                  <a:lnTo>
                    <a:pt x="4894999" y="1036129"/>
                  </a:lnTo>
                  <a:lnTo>
                    <a:pt x="4894288" y="1043990"/>
                  </a:lnTo>
                  <a:lnTo>
                    <a:pt x="4894275" y="1044143"/>
                  </a:lnTo>
                  <a:lnTo>
                    <a:pt x="4862830" y="1075588"/>
                  </a:lnTo>
                  <a:lnTo>
                    <a:pt x="4854803" y="1076325"/>
                  </a:lnTo>
                  <a:lnTo>
                    <a:pt x="75349" y="1076325"/>
                  </a:lnTo>
                  <a:lnTo>
                    <a:pt x="33007" y="1066698"/>
                  </a:lnTo>
                  <a:lnTo>
                    <a:pt x="1079" y="1034046"/>
                  </a:lnTo>
                  <a:lnTo>
                    <a:pt x="0" y="1029931"/>
                  </a:lnTo>
                  <a:lnTo>
                    <a:pt x="609" y="1034046"/>
                  </a:lnTo>
                  <a:lnTo>
                    <a:pt x="2413" y="1041260"/>
                  </a:lnTo>
                  <a:lnTo>
                    <a:pt x="4851" y="1048042"/>
                  </a:lnTo>
                  <a:lnTo>
                    <a:pt x="4953" y="1048334"/>
                  </a:lnTo>
                  <a:lnTo>
                    <a:pt x="33007" y="1082535"/>
                  </a:lnTo>
                  <a:lnTo>
                    <a:pt x="75349" y="1095375"/>
                  </a:lnTo>
                  <a:lnTo>
                    <a:pt x="4862665" y="1095375"/>
                  </a:lnTo>
                  <a:lnTo>
                    <a:pt x="4869980" y="1093914"/>
                  </a:lnTo>
                  <a:lnTo>
                    <a:pt x="4870107" y="1093914"/>
                  </a:lnTo>
                  <a:lnTo>
                    <a:pt x="4884737" y="1087856"/>
                  </a:lnTo>
                  <a:lnTo>
                    <a:pt x="4891138" y="1083576"/>
                  </a:lnTo>
                  <a:lnTo>
                    <a:pt x="4896701" y="1078014"/>
                  </a:lnTo>
                  <a:lnTo>
                    <a:pt x="4897171" y="1077544"/>
                  </a:lnTo>
                  <a:lnTo>
                    <a:pt x="4902251" y="1072464"/>
                  </a:lnTo>
                  <a:lnTo>
                    <a:pt x="4906530" y="1066063"/>
                  </a:lnTo>
                  <a:lnTo>
                    <a:pt x="4912550" y="1051560"/>
                  </a:lnTo>
                  <a:lnTo>
                    <a:pt x="4914023" y="1044143"/>
                  </a:lnTo>
                  <a:lnTo>
                    <a:pt x="4914023" y="51219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915025" y="3076575"/>
              <a:ext cx="76200" cy="1095375"/>
            </a:xfrm>
            <a:custGeom>
              <a:avLst/>
              <a:gdLst/>
              <a:ahLst/>
              <a:cxnLst/>
              <a:rect l="l" t="t" r="r" b="b"/>
              <a:pathLst>
                <a:path w="76200" h="1095375">
                  <a:moveTo>
                    <a:pt x="76200" y="0"/>
                  </a:moveTo>
                  <a:lnTo>
                    <a:pt x="55359" y="0"/>
                  </a:lnTo>
                  <a:lnTo>
                    <a:pt x="51498" y="381"/>
                  </a:lnTo>
                  <a:lnTo>
                    <a:pt x="14605" y="20104"/>
                  </a:lnTo>
                  <a:lnTo>
                    <a:pt x="0" y="55359"/>
                  </a:lnTo>
                  <a:lnTo>
                    <a:pt x="0" y="1036129"/>
                  </a:lnTo>
                  <a:lnTo>
                    <a:pt x="0" y="1040015"/>
                  </a:lnTo>
                  <a:lnTo>
                    <a:pt x="14605" y="1075270"/>
                  </a:lnTo>
                  <a:lnTo>
                    <a:pt x="51498" y="1094994"/>
                  </a:lnTo>
                  <a:lnTo>
                    <a:pt x="55359" y="1095375"/>
                  </a:lnTo>
                  <a:lnTo>
                    <a:pt x="76200" y="1095375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DA1B2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6163665" y="3241230"/>
            <a:ext cx="3206750" cy="7105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Collect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725"/>
              </a:spcBef>
            </a:pP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Files,</a:t>
            </a:r>
            <a:r>
              <a:rPr dirty="0" sz="1300" spc="-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voice,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structured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responses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915025" y="4343400"/>
            <a:ext cx="4933950" cy="1095375"/>
            <a:chOff x="5915025" y="4343400"/>
            <a:chExt cx="4933950" cy="1095375"/>
          </a:xfrm>
        </p:grpSpPr>
        <p:sp>
          <p:nvSpPr>
            <p:cNvPr id="16" name="object 16"/>
            <p:cNvSpPr/>
            <p:nvPr/>
          </p:nvSpPr>
          <p:spPr>
            <a:xfrm>
              <a:off x="5934913" y="4343412"/>
              <a:ext cx="4914265" cy="1095375"/>
            </a:xfrm>
            <a:custGeom>
              <a:avLst/>
              <a:gdLst/>
              <a:ahLst/>
              <a:cxnLst/>
              <a:rect l="l" t="t" r="r" b="b"/>
              <a:pathLst>
                <a:path w="4914265" h="1095375">
                  <a:moveTo>
                    <a:pt x="4914023" y="51219"/>
                  </a:moveTo>
                  <a:lnTo>
                    <a:pt x="4912550" y="43827"/>
                  </a:lnTo>
                  <a:lnTo>
                    <a:pt x="4906530" y="29311"/>
                  </a:lnTo>
                  <a:lnTo>
                    <a:pt x="4902251" y="22910"/>
                  </a:lnTo>
                  <a:lnTo>
                    <a:pt x="4897171" y="17830"/>
                  </a:lnTo>
                  <a:lnTo>
                    <a:pt x="4896701" y="17348"/>
                  </a:lnTo>
                  <a:lnTo>
                    <a:pt x="4891138" y="11798"/>
                  </a:lnTo>
                  <a:lnTo>
                    <a:pt x="4884737" y="7518"/>
                  </a:lnTo>
                  <a:lnTo>
                    <a:pt x="4870310" y="1524"/>
                  </a:lnTo>
                  <a:lnTo>
                    <a:pt x="4862665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59931" y="1524"/>
                  </a:lnTo>
                  <a:lnTo>
                    <a:pt x="60159" y="1524"/>
                  </a:lnTo>
                  <a:lnTo>
                    <a:pt x="53263" y="3251"/>
                  </a:lnTo>
                  <a:lnTo>
                    <a:pt x="16421" y="27876"/>
                  </a:lnTo>
                  <a:lnTo>
                    <a:pt x="0" y="65430"/>
                  </a:lnTo>
                  <a:lnTo>
                    <a:pt x="1079" y="61328"/>
                  </a:lnTo>
                  <a:lnTo>
                    <a:pt x="8813" y="47332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4854803" y="19050"/>
                  </a:lnTo>
                  <a:lnTo>
                    <a:pt x="4892065" y="43827"/>
                  </a:lnTo>
                  <a:lnTo>
                    <a:pt x="4894999" y="59245"/>
                  </a:lnTo>
                  <a:lnTo>
                    <a:pt x="4894999" y="1036129"/>
                  </a:lnTo>
                  <a:lnTo>
                    <a:pt x="4894288" y="1043978"/>
                  </a:lnTo>
                  <a:lnTo>
                    <a:pt x="4894275" y="1044143"/>
                  </a:lnTo>
                  <a:lnTo>
                    <a:pt x="4892065" y="1051547"/>
                  </a:lnTo>
                  <a:lnTo>
                    <a:pt x="4888382" y="1058354"/>
                  </a:lnTo>
                  <a:lnTo>
                    <a:pt x="4883658" y="1064018"/>
                  </a:lnTo>
                  <a:lnTo>
                    <a:pt x="4883226" y="1064539"/>
                  </a:lnTo>
                  <a:lnTo>
                    <a:pt x="4877041" y="1069695"/>
                  </a:lnTo>
                  <a:lnTo>
                    <a:pt x="4870234" y="1073378"/>
                  </a:lnTo>
                  <a:lnTo>
                    <a:pt x="4862830" y="1075588"/>
                  </a:lnTo>
                  <a:lnTo>
                    <a:pt x="4854803" y="1076325"/>
                  </a:lnTo>
                  <a:lnTo>
                    <a:pt x="75349" y="1076325"/>
                  </a:lnTo>
                  <a:lnTo>
                    <a:pt x="33007" y="1066698"/>
                  </a:lnTo>
                  <a:lnTo>
                    <a:pt x="1079" y="1034034"/>
                  </a:lnTo>
                  <a:lnTo>
                    <a:pt x="0" y="1029931"/>
                  </a:lnTo>
                  <a:lnTo>
                    <a:pt x="609" y="1034034"/>
                  </a:lnTo>
                  <a:lnTo>
                    <a:pt x="2413" y="1041260"/>
                  </a:lnTo>
                  <a:lnTo>
                    <a:pt x="4851" y="1048042"/>
                  </a:lnTo>
                  <a:lnTo>
                    <a:pt x="4953" y="1048334"/>
                  </a:lnTo>
                  <a:lnTo>
                    <a:pt x="33007" y="1082535"/>
                  </a:lnTo>
                  <a:lnTo>
                    <a:pt x="75349" y="1095375"/>
                  </a:lnTo>
                  <a:lnTo>
                    <a:pt x="4862665" y="1095375"/>
                  </a:lnTo>
                  <a:lnTo>
                    <a:pt x="4869942" y="1093914"/>
                  </a:lnTo>
                  <a:lnTo>
                    <a:pt x="4870094" y="1093914"/>
                  </a:lnTo>
                  <a:lnTo>
                    <a:pt x="4884737" y="1087843"/>
                  </a:lnTo>
                  <a:lnTo>
                    <a:pt x="4891138" y="1083576"/>
                  </a:lnTo>
                  <a:lnTo>
                    <a:pt x="4896701" y="1078014"/>
                  </a:lnTo>
                  <a:lnTo>
                    <a:pt x="4897171" y="1077544"/>
                  </a:lnTo>
                  <a:lnTo>
                    <a:pt x="4902251" y="1072464"/>
                  </a:lnTo>
                  <a:lnTo>
                    <a:pt x="4906530" y="1066050"/>
                  </a:lnTo>
                  <a:lnTo>
                    <a:pt x="4912550" y="1051547"/>
                  </a:lnTo>
                  <a:lnTo>
                    <a:pt x="4914023" y="1044143"/>
                  </a:lnTo>
                  <a:lnTo>
                    <a:pt x="4914023" y="51219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5915025" y="4343400"/>
              <a:ext cx="76200" cy="1095375"/>
            </a:xfrm>
            <a:custGeom>
              <a:avLst/>
              <a:gdLst/>
              <a:ahLst/>
              <a:cxnLst/>
              <a:rect l="l" t="t" r="r" b="b"/>
              <a:pathLst>
                <a:path w="76200" h="1095375">
                  <a:moveTo>
                    <a:pt x="76200" y="0"/>
                  </a:moveTo>
                  <a:lnTo>
                    <a:pt x="55359" y="0"/>
                  </a:lnTo>
                  <a:lnTo>
                    <a:pt x="51498" y="381"/>
                  </a:lnTo>
                  <a:lnTo>
                    <a:pt x="14605" y="20104"/>
                  </a:lnTo>
                  <a:lnTo>
                    <a:pt x="0" y="55346"/>
                  </a:lnTo>
                  <a:lnTo>
                    <a:pt x="0" y="1036132"/>
                  </a:lnTo>
                  <a:lnTo>
                    <a:pt x="0" y="1040022"/>
                  </a:lnTo>
                  <a:lnTo>
                    <a:pt x="14605" y="1075269"/>
                  </a:lnTo>
                  <a:lnTo>
                    <a:pt x="51498" y="1094994"/>
                  </a:lnTo>
                  <a:lnTo>
                    <a:pt x="55359" y="1095376"/>
                  </a:lnTo>
                  <a:lnTo>
                    <a:pt x="76200" y="1095376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DA1B2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/>
          <p:nvPr/>
        </p:nvSpPr>
        <p:spPr>
          <a:xfrm>
            <a:off x="6163665" y="4508055"/>
            <a:ext cx="2679065" cy="7105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Analyze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725"/>
              </a:spcBef>
            </a:pP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Dashboards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filtered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results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79640" y="1589786"/>
            <a:ext cx="2985770" cy="56007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75"/>
              <a:t>Plugin</a:t>
            </a:r>
            <a:r>
              <a:rPr dirty="0" spc="-415"/>
              <a:t> </a:t>
            </a:r>
            <a:r>
              <a:rPr dirty="0" spc="-390"/>
              <a:t>2:</a:t>
            </a:r>
            <a:r>
              <a:rPr dirty="0" spc="-409"/>
              <a:t> </a:t>
            </a:r>
            <a:r>
              <a:rPr dirty="0" spc="-155"/>
              <a:t>LLM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79635" y="2469075"/>
            <a:ext cx="10014585" cy="55880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34600"/>
              </a:lnSpc>
              <a:spcBef>
                <a:spcPts val="90"/>
              </a:spcBef>
            </a:pPr>
            <a:r>
              <a:rPr dirty="0" sz="1300" spc="105">
                <a:solidFill>
                  <a:srgbClr val="3A3535"/>
                </a:solidFill>
                <a:latin typeface="Century Gothic"/>
                <a:cs typeface="Century Gothic"/>
              </a:rPr>
              <a:t>Not</a:t>
            </a:r>
            <a:r>
              <a:rPr dirty="0" sz="1300" spc="-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25">
                <a:solidFill>
                  <a:srgbClr val="3A3535"/>
                </a:solidFill>
                <a:latin typeface="Century Gothic"/>
                <a:cs typeface="Century Gothic"/>
              </a:rPr>
              <a:t>just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40">
                <a:solidFill>
                  <a:srgbClr val="3A3535"/>
                </a:solidFill>
                <a:latin typeface="Century Gothic"/>
                <a:cs typeface="Century Gothic"/>
              </a:rPr>
              <a:t>a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chatbot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2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40">
                <a:solidFill>
                  <a:srgbClr val="3A3535"/>
                </a:solidFill>
                <a:latin typeface="Century Gothic"/>
                <a:cs typeface="Century Gothic"/>
              </a:rPr>
              <a:t>a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35" b="1">
                <a:solidFill>
                  <a:srgbClr val="3A3535"/>
                </a:solidFill>
                <a:latin typeface="Verdana"/>
                <a:cs typeface="Verdana"/>
              </a:rPr>
              <a:t>controlled,</a:t>
            </a:r>
            <a:r>
              <a:rPr dirty="0" sz="1300" spc="-12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35" b="1">
                <a:solidFill>
                  <a:srgbClr val="3A3535"/>
                </a:solidFill>
                <a:latin typeface="Verdana"/>
                <a:cs typeface="Verdana"/>
              </a:rPr>
              <a:t>testable</a:t>
            </a:r>
            <a:r>
              <a:rPr dirty="0" sz="1300" spc="-12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130" b="1">
                <a:solidFill>
                  <a:srgbClr val="3A3535"/>
                </a:solidFill>
                <a:latin typeface="Verdana"/>
                <a:cs typeface="Verdana"/>
              </a:rPr>
              <a:t>AI</a:t>
            </a:r>
            <a:r>
              <a:rPr dirty="0" sz="1300" spc="-12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25" b="1">
                <a:solidFill>
                  <a:srgbClr val="3A3535"/>
                </a:solidFill>
                <a:latin typeface="Verdana"/>
                <a:cs typeface="Verdana"/>
              </a:rPr>
              <a:t>component</a:t>
            </a:r>
            <a:r>
              <a:rPr dirty="0" sz="1300" spc="-9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20">
                <a:solidFill>
                  <a:srgbClr val="3A3535"/>
                </a:solidFill>
                <a:latin typeface="Century Gothic"/>
                <a:cs typeface="Century Gothic"/>
              </a:rPr>
              <a:t>placed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inside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40">
                <a:solidFill>
                  <a:srgbClr val="3A3535"/>
                </a:solidFill>
                <a:latin typeface="Century Gothic"/>
                <a:cs typeface="Century Gothic"/>
              </a:rPr>
              <a:t>a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page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with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40">
                <a:solidFill>
                  <a:srgbClr val="3A3535"/>
                </a:solidFill>
                <a:latin typeface="Century Gothic"/>
                <a:cs typeface="Century Gothic"/>
              </a:rPr>
              <a:t>a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clear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role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context.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Currently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using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university's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local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LLM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infrastructure.</a:t>
            </a:r>
            <a:endParaRPr sz="1300">
              <a:latin typeface="Century Gothic"/>
              <a:cs typeface="Century Gothic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1181" y="3272007"/>
            <a:ext cx="441854" cy="3941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79640" y="3860355"/>
            <a:ext cx="3086735" cy="6438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85" b="1">
                <a:solidFill>
                  <a:srgbClr val="3A3535"/>
                </a:solidFill>
                <a:latin typeface="Verdana"/>
                <a:cs typeface="Verdana"/>
              </a:rPr>
              <a:t>Flexible</a:t>
            </a:r>
            <a:r>
              <a:rPr dirty="0" sz="1750" spc="-17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Input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Text,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file,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image,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speech-</a:t>
            </a:r>
            <a:r>
              <a:rPr dirty="0" sz="1300" spc="100">
                <a:solidFill>
                  <a:srgbClr val="3A3535"/>
                </a:solidFill>
                <a:latin typeface="Century Gothic"/>
                <a:cs typeface="Century Gothic"/>
              </a:rPr>
              <a:t>to-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text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4067327" y="3250322"/>
            <a:ext cx="441959" cy="438150"/>
            <a:chOff x="4067327" y="3250322"/>
            <a:chExt cx="441959" cy="438150"/>
          </a:xfrm>
        </p:grpSpPr>
        <p:sp>
          <p:nvSpPr>
            <p:cNvPr id="7" name="object 7"/>
            <p:cNvSpPr/>
            <p:nvPr/>
          </p:nvSpPr>
          <p:spPr>
            <a:xfrm>
              <a:off x="4076699" y="3288461"/>
              <a:ext cx="300990" cy="390525"/>
            </a:xfrm>
            <a:custGeom>
              <a:avLst/>
              <a:gdLst/>
              <a:ahLst/>
              <a:cxnLst/>
              <a:rect l="l" t="t" r="r" b="b"/>
              <a:pathLst>
                <a:path w="300989" h="390525">
                  <a:moveTo>
                    <a:pt x="103047" y="0"/>
                  </a:moveTo>
                  <a:lnTo>
                    <a:pt x="71882" y="22364"/>
                  </a:lnTo>
                  <a:lnTo>
                    <a:pt x="41657" y="55133"/>
                  </a:lnTo>
                  <a:lnTo>
                    <a:pt x="20948" y="88813"/>
                  </a:lnTo>
                  <a:lnTo>
                    <a:pt x="6112" y="129952"/>
                  </a:lnTo>
                  <a:lnTo>
                    <a:pt x="206" y="173550"/>
                  </a:lnTo>
                  <a:lnTo>
                    <a:pt x="0" y="180657"/>
                  </a:lnTo>
                  <a:lnTo>
                    <a:pt x="311" y="188182"/>
                  </a:lnTo>
                  <a:lnTo>
                    <a:pt x="5641" y="227703"/>
                  </a:lnTo>
                  <a:lnTo>
                    <a:pt x="19507" y="268274"/>
                  </a:lnTo>
                  <a:lnTo>
                    <a:pt x="39865" y="302615"/>
                  </a:lnTo>
                  <a:lnTo>
                    <a:pt x="65263" y="331483"/>
                  </a:lnTo>
                  <a:lnTo>
                    <a:pt x="98026" y="356923"/>
                  </a:lnTo>
                  <a:lnTo>
                    <a:pt x="137380" y="376861"/>
                  </a:lnTo>
                  <a:lnTo>
                    <a:pt x="179908" y="387934"/>
                  </a:lnTo>
                  <a:lnTo>
                    <a:pt x="209435" y="390093"/>
                  </a:lnTo>
                  <a:lnTo>
                    <a:pt x="219031" y="389649"/>
                  </a:lnTo>
                  <a:lnTo>
                    <a:pt x="259377" y="384365"/>
                  </a:lnTo>
                  <a:lnTo>
                    <a:pt x="294208" y="373405"/>
                  </a:lnTo>
                  <a:lnTo>
                    <a:pt x="300710" y="370674"/>
                  </a:lnTo>
                </a:path>
              </a:pathLst>
            </a:custGeom>
            <a:ln w="18745">
              <a:solidFill>
                <a:srgbClr val="DA1B2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4179747" y="3259694"/>
              <a:ext cx="120014" cy="29209"/>
            </a:xfrm>
            <a:custGeom>
              <a:avLst/>
              <a:gdLst/>
              <a:ahLst/>
              <a:cxnLst/>
              <a:rect l="l" t="t" r="r" b="b"/>
              <a:pathLst>
                <a:path w="120014" h="29210">
                  <a:moveTo>
                    <a:pt x="119811" y="39"/>
                  </a:moveTo>
                  <a:lnTo>
                    <a:pt x="71907" y="2541"/>
                  </a:lnTo>
                  <a:lnTo>
                    <a:pt x="28041" y="14961"/>
                  </a:lnTo>
                  <a:lnTo>
                    <a:pt x="6938" y="25116"/>
                  </a:lnTo>
                  <a:lnTo>
                    <a:pt x="0" y="28766"/>
                  </a:lnTo>
                </a:path>
              </a:pathLst>
            </a:custGeom>
            <a:ln w="18745">
              <a:solidFill>
                <a:srgbClr val="DA1B2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4342358" y="3382124"/>
              <a:ext cx="85090" cy="85725"/>
            </a:xfrm>
            <a:custGeom>
              <a:avLst/>
              <a:gdLst/>
              <a:ahLst/>
              <a:cxnLst/>
              <a:rect l="l" t="t" r="r" b="b"/>
              <a:pathLst>
                <a:path w="85089" h="85725">
                  <a:moveTo>
                    <a:pt x="0" y="0"/>
                  </a:moveTo>
                  <a:lnTo>
                    <a:pt x="84543" y="85636"/>
                  </a:lnTo>
                </a:path>
              </a:pathLst>
            </a:custGeom>
            <a:ln w="18745">
              <a:solidFill>
                <a:srgbClr val="DA1B2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342396" y="3467760"/>
              <a:ext cx="85090" cy="83820"/>
            </a:xfrm>
            <a:custGeom>
              <a:avLst/>
              <a:gdLst/>
              <a:ahLst/>
              <a:cxnLst/>
              <a:rect l="l" t="t" r="r" b="b"/>
              <a:pathLst>
                <a:path w="85089" h="83820">
                  <a:moveTo>
                    <a:pt x="0" y="83693"/>
                  </a:moveTo>
                  <a:lnTo>
                    <a:pt x="84505" y="0"/>
                  </a:lnTo>
                </a:path>
              </a:pathLst>
            </a:custGeom>
            <a:ln w="18745">
              <a:solidFill>
                <a:srgbClr val="DA1B2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150207" y="3382708"/>
              <a:ext cx="85090" cy="168275"/>
            </a:xfrm>
            <a:custGeom>
              <a:avLst/>
              <a:gdLst/>
              <a:ahLst/>
              <a:cxnLst/>
              <a:rect l="l" t="t" r="r" b="b"/>
              <a:pathLst>
                <a:path w="85089" h="168275">
                  <a:moveTo>
                    <a:pt x="84759" y="0"/>
                  </a:moveTo>
                  <a:lnTo>
                    <a:pt x="0" y="84785"/>
                  </a:lnTo>
                  <a:lnTo>
                    <a:pt x="83756" y="167830"/>
                  </a:lnTo>
                </a:path>
              </a:pathLst>
            </a:custGeom>
            <a:ln w="18745">
              <a:solidFill>
                <a:srgbClr val="DA1B2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377410" y="3459848"/>
              <a:ext cx="122555" cy="199390"/>
            </a:xfrm>
            <a:custGeom>
              <a:avLst/>
              <a:gdLst/>
              <a:ahLst/>
              <a:cxnLst/>
              <a:rect l="l" t="t" r="r" b="b"/>
              <a:pathLst>
                <a:path w="122554" h="199389">
                  <a:moveTo>
                    <a:pt x="0" y="199301"/>
                  </a:moveTo>
                  <a:lnTo>
                    <a:pt x="33667" y="180140"/>
                  </a:lnTo>
                  <a:lnTo>
                    <a:pt x="63198" y="155084"/>
                  </a:lnTo>
                  <a:lnTo>
                    <a:pt x="87562" y="124984"/>
                  </a:lnTo>
                  <a:lnTo>
                    <a:pt x="105930" y="90881"/>
                  </a:lnTo>
                  <a:lnTo>
                    <a:pt x="117654" y="53960"/>
                  </a:lnTo>
                  <a:lnTo>
                    <a:pt x="122329" y="15519"/>
                  </a:lnTo>
                  <a:lnTo>
                    <a:pt x="122398" y="7765"/>
                  </a:lnTo>
                  <a:lnTo>
                    <a:pt x="122174" y="0"/>
                  </a:lnTo>
                </a:path>
              </a:pathLst>
            </a:custGeom>
            <a:ln w="18745">
              <a:solidFill>
                <a:srgbClr val="DA1B2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492561" y="3412655"/>
              <a:ext cx="7620" cy="47625"/>
            </a:xfrm>
            <a:custGeom>
              <a:avLst/>
              <a:gdLst/>
              <a:ahLst/>
              <a:cxnLst/>
              <a:rect l="l" t="t" r="r" b="b"/>
              <a:pathLst>
                <a:path w="7620" h="47625">
                  <a:moveTo>
                    <a:pt x="7213" y="47193"/>
                  </a:moveTo>
                  <a:lnTo>
                    <a:pt x="0" y="0"/>
                  </a:lnTo>
                </a:path>
              </a:pathLst>
            </a:custGeom>
            <a:ln w="18745">
              <a:solidFill>
                <a:srgbClr val="DA1B2D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299546" y="3259950"/>
              <a:ext cx="193675" cy="153035"/>
            </a:xfrm>
            <a:custGeom>
              <a:avLst/>
              <a:gdLst/>
              <a:ahLst/>
              <a:cxnLst/>
              <a:rect l="l" t="t" r="r" b="b"/>
              <a:pathLst>
                <a:path w="193675" h="153035">
                  <a:moveTo>
                    <a:pt x="193128" y="152679"/>
                  </a:moveTo>
                  <a:lnTo>
                    <a:pt x="178080" y="114516"/>
                  </a:lnTo>
                  <a:lnTo>
                    <a:pt x="155929" y="80002"/>
                  </a:lnTo>
                  <a:lnTo>
                    <a:pt x="127519" y="50434"/>
                  </a:lnTo>
                  <a:lnTo>
                    <a:pt x="93903" y="26924"/>
                  </a:lnTo>
                  <a:lnTo>
                    <a:pt x="56382" y="10359"/>
                  </a:lnTo>
                  <a:lnTo>
                    <a:pt x="16375" y="1385"/>
                  </a:lnTo>
                  <a:lnTo>
                    <a:pt x="8208" y="536"/>
                  </a:lnTo>
                  <a:lnTo>
                    <a:pt x="0" y="0"/>
                  </a:lnTo>
                </a:path>
              </a:pathLst>
            </a:custGeom>
            <a:ln w="18745">
              <a:solidFill>
                <a:srgbClr val="DA1B2D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4065193" y="3860355"/>
            <a:ext cx="2828290" cy="9201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85" b="1">
                <a:solidFill>
                  <a:srgbClr val="3A3535"/>
                </a:solidFill>
                <a:latin typeface="Verdana"/>
                <a:cs typeface="Verdana"/>
              </a:rPr>
              <a:t>Structured</a:t>
            </a:r>
            <a:r>
              <a:rPr dirty="0" sz="1750" spc="-12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Output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9400"/>
              </a:lnSpc>
              <a:spcBef>
                <a:spcPts val="585"/>
              </a:spcBef>
            </a:pP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Conversation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or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30">
                <a:solidFill>
                  <a:srgbClr val="3A3535"/>
                </a:solidFill>
                <a:latin typeface="Century Gothic"/>
                <a:cs typeface="Century Gothic"/>
              </a:rPr>
              <a:t>JSON,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including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OpenAI-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style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formats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7577672" y="3248178"/>
            <a:ext cx="393700" cy="441959"/>
            <a:chOff x="7577672" y="3248178"/>
            <a:chExt cx="393700" cy="441959"/>
          </a:xfrm>
        </p:grpSpPr>
        <p:sp>
          <p:nvSpPr>
            <p:cNvPr id="17" name="object 17"/>
            <p:cNvSpPr/>
            <p:nvPr/>
          </p:nvSpPr>
          <p:spPr>
            <a:xfrm>
              <a:off x="7656715" y="3488664"/>
              <a:ext cx="236220" cy="31750"/>
            </a:xfrm>
            <a:custGeom>
              <a:avLst/>
              <a:gdLst/>
              <a:ahLst/>
              <a:cxnLst/>
              <a:rect l="l" t="t" r="r" b="b"/>
              <a:pathLst>
                <a:path w="236220" h="31750">
                  <a:moveTo>
                    <a:pt x="235737" y="11747"/>
                  </a:moveTo>
                  <a:lnTo>
                    <a:pt x="196045" y="28254"/>
                  </a:lnTo>
                  <a:lnTo>
                    <a:pt x="168935" y="31711"/>
                  </a:lnTo>
                  <a:lnTo>
                    <a:pt x="160629" y="31457"/>
                  </a:lnTo>
                  <a:lnTo>
                    <a:pt x="117790" y="16610"/>
                  </a:lnTo>
                  <a:lnTo>
                    <a:pt x="108265" y="11267"/>
                  </a:lnTo>
                  <a:lnTo>
                    <a:pt x="69172" y="175"/>
                  </a:lnTo>
                  <a:lnTo>
                    <a:pt x="62812" y="0"/>
                  </a:lnTo>
                  <a:lnTo>
                    <a:pt x="56211" y="53"/>
                  </a:lnTo>
                  <a:lnTo>
                    <a:pt x="49250" y="342"/>
                  </a:lnTo>
                  <a:lnTo>
                    <a:pt x="40553" y="1648"/>
                  </a:lnTo>
                  <a:lnTo>
                    <a:pt x="29802" y="3865"/>
                  </a:lnTo>
                  <a:lnTo>
                    <a:pt x="16462" y="7270"/>
                  </a:lnTo>
                  <a:lnTo>
                    <a:pt x="0" y="12141"/>
                  </a:lnTo>
                </a:path>
              </a:pathLst>
            </a:custGeom>
            <a:ln w="18742">
              <a:solidFill>
                <a:srgbClr val="DA1B2D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77672" y="3248178"/>
              <a:ext cx="393532" cy="441855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7550746" y="3860355"/>
            <a:ext cx="2836545" cy="9201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90" b="1">
                <a:solidFill>
                  <a:srgbClr val="3A3535"/>
                </a:solidFill>
                <a:latin typeface="Verdana"/>
                <a:cs typeface="Verdana"/>
              </a:rPr>
              <a:t>Prompt</a:t>
            </a:r>
            <a:r>
              <a:rPr dirty="0" sz="1750" spc="-18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750" spc="-25" b="1">
                <a:solidFill>
                  <a:srgbClr val="3A3535"/>
                </a:solidFill>
                <a:latin typeface="Verdana"/>
                <a:cs typeface="Verdana"/>
              </a:rPr>
              <a:t>Lab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9400"/>
              </a:lnSpc>
              <a:spcBef>
                <a:spcPts val="585"/>
              </a:spcBef>
            </a:pP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Version,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test,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replay,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evaluate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before</a:t>
            </a:r>
            <a:r>
              <a:rPr dirty="0" sz="1300" spc="1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rollout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79640" y="1723135"/>
            <a:ext cx="6115050" cy="56007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75"/>
              <a:t>Plugin</a:t>
            </a:r>
            <a:r>
              <a:rPr dirty="0" spc="-409"/>
              <a:t> </a:t>
            </a:r>
            <a:r>
              <a:rPr dirty="0" spc="-390"/>
              <a:t>3:</a:t>
            </a:r>
            <a:r>
              <a:rPr dirty="0" spc="-405"/>
              <a:t> </a:t>
            </a:r>
            <a:r>
              <a:rPr dirty="0" spc="-190"/>
              <a:t>LLM</a:t>
            </a:r>
            <a:r>
              <a:rPr dirty="0" spc="-405"/>
              <a:t> </a:t>
            </a:r>
            <a:r>
              <a:rPr dirty="0" spc="-229"/>
              <a:t>Therapy</a:t>
            </a:r>
            <a:r>
              <a:rPr dirty="0" spc="-405"/>
              <a:t> </a:t>
            </a:r>
            <a:r>
              <a:rPr dirty="0" spc="-50"/>
              <a:t>Chat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79635" y="2592900"/>
            <a:ext cx="9813290" cy="5778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39400"/>
              </a:lnSpc>
              <a:spcBef>
                <a:spcPts val="90"/>
              </a:spcBef>
            </a:pP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Supervised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communication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2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AI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human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in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same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framework.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Useful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for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both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35" b="1">
                <a:solidFill>
                  <a:srgbClr val="3A3535"/>
                </a:solidFill>
                <a:latin typeface="Verdana"/>
                <a:cs typeface="Verdana"/>
              </a:rPr>
              <a:t>service</a:t>
            </a:r>
            <a:r>
              <a:rPr dirty="0" sz="1300" spc="-9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50" b="1">
                <a:solidFill>
                  <a:srgbClr val="3A3535"/>
                </a:solidFill>
                <a:latin typeface="Verdana"/>
                <a:cs typeface="Verdana"/>
              </a:rPr>
              <a:t>delivery</a:t>
            </a:r>
            <a:r>
              <a:rPr dirty="0" sz="1300" spc="-5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 b="1">
                <a:solidFill>
                  <a:srgbClr val="3A3535"/>
                </a:solidFill>
                <a:latin typeface="Verdana"/>
                <a:cs typeface="Verdana"/>
              </a:rPr>
              <a:t>controlled </a:t>
            </a:r>
            <a:r>
              <a:rPr dirty="0" sz="1300" spc="-35" b="1">
                <a:solidFill>
                  <a:srgbClr val="3A3535"/>
                </a:solidFill>
                <a:latin typeface="Verdana"/>
                <a:cs typeface="Verdana"/>
              </a:rPr>
              <a:t>comparison</a:t>
            </a:r>
            <a:r>
              <a:rPr dirty="0" sz="1300" spc="-7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10" b="1">
                <a:solidFill>
                  <a:srgbClr val="3A3535"/>
                </a:solidFill>
                <a:latin typeface="Verdana"/>
                <a:cs typeface="Verdana"/>
              </a:rPr>
              <a:t>studies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.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90550" y="3390900"/>
            <a:ext cx="3305175" cy="1285875"/>
            <a:chOff x="590550" y="3390900"/>
            <a:chExt cx="3305175" cy="1285875"/>
          </a:xfrm>
        </p:grpSpPr>
        <p:sp>
          <p:nvSpPr>
            <p:cNvPr id="5" name="object 5"/>
            <p:cNvSpPr/>
            <p:nvPr/>
          </p:nvSpPr>
          <p:spPr>
            <a:xfrm>
              <a:off x="595312" y="3395662"/>
              <a:ext cx="3295650" cy="1276350"/>
            </a:xfrm>
            <a:custGeom>
              <a:avLst/>
              <a:gdLst/>
              <a:ahLst/>
              <a:cxnLst/>
              <a:rect l="l" t="t" r="r" b="b"/>
              <a:pathLst>
                <a:path w="3295650" h="1276350">
                  <a:moveTo>
                    <a:pt x="3244748" y="0"/>
                  </a:moveTo>
                  <a:lnTo>
                    <a:pt x="50904" y="0"/>
                  </a:lnTo>
                  <a:lnTo>
                    <a:pt x="47362" y="342"/>
                  </a:lnTo>
                  <a:lnTo>
                    <a:pt x="13428" y="18491"/>
                  </a:lnTo>
                  <a:lnTo>
                    <a:pt x="0" y="50901"/>
                  </a:lnTo>
                  <a:lnTo>
                    <a:pt x="0" y="1221867"/>
                  </a:lnTo>
                  <a:lnTo>
                    <a:pt x="0" y="1225448"/>
                  </a:lnTo>
                  <a:lnTo>
                    <a:pt x="18484" y="1262926"/>
                  </a:lnTo>
                  <a:lnTo>
                    <a:pt x="50904" y="1276350"/>
                  </a:lnTo>
                  <a:lnTo>
                    <a:pt x="3244748" y="1276350"/>
                  </a:lnTo>
                  <a:lnTo>
                    <a:pt x="3282226" y="1257858"/>
                  </a:lnTo>
                  <a:lnTo>
                    <a:pt x="3295650" y="1225448"/>
                  </a:lnTo>
                  <a:lnTo>
                    <a:pt x="3295650" y="50901"/>
                  </a:lnTo>
                  <a:lnTo>
                    <a:pt x="3277158" y="13423"/>
                  </a:lnTo>
                  <a:lnTo>
                    <a:pt x="3248291" y="342"/>
                  </a:lnTo>
                  <a:lnTo>
                    <a:pt x="3244748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95312" y="3395662"/>
              <a:ext cx="3295650" cy="1276350"/>
            </a:xfrm>
            <a:custGeom>
              <a:avLst/>
              <a:gdLst/>
              <a:ahLst/>
              <a:cxnLst/>
              <a:rect l="l" t="t" r="r" b="b"/>
              <a:pathLst>
                <a:path w="3295650" h="1276350">
                  <a:moveTo>
                    <a:pt x="0" y="1221867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6" y="47358"/>
                  </a:lnTo>
                  <a:lnTo>
                    <a:pt x="18484" y="13423"/>
                  </a:lnTo>
                  <a:lnTo>
                    <a:pt x="24213" y="9182"/>
                  </a:lnTo>
                  <a:lnTo>
                    <a:pt x="27185" y="7188"/>
                  </a:lnTo>
                  <a:lnTo>
                    <a:pt x="30326" y="5511"/>
                  </a:lnTo>
                  <a:lnTo>
                    <a:pt x="33629" y="4152"/>
                  </a:lnTo>
                  <a:lnTo>
                    <a:pt x="36939" y="2781"/>
                  </a:lnTo>
                  <a:lnTo>
                    <a:pt x="40342" y="1739"/>
                  </a:lnTo>
                  <a:lnTo>
                    <a:pt x="43854" y="1041"/>
                  </a:lnTo>
                  <a:lnTo>
                    <a:pt x="47362" y="342"/>
                  </a:lnTo>
                  <a:lnTo>
                    <a:pt x="50904" y="0"/>
                  </a:lnTo>
                  <a:lnTo>
                    <a:pt x="54480" y="0"/>
                  </a:lnTo>
                  <a:lnTo>
                    <a:pt x="3241167" y="0"/>
                  </a:lnTo>
                  <a:lnTo>
                    <a:pt x="3244748" y="0"/>
                  </a:lnTo>
                  <a:lnTo>
                    <a:pt x="3248291" y="342"/>
                  </a:lnTo>
                  <a:lnTo>
                    <a:pt x="3251796" y="1041"/>
                  </a:lnTo>
                  <a:lnTo>
                    <a:pt x="3255302" y="1739"/>
                  </a:lnTo>
                  <a:lnTo>
                    <a:pt x="3258705" y="2781"/>
                  </a:lnTo>
                  <a:lnTo>
                    <a:pt x="3262020" y="4152"/>
                  </a:lnTo>
                  <a:lnTo>
                    <a:pt x="3265322" y="5511"/>
                  </a:lnTo>
                  <a:lnTo>
                    <a:pt x="3268459" y="7188"/>
                  </a:lnTo>
                  <a:lnTo>
                    <a:pt x="3271431" y="9182"/>
                  </a:lnTo>
                  <a:lnTo>
                    <a:pt x="3274415" y="11163"/>
                  </a:lnTo>
                  <a:lnTo>
                    <a:pt x="3277158" y="13423"/>
                  </a:lnTo>
                  <a:lnTo>
                    <a:pt x="3279686" y="15951"/>
                  </a:lnTo>
                  <a:lnTo>
                    <a:pt x="3282226" y="18491"/>
                  </a:lnTo>
                  <a:lnTo>
                    <a:pt x="3284486" y="21234"/>
                  </a:lnTo>
                  <a:lnTo>
                    <a:pt x="3286467" y="24206"/>
                  </a:lnTo>
                  <a:lnTo>
                    <a:pt x="3288461" y="27190"/>
                  </a:lnTo>
                  <a:lnTo>
                    <a:pt x="3290138" y="30327"/>
                  </a:lnTo>
                  <a:lnTo>
                    <a:pt x="3291497" y="33629"/>
                  </a:lnTo>
                  <a:lnTo>
                    <a:pt x="3292868" y="36931"/>
                  </a:lnTo>
                  <a:lnTo>
                    <a:pt x="3293910" y="40347"/>
                  </a:lnTo>
                  <a:lnTo>
                    <a:pt x="3294608" y="43853"/>
                  </a:lnTo>
                  <a:lnTo>
                    <a:pt x="3295307" y="47358"/>
                  </a:lnTo>
                  <a:lnTo>
                    <a:pt x="3295650" y="50901"/>
                  </a:lnTo>
                  <a:lnTo>
                    <a:pt x="3295650" y="54483"/>
                  </a:lnTo>
                  <a:lnTo>
                    <a:pt x="3295650" y="1221867"/>
                  </a:lnTo>
                  <a:lnTo>
                    <a:pt x="3295650" y="1225448"/>
                  </a:lnTo>
                  <a:lnTo>
                    <a:pt x="3295307" y="1228991"/>
                  </a:lnTo>
                  <a:lnTo>
                    <a:pt x="3294608" y="1232496"/>
                  </a:lnTo>
                  <a:lnTo>
                    <a:pt x="3293910" y="1236002"/>
                  </a:lnTo>
                  <a:lnTo>
                    <a:pt x="3292868" y="1239405"/>
                  </a:lnTo>
                  <a:lnTo>
                    <a:pt x="3291497" y="1242720"/>
                  </a:lnTo>
                  <a:lnTo>
                    <a:pt x="3290138" y="1246022"/>
                  </a:lnTo>
                  <a:lnTo>
                    <a:pt x="3288461" y="1249159"/>
                  </a:lnTo>
                  <a:lnTo>
                    <a:pt x="3286467" y="1252131"/>
                  </a:lnTo>
                  <a:lnTo>
                    <a:pt x="3284486" y="1255102"/>
                  </a:lnTo>
                  <a:lnTo>
                    <a:pt x="3282226" y="1257858"/>
                  </a:lnTo>
                  <a:lnTo>
                    <a:pt x="3279686" y="1260386"/>
                  </a:lnTo>
                  <a:lnTo>
                    <a:pt x="3277158" y="1262926"/>
                  </a:lnTo>
                  <a:lnTo>
                    <a:pt x="3244748" y="1276350"/>
                  </a:lnTo>
                  <a:lnTo>
                    <a:pt x="3241167" y="1276350"/>
                  </a:lnTo>
                  <a:lnTo>
                    <a:pt x="54480" y="1276350"/>
                  </a:lnTo>
                  <a:lnTo>
                    <a:pt x="50904" y="1276350"/>
                  </a:lnTo>
                  <a:lnTo>
                    <a:pt x="47362" y="1275994"/>
                  </a:lnTo>
                  <a:lnTo>
                    <a:pt x="15958" y="1260386"/>
                  </a:lnTo>
                  <a:lnTo>
                    <a:pt x="13428" y="1257858"/>
                  </a:lnTo>
                  <a:lnTo>
                    <a:pt x="11167" y="1255102"/>
                  </a:lnTo>
                  <a:lnTo>
                    <a:pt x="9182" y="1252131"/>
                  </a:lnTo>
                  <a:lnTo>
                    <a:pt x="7193" y="1249159"/>
                  </a:lnTo>
                  <a:lnTo>
                    <a:pt x="1046" y="1232496"/>
                  </a:lnTo>
                  <a:lnTo>
                    <a:pt x="346" y="1228991"/>
                  </a:lnTo>
                  <a:lnTo>
                    <a:pt x="0" y="1225448"/>
                  </a:lnTo>
                  <a:lnTo>
                    <a:pt x="0" y="1221867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758377" y="3546030"/>
            <a:ext cx="2616835" cy="9105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90" b="1">
                <a:solidFill>
                  <a:srgbClr val="3A3535"/>
                </a:solidFill>
                <a:latin typeface="Verdana"/>
                <a:cs typeface="Verdana"/>
              </a:rPr>
              <a:t>User</a:t>
            </a:r>
            <a:r>
              <a:rPr dirty="0" sz="1750" spc="-22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750" spc="-20" b="1">
                <a:solidFill>
                  <a:srgbClr val="3A3535"/>
                </a:solidFill>
                <a:latin typeface="Verdana"/>
                <a:cs typeface="Verdana"/>
              </a:rPr>
              <a:t>Side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4600"/>
              </a:lnSpc>
              <a:spcBef>
                <a:spcPts val="660"/>
              </a:spcBef>
            </a:pP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Interacts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with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AI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or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human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through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40">
                <a:solidFill>
                  <a:srgbClr val="3A3535"/>
                </a:solidFill>
                <a:latin typeface="Century Gothic"/>
                <a:cs typeface="Century Gothic"/>
              </a:rPr>
              <a:t>a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single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chat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interface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4067175" y="3390900"/>
            <a:ext cx="3295650" cy="1285875"/>
            <a:chOff x="4067175" y="3390900"/>
            <a:chExt cx="3295650" cy="1285875"/>
          </a:xfrm>
        </p:grpSpPr>
        <p:sp>
          <p:nvSpPr>
            <p:cNvPr id="9" name="object 9"/>
            <p:cNvSpPr/>
            <p:nvPr/>
          </p:nvSpPr>
          <p:spPr>
            <a:xfrm>
              <a:off x="4071937" y="3395662"/>
              <a:ext cx="3286125" cy="1276350"/>
            </a:xfrm>
            <a:custGeom>
              <a:avLst/>
              <a:gdLst/>
              <a:ahLst/>
              <a:cxnLst/>
              <a:rect l="l" t="t" r="r" b="b"/>
              <a:pathLst>
                <a:path w="3286125" h="1276350">
                  <a:moveTo>
                    <a:pt x="3235223" y="0"/>
                  </a:moveTo>
                  <a:lnTo>
                    <a:pt x="50901" y="0"/>
                  </a:lnTo>
                  <a:lnTo>
                    <a:pt x="47358" y="342"/>
                  </a:lnTo>
                  <a:lnTo>
                    <a:pt x="13423" y="18491"/>
                  </a:lnTo>
                  <a:lnTo>
                    <a:pt x="0" y="50901"/>
                  </a:lnTo>
                  <a:lnTo>
                    <a:pt x="0" y="1221867"/>
                  </a:lnTo>
                  <a:lnTo>
                    <a:pt x="0" y="1225448"/>
                  </a:lnTo>
                  <a:lnTo>
                    <a:pt x="15963" y="1260386"/>
                  </a:lnTo>
                  <a:lnTo>
                    <a:pt x="18478" y="1262926"/>
                  </a:lnTo>
                  <a:lnTo>
                    <a:pt x="50901" y="1276350"/>
                  </a:lnTo>
                  <a:lnTo>
                    <a:pt x="3235223" y="1276350"/>
                  </a:lnTo>
                  <a:lnTo>
                    <a:pt x="3272701" y="1257858"/>
                  </a:lnTo>
                  <a:lnTo>
                    <a:pt x="3286125" y="1225448"/>
                  </a:lnTo>
                  <a:lnTo>
                    <a:pt x="3286125" y="50901"/>
                  </a:lnTo>
                  <a:lnTo>
                    <a:pt x="3267633" y="13423"/>
                  </a:lnTo>
                  <a:lnTo>
                    <a:pt x="3238766" y="342"/>
                  </a:lnTo>
                  <a:lnTo>
                    <a:pt x="3235223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071937" y="3395662"/>
              <a:ext cx="3286125" cy="1276350"/>
            </a:xfrm>
            <a:custGeom>
              <a:avLst/>
              <a:gdLst/>
              <a:ahLst/>
              <a:cxnLst/>
              <a:rect l="l" t="t" r="r" b="b"/>
              <a:pathLst>
                <a:path w="3286125" h="1276350">
                  <a:moveTo>
                    <a:pt x="0" y="1221867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2" y="47358"/>
                  </a:lnTo>
                  <a:lnTo>
                    <a:pt x="1041" y="43853"/>
                  </a:lnTo>
                  <a:lnTo>
                    <a:pt x="1752" y="40347"/>
                  </a:lnTo>
                  <a:lnTo>
                    <a:pt x="2781" y="36931"/>
                  </a:lnTo>
                  <a:lnTo>
                    <a:pt x="4152" y="33629"/>
                  </a:lnTo>
                  <a:lnTo>
                    <a:pt x="5511" y="30327"/>
                  </a:lnTo>
                  <a:lnTo>
                    <a:pt x="7188" y="27190"/>
                  </a:lnTo>
                  <a:lnTo>
                    <a:pt x="9182" y="24206"/>
                  </a:lnTo>
                  <a:lnTo>
                    <a:pt x="11163" y="21234"/>
                  </a:lnTo>
                  <a:lnTo>
                    <a:pt x="13423" y="18491"/>
                  </a:lnTo>
                  <a:lnTo>
                    <a:pt x="15963" y="15951"/>
                  </a:lnTo>
                  <a:lnTo>
                    <a:pt x="18478" y="13423"/>
                  </a:lnTo>
                  <a:lnTo>
                    <a:pt x="21234" y="11163"/>
                  </a:lnTo>
                  <a:lnTo>
                    <a:pt x="24218" y="9182"/>
                  </a:lnTo>
                  <a:lnTo>
                    <a:pt x="27190" y="7188"/>
                  </a:lnTo>
                  <a:lnTo>
                    <a:pt x="30327" y="5511"/>
                  </a:lnTo>
                  <a:lnTo>
                    <a:pt x="33629" y="4152"/>
                  </a:lnTo>
                  <a:lnTo>
                    <a:pt x="36931" y="2781"/>
                  </a:lnTo>
                  <a:lnTo>
                    <a:pt x="40347" y="1739"/>
                  </a:lnTo>
                  <a:lnTo>
                    <a:pt x="43853" y="1041"/>
                  </a:lnTo>
                  <a:lnTo>
                    <a:pt x="47358" y="342"/>
                  </a:lnTo>
                  <a:lnTo>
                    <a:pt x="50901" y="0"/>
                  </a:lnTo>
                  <a:lnTo>
                    <a:pt x="54483" y="0"/>
                  </a:lnTo>
                  <a:lnTo>
                    <a:pt x="3231642" y="0"/>
                  </a:lnTo>
                  <a:lnTo>
                    <a:pt x="3235223" y="0"/>
                  </a:lnTo>
                  <a:lnTo>
                    <a:pt x="3238766" y="342"/>
                  </a:lnTo>
                  <a:lnTo>
                    <a:pt x="3242271" y="1041"/>
                  </a:lnTo>
                  <a:lnTo>
                    <a:pt x="3245777" y="1739"/>
                  </a:lnTo>
                  <a:lnTo>
                    <a:pt x="3249180" y="2781"/>
                  </a:lnTo>
                  <a:lnTo>
                    <a:pt x="3252495" y="4152"/>
                  </a:lnTo>
                  <a:lnTo>
                    <a:pt x="3255797" y="5511"/>
                  </a:lnTo>
                  <a:lnTo>
                    <a:pt x="3258934" y="7188"/>
                  </a:lnTo>
                  <a:lnTo>
                    <a:pt x="3261906" y="9182"/>
                  </a:lnTo>
                  <a:lnTo>
                    <a:pt x="3264890" y="11163"/>
                  </a:lnTo>
                  <a:lnTo>
                    <a:pt x="3267633" y="13423"/>
                  </a:lnTo>
                  <a:lnTo>
                    <a:pt x="3270161" y="15951"/>
                  </a:lnTo>
                  <a:lnTo>
                    <a:pt x="3272701" y="18491"/>
                  </a:lnTo>
                  <a:lnTo>
                    <a:pt x="3281972" y="33629"/>
                  </a:lnTo>
                  <a:lnTo>
                    <a:pt x="3283343" y="36931"/>
                  </a:lnTo>
                  <a:lnTo>
                    <a:pt x="3284385" y="40347"/>
                  </a:lnTo>
                  <a:lnTo>
                    <a:pt x="3285083" y="43853"/>
                  </a:lnTo>
                  <a:lnTo>
                    <a:pt x="3285782" y="47358"/>
                  </a:lnTo>
                  <a:lnTo>
                    <a:pt x="3286125" y="50901"/>
                  </a:lnTo>
                  <a:lnTo>
                    <a:pt x="3286125" y="54483"/>
                  </a:lnTo>
                  <a:lnTo>
                    <a:pt x="3286125" y="1221867"/>
                  </a:lnTo>
                  <a:lnTo>
                    <a:pt x="3286125" y="1225448"/>
                  </a:lnTo>
                  <a:lnTo>
                    <a:pt x="3285782" y="1228991"/>
                  </a:lnTo>
                  <a:lnTo>
                    <a:pt x="3285083" y="1232496"/>
                  </a:lnTo>
                  <a:lnTo>
                    <a:pt x="3284385" y="1236002"/>
                  </a:lnTo>
                  <a:lnTo>
                    <a:pt x="3283343" y="1239405"/>
                  </a:lnTo>
                  <a:lnTo>
                    <a:pt x="3281972" y="1242720"/>
                  </a:lnTo>
                  <a:lnTo>
                    <a:pt x="3280613" y="1246022"/>
                  </a:lnTo>
                  <a:lnTo>
                    <a:pt x="3278936" y="1249159"/>
                  </a:lnTo>
                  <a:lnTo>
                    <a:pt x="3276942" y="1252131"/>
                  </a:lnTo>
                  <a:lnTo>
                    <a:pt x="3274949" y="1255102"/>
                  </a:lnTo>
                  <a:lnTo>
                    <a:pt x="3272701" y="1257858"/>
                  </a:lnTo>
                  <a:lnTo>
                    <a:pt x="3270161" y="1260386"/>
                  </a:lnTo>
                  <a:lnTo>
                    <a:pt x="3267633" y="1262926"/>
                  </a:lnTo>
                  <a:lnTo>
                    <a:pt x="3235223" y="1276350"/>
                  </a:lnTo>
                  <a:lnTo>
                    <a:pt x="3231642" y="1276350"/>
                  </a:lnTo>
                  <a:lnTo>
                    <a:pt x="54483" y="1276350"/>
                  </a:lnTo>
                  <a:lnTo>
                    <a:pt x="50901" y="1276350"/>
                  </a:lnTo>
                  <a:lnTo>
                    <a:pt x="47358" y="1275994"/>
                  </a:lnTo>
                  <a:lnTo>
                    <a:pt x="15963" y="1260386"/>
                  </a:lnTo>
                  <a:lnTo>
                    <a:pt x="13423" y="1257858"/>
                  </a:lnTo>
                  <a:lnTo>
                    <a:pt x="11163" y="1255102"/>
                  </a:lnTo>
                  <a:lnTo>
                    <a:pt x="9182" y="1252131"/>
                  </a:lnTo>
                  <a:lnTo>
                    <a:pt x="7188" y="1249159"/>
                  </a:lnTo>
                  <a:lnTo>
                    <a:pt x="5511" y="1246022"/>
                  </a:lnTo>
                  <a:lnTo>
                    <a:pt x="4152" y="1242720"/>
                  </a:lnTo>
                  <a:lnTo>
                    <a:pt x="2781" y="1239405"/>
                  </a:lnTo>
                  <a:lnTo>
                    <a:pt x="1752" y="1236002"/>
                  </a:lnTo>
                  <a:lnTo>
                    <a:pt x="1041" y="1232496"/>
                  </a:lnTo>
                  <a:lnTo>
                    <a:pt x="342" y="1228991"/>
                  </a:lnTo>
                  <a:lnTo>
                    <a:pt x="0" y="1225448"/>
                  </a:lnTo>
                  <a:lnTo>
                    <a:pt x="0" y="1221867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4229798" y="3546030"/>
            <a:ext cx="2733675" cy="9105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0" b="1">
                <a:solidFill>
                  <a:srgbClr val="3A3535"/>
                </a:solidFill>
                <a:latin typeface="Verdana"/>
                <a:cs typeface="Verdana"/>
              </a:rPr>
              <a:t>Therapist</a:t>
            </a:r>
            <a:r>
              <a:rPr dirty="0" sz="1750" spc="-16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Dashboard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4600"/>
              </a:lnSpc>
              <a:spcBef>
                <a:spcPts val="660"/>
              </a:spcBef>
            </a:pP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Alerts,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notes,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summaries,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drafts,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-6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direct</a:t>
            </a: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escalation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7534275" y="3390900"/>
            <a:ext cx="3305175" cy="1285875"/>
            <a:chOff x="7534275" y="3390900"/>
            <a:chExt cx="3305175" cy="1285875"/>
          </a:xfrm>
        </p:grpSpPr>
        <p:sp>
          <p:nvSpPr>
            <p:cNvPr id="13" name="object 13"/>
            <p:cNvSpPr/>
            <p:nvPr/>
          </p:nvSpPr>
          <p:spPr>
            <a:xfrm>
              <a:off x="7539037" y="3395662"/>
              <a:ext cx="3295650" cy="1276350"/>
            </a:xfrm>
            <a:custGeom>
              <a:avLst/>
              <a:gdLst/>
              <a:ahLst/>
              <a:cxnLst/>
              <a:rect l="l" t="t" r="r" b="b"/>
              <a:pathLst>
                <a:path w="3295650" h="1276350">
                  <a:moveTo>
                    <a:pt x="3244748" y="0"/>
                  </a:moveTo>
                  <a:lnTo>
                    <a:pt x="50901" y="0"/>
                  </a:lnTo>
                  <a:lnTo>
                    <a:pt x="47358" y="342"/>
                  </a:lnTo>
                  <a:lnTo>
                    <a:pt x="13423" y="18491"/>
                  </a:lnTo>
                  <a:lnTo>
                    <a:pt x="0" y="50901"/>
                  </a:lnTo>
                  <a:lnTo>
                    <a:pt x="0" y="1221867"/>
                  </a:lnTo>
                  <a:lnTo>
                    <a:pt x="0" y="1225448"/>
                  </a:lnTo>
                  <a:lnTo>
                    <a:pt x="18478" y="1262926"/>
                  </a:lnTo>
                  <a:lnTo>
                    <a:pt x="50901" y="1276350"/>
                  </a:lnTo>
                  <a:lnTo>
                    <a:pt x="3244748" y="1276350"/>
                  </a:lnTo>
                  <a:lnTo>
                    <a:pt x="3282226" y="1257858"/>
                  </a:lnTo>
                  <a:lnTo>
                    <a:pt x="3295650" y="1225448"/>
                  </a:lnTo>
                  <a:lnTo>
                    <a:pt x="3295650" y="50901"/>
                  </a:lnTo>
                  <a:lnTo>
                    <a:pt x="3277158" y="13423"/>
                  </a:lnTo>
                  <a:lnTo>
                    <a:pt x="3248291" y="342"/>
                  </a:lnTo>
                  <a:lnTo>
                    <a:pt x="3244748" y="0"/>
                  </a:lnTo>
                  <a:close/>
                </a:path>
              </a:pathLst>
            </a:custGeom>
            <a:solidFill>
              <a:srgbClr val="F9D2D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7539037" y="3395662"/>
              <a:ext cx="3295650" cy="1276350"/>
            </a:xfrm>
            <a:custGeom>
              <a:avLst/>
              <a:gdLst/>
              <a:ahLst/>
              <a:cxnLst/>
              <a:rect l="l" t="t" r="r" b="b"/>
              <a:pathLst>
                <a:path w="3295650" h="1276350">
                  <a:moveTo>
                    <a:pt x="0" y="1221867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2" y="47358"/>
                  </a:lnTo>
                  <a:lnTo>
                    <a:pt x="1041" y="43853"/>
                  </a:lnTo>
                  <a:lnTo>
                    <a:pt x="1752" y="40347"/>
                  </a:lnTo>
                  <a:lnTo>
                    <a:pt x="2781" y="36931"/>
                  </a:lnTo>
                  <a:lnTo>
                    <a:pt x="4152" y="33629"/>
                  </a:lnTo>
                  <a:lnTo>
                    <a:pt x="5511" y="30327"/>
                  </a:lnTo>
                  <a:lnTo>
                    <a:pt x="7188" y="27190"/>
                  </a:lnTo>
                  <a:lnTo>
                    <a:pt x="9182" y="24206"/>
                  </a:lnTo>
                  <a:lnTo>
                    <a:pt x="11163" y="21234"/>
                  </a:lnTo>
                  <a:lnTo>
                    <a:pt x="24206" y="9182"/>
                  </a:lnTo>
                  <a:lnTo>
                    <a:pt x="27190" y="7188"/>
                  </a:lnTo>
                  <a:lnTo>
                    <a:pt x="30327" y="5511"/>
                  </a:lnTo>
                  <a:lnTo>
                    <a:pt x="33629" y="4152"/>
                  </a:lnTo>
                  <a:lnTo>
                    <a:pt x="36931" y="2781"/>
                  </a:lnTo>
                  <a:lnTo>
                    <a:pt x="40347" y="1739"/>
                  </a:lnTo>
                  <a:lnTo>
                    <a:pt x="43853" y="1041"/>
                  </a:lnTo>
                  <a:lnTo>
                    <a:pt x="47358" y="342"/>
                  </a:lnTo>
                  <a:lnTo>
                    <a:pt x="50901" y="0"/>
                  </a:lnTo>
                  <a:lnTo>
                    <a:pt x="54483" y="0"/>
                  </a:lnTo>
                  <a:lnTo>
                    <a:pt x="3241167" y="0"/>
                  </a:lnTo>
                  <a:lnTo>
                    <a:pt x="3244748" y="0"/>
                  </a:lnTo>
                  <a:lnTo>
                    <a:pt x="3248291" y="342"/>
                  </a:lnTo>
                  <a:lnTo>
                    <a:pt x="3251796" y="1041"/>
                  </a:lnTo>
                  <a:lnTo>
                    <a:pt x="3255302" y="1739"/>
                  </a:lnTo>
                  <a:lnTo>
                    <a:pt x="3258705" y="2781"/>
                  </a:lnTo>
                  <a:lnTo>
                    <a:pt x="3262020" y="4152"/>
                  </a:lnTo>
                  <a:lnTo>
                    <a:pt x="3265322" y="5511"/>
                  </a:lnTo>
                  <a:lnTo>
                    <a:pt x="3268459" y="7188"/>
                  </a:lnTo>
                  <a:lnTo>
                    <a:pt x="3271431" y="9182"/>
                  </a:lnTo>
                  <a:lnTo>
                    <a:pt x="3274415" y="11163"/>
                  </a:lnTo>
                  <a:lnTo>
                    <a:pt x="3277158" y="13423"/>
                  </a:lnTo>
                  <a:lnTo>
                    <a:pt x="3279686" y="15951"/>
                  </a:lnTo>
                  <a:lnTo>
                    <a:pt x="3282226" y="18491"/>
                  </a:lnTo>
                  <a:lnTo>
                    <a:pt x="3291497" y="33629"/>
                  </a:lnTo>
                  <a:lnTo>
                    <a:pt x="3292868" y="36931"/>
                  </a:lnTo>
                  <a:lnTo>
                    <a:pt x="3293910" y="40347"/>
                  </a:lnTo>
                  <a:lnTo>
                    <a:pt x="3294608" y="43853"/>
                  </a:lnTo>
                  <a:lnTo>
                    <a:pt x="3295307" y="47358"/>
                  </a:lnTo>
                  <a:lnTo>
                    <a:pt x="3295650" y="50901"/>
                  </a:lnTo>
                  <a:lnTo>
                    <a:pt x="3295650" y="54483"/>
                  </a:lnTo>
                  <a:lnTo>
                    <a:pt x="3295650" y="1221867"/>
                  </a:lnTo>
                  <a:lnTo>
                    <a:pt x="3295650" y="1225448"/>
                  </a:lnTo>
                  <a:lnTo>
                    <a:pt x="3295307" y="1228991"/>
                  </a:lnTo>
                  <a:lnTo>
                    <a:pt x="3294608" y="1232496"/>
                  </a:lnTo>
                  <a:lnTo>
                    <a:pt x="3293910" y="1236002"/>
                  </a:lnTo>
                  <a:lnTo>
                    <a:pt x="3292868" y="1239405"/>
                  </a:lnTo>
                  <a:lnTo>
                    <a:pt x="3291497" y="1242720"/>
                  </a:lnTo>
                  <a:lnTo>
                    <a:pt x="3290138" y="1246022"/>
                  </a:lnTo>
                  <a:lnTo>
                    <a:pt x="3288461" y="1249159"/>
                  </a:lnTo>
                  <a:lnTo>
                    <a:pt x="3286467" y="1252131"/>
                  </a:lnTo>
                  <a:lnTo>
                    <a:pt x="3284486" y="1255102"/>
                  </a:lnTo>
                  <a:lnTo>
                    <a:pt x="3282226" y="1257858"/>
                  </a:lnTo>
                  <a:lnTo>
                    <a:pt x="3279686" y="1260386"/>
                  </a:lnTo>
                  <a:lnTo>
                    <a:pt x="3277158" y="1262926"/>
                  </a:lnTo>
                  <a:lnTo>
                    <a:pt x="3244748" y="1276350"/>
                  </a:lnTo>
                  <a:lnTo>
                    <a:pt x="3241167" y="1276350"/>
                  </a:lnTo>
                  <a:lnTo>
                    <a:pt x="54483" y="1276350"/>
                  </a:lnTo>
                  <a:lnTo>
                    <a:pt x="50901" y="1276350"/>
                  </a:lnTo>
                  <a:lnTo>
                    <a:pt x="47358" y="1275994"/>
                  </a:lnTo>
                  <a:lnTo>
                    <a:pt x="15951" y="1260386"/>
                  </a:lnTo>
                  <a:lnTo>
                    <a:pt x="13423" y="1257858"/>
                  </a:lnTo>
                  <a:lnTo>
                    <a:pt x="11163" y="1255102"/>
                  </a:lnTo>
                  <a:lnTo>
                    <a:pt x="9182" y="1252131"/>
                  </a:lnTo>
                  <a:lnTo>
                    <a:pt x="7188" y="1249159"/>
                  </a:lnTo>
                  <a:lnTo>
                    <a:pt x="5511" y="1246022"/>
                  </a:lnTo>
                  <a:lnTo>
                    <a:pt x="4152" y="1242720"/>
                  </a:lnTo>
                  <a:lnTo>
                    <a:pt x="2781" y="1239405"/>
                  </a:lnTo>
                  <a:lnTo>
                    <a:pt x="1752" y="1236002"/>
                  </a:lnTo>
                  <a:lnTo>
                    <a:pt x="1041" y="1232496"/>
                  </a:lnTo>
                  <a:lnTo>
                    <a:pt x="342" y="1228991"/>
                  </a:lnTo>
                  <a:lnTo>
                    <a:pt x="0" y="1225448"/>
                  </a:lnTo>
                  <a:lnTo>
                    <a:pt x="0" y="1221867"/>
                  </a:lnTo>
                  <a:close/>
                </a:path>
              </a:pathLst>
            </a:custGeom>
            <a:ln w="9525">
              <a:solidFill>
                <a:srgbClr val="DFB7BB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5" name="object 15"/>
          <p:cNvSpPr txBox="1"/>
          <p:nvPr/>
        </p:nvSpPr>
        <p:spPr>
          <a:xfrm>
            <a:off x="7701356" y="3546030"/>
            <a:ext cx="2966720" cy="9105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0" b="1">
                <a:solidFill>
                  <a:srgbClr val="3A3535"/>
                </a:solidFill>
                <a:latin typeface="Verdana"/>
                <a:cs typeface="Verdana"/>
              </a:rPr>
              <a:t>Human-</a:t>
            </a:r>
            <a:r>
              <a:rPr dirty="0" sz="1750" spc="-85" b="1">
                <a:solidFill>
                  <a:srgbClr val="3A3535"/>
                </a:solidFill>
                <a:latin typeface="Verdana"/>
                <a:cs typeface="Verdana"/>
              </a:rPr>
              <a:t>Only</a:t>
            </a:r>
            <a:r>
              <a:rPr dirty="0" sz="1750" spc="-15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750" spc="-20" b="1">
                <a:solidFill>
                  <a:srgbClr val="3A3535"/>
                </a:solidFill>
                <a:latin typeface="Verdana"/>
                <a:cs typeface="Verdana"/>
              </a:rPr>
              <a:t>Mode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4600"/>
              </a:lnSpc>
              <a:spcBef>
                <a:spcPts val="660"/>
              </a:spcBef>
            </a:pP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Same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framework</a:t>
            </a:r>
            <a:r>
              <a:rPr dirty="0" sz="1300" spc="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10">
                <a:solidFill>
                  <a:srgbClr val="3A3535"/>
                </a:solidFill>
                <a:latin typeface="Century Gothic"/>
                <a:cs typeface="Century Gothic"/>
              </a:rPr>
              <a:t>runs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without</a:t>
            </a:r>
            <a:r>
              <a:rPr dirty="0" sz="1300" spc="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AI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—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enabling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controlled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comparisons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9908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70"/>
              <a:t>Mobile</a:t>
            </a:r>
            <a:r>
              <a:rPr dirty="0" spc="-409"/>
              <a:t> </a:t>
            </a:r>
            <a:r>
              <a:rPr dirty="0" spc="-25"/>
              <a:t>App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79635" y="1716600"/>
            <a:ext cx="4663440" cy="57785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39400"/>
              </a:lnSpc>
              <a:spcBef>
                <a:spcPts val="90"/>
              </a:spcBef>
            </a:pP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same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program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logic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continues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on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mobile.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SelfHelp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becomes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part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of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5" b="1">
                <a:solidFill>
                  <a:srgbClr val="3A3535"/>
                </a:solidFill>
                <a:latin typeface="Verdana"/>
                <a:cs typeface="Verdana"/>
              </a:rPr>
              <a:t>daily</a:t>
            </a:r>
            <a:r>
              <a:rPr dirty="0" sz="1300" spc="-11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50" b="1">
                <a:solidFill>
                  <a:srgbClr val="3A3535"/>
                </a:solidFill>
                <a:latin typeface="Verdana"/>
                <a:cs typeface="Verdana"/>
              </a:rPr>
              <a:t>use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,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not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only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desktop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0">
                <a:solidFill>
                  <a:srgbClr val="3A3535"/>
                </a:solidFill>
                <a:latin typeface="Century Gothic"/>
                <a:cs typeface="Century Gothic"/>
              </a:rPr>
              <a:t>use.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79622" y="2485047"/>
            <a:ext cx="254317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Already</a:t>
            </a:r>
            <a:r>
              <a:rPr dirty="0" sz="1300" spc="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supported</a:t>
            </a:r>
            <a:r>
              <a:rPr dirty="0" sz="1300" spc="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on</a:t>
            </a:r>
            <a:r>
              <a:rPr dirty="0" sz="1300" spc="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mobile: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28650" y="3009900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A353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850201" y="2904147"/>
            <a:ext cx="2617470" cy="89535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Surveys,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AI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chat,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therapy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0">
                <a:solidFill>
                  <a:srgbClr val="3A3535"/>
                </a:solidFill>
                <a:latin typeface="Century Gothic"/>
                <a:cs typeface="Century Gothic"/>
              </a:rPr>
              <a:t>chat</a:t>
            </a:r>
            <a:endParaRPr sz="13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Push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notifications</a:t>
            </a:r>
            <a:endParaRPr sz="13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Camera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and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microphone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input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28650" y="334327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A3535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628650" y="3676650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32364" y="0"/>
                </a:moveTo>
                <a:lnTo>
                  <a:pt x="24785" y="0"/>
                </a:lnTo>
                <a:lnTo>
                  <a:pt x="21139" y="723"/>
                </a:lnTo>
                <a:lnTo>
                  <a:pt x="0" y="24790"/>
                </a:lnTo>
                <a:lnTo>
                  <a:pt x="0" y="32359"/>
                </a:lnTo>
                <a:lnTo>
                  <a:pt x="24785" y="57150"/>
                </a:lnTo>
                <a:lnTo>
                  <a:pt x="32364" y="57150"/>
                </a:lnTo>
                <a:lnTo>
                  <a:pt x="57150" y="32359"/>
                </a:lnTo>
                <a:lnTo>
                  <a:pt x="57150" y="28575"/>
                </a:lnTo>
                <a:lnTo>
                  <a:pt x="57150" y="24790"/>
                </a:lnTo>
                <a:lnTo>
                  <a:pt x="36010" y="723"/>
                </a:lnTo>
                <a:lnTo>
                  <a:pt x="32364" y="0"/>
                </a:lnTo>
                <a:close/>
              </a:path>
            </a:pathLst>
          </a:custGeom>
          <a:solidFill>
            <a:srgbClr val="3A3535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9" name="object 9"/>
          <p:cNvGrpSpPr/>
          <p:nvPr/>
        </p:nvGrpSpPr>
        <p:grpSpPr>
          <a:xfrm>
            <a:off x="5934074" y="1819275"/>
            <a:ext cx="2371725" cy="1857375"/>
            <a:chOff x="5934074" y="1819275"/>
            <a:chExt cx="2371725" cy="1857375"/>
          </a:xfrm>
        </p:grpSpPr>
        <p:sp>
          <p:nvSpPr>
            <p:cNvPr id="10" name="object 10"/>
            <p:cNvSpPr/>
            <p:nvPr/>
          </p:nvSpPr>
          <p:spPr>
            <a:xfrm>
              <a:off x="5934062" y="2077300"/>
              <a:ext cx="2371725" cy="1599565"/>
            </a:xfrm>
            <a:custGeom>
              <a:avLst/>
              <a:gdLst/>
              <a:ahLst/>
              <a:cxnLst/>
              <a:rect l="l" t="t" r="r" b="b"/>
              <a:pathLst>
                <a:path w="2371725" h="1599564">
                  <a:moveTo>
                    <a:pt x="2371725" y="75361"/>
                  </a:moveTo>
                  <a:lnTo>
                    <a:pt x="2358898" y="33020"/>
                  </a:lnTo>
                  <a:lnTo>
                    <a:pt x="2324684" y="4965"/>
                  </a:lnTo>
                  <a:lnTo>
                    <a:pt x="2306282" y="0"/>
                  </a:lnTo>
                  <a:lnTo>
                    <a:pt x="2310396" y="1092"/>
                  </a:lnTo>
                  <a:lnTo>
                    <a:pt x="2324392" y="8826"/>
                  </a:lnTo>
                  <a:lnTo>
                    <a:pt x="2348319" y="46202"/>
                  </a:lnTo>
                  <a:lnTo>
                    <a:pt x="2352675" y="75361"/>
                  </a:lnTo>
                  <a:lnTo>
                    <a:pt x="2352675" y="1540116"/>
                  </a:lnTo>
                  <a:lnTo>
                    <a:pt x="2351963" y="1547977"/>
                  </a:lnTo>
                  <a:lnTo>
                    <a:pt x="2351951" y="1548130"/>
                  </a:lnTo>
                  <a:lnTo>
                    <a:pt x="2320506" y="1579575"/>
                  </a:lnTo>
                  <a:lnTo>
                    <a:pt x="2312479" y="1580311"/>
                  </a:lnTo>
                  <a:lnTo>
                    <a:pt x="59245" y="1580311"/>
                  </a:lnTo>
                  <a:lnTo>
                    <a:pt x="51231" y="1579575"/>
                  </a:lnTo>
                  <a:lnTo>
                    <a:pt x="43815" y="1577365"/>
                  </a:lnTo>
                  <a:lnTo>
                    <a:pt x="37020" y="1573682"/>
                  </a:lnTo>
                  <a:lnTo>
                    <a:pt x="31330" y="1568983"/>
                  </a:lnTo>
                  <a:lnTo>
                    <a:pt x="30822" y="1568538"/>
                  </a:lnTo>
                  <a:lnTo>
                    <a:pt x="25679" y="1562341"/>
                  </a:lnTo>
                  <a:lnTo>
                    <a:pt x="21996" y="1555546"/>
                  </a:lnTo>
                  <a:lnTo>
                    <a:pt x="19786" y="1548130"/>
                  </a:lnTo>
                  <a:lnTo>
                    <a:pt x="19050" y="1540116"/>
                  </a:lnTo>
                  <a:lnTo>
                    <a:pt x="19050" y="75361"/>
                  </a:lnTo>
                  <a:lnTo>
                    <a:pt x="28676" y="33020"/>
                  </a:lnTo>
                  <a:lnTo>
                    <a:pt x="61328" y="1092"/>
                  </a:lnTo>
                  <a:lnTo>
                    <a:pt x="65443" y="0"/>
                  </a:lnTo>
                  <a:lnTo>
                    <a:pt x="61341" y="609"/>
                  </a:lnTo>
                  <a:lnTo>
                    <a:pt x="22313" y="21475"/>
                  </a:lnTo>
                  <a:lnTo>
                    <a:pt x="1460" y="60490"/>
                  </a:lnTo>
                  <a:lnTo>
                    <a:pt x="0" y="75361"/>
                  </a:lnTo>
                  <a:lnTo>
                    <a:pt x="0" y="1547977"/>
                  </a:lnTo>
                  <a:lnTo>
                    <a:pt x="1498" y="1555534"/>
                  </a:lnTo>
                  <a:lnTo>
                    <a:pt x="7518" y="1570050"/>
                  </a:lnTo>
                  <a:lnTo>
                    <a:pt x="11798" y="1576451"/>
                  </a:lnTo>
                  <a:lnTo>
                    <a:pt x="17830" y="1582483"/>
                  </a:lnTo>
                  <a:lnTo>
                    <a:pt x="22910" y="1587563"/>
                  </a:lnTo>
                  <a:lnTo>
                    <a:pt x="29311" y="1591843"/>
                  </a:lnTo>
                  <a:lnTo>
                    <a:pt x="43827" y="1597863"/>
                  </a:lnTo>
                  <a:lnTo>
                    <a:pt x="51384" y="1599361"/>
                  </a:lnTo>
                  <a:lnTo>
                    <a:pt x="2320340" y="1599361"/>
                  </a:lnTo>
                  <a:lnTo>
                    <a:pt x="2327897" y="1597863"/>
                  </a:lnTo>
                  <a:lnTo>
                    <a:pt x="2342413" y="1591843"/>
                  </a:lnTo>
                  <a:lnTo>
                    <a:pt x="2348814" y="1587563"/>
                  </a:lnTo>
                  <a:lnTo>
                    <a:pt x="2353894" y="1582483"/>
                  </a:lnTo>
                  <a:lnTo>
                    <a:pt x="2354376" y="1582000"/>
                  </a:lnTo>
                  <a:lnTo>
                    <a:pt x="2359926" y="1576451"/>
                  </a:lnTo>
                  <a:lnTo>
                    <a:pt x="2364206" y="1570050"/>
                  </a:lnTo>
                  <a:lnTo>
                    <a:pt x="2370226" y="1555546"/>
                  </a:lnTo>
                  <a:lnTo>
                    <a:pt x="2371699" y="1548130"/>
                  </a:lnTo>
                  <a:lnTo>
                    <a:pt x="2371725" y="75361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5934075" y="1819274"/>
              <a:ext cx="2371725" cy="514350"/>
            </a:xfrm>
            <a:custGeom>
              <a:avLst/>
              <a:gdLst/>
              <a:ahLst/>
              <a:cxnLst/>
              <a:rect l="l" t="t" r="r" b="b"/>
              <a:pathLst>
                <a:path w="2371725" h="514350">
                  <a:moveTo>
                    <a:pt x="2371725" y="293484"/>
                  </a:moveTo>
                  <a:lnTo>
                    <a:pt x="2357120" y="258229"/>
                  </a:lnTo>
                  <a:lnTo>
                    <a:pt x="2320226" y="238506"/>
                  </a:lnTo>
                  <a:lnTo>
                    <a:pt x="2316365" y="238125"/>
                  </a:lnTo>
                  <a:lnTo>
                    <a:pt x="1440903" y="238125"/>
                  </a:lnTo>
                  <a:lnTo>
                    <a:pt x="1439481" y="223583"/>
                  </a:lnTo>
                  <a:lnTo>
                    <a:pt x="1428026" y="174459"/>
                  </a:lnTo>
                  <a:lnTo>
                    <a:pt x="1407210" y="128511"/>
                  </a:lnTo>
                  <a:lnTo>
                    <a:pt x="1377835" y="87515"/>
                  </a:lnTo>
                  <a:lnTo>
                    <a:pt x="1341005" y="53035"/>
                  </a:lnTo>
                  <a:lnTo>
                    <a:pt x="1298181" y="26403"/>
                  </a:lnTo>
                  <a:lnTo>
                    <a:pt x="1250975" y="8623"/>
                  </a:lnTo>
                  <a:lnTo>
                    <a:pt x="1201191" y="406"/>
                  </a:lnTo>
                  <a:lnTo>
                    <a:pt x="1192796" y="0"/>
                  </a:lnTo>
                  <a:lnTo>
                    <a:pt x="1175956" y="0"/>
                  </a:lnTo>
                  <a:lnTo>
                    <a:pt x="1125943" y="6578"/>
                  </a:lnTo>
                  <a:lnTo>
                    <a:pt x="1078179" y="22796"/>
                  </a:lnTo>
                  <a:lnTo>
                    <a:pt x="1034491" y="48018"/>
                  </a:lnTo>
                  <a:lnTo>
                    <a:pt x="996569" y="81280"/>
                  </a:lnTo>
                  <a:lnTo>
                    <a:pt x="965860" y="121297"/>
                  </a:lnTo>
                  <a:lnTo>
                    <a:pt x="943546" y="166535"/>
                  </a:lnTo>
                  <a:lnTo>
                    <a:pt x="930503" y="215265"/>
                  </a:lnTo>
                  <a:lnTo>
                    <a:pt x="927823" y="238125"/>
                  </a:lnTo>
                  <a:lnTo>
                    <a:pt x="55359" y="238125"/>
                  </a:lnTo>
                  <a:lnTo>
                    <a:pt x="20104" y="252730"/>
                  </a:lnTo>
                  <a:lnTo>
                    <a:pt x="381" y="289623"/>
                  </a:lnTo>
                  <a:lnTo>
                    <a:pt x="0" y="293484"/>
                  </a:lnTo>
                  <a:lnTo>
                    <a:pt x="0" y="314325"/>
                  </a:lnTo>
                  <a:lnTo>
                    <a:pt x="933513" y="314325"/>
                  </a:lnTo>
                  <a:lnTo>
                    <a:pt x="933780" y="315607"/>
                  </a:lnTo>
                  <a:lnTo>
                    <a:pt x="949998" y="363372"/>
                  </a:lnTo>
                  <a:lnTo>
                    <a:pt x="975220" y="407060"/>
                  </a:lnTo>
                  <a:lnTo>
                    <a:pt x="1008481" y="444982"/>
                  </a:lnTo>
                  <a:lnTo>
                    <a:pt x="1048499" y="475691"/>
                  </a:lnTo>
                  <a:lnTo>
                    <a:pt x="1093736" y="497992"/>
                  </a:lnTo>
                  <a:lnTo>
                    <a:pt x="1142466" y="511048"/>
                  </a:lnTo>
                  <a:lnTo>
                    <a:pt x="1175956" y="514350"/>
                  </a:lnTo>
                  <a:lnTo>
                    <a:pt x="1192796" y="514350"/>
                  </a:lnTo>
                  <a:lnTo>
                    <a:pt x="1242809" y="507758"/>
                  </a:lnTo>
                  <a:lnTo>
                    <a:pt x="1290574" y="491553"/>
                  </a:lnTo>
                  <a:lnTo>
                    <a:pt x="1334249" y="466331"/>
                  </a:lnTo>
                  <a:lnTo>
                    <a:pt x="1372184" y="433070"/>
                  </a:lnTo>
                  <a:lnTo>
                    <a:pt x="1402892" y="393052"/>
                  </a:lnTo>
                  <a:lnTo>
                    <a:pt x="1425194" y="347802"/>
                  </a:lnTo>
                  <a:lnTo>
                    <a:pt x="1435214" y="314325"/>
                  </a:lnTo>
                  <a:lnTo>
                    <a:pt x="2371725" y="314325"/>
                  </a:lnTo>
                  <a:lnTo>
                    <a:pt x="2371725" y="293484"/>
                  </a:lnTo>
                  <a:close/>
                </a:path>
              </a:pathLst>
            </a:custGeom>
            <a:solidFill>
              <a:srgbClr val="DA1B2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7061848" y="1927351"/>
            <a:ext cx="111760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 spc="-520" b="1">
                <a:solidFill>
                  <a:srgbClr val="FFFFFF"/>
                </a:solidFill>
                <a:latin typeface="Verdana"/>
                <a:cs typeface="Verdana"/>
              </a:rPr>
              <a:t>1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106515" y="2469705"/>
            <a:ext cx="1620520" cy="9867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Respond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9400"/>
              </a:lnSpc>
              <a:spcBef>
                <a:spcPts val="111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Complete</a:t>
            </a:r>
            <a:r>
              <a:rPr dirty="0" sz="1300" spc="1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surveys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when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25">
                <a:solidFill>
                  <a:srgbClr val="3A3535"/>
                </a:solidFill>
                <a:latin typeface="Century Gothic"/>
                <a:cs typeface="Century Gothic"/>
              </a:rPr>
              <a:t>it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30">
                <a:solidFill>
                  <a:srgbClr val="3A3535"/>
                </a:solidFill>
                <a:latin typeface="Century Gothic"/>
                <a:cs typeface="Century Gothic"/>
              </a:rPr>
              <a:t>fits</a:t>
            </a:r>
            <a:r>
              <a:rPr dirty="0" sz="1300" spc="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day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8477249" y="1819275"/>
            <a:ext cx="2371725" cy="1857375"/>
            <a:chOff x="8477249" y="1819275"/>
            <a:chExt cx="2371725" cy="1857375"/>
          </a:xfrm>
        </p:grpSpPr>
        <p:sp>
          <p:nvSpPr>
            <p:cNvPr id="15" name="object 15"/>
            <p:cNvSpPr/>
            <p:nvPr/>
          </p:nvSpPr>
          <p:spPr>
            <a:xfrm>
              <a:off x="8477237" y="2077300"/>
              <a:ext cx="2371725" cy="1599565"/>
            </a:xfrm>
            <a:custGeom>
              <a:avLst/>
              <a:gdLst/>
              <a:ahLst/>
              <a:cxnLst/>
              <a:rect l="l" t="t" r="r" b="b"/>
              <a:pathLst>
                <a:path w="2371725" h="1599564">
                  <a:moveTo>
                    <a:pt x="2371725" y="75361"/>
                  </a:moveTo>
                  <a:lnTo>
                    <a:pt x="2358898" y="33020"/>
                  </a:lnTo>
                  <a:lnTo>
                    <a:pt x="2324684" y="4965"/>
                  </a:lnTo>
                  <a:lnTo>
                    <a:pt x="2306282" y="0"/>
                  </a:lnTo>
                  <a:lnTo>
                    <a:pt x="2310396" y="1092"/>
                  </a:lnTo>
                  <a:lnTo>
                    <a:pt x="2324392" y="8826"/>
                  </a:lnTo>
                  <a:lnTo>
                    <a:pt x="2348319" y="46202"/>
                  </a:lnTo>
                  <a:lnTo>
                    <a:pt x="2352675" y="75361"/>
                  </a:lnTo>
                  <a:lnTo>
                    <a:pt x="2352675" y="1540116"/>
                  </a:lnTo>
                  <a:lnTo>
                    <a:pt x="2351963" y="1547977"/>
                  </a:lnTo>
                  <a:lnTo>
                    <a:pt x="2351951" y="1548130"/>
                  </a:lnTo>
                  <a:lnTo>
                    <a:pt x="2320506" y="1579575"/>
                  </a:lnTo>
                  <a:lnTo>
                    <a:pt x="2312479" y="1580311"/>
                  </a:lnTo>
                  <a:lnTo>
                    <a:pt x="59245" y="1580311"/>
                  </a:lnTo>
                  <a:lnTo>
                    <a:pt x="51231" y="1579575"/>
                  </a:lnTo>
                  <a:lnTo>
                    <a:pt x="43815" y="1577365"/>
                  </a:lnTo>
                  <a:lnTo>
                    <a:pt x="37020" y="1573682"/>
                  </a:lnTo>
                  <a:lnTo>
                    <a:pt x="31330" y="1568983"/>
                  </a:lnTo>
                  <a:lnTo>
                    <a:pt x="30822" y="1568538"/>
                  </a:lnTo>
                  <a:lnTo>
                    <a:pt x="25679" y="1562341"/>
                  </a:lnTo>
                  <a:lnTo>
                    <a:pt x="21996" y="1555546"/>
                  </a:lnTo>
                  <a:lnTo>
                    <a:pt x="19786" y="1548130"/>
                  </a:lnTo>
                  <a:lnTo>
                    <a:pt x="19050" y="1540116"/>
                  </a:lnTo>
                  <a:lnTo>
                    <a:pt x="19050" y="75361"/>
                  </a:lnTo>
                  <a:lnTo>
                    <a:pt x="28676" y="33020"/>
                  </a:lnTo>
                  <a:lnTo>
                    <a:pt x="61328" y="1092"/>
                  </a:lnTo>
                  <a:lnTo>
                    <a:pt x="65443" y="0"/>
                  </a:lnTo>
                  <a:lnTo>
                    <a:pt x="61341" y="609"/>
                  </a:lnTo>
                  <a:lnTo>
                    <a:pt x="22313" y="21475"/>
                  </a:lnTo>
                  <a:lnTo>
                    <a:pt x="1460" y="60490"/>
                  </a:lnTo>
                  <a:lnTo>
                    <a:pt x="0" y="75361"/>
                  </a:lnTo>
                  <a:lnTo>
                    <a:pt x="0" y="1547977"/>
                  </a:lnTo>
                  <a:lnTo>
                    <a:pt x="1498" y="1555534"/>
                  </a:lnTo>
                  <a:lnTo>
                    <a:pt x="7518" y="1570050"/>
                  </a:lnTo>
                  <a:lnTo>
                    <a:pt x="11798" y="1576451"/>
                  </a:lnTo>
                  <a:lnTo>
                    <a:pt x="17830" y="1582483"/>
                  </a:lnTo>
                  <a:lnTo>
                    <a:pt x="22910" y="1587563"/>
                  </a:lnTo>
                  <a:lnTo>
                    <a:pt x="29311" y="1591843"/>
                  </a:lnTo>
                  <a:lnTo>
                    <a:pt x="43827" y="1597863"/>
                  </a:lnTo>
                  <a:lnTo>
                    <a:pt x="51384" y="1599361"/>
                  </a:lnTo>
                  <a:lnTo>
                    <a:pt x="2320340" y="1599361"/>
                  </a:lnTo>
                  <a:lnTo>
                    <a:pt x="2327897" y="1597863"/>
                  </a:lnTo>
                  <a:lnTo>
                    <a:pt x="2342413" y="1591843"/>
                  </a:lnTo>
                  <a:lnTo>
                    <a:pt x="2348814" y="1587563"/>
                  </a:lnTo>
                  <a:lnTo>
                    <a:pt x="2353894" y="1582483"/>
                  </a:lnTo>
                  <a:lnTo>
                    <a:pt x="2354376" y="1582000"/>
                  </a:lnTo>
                  <a:lnTo>
                    <a:pt x="2359926" y="1576451"/>
                  </a:lnTo>
                  <a:lnTo>
                    <a:pt x="2364206" y="1570050"/>
                  </a:lnTo>
                  <a:lnTo>
                    <a:pt x="2370226" y="1555546"/>
                  </a:lnTo>
                  <a:lnTo>
                    <a:pt x="2371699" y="1548130"/>
                  </a:lnTo>
                  <a:lnTo>
                    <a:pt x="2371725" y="75361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8477250" y="1819274"/>
              <a:ext cx="2371725" cy="514350"/>
            </a:xfrm>
            <a:custGeom>
              <a:avLst/>
              <a:gdLst/>
              <a:ahLst/>
              <a:cxnLst/>
              <a:rect l="l" t="t" r="r" b="b"/>
              <a:pathLst>
                <a:path w="2371725" h="514350">
                  <a:moveTo>
                    <a:pt x="2371725" y="293484"/>
                  </a:moveTo>
                  <a:lnTo>
                    <a:pt x="2357120" y="258229"/>
                  </a:lnTo>
                  <a:lnTo>
                    <a:pt x="2320226" y="238506"/>
                  </a:lnTo>
                  <a:lnTo>
                    <a:pt x="2316365" y="238125"/>
                  </a:lnTo>
                  <a:lnTo>
                    <a:pt x="1440903" y="238125"/>
                  </a:lnTo>
                  <a:lnTo>
                    <a:pt x="1439481" y="223583"/>
                  </a:lnTo>
                  <a:lnTo>
                    <a:pt x="1428026" y="174459"/>
                  </a:lnTo>
                  <a:lnTo>
                    <a:pt x="1407210" y="128511"/>
                  </a:lnTo>
                  <a:lnTo>
                    <a:pt x="1377835" y="87515"/>
                  </a:lnTo>
                  <a:lnTo>
                    <a:pt x="1341005" y="53035"/>
                  </a:lnTo>
                  <a:lnTo>
                    <a:pt x="1298181" y="26403"/>
                  </a:lnTo>
                  <a:lnTo>
                    <a:pt x="1250975" y="8623"/>
                  </a:lnTo>
                  <a:lnTo>
                    <a:pt x="1201191" y="406"/>
                  </a:lnTo>
                  <a:lnTo>
                    <a:pt x="1192796" y="0"/>
                  </a:lnTo>
                  <a:lnTo>
                    <a:pt x="1175956" y="0"/>
                  </a:lnTo>
                  <a:lnTo>
                    <a:pt x="1125943" y="6578"/>
                  </a:lnTo>
                  <a:lnTo>
                    <a:pt x="1078179" y="22796"/>
                  </a:lnTo>
                  <a:lnTo>
                    <a:pt x="1034491" y="48018"/>
                  </a:lnTo>
                  <a:lnTo>
                    <a:pt x="996569" y="81280"/>
                  </a:lnTo>
                  <a:lnTo>
                    <a:pt x="965860" y="121297"/>
                  </a:lnTo>
                  <a:lnTo>
                    <a:pt x="943546" y="166535"/>
                  </a:lnTo>
                  <a:lnTo>
                    <a:pt x="930503" y="215265"/>
                  </a:lnTo>
                  <a:lnTo>
                    <a:pt x="927823" y="238125"/>
                  </a:lnTo>
                  <a:lnTo>
                    <a:pt x="55359" y="238125"/>
                  </a:lnTo>
                  <a:lnTo>
                    <a:pt x="20104" y="252730"/>
                  </a:lnTo>
                  <a:lnTo>
                    <a:pt x="381" y="289623"/>
                  </a:lnTo>
                  <a:lnTo>
                    <a:pt x="0" y="293484"/>
                  </a:lnTo>
                  <a:lnTo>
                    <a:pt x="0" y="314325"/>
                  </a:lnTo>
                  <a:lnTo>
                    <a:pt x="933513" y="314325"/>
                  </a:lnTo>
                  <a:lnTo>
                    <a:pt x="933780" y="315607"/>
                  </a:lnTo>
                  <a:lnTo>
                    <a:pt x="949998" y="363372"/>
                  </a:lnTo>
                  <a:lnTo>
                    <a:pt x="975220" y="407060"/>
                  </a:lnTo>
                  <a:lnTo>
                    <a:pt x="1008481" y="444982"/>
                  </a:lnTo>
                  <a:lnTo>
                    <a:pt x="1048499" y="475691"/>
                  </a:lnTo>
                  <a:lnTo>
                    <a:pt x="1093736" y="497992"/>
                  </a:lnTo>
                  <a:lnTo>
                    <a:pt x="1142466" y="511048"/>
                  </a:lnTo>
                  <a:lnTo>
                    <a:pt x="1175956" y="514350"/>
                  </a:lnTo>
                  <a:lnTo>
                    <a:pt x="1192796" y="514350"/>
                  </a:lnTo>
                  <a:lnTo>
                    <a:pt x="1242809" y="507758"/>
                  </a:lnTo>
                  <a:lnTo>
                    <a:pt x="1290574" y="491553"/>
                  </a:lnTo>
                  <a:lnTo>
                    <a:pt x="1334249" y="466331"/>
                  </a:lnTo>
                  <a:lnTo>
                    <a:pt x="1372184" y="433070"/>
                  </a:lnTo>
                  <a:lnTo>
                    <a:pt x="1402892" y="393052"/>
                  </a:lnTo>
                  <a:lnTo>
                    <a:pt x="1425194" y="347802"/>
                  </a:lnTo>
                  <a:lnTo>
                    <a:pt x="1435214" y="314325"/>
                  </a:lnTo>
                  <a:lnTo>
                    <a:pt x="2371725" y="314325"/>
                  </a:lnTo>
                  <a:lnTo>
                    <a:pt x="2371725" y="293484"/>
                  </a:lnTo>
                  <a:close/>
                </a:path>
              </a:pathLst>
            </a:custGeom>
            <a:solidFill>
              <a:srgbClr val="DA1B2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9584029" y="1927351"/>
            <a:ext cx="153035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 spc="-90" b="1">
                <a:solidFill>
                  <a:srgbClr val="FFFFFF"/>
                </a:solidFill>
                <a:latin typeface="Verdana"/>
                <a:cs typeface="Verdana"/>
              </a:rPr>
              <a:t>2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649246" y="2469705"/>
            <a:ext cx="1792605" cy="98679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Interact</a:t>
            </a:r>
            <a:endParaRPr sz="1750">
              <a:latin typeface="Verdana"/>
              <a:cs typeface="Verdana"/>
            </a:endParaRPr>
          </a:p>
          <a:p>
            <a:pPr marL="12700" marR="5080">
              <a:lnSpc>
                <a:spcPct val="139400"/>
              </a:lnSpc>
              <a:spcBef>
                <a:spcPts val="1110"/>
              </a:spcBef>
            </a:pP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AI</a:t>
            </a:r>
            <a:r>
              <a:rPr dirty="0" sz="1300" spc="-1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or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therapy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chat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on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go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5934074" y="3848100"/>
            <a:ext cx="4914900" cy="1581150"/>
            <a:chOff x="5934074" y="3848100"/>
            <a:chExt cx="4914900" cy="1581150"/>
          </a:xfrm>
        </p:grpSpPr>
        <p:sp>
          <p:nvSpPr>
            <p:cNvPr id="20" name="object 20"/>
            <p:cNvSpPr/>
            <p:nvPr/>
          </p:nvSpPr>
          <p:spPr>
            <a:xfrm>
              <a:off x="5934062" y="4096600"/>
              <a:ext cx="4914900" cy="1332865"/>
            </a:xfrm>
            <a:custGeom>
              <a:avLst/>
              <a:gdLst/>
              <a:ahLst/>
              <a:cxnLst/>
              <a:rect l="l" t="t" r="r" b="b"/>
              <a:pathLst>
                <a:path w="4914900" h="1332864">
                  <a:moveTo>
                    <a:pt x="4914900" y="75361"/>
                  </a:moveTo>
                  <a:lnTo>
                    <a:pt x="4902073" y="33020"/>
                  </a:lnTo>
                  <a:lnTo>
                    <a:pt x="4867859" y="4965"/>
                  </a:lnTo>
                  <a:lnTo>
                    <a:pt x="4849457" y="0"/>
                  </a:lnTo>
                  <a:lnTo>
                    <a:pt x="4853571" y="1092"/>
                  </a:lnTo>
                  <a:lnTo>
                    <a:pt x="4867567" y="8826"/>
                  </a:lnTo>
                  <a:lnTo>
                    <a:pt x="4891494" y="46202"/>
                  </a:lnTo>
                  <a:lnTo>
                    <a:pt x="4895850" y="75361"/>
                  </a:lnTo>
                  <a:lnTo>
                    <a:pt x="4895850" y="1273416"/>
                  </a:lnTo>
                  <a:lnTo>
                    <a:pt x="4895139" y="1281264"/>
                  </a:lnTo>
                  <a:lnTo>
                    <a:pt x="4895126" y="1281430"/>
                  </a:lnTo>
                  <a:lnTo>
                    <a:pt x="4892916" y="1288834"/>
                  </a:lnTo>
                  <a:lnTo>
                    <a:pt x="4889233" y="1295641"/>
                  </a:lnTo>
                  <a:lnTo>
                    <a:pt x="4884077" y="1301826"/>
                  </a:lnTo>
                  <a:lnTo>
                    <a:pt x="4883556" y="1302258"/>
                  </a:lnTo>
                  <a:lnTo>
                    <a:pt x="4877892" y="1306982"/>
                  </a:lnTo>
                  <a:lnTo>
                    <a:pt x="4871085" y="1310665"/>
                  </a:lnTo>
                  <a:lnTo>
                    <a:pt x="4863681" y="1312875"/>
                  </a:lnTo>
                  <a:lnTo>
                    <a:pt x="4855654" y="1313611"/>
                  </a:lnTo>
                  <a:lnTo>
                    <a:pt x="59245" y="1313611"/>
                  </a:lnTo>
                  <a:lnTo>
                    <a:pt x="51231" y="1312875"/>
                  </a:lnTo>
                  <a:lnTo>
                    <a:pt x="43815" y="1310665"/>
                  </a:lnTo>
                  <a:lnTo>
                    <a:pt x="37020" y="1306982"/>
                  </a:lnTo>
                  <a:lnTo>
                    <a:pt x="31343" y="1302270"/>
                  </a:lnTo>
                  <a:lnTo>
                    <a:pt x="30835" y="1301826"/>
                  </a:lnTo>
                  <a:lnTo>
                    <a:pt x="25679" y="1295641"/>
                  </a:lnTo>
                  <a:lnTo>
                    <a:pt x="21996" y="1288834"/>
                  </a:lnTo>
                  <a:lnTo>
                    <a:pt x="19786" y="1281430"/>
                  </a:lnTo>
                  <a:lnTo>
                    <a:pt x="19050" y="1273416"/>
                  </a:lnTo>
                  <a:lnTo>
                    <a:pt x="19050" y="75361"/>
                  </a:lnTo>
                  <a:lnTo>
                    <a:pt x="28676" y="33020"/>
                  </a:lnTo>
                  <a:lnTo>
                    <a:pt x="61328" y="1092"/>
                  </a:lnTo>
                  <a:lnTo>
                    <a:pt x="65443" y="0"/>
                  </a:lnTo>
                  <a:lnTo>
                    <a:pt x="61341" y="609"/>
                  </a:lnTo>
                  <a:lnTo>
                    <a:pt x="22313" y="21475"/>
                  </a:lnTo>
                  <a:lnTo>
                    <a:pt x="1460" y="60490"/>
                  </a:lnTo>
                  <a:lnTo>
                    <a:pt x="0" y="75361"/>
                  </a:lnTo>
                  <a:lnTo>
                    <a:pt x="0" y="1281264"/>
                  </a:lnTo>
                  <a:lnTo>
                    <a:pt x="1498" y="1288821"/>
                  </a:lnTo>
                  <a:lnTo>
                    <a:pt x="7518" y="1303337"/>
                  </a:lnTo>
                  <a:lnTo>
                    <a:pt x="11798" y="1309751"/>
                  </a:lnTo>
                  <a:lnTo>
                    <a:pt x="17830" y="1315783"/>
                  </a:lnTo>
                  <a:lnTo>
                    <a:pt x="22910" y="1320863"/>
                  </a:lnTo>
                  <a:lnTo>
                    <a:pt x="29311" y="1325130"/>
                  </a:lnTo>
                  <a:lnTo>
                    <a:pt x="43827" y="1331150"/>
                  </a:lnTo>
                  <a:lnTo>
                    <a:pt x="51384" y="1332661"/>
                  </a:lnTo>
                  <a:lnTo>
                    <a:pt x="4863516" y="1332661"/>
                  </a:lnTo>
                  <a:lnTo>
                    <a:pt x="4871072" y="1331150"/>
                  </a:lnTo>
                  <a:lnTo>
                    <a:pt x="4885588" y="1325130"/>
                  </a:lnTo>
                  <a:lnTo>
                    <a:pt x="4891989" y="1320863"/>
                  </a:lnTo>
                  <a:lnTo>
                    <a:pt x="4897069" y="1315783"/>
                  </a:lnTo>
                  <a:lnTo>
                    <a:pt x="4897552" y="1315300"/>
                  </a:lnTo>
                  <a:lnTo>
                    <a:pt x="4903101" y="1309751"/>
                  </a:lnTo>
                  <a:lnTo>
                    <a:pt x="4907381" y="1303337"/>
                  </a:lnTo>
                  <a:lnTo>
                    <a:pt x="4913401" y="1288834"/>
                  </a:lnTo>
                  <a:lnTo>
                    <a:pt x="4914874" y="1281430"/>
                  </a:lnTo>
                  <a:lnTo>
                    <a:pt x="4914900" y="75361"/>
                  </a:lnTo>
                  <a:close/>
                </a:path>
              </a:pathLst>
            </a:custGeom>
            <a:solidFill>
              <a:srgbClr val="DFB7BB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5934075" y="3848099"/>
              <a:ext cx="4914900" cy="504825"/>
            </a:xfrm>
            <a:custGeom>
              <a:avLst/>
              <a:gdLst/>
              <a:ahLst/>
              <a:cxnLst/>
              <a:rect l="l" t="t" r="r" b="b"/>
              <a:pathLst>
                <a:path w="4914900" h="504825">
                  <a:moveTo>
                    <a:pt x="4914900" y="283946"/>
                  </a:moveTo>
                  <a:lnTo>
                    <a:pt x="4900295" y="248704"/>
                  </a:lnTo>
                  <a:lnTo>
                    <a:pt x="4863401" y="228981"/>
                  </a:lnTo>
                  <a:lnTo>
                    <a:pt x="4859540" y="228600"/>
                  </a:lnTo>
                  <a:lnTo>
                    <a:pt x="2707246" y="228600"/>
                  </a:lnTo>
                  <a:lnTo>
                    <a:pt x="2706344" y="219443"/>
                  </a:lnTo>
                  <a:lnTo>
                    <a:pt x="2695105" y="171221"/>
                  </a:lnTo>
                  <a:lnTo>
                    <a:pt x="2674670" y="126136"/>
                  </a:lnTo>
                  <a:lnTo>
                    <a:pt x="2645841" y="85890"/>
                  </a:lnTo>
                  <a:lnTo>
                    <a:pt x="2609697" y="52057"/>
                  </a:lnTo>
                  <a:lnTo>
                    <a:pt x="2567660" y="25908"/>
                  </a:lnTo>
                  <a:lnTo>
                    <a:pt x="2521318" y="8470"/>
                  </a:lnTo>
                  <a:lnTo>
                    <a:pt x="2472474" y="406"/>
                  </a:lnTo>
                  <a:lnTo>
                    <a:pt x="2464231" y="0"/>
                  </a:lnTo>
                  <a:lnTo>
                    <a:pt x="2447696" y="0"/>
                  </a:lnTo>
                  <a:lnTo>
                    <a:pt x="2398611" y="6464"/>
                  </a:lnTo>
                  <a:lnTo>
                    <a:pt x="2351722" y="22377"/>
                  </a:lnTo>
                  <a:lnTo>
                    <a:pt x="2308860" y="47129"/>
                  </a:lnTo>
                  <a:lnTo>
                    <a:pt x="2271636" y="79768"/>
                  </a:lnTo>
                  <a:lnTo>
                    <a:pt x="2241499" y="119049"/>
                  </a:lnTo>
                  <a:lnTo>
                    <a:pt x="2219591" y="163449"/>
                  </a:lnTo>
                  <a:lnTo>
                    <a:pt x="2206790" y="211277"/>
                  </a:lnTo>
                  <a:lnTo>
                    <a:pt x="2204669" y="228600"/>
                  </a:lnTo>
                  <a:lnTo>
                    <a:pt x="55359" y="228600"/>
                  </a:lnTo>
                  <a:lnTo>
                    <a:pt x="20104" y="243205"/>
                  </a:lnTo>
                  <a:lnTo>
                    <a:pt x="381" y="280098"/>
                  </a:lnTo>
                  <a:lnTo>
                    <a:pt x="0" y="283946"/>
                  </a:lnTo>
                  <a:lnTo>
                    <a:pt x="0" y="304800"/>
                  </a:lnTo>
                  <a:lnTo>
                    <a:pt x="2209025" y="304800"/>
                  </a:lnTo>
                  <a:lnTo>
                    <a:pt x="2210016" y="309765"/>
                  </a:lnTo>
                  <a:lnTo>
                    <a:pt x="2225929" y="356641"/>
                  </a:lnTo>
                  <a:lnTo>
                    <a:pt x="2250681" y="399516"/>
                  </a:lnTo>
                  <a:lnTo>
                    <a:pt x="2283320" y="436740"/>
                  </a:lnTo>
                  <a:lnTo>
                    <a:pt x="2322601" y="466877"/>
                  </a:lnTo>
                  <a:lnTo>
                    <a:pt x="2367013" y="488772"/>
                  </a:lnTo>
                  <a:lnTo>
                    <a:pt x="2414828" y="501586"/>
                  </a:lnTo>
                  <a:lnTo>
                    <a:pt x="2447696" y="504825"/>
                  </a:lnTo>
                  <a:lnTo>
                    <a:pt x="2464231" y="504825"/>
                  </a:lnTo>
                  <a:lnTo>
                    <a:pt x="2513304" y="498360"/>
                  </a:lnTo>
                  <a:lnTo>
                    <a:pt x="2560193" y="482447"/>
                  </a:lnTo>
                  <a:lnTo>
                    <a:pt x="2603068" y="457695"/>
                  </a:lnTo>
                  <a:lnTo>
                    <a:pt x="2640292" y="425043"/>
                  </a:lnTo>
                  <a:lnTo>
                    <a:pt x="2670429" y="385775"/>
                  </a:lnTo>
                  <a:lnTo>
                    <a:pt x="2692323" y="341363"/>
                  </a:lnTo>
                  <a:lnTo>
                    <a:pt x="2702890" y="304800"/>
                  </a:lnTo>
                  <a:lnTo>
                    <a:pt x="4914900" y="304800"/>
                  </a:lnTo>
                  <a:lnTo>
                    <a:pt x="4914900" y="283946"/>
                  </a:lnTo>
                  <a:close/>
                </a:path>
              </a:pathLst>
            </a:custGeom>
            <a:solidFill>
              <a:srgbClr val="DA1B2D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 txBox="1"/>
          <p:nvPr/>
        </p:nvSpPr>
        <p:spPr>
          <a:xfrm>
            <a:off x="8312746" y="3946652"/>
            <a:ext cx="153035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 spc="-90" b="1">
                <a:solidFill>
                  <a:srgbClr val="FFFFFF"/>
                </a:solidFill>
                <a:latin typeface="Verdana"/>
                <a:cs typeface="Verdana"/>
              </a:rPr>
              <a:t>3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106515" y="4498530"/>
            <a:ext cx="3392804" cy="7105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750" spc="-114" b="1">
                <a:solidFill>
                  <a:srgbClr val="3A3535"/>
                </a:solidFill>
                <a:latin typeface="Verdana"/>
                <a:cs typeface="Verdana"/>
              </a:rPr>
              <a:t>Stay</a:t>
            </a:r>
            <a:r>
              <a:rPr dirty="0" sz="1750" spc="-19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750" spc="-10" b="1">
                <a:solidFill>
                  <a:srgbClr val="3A3535"/>
                </a:solidFill>
                <a:latin typeface="Verdana"/>
                <a:cs typeface="Verdana"/>
              </a:rPr>
              <a:t>Connected</a:t>
            </a:r>
            <a:endParaRPr sz="17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725"/>
              </a:spcBef>
            </a:pP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Notifications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keep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program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present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895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80"/>
              <a:t>How</a:t>
            </a:r>
            <a:r>
              <a:rPr dirty="0" spc="-400"/>
              <a:t> </a:t>
            </a:r>
            <a:r>
              <a:rPr dirty="0" spc="-130"/>
              <a:t>SelfHelp</a:t>
            </a:r>
            <a:r>
              <a:rPr dirty="0" spc="-400"/>
              <a:t> </a:t>
            </a:r>
            <a:r>
              <a:rPr dirty="0" spc="-100"/>
              <a:t>Compares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79640" y="1713522"/>
            <a:ext cx="813625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SelfHelp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65">
                <a:solidFill>
                  <a:srgbClr val="3A3535"/>
                </a:solidFill>
                <a:latin typeface="Century Gothic"/>
                <a:cs typeface="Century Gothic"/>
              </a:rPr>
              <a:t>is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strongest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when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everything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needs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to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stay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connected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in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one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20">
                <a:solidFill>
                  <a:srgbClr val="3A3535"/>
                </a:solidFill>
                <a:latin typeface="Century Gothic"/>
                <a:cs typeface="Century Gothic"/>
              </a:rPr>
              <a:t>locally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controlled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system.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90550" y="2162174"/>
            <a:ext cx="10248900" cy="3467100"/>
            <a:chOff x="590550" y="2162174"/>
            <a:chExt cx="10248900" cy="3467100"/>
          </a:xfrm>
        </p:grpSpPr>
        <p:sp>
          <p:nvSpPr>
            <p:cNvPr id="5" name="object 5"/>
            <p:cNvSpPr/>
            <p:nvPr/>
          </p:nvSpPr>
          <p:spPr>
            <a:xfrm>
              <a:off x="595312" y="2166937"/>
              <a:ext cx="10239375" cy="3457575"/>
            </a:xfrm>
            <a:custGeom>
              <a:avLst/>
              <a:gdLst/>
              <a:ahLst/>
              <a:cxnLst/>
              <a:rect l="l" t="t" r="r" b="b"/>
              <a:pathLst>
                <a:path w="10239375" h="3457575">
                  <a:moveTo>
                    <a:pt x="0" y="3403094"/>
                  </a:moveTo>
                  <a:lnTo>
                    <a:pt x="0" y="54483"/>
                  </a:lnTo>
                  <a:lnTo>
                    <a:pt x="0" y="50901"/>
                  </a:lnTo>
                  <a:lnTo>
                    <a:pt x="346" y="47358"/>
                  </a:lnTo>
                  <a:lnTo>
                    <a:pt x="1046" y="43853"/>
                  </a:lnTo>
                  <a:lnTo>
                    <a:pt x="1746" y="40347"/>
                  </a:lnTo>
                  <a:lnTo>
                    <a:pt x="2778" y="36931"/>
                  </a:lnTo>
                  <a:lnTo>
                    <a:pt x="4147" y="33629"/>
                  </a:lnTo>
                  <a:lnTo>
                    <a:pt x="5516" y="30327"/>
                  </a:lnTo>
                  <a:lnTo>
                    <a:pt x="24213" y="9182"/>
                  </a:lnTo>
                  <a:lnTo>
                    <a:pt x="27185" y="7188"/>
                  </a:lnTo>
                  <a:lnTo>
                    <a:pt x="30326" y="5511"/>
                  </a:lnTo>
                  <a:lnTo>
                    <a:pt x="33629" y="4152"/>
                  </a:lnTo>
                  <a:lnTo>
                    <a:pt x="36939" y="2781"/>
                  </a:lnTo>
                  <a:lnTo>
                    <a:pt x="40342" y="1739"/>
                  </a:lnTo>
                  <a:lnTo>
                    <a:pt x="43854" y="1041"/>
                  </a:lnTo>
                  <a:lnTo>
                    <a:pt x="47362" y="342"/>
                  </a:lnTo>
                  <a:lnTo>
                    <a:pt x="50904" y="0"/>
                  </a:lnTo>
                  <a:lnTo>
                    <a:pt x="54480" y="0"/>
                  </a:lnTo>
                  <a:lnTo>
                    <a:pt x="10184892" y="0"/>
                  </a:lnTo>
                  <a:lnTo>
                    <a:pt x="10188473" y="0"/>
                  </a:lnTo>
                  <a:lnTo>
                    <a:pt x="10192016" y="342"/>
                  </a:lnTo>
                  <a:lnTo>
                    <a:pt x="10195522" y="1041"/>
                  </a:lnTo>
                  <a:lnTo>
                    <a:pt x="10199027" y="1739"/>
                  </a:lnTo>
                  <a:lnTo>
                    <a:pt x="10202430" y="2781"/>
                  </a:lnTo>
                  <a:lnTo>
                    <a:pt x="10205745" y="4152"/>
                  </a:lnTo>
                  <a:lnTo>
                    <a:pt x="10209047" y="5511"/>
                  </a:lnTo>
                  <a:lnTo>
                    <a:pt x="10212184" y="7188"/>
                  </a:lnTo>
                  <a:lnTo>
                    <a:pt x="10215156" y="9182"/>
                  </a:lnTo>
                  <a:lnTo>
                    <a:pt x="10218140" y="11163"/>
                  </a:lnTo>
                  <a:lnTo>
                    <a:pt x="10220883" y="13423"/>
                  </a:lnTo>
                  <a:lnTo>
                    <a:pt x="10223411" y="15951"/>
                  </a:lnTo>
                  <a:lnTo>
                    <a:pt x="10225951" y="18491"/>
                  </a:lnTo>
                  <a:lnTo>
                    <a:pt x="10235222" y="33629"/>
                  </a:lnTo>
                  <a:lnTo>
                    <a:pt x="10236593" y="36931"/>
                  </a:lnTo>
                  <a:lnTo>
                    <a:pt x="10237635" y="40347"/>
                  </a:lnTo>
                  <a:lnTo>
                    <a:pt x="10238333" y="43853"/>
                  </a:lnTo>
                  <a:lnTo>
                    <a:pt x="10239032" y="47358"/>
                  </a:lnTo>
                  <a:lnTo>
                    <a:pt x="10239375" y="50901"/>
                  </a:lnTo>
                  <a:lnTo>
                    <a:pt x="10239375" y="54483"/>
                  </a:lnTo>
                  <a:lnTo>
                    <a:pt x="10239375" y="3403094"/>
                  </a:lnTo>
                  <a:lnTo>
                    <a:pt x="10239375" y="3406672"/>
                  </a:lnTo>
                  <a:lnTo>
                    <a:pt x="10239032" y="3410214"/>
                  </a:lnTo>
                  <a:lnTo>
                    <a:pt x="10238333" y="3413721"/>
                  </a:lnTo>
                  <a:lnTo>
                    <a:pt x="10237635" y="3417228"/>
                  </a:lnTo>
                  <a:lnTo>
                    <a:pt x="10236593" y="3420637"/>
                  </a:lnTo>
                  <a:lnTo>
                    <a:pt x="10235222" y="3423940"/>
                  </a:lnTo>
                  <a:lnTo>
                    <a:pt x="10233863" y="3427244"/>
                  </a:lnTo>
                  <a:lnTo>
                    <a:pt x="10232186" y="3430385"/>
                  </a:lnTo>
                  <a:lnTo>
                    <a:pt x="10230193" y="3433361"/>
                  </a:lnTo>
                  <a:lnTo>
                    <a:pt x="10228211" y="3436333"/>
                  </a:lnTo>
                  <a:lnTo>
                    <a:pt x="10225951" y="3439086"/>
                  </a:lnTo>
                  <a:lnTo>
                    <a:pt x="10223411" y="3441616"/>
                  </a:lnTo>
                  <a:lnTo>
                    <a:pt x="10220883" y="3444147"/>
                  </a:lnTo>
                  <a:lnTo>
                    <a:pt x="10218140" y="3446404"/>
                  </a:lnTo>
                  <a:lnTo>
                    <a:pt x="10215156" y="3448392"/>
                  </a:lnTo>
                  <a:lnTo>
                    <a:pt x="10212184" y="3450377"/>
                  </a:lnTo>
                  <a:lnTo>
                    <a:pt x="10195522" y="3456524"/>
                  </a:lnTo>
                  <a:lnTo>
                    <a:pt x="10192016" y="3457223"/>
                  </a:lnTo>
                  <a:lnTo>
                    <a:pt x="10188473" y="3457571"/>
                  </a:lnTo>
                  <a:lnTo>
                    <a:pt x="10184892" y="3457576"/>
                  </a:lnTo>
                  <a:lnTo>
                    <a:pt x="54480" y="3457576"/>
                  </a:lnTo>
                  <a:lnTo>
                    <a:pt x="50904" y="3457571"/>
                  </a:lnTo>
                  <a:lnTo>
                    <a:pt x="47362" y="3457223"/>
                  </a:lnTo>
                  <a:lnTo>
                    <a:pt x="43854" y="3456524"/>
                  </a:lnTo>
                  <a:lnTo>
                    <a:pt x="40342" y="3455830"/>
                  </a:lnTo>
                  <a:lnTo>
                    <a:pt x="36939" y="3454792"/>
                  </a:lnTo>
                  <a:lnTo>
                    <a:pt x="33629" y="3453423"/>
                  </a:lnTo>
                  <a:lnTo>
                    <a:pt x="30326" y="3452059"/>
                  </a:lnTo>
                  <a:lnTo>
                    <a:pt x="15958" y="3441616"/>
                  </a:lnTo>
                  <a:lnTo>
                    <a:pt x="13428" y="3439086"/>
                  </a:lnTo>
                  <a:lnTo>
                    <a:pt x="11167" y="3436333"/>
                  </a:lnTo>
                  <a:lnTo>
                    <a:pt x="9182" y="3433361"/>
                  </a:lnTo>
                  <a:lnTo>
                    <a:pt x="7193" y="3430385"/>
                  </a:lnTo>
                  <a:lnTo>
                    <a:pt x="5516" y="3427244"/>
                  </a:lnTo>
                  <a:lnTo>
                    <a:pt x="4147" y="3423940"/>
                  </a:lnTo>
                  <a:lnTo>
                    <a:pt x="2778" y="3420637"/>
                  </a:lnTo>
                  <a:lnTo>
                    <a:pt x="1746" y="3417228"/>
                  </a:lnTo>
                  <a:lnTo>
                    <a:pt x="1046" y="3413721"/>
                  </a:lnTo>
                  <a:lnTo>
                    <a:pt x="346" y="3410214"/>
                  </a:lnTo>
                  <a:lnTo>
                    <a:pt x="0" y="3406672"/>
                  </a:lnTo>
                  <a:lnTo>
                    <a:pt x="0" y="3403094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00062" y="2171699"/>
              <a:ext cx="10229850" cy="495934"/>
            </a:xfrm>
            <a:custGeom>
              <a:avLst/>
              <a:gdLst/>
              <a:ahLst/>
              <a:cxnLst/>
              <a:rect l="l" t="t" r="r" b="b"/>
              <a:pathLst>
                <a:path w="10229850" h="495935">
                  <a:moveTo>
                    <a:pt x="2857500" y="12"/>
                  </a:moveTo>
                  <a:lnTo>
                    <a:pt x="51396" y="12"/>
                  </a:lnTo>
                  <a:lnTo>
                    <a:pt x="43840" y="1511"/>
                  </a:lnTo>
                  <a:lnTo>
                    <a:pt x="11798" y="22923"/>
                  </a:lnTo>
                  <a:lnTo>
                    <a:pt x="0" y="51396"/>
                  </a:lnTo>
                  <a:lnTo>
                    <a:pt x="0" y="495312"/>
                  </a:lnTo>
                  <a:lnTo>
                    <a:pt x="2857500" y="495312"/>
                  </a:lnTo>
                  <a:lnTo>
                    <a:pt x="2857500" y="12"/>
                  </a:lnTo>
                  <a:close/>
                </a:path>
                <a:path w="10229850" h="495935">
                  <a:moveTo>
                    <a:pt x="4705362" y="0"/>
                  </a:moveTo>
                  <a:lnTo>
                    <a:pt x="2867037" y="0"/>
                  </a:lnTo>
                  <a:lnTo>
                    <a:pt x="2867037" y="495300"/>
                  </a:lnTo>
                  <a:lnTo>
                    <a:pt x="4705362" y="495300"/>
                  </a:lnTo>
                  <a:lnTo>
                    <a:pt x="4705362" y="0"/>
                  </a:lnTo>
                  <a:close/>
                </a:path>
                <a:path w="10229850" h="495935">
                  <a:moveTo>
                    <a:pt x="6543675" y="12"/>
                  </a:moveTo>
                  <a:lnTo>
                    <a:pt x="4714875" y="12"/>
                  </a:lnTo>
                  <a:lnTo>
                    <a:pt x="4714875" y="495312"/>
                  </a:lnTo>
                  <a:lnTo>
                    <a:pt x="6543675" y="495312"/>
                  </a:lnTo>
                  <a:lnTo>
                    <a:pt x="6543675" y="12"/>
                  </a:lnTo>
                  <a:close/>
                </a:path>
                <a:path w="10229850" h="495935">
                  <a:moveTo>
                    <a:pt x="8382000" y="12"/>
                  </a:moveTo>
                  <a:lnTo>
                    <a:pt x="6553200" y="12"/>
                  </a:lnTo>
                  <a:lnTo>
                    <a:pt x="6553200" y="495312"/>
                  </a:lnTo>
                  <a:lnTo>
                    <a:pt x="8382000" y="495312"/>
                  </a:lnTo>
                  <a:lnTo>
                    <a:pt x="8382000" y="12"/>
                  </a:lnTo>
                  <a:close/>
                </a:path>
                <a:path w="10229850" h="495935">
                  <a:moveTo>
                    <a:pt x="10229850" y="51396"/>
                  </a:moveTo>
                  <a:lnTo>
                    <a:pt x="10206939" y="11811"/>
                  </a:lnTo>
                  <a:lnTo>
                    <a:pt x="10178466" y="12"/>
                  </a:lnTo>
                  <a:lnTo>
                    <a:pt x="8391525" y="12"/>
                  </a:lnTo>
                  <a:lnTo>
                    <a:pt x="8391525" y="495312"/>
                  </a:lnTo>
                  <a:lnTo>
                    <a:pt x="10229850" y="495312"/>
                  </a:lnTo>
                  <a:lnTo>
                    <a:pt x="10229850" y="51396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00062" y="2666999"/>
              <a:ext cx="10230485" cy="495934"/>
            </a:xfrm>
            <a:custGeom>
              <a:avLst/>
              <a:gdLst/>
              <a:ahLst/>
              <a:cxnLst/>
              <a:rect l="l" t="t" r="r" b="b"/>
              <a:pathLst>
                <a:path w="10230485" h="495935">
                  <a:moveTo>
                    <a:pt x="2857500" y="12"/>
                  </a:moveTo>
                  <a:lnTo>
                    <a:pt x="0" y="12"/>
                  </a:lnTo>
                  <a:lnTo>
                    <a:pt x="0" y="495312"/>
                  </a:lnTo>
                  <a:lnTo>
                    <a:pt x="2857500" y="495312"/>
                  </a:lnTo>
                  <a:lnTo>
                    <a:pt x="2857500" y="12"/>
                  </a:lnTo>
                  <a:close/>
                </a:path>
                <a:path w="10230485" h="495935">
                  <a:moveTo>
                    <a:pt x="4705362" y="0"/>
                  </a:moveTo>
                  <a:lnTo>
                    <a:pt x="2867037" y="0"/>
                  </a:lnTo>
                  <a:lnTo>
                    <a:pt x="2867037" y="495312"/>
                  </a:lnTo>
                  <a:lnTo>
                    <a:pt x="4705362" y="495312"/>
                  </a:lnTo>
                  <a:lnTo>
                    <a:pt x="4705362" y="0"/>
                  </a:lnTo>
                  <a:close/>
                </a:path>
                <a:path w="10230485" h="495935">
                  <a:moveTo>
                    <a:pt x="6543675" y="12"/>
                  </a:moveTo>
                  <a:lnTo>
                    <a:pt x="4714875" y="12"/>
                  </a:lnTo>
                  <a:lnTo>
                    <a:pt x="4714875" y="495312"/>
                  </a:lnTo>
                  <a:lnTo>
                    <a:pt x="6543675" y="495312"/>
                  </a:lnTo>
                  <a:lnTo>
                    <a:pt x="6543675" y="12"/>
                  </a:lnTo>
                  <a:close/>
                </a:path>
                <a:path w="10230485" h="495935">
                  <a:moveTo>
                    <a:pt x="8382000" y="12"/>
                  </a:moveTo>
                  <a:lnTo>
                    <a:pt x="6553200" y="12"/>
                  </a:lnTo>
                  <a:lnTo>
                    <a:pt x="6553200" y="495312"/>
                  </a:lnTo>
                  <a:lnTo>
                    <a:pt x="8382000" y="495312"/>
                  </a:lnTo>
                  <a:lnTo>
                    <a:pt x="8382000" y="12"/>
                  </a:lnTo>
                  <a:close/>
                </a:path>
                <a:path w="10230485" h="495935">
                  <a:moveTo>
                    <a:pt x="10229863" y="0"/>
                  </a:moveTo>
                  <a:lnTo>
                    <a:pt x="8391538" y="0"/>
                  </a:lnTo>
                  <a:lnTo>
                    <a:pt x="8391538" y="495312"/>
                  </a:lnTo>
                  <a:lnTo>
                    <a:pt x="10229863" y="495312"/>
                  </a:lnTo>
                  <a:lnTo>
                    <a:pt x="10229863" y="0"/>
                  </a:lnTo>
                  <a:close/>
                </a:path>
              </a:pathLst>
            </a:custGeom>
            <a:solidFill>
              <a:srgbClr val="000000">
                <a:alpha val="391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00062" y="3162312"/>
              <a:ext cx="10230485" cy="485775"/>
            </a:xfrm>
            <a:custGeom>
              <a:avLst/>
              <a:gdLst/>
              <a:ahLst/>
              <a:cxnLst/>
              <a:rect l="l" t="t" r="r" b="b"/>
              <a:pathLst>
                <a:path w="10230485" h="485775">
                  <a:moveTo>
                    <a:pt x="2857500" y="0"/>
                  </a:moveTo>
                  <a:lnTo>
                    <a:pt x="0" y="0"/>
                  </a:lnTo>
                  <a:lnTo>
                    <a:pt x="0" y="485775"/>
                  </a:lnTo>
                  <a:lnTo>
                    <a:pt x="2857500" y="485775"/>
                  </a:lnTo>
                  <a:lnTo>
                    <a:pt x="2857500" y="0"/>
                  </a:lnTo>
                  <a:close/>
                </a:path>
                <a:path w="10230485" h="485775">
                  <a:moveTo>
                    <a:pt x="4705362" y="0"/>
                  </a:moveTo>
                  <a:lnTo>
                    <a:pt x="2867037" y="0"/>
                  </a:lnTo>
                  <a:lnTo>
                    <a:pt x="2867037" y="485775"/>
                  </a:lnTo>
                  <a:lnTo>
                    <a:pt x="4705362" y="485775"/>
                  </a:lnTo>
                  <a:lnTo>
                    <a:pt x="4705362" y="0"/>
                  </a:lnTo>
                  <a:close/>
                </a:path>
                <a:path w="10230485" h="485775">
                  <a:moveTo>
                    <a:pt x="6543675" y="0"/>
                  </a:moveTo>
                  <a:lnTo>
                    <a:pt x="4714875" y="0"/>
                  </a:lnTo>
                  <a:lnTo>
                    <a:pt x="4714875" y="485775"/>
                  </a:lnTo>
                  <a:lnTo>
                    <a:pt x="6543675" y="485775"/>
                  </a:lnTo>
                  <a:lnTo>
                    <a:pt x="6543675" y="0"/>
                  </a:lnTo>
                  <a:close/>
                </a:path>
                <a:path w="10230485" h="485775">
                  <a:moveTo>
                    <a:pt x="8382000" y="0"/>
                  </a:moveTo>
                  <a:lnTo>
                    <a:pt x="6553200" y="0"/>
                  </a:lnTo>
                  <a:lnTo>
                    <a:pt x="6553200" y="485775"/>
                  </a:lnTo>
                  <a:lnTo>
                    <a:pt x="8382000" y="485775"/>
                  </a:lnTo>
                  <a:lnTo>
                    <a:pt x="8382000" y="0"/>
                  </a:lnTo>
                  <a:close/>
                </a:path>
                <a:path w="10230485" h="485775">
                  <a:moveTo>
                    <a:pt x="10229863" y="0"/>
                  </a:moveTo>
                  <a:lnTo>
                    <a:pt x="8391538" y="0"/>
                  </a:lnTo>
                  <a:lnTo>
                    <a:pt x="8391538" y="485775"/>
                  </a:lnTo>
                  <a:lnTo>
                    <a:pt x="10229863" y="485775"/>
                  </a:lnTo>
                  <a:lnTo>
                    <a:pt x="10229863" y="0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00062" y="3648087"/>
              <a:ext cx="10230485" cy="495300"/>
            </a:xfrm>
            <a:custGeom>
              <a:avLst/>
              <a:gdLst/>
              <a:ahLst/>
              <a:cxnLst/>
              <a:rect l="l" t="t" r="r" b="b"/>
              <a:pathLst>
                <a:path w="10230485" h="495300">
                  <a:moveTo>
                    <a:pt x="2857500" y="0"/>
                  </a:moveTo>
                  <a:lnTo>
                    <a:pt x="0" y="0"/>
                  </a:lnTo>
                  <a:lnTo>
                    <a:pt x="0" y="495300"/>
                  </a:lnTo>
                  <a:lnTo>
                    <a:pt x="2857500" y="495300"/>
                  </a:lnTo>
                  <a:lnTo>
                    <a:pt x="2857500" y="0"/>
                  </a:lnTo>
                  <a:close/>
                </a:path>
                <a:path w="10230485" h="495300">
                  <a:moveTo>
                    <a:pt x="4705362" y="0"/>
                  </a:moveTo>
                  <a:lnTo>
                    <a:pt x="2867037" y="0"/>
                  </a:lnTo>
                  <a:lnTo>
                    <a:pt x="2867037" y="495287"/>
                  </a:lnTo>
                  <a:lnTo>
                    <a:pt x="4705362" y="495287"/>
                  </a:lnTo>
                  <a:lnTo>
                    <a:pt x="4705362" y="0"/>
                  </a:lnTo>
                  <a:close/>
                </a:path>
                <a:path w="10230485" h="495300">
                  <a:moveTo>
                    <a:pt x="6543675" y="0"/>
                  </a:moveTo>
                  <a:lnTo>
                    <a:pt x="4714875" y="0"/>
                  </a:lnTo>
                  <a:lnTo>
                    <a:pt x="4714875" y="495300"/>
                  </a:lnTo>
                  <a:lnTo>
                    <a:pt x="6543675" y="495300"/>
                  </a:lnTo>
                  <a:lnTo>
                    <a:pt x="6543675" y="0"/>
                  </a:lnTo>
                  <a:close/>
                </a:path>
                <a:path w="10230485" h="495300">
                  <a:moveTo>
                    <a:pt x="8382000" y="0"/>
                  </a:moveTo>
                  <a:lnTo>
                    <a:pt x="6553200" y="0"/>
                  </a:lnTo>
                  <a:lnTo>
                    <a:pt x="6553200" y="495300"/>
                  </a:lnTo>
                  <a:lnTo>
                    <a:pt x="8382000" y="495300"/>
                  </a:lnTo>
                  <a:lnTo>
                    <a:pt x="8382000" y="0"/>
                  </a:lnTo>
                  <a:close/>
                </a:path>
                <a:path w="10230485" h="495300">
                  <a:moveTo>
                    <a:pt x="10229863" y="0"/>
                  </a:moveTo>
                  <a:lnTo>
                    <a:pt x="8391538" y="0"/>
                  </a:lnTo>
                  <a:lnTo>
                    <a:pt x="8391538" y="495287"/>
                  </a:lnTo>
                  <a:lnTo>
                    <a:pt x="10229863" y="495287"/>
                  </a:lnTo>
                  <a:lnTo>
                    <a:pt x="10229863" y="0"/>
                  </a:lnTo>
                  <a:close/>
                </a:path>
              </a:pathLst>
            </a:custGeom>
            <a:solidFill>
              <a:srgbClr val="000000">
                <a:alpha val="391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00062" y="4143374"/>
              <a:ext cx="10230485" cy="495934"/>
            </a:xfrm>
            <a:custGeom>
              <a:avLst/>
              <a:gdLst/>
              <a:ahLst/>
              <a:cxnLst/>
              <a:rect l="l" t="t" r="r" b="b"/>
              <a:pathLst>
                <a:path w="10230485" h="495935">
                  <a:moveTo>
                    <a:pt x="2857500" y="12"/>
                  </a:moveTo>
                  <a:lnTo>
                    <a:pt x="0" y="12"/>
                  </a:lnTo>
                  <a:lnTo>
                    <a:pt x="0" y="495312"/>
                  </a:lnTo>
                  <a:lnTo>
                    <a:pt x="2857500" y="495312"/>
                  </a:lnTo>
                  <a:lnTo>
                    <a:pt x="2857500" y="12"/>
                  </a:lnTo>
                  <a:close/>
                </a:path>
                <a:path w="10230485" h="495935">
                  <a:moveTo>
                    <a:pt x="4705362" y="0"/>
                  </a:moveTo>
                  <a:lnTo>
                    <a:pt x="2867037" y="0"/>
                  </a:lnTo>
                  <a:lnTo>
                    <a:pt x="2867037" y="495300"/>
                  </a:lnTo>
                  <a:lnTo>
                    <a:pt x="4705362" y="495300"/>
                  </a:lnTo>
                  <a:lnTo>
                    <a:pt x="4705362" y="0"/>
                  </a:lnTo>
                  <a:close/>
                </a:path>
                <a:path w="10230485" h="495935">
                  <a:moveTo>
                    <a:pt x="6543675" y="12"/>
                  </a:moveTo>
                  <a:lnTo>
                    <a:pt x="4714875" y="12"/>
                  </a:lnTo>
                  <a:lnTo>
                    <a:pt x="4714875" y="495312"/>
                  </a:lnTo>
                  <a:lnTo>
                    <a:pt x="6543675" y="495312"/>
                  </a:lnTo>
                  <a:lnTo>
                    <a:pt x="6543675" y="12"/>
                  </a:lnTo>
                  <a:close/>
                </a:path>
                <a:path w="10230485" h="495935">
                  <a:moveTo>
                    <a:pt x="8382000" y="12"/>
                  </a:moveTo>
                  <a:lnTo>
                    <a:pt x="6553200" y="12"/>
                  </a:lnTo>
                  <a:lnTo>
                    <a:pt x="6553200" y="495312"/>
                  </a:lnTo>
                  <a:lnTo>
                    <a:pt x="8382000" y="495312"/>
                  </a:lnTo>
                  <a:lnTo>
                    <a:pt x="8382000" y="12"/>
                  </a:lnTo>
                  <a:close/>
                </a:path>
                <a:path w="10230485" h="495935">
                  <a:moveTo>
                    <a:pt x="10229863" y="0"/>
                  </a:moveTo>
                  <a:lnTo>
                    <a:pt x="8391538" y="0"/>
                  </a:lnTo>
                  <a:lnTo>
                    <a:pt x="8391538" y="495300"/>
                  </a:lnTo>
                  <a:lnTo>
                    <a:pt x="10229863" y="495300"/>
                  </a:lnTo>
                  <a:lnTo>
                    <a:pt x="10229863" y="0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600062" y="4638674"/>
              <a:ext cx="10230485" cy="495934"/>
            </a:xfrm>
            <a:custGeom>
              <a:avLst/>
              <a:gdLst/>
              <a:ahLst/>
              <a:cxnLst/>
              <a:rect l="l" t="t" r="r" b="b"/>
              <a:pathLst>
                <a:path w="10230485" h="495935">
                  <a:moveTo>
                    <a:pt x="2857500" y="12"/>
                  </a:moveTo>
                  <a:lnTo>
                    <a:pt x="0" y="12"/>
                  </a:lnTo>
                  <a:lnTo>
                    <a:pt x="0" y="495312"/>
                  </a:lnTo>
                  <a:lnTo>
                    <a:pt x="2857500" y="495312"/>
                  </a:lnTo>
                  <a:lnTo>
                    <a:pt x="2857500" y="12"/>
                  </a:lnTo>
                  <a:close/>
                </a:path>
                <a:path w="10230485" h="495935">
                  <a:moveTo>
                    <a:pt x="4705362" y="0"/>
                  </a:moveTo>
                  <a:lnTo>
                    <a:pt x="2867037" y="0"/>
                  </a:lnTo>
                  <a:lnTo>
                    <a:pt x="2867037" y="495300"/>
                  </a:lnTo>
                  <a:lnTo>
                    <a:pt x="4705362" y="495300"/>
                  </a:lnTo>
                  <a:lnTo>
                    <a:pt x="4705362" y="0"/>
                  </a:lnTo>
                  <a:close/>
                </a:path>
                <a:path w="10230485" h="495935">
                  <a:moveTo>
                    <a:pt x="6543675" y="12"/>
                  </a:moveTo>
                  <a:lnTo>
                    <a:pt x="4714875" y="12"/>
                  </a:lnTo>
                  <a:lnTo>
                    <a:pt x="4714875" y="495312"/>
                  </a:lnTo>
                  <a:lnTo>
                    <a:pt x="6543675" y="495312"/>
                  </a:lnTo>
                  <a:lnTo>
                    <a:pt x="6543675" y="12"/>
                  </a:lnTo>
                  <a:close/>
                </a:path>
                <a:path w="10230485" h="495935">
                  <a:moveTo>
                    <a:pt x="8382000" y="12"/>
                  </a:moveTo>
                  <a:lnTo>
                    <a:pt x="6553200" y="12"/>
                  </a:lnTo>
                  <a:lnTo>
                    <a:pt x="6553200" y="495312"/>
                  </a:lnTo>
                  <a:lnTo>
                    <a:pt x="8382000" y="495312"/>
                  </a:lnTo>
                  <a:lnTo>
                    <a:pt x="8382000" y="12"/>
                  </a:lnTo>
                  <a:close/>
                </a:path>
                <a:path w="10230485" h="495935">
                  <a:moveTo>
                    <a:pt x="10229863" y="0"/>
                  </a:moveTo>
                  <a:lnTo>
                    <a:pt x="8391538" y="0"/>
                  </a:lnTo>
                  <a:lnTo>
                    <a:pt x="8391538" y="495300"/>
                  </a:lnTo>
                  <a:lnTo>
                    <a:pt x="10229863" y="495300"/>
                  </a:lnTo>
                  <a:lnTo>
                    <a:pt x="10229863" y="0"/>
                  </a:lnTo>
                  <a:close/>
                </a:path>
              </a:pathLst>
            </a:custGeom>
            <a:solidFill>
              <a:srgbClr val="000000">
                <a:alpha val="3919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600062" y="5133987"/>
              <a:ext cx="10229850" cy="485775"/>
            </a:xfrm>
            <a:custGeom>
              <a:avLst/>
              <a:gdLst/>
              <a:ahLst/>
              <a:cxnLst/>
              <a:rect l="l" t="t" r="r" b="b"/>
              <a:pathLst>
                <a:path w="10229850" h="485775">
                  <a:moveTo>
                    <a:pt x="2857500" y="0"/>
                  </a:moveTo>
                  <a:lnTo>
                    <a:pt x="0" y="0"/>
                  </a:lnTo>
                  <a:lnTo>
                    <a:pt x="0" y="434378"/>
                  </a:lnTo>
                  <a:lnTo>
                    <a:pt x="22910" y="473976"/>
                  </a:lnTo>
                  <a:lnTo>
                    <a:pt x="51396" y="485775"/>
                  </a:lnTo>
                  <a:lnTo>
                    <a:pt x="2857500" y="485775"/>
                  </a:lnTo>
                  <a:lnTo>
                    <a:pt x="2857500" y="0"/>
                  </a:lnTo>
                  <a:close/>
                </a:path>
                <a:path w="10229850" h="485775">
                  <a:moveTo>
                    <a:pt x="4705362" y="0"/>
                  </a:moveTo>
                  <a:lnTo>
                    <a:pt x="2867037" y="0"/>
                  </a:lnTo>
                  <a:lnTo>
                    <a:pt x="2867037" y="485775"/>
                  </a:lnTo>
                  <a:lnTo>
                    <a:pt x="4705362" y="485775"/>
                  </a:lnTo>
                  <a:lnTo>
                    <a:pt x="4705362" y="0"/>
                  </a:lnTo>
                  <a:close/>
                </a:path>
                <a:path w="10229850" h="485775">
                  <a:moveTo>
                    <a:pt x="6543675" y="0"/>
                  </a:moveTo>
                  <a:lnTo>
                    <a:pt x="4714875" y="0"/>
                  </a:lnTo>
                  <a:lnTo>
                    <a:pt x="4714875" y="485775"/>
                  </a:lnTo>
                  <a:lnTo>
                    <a:pt x="6543675" y="485775"/>
                  </a:lnTo>
                  <a:lnTo>
                    <a:pt x="6543675" y="0"/>
                  </a:lnTo>
                  <a:close/>
                </a:path>
                <a:path w="10229850" h="485775">
                  <a:moveTo>
                    <a:pt x="8382000" y="0"/>
                  </a:moveTo>
                  <a:lnTo>
                    <a:pt x="6553200" y="0"/>
                  </a:lnTo>
                  <a:lnTo>
                    <a:pt x="6553200" y="485775"/>
                  </a:lnTo>
                  <a:lnTo>
                    <a:pt x="8382000" y="485775"/>
                  </a:lnTo>
                  <a:lnTo>
                    <a:pt x="8382000" y="0"/>
                  </a:lnTo>
                  <a:close/>
                </a:path>
                <a:path w="10229850" h="485775">
                  <a:moveTo>
                    <a:pt x="10229850" y="0"/>
                  </a:moveTo>
                  <a:lnTo>
                    <a:pt x="8391525" y="0"/>
                  </a:lnTo>
                  <a:lnTo>
                    <a:pt x="8391525" y="485775"/>
                  </a:lnTo>
                  <a:lnTo>
                    <a:pt x="10178466" y="485775"/>
                  </a:lnTo>
                  <a:lnTo>
                    <a:pt x="10186022" y="484263"/>
                  </a:lnTo>
                  <a:lnTo>
                    <a:pt x="10218052" y="462864"/>
                  </a:lnTo>
                  <a:lnTo>
                    <a:pt x="10229850" y="434378"/>
                  </a:lnTo>
                  <a:lnTo>
                    <a:pt x="10229850" y="0"/>
                  </a:lnTo>
                  <a:close/>
                </a:path>
              </a:pathLst>
            </a:custGeom>
            <a:solidFill>
              <a:srgbClr val="FFFFFF">
                <a:alpha val="3919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/>
          <p:nvPr/>
        </p:nvSpPr>
        <p:spPr>
          <a:xfrm>
            <a:off x="3626599" y="2294547"/>
            <a:ext cx="104457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50" b="1">
                <a:solidFill>
                  <a:srgbClr val="3A3535"/>
                </a:solidFill>
                <a:latin typeface="Verdana"/>
                <a:cs typeface="Verdana"/>
              </a:rPr>
              <a:t>LimeSurvey</a:t>
            </a:r>
            <a:endParaRPr sz="1300">
              <a:latin typeface="Verdana"/>
              <a:cs typeface="Verdan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467400" y="2294547"/>
            <a:ext cx="1239520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25" b="1">
                <a:solidFill>
                  <a:srgbClr val="3A3535"/>
                </a:solidFill>
                <a:latin typeface="Verdana"/>
                <a:cs typeface="Verdana"/>
              </a:rPr>
              <a:t>JATOS</a:t>
            </a:r>
            <a:r>
              <a:rPr dirty="0" sz="1300" spc="-145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360" b="1">
                <a:solidFill>
                  <a:srgbClr val="3A3535"/>
                </a:solidFill>
                <a:latin typeface="Verdana"/>
                <a:cs typeface="Verdana"/>
              </a:rPr>
              <a:t>/</a:t>
            </a:r>
            <a:r>
              <a:rPr dirty="0" sz="1300" spc="-140" b="1">
                <a:solidFill>
                  <a:srgbClr val="3A3535"/>
                </a:solidFill>
                <a:latin typeface="Verdana"/>
                <a:cs typeface="Verdana"/>
              </a:rPr>
              <a:t> </a:t>
            </a:r>
            <a:r>
              <a:rPr dirty="0" sz="1300" spc="-45" b="1">
                <a:solidFill>
                  <a:srgbClr val="3A3535"/>
                </a:solidFill>
                <a:latin typeface="Verdana"/>
                <a:cs typeface="Verdana"/>
              </a:rPr>
              <a:t>formr</a:t>
            </a:r>
            <a:endParaRPr sz="1300">
              <a:latin typeface="Verdana"/>
              <a:cs typeface="Verdan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08184" y="2294547"/>
            <a:ext cx="698500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10" b="1">
                <a:solidFill>
                  <a:srgbClr val="3A3535"/>
                </a:solidFill>
                <a:latin typeface="Verdana"/>
                <a:cs typeface="Verdana"/>
              </a:rPr>
              <a:t>Moodle</a:t>
            </a:r>
            <a:endParaRPr sz="1300">
              <a:latin typeface="Verdana"/>
              <a:cs typeface="Verdan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148711" y="2294547"/>
            <a:ext cx="77533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25" b="1">
                <a:solidFill>
                  <a:srgbClr val="3A3535"/>
                </a:solidFill>
                <a:latin typeface="Verdana"/>
                <a:cs typeface="Verdana"/>
              </a:rPr>
              <a:t>SelfHelp</a:t>
            </a:r>
            <a:endParaRPr sz="1300">
              <a:latin typeface="Verdana"/>
              <a:cs typeface="Verdan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58532" y="2789847"/>
            <a:ext cx="69278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Surveys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626599" y="2773049"/>
            <a:ext cx="86614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Strong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467299" y="2773049"/>
            <a:ext cx="86614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Strong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308012" y="2789847"/>
            <a:ext cx="56197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Partial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148711" y="2773049"/>
            <a:ext cx="56896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Yes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58532" y="3275622"/>
            <a:ext cx="1280160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Online</a:t>
            </a:r>
            <a:r>
              <a:rPr dirty="0" sz="1300" spc="-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Studies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26599" y="3275622"/>
            <a:ext cx="56197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Partial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467299" y="3258824"/>
            <a:ext cx="86614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Strong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308012" y="3275622"/>
            <a:ext cx="17716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148711" y="3258824"/>
            <a:ext cx="56896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Yes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58532" y="3770922"/>
            <a:ext cx="92265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75">
                <a:solidFill>
                  <a:srgbClr val="3A3535"/>
                </a:solidFill>
                <a:latin typeface="Century Gothic"/>
                <a:cs typeface="Century Gothic"/>
              </a:rPr>
              <a:t>Workflows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3626599" y="3770922"/>
            <a:ext cx="17716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467299" y="3770922"/>
            <a:ext cx="17716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307998" y="3770922"/>
            <a:ext cx="56197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Partial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9148698" y="3754124"/>
            <a:ext cx="86614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Strong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58520" y="4266222"/>
            <a:ext cx="154876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Mobile</a:t>
            </a:r>
            <a:r>
              <a:rPr dirty="0" sz="1300" spc="19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Continuity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626599" y="4266222"/>
            <a:ext cx="17716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5467299" y="4266222"/>
            <a:ext cx="17716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7307998" y="4266222"/>
            <a:ext cx="56197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Partial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9148698" y="4249424"/>
            <a:ext cx="86614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Strong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758520" y="4751997"/>
            <a:ext cx="1197610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AI</a:t>
            </a:r>
            <a:r>
              <a:rPr dirty="0" sz="1300" spc="-5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Integration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626599" y="4751997"/>
            <a:ext cx="17716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5467299" y="4751997"/>
            <a:ext cx="17716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307998" y="4751997"/>
            <a:ext cx="17716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 spc="-55">
                <a:solidFill>
                  <a:srgbClr val="3A3535"/>
                </a:solidFill>
                <a:latin typeface="Century Gothic"/>
                <a:cs typeface="Century Gothic"/>
              </a:rPr>
              <a:t>—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9148698" y="4735199"/>
            <a:ext cx="86614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95">
                <a:solidFill>
                  <a:srgbClr val="3A3535"/>
                </a:solidFill>
                <a:latin typeface="Century Gothic"/>
                <a:cs typeface="Century Gothic"/>
              </a:rPr>
              <a:t>Strong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758520" y="5247297"/>
            <a:ext cx="1167130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Local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Control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3626599" y="5230499"/>
            <a:ext cx="56896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Yes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5467299" y="5230499"/>
            <a:ext cx="56896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Yes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7308012" y="5230499"/>
            <a:ext cx="56896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Yes</a:t>
            </a:r>
            <a:endParaRPr sz="1300">
              <a:latin typeface="Century Gothic"/>
              <a:cs typeface="Century Gothic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9148711" y="5230499"/>
            <a:ext cx="568960" cy="248920"/>
          </a:xfrm>
          <a:prstGeom prst="rect">
            <a:avLst/>
          </a:prstGeom>
        </p:spPr>
        <p:txBody>
          <a:bodyPr wrap="square" lIns="0" tIns="1460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  <a:tabLst>
                <a:tab pos="262255" algn="l"/>
              </a:tabLst>
            </a:pPr>
            <a:r>
              <a:rPr dirty="0" sz="1450" spc="-1450">
                <a:latin typeface="Segoe UI Symbol"/>
                <a:cs typeface="Segoe UI Symbol"/>
              </a:rPr>
              <a:t>✅</a:t>
            </a:r>
            <a:r>
              <a:rPr dirty="0" sz="1450">
                <a:latin typeface="Segoe UI Symbol"/>
                <a:cs typeface="Segoe UI Symbol"/>
              </a:rPr>
              <a:t>	</a:t>
            </a:r>
            <a:r>
              <a:rPr dirty="0" sz="1300" spc="30">
                <a:solidFill>
                  <a:srgbClr val="3A3535"/>
                </a:solidFill>
                <a:latin typeface="Century Gothic"/>
                <a:cs typeface="Century Gothic"/>
              </a:rPr>
              <a:t>Yes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79640" y="1723135"/>
            <a:ext cx="4058285" cy="56007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265"/>
              <a:t>Why</a:t>
            </a:r>
            <a:r>
              <a:rPr dirty="0" spc="-430"/>
              <a:t> </a:t>
            </a:r>
            <a:r>
              <a:rPr dirty="0" spc="-150"/>
              <a:t>Use</a:t>
            </a:r>
            <a:r>
              <a:rPr dirty="0" spc="-425"/>
              <a:t> </a:t>
            </a:r>
            <a:r>
              <a:rPr dirty="0" spc="-110"/>
              <a:t>SelfHelp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6802" y="2684296"/>
            <a:ext cx="176712" cy="153672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590550" y="2924174"/>
            <a:ext cx="5038725" cy="19050"/>
          </a:xfrm>
          <a:custGeom>
            <a:avLst/>
            <a:gdLst/>
            <a:ahLst/>
            <a:cxnLst/>
            <a:rect l="l" t="t" r="r" b="b"/>
            <a:pathLst>
              <a:path w="5038725" h="19050">
                <a:moveTo>
                  <a:pt x="5038725" y="0"/>
                </a:moveTo>
                <a:lnTo>
                  <a:pt x="0" y="0"/>
                </a:lnTo>
                <a:lnTo>
                  <a:pt x="0" y="19050"/>
                </a:lnTo>
                <a:lnTo>
                  <a:pt x="5038725" y="19050"/>
                </a:lnTo>
                <a:lnTo>
                  <a:pt x="5038725" y="0"/>
                </a:lnTo>
                <a:close/>
              </a:path>
            </a:pathLst>
          </a:custGeom>
          <a:solidFill>
            <a:srgbClr val="DA1B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579640" y="3056547"/>
            <a:ext cx="3747770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One</a:t>
            </a:r>
            <a:r>
              <a:rPr dirty="0" sz="1300" spc="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platform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for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complete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5">
                <a:solidFill>
                  <a:srgbClr val="3A3535"/>
                </a:solidFill>
                <a:latin typeface="Century Gothic"/>
                <a:cs typeface="Century Gothic"/>
              </a:rPr>
              <a:t>digital</a:t>
            </a:r>
            <a:r>
              <a:rPr dirty="0" sz="1300" spc="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45">
                <a:solidFill>
                  <a:srgbClr val="3A3535"/>
                </a:solidFill>
                <a:latin typeface="Century Gothic"/>
                <a:cs typeface="Century Gothic"/>
              </a:rPr>
              <a:t>programs</a:t>
            </a:r>
            <a:endParaRPr sz="1300">
              <a:latin typeface="Century Gothic"/>
              <a:cs typeface="Century Gothic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797081" y="2672767"/>
            <a:ext cx="176450" cy="176729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5800725" y="2924174"/>
            <a:ext cx="5038725" cy="19050"/>
          </a:xfrm>
          <a:custGeom>
            <a:avLst/>
            <a:gdLst/>
            <a:ahLst/>
            <a:cxnLst/>
            <a:rect l="l" t="t" r="r" b="b"/>
            <a:pathLst>
              <a:path w="5038725" h="19050">
                <a:moveTo>
                  <a:pt x="5038725" y="0"/>
                </a:moveTo>
                <a:lnTo>
                  <a:pt x="0" y="0"/>
                </a:lnTo>
                <a:lnTo>
                  <a:pt x="0" y="19050"/>
                </a:lnTo>
                <a:lnTo>
                  <a:pt x="5038725" y="19050"/>
                </a:lnTo>
                <a:lnTo>
                  <a:pt x="5038725" y="0"/>
                </a:lnTo>
                <a:close/>
              </a:path>
            </a:pathLst>
          </a:custGeom>
          <a:solidFill>
            <a:srgbClr val="DA1B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5786831" y="3056547"/>
            <a:ext cx="4361815" cy="2286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Local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control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90">
                <a:solidFill>
                  <a:srgbClr val="3A3535"/>
                </a:solidFill>
                <a:latin typeface="Century Gothic"/>
                <a:cs typeface="Century Gothic"/>
              </a:rPr>
              <a:t>plus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flexibility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for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0">
                <a:solidFill>
                  <a:srgbClr val="3A3535"/>
                </a:solidFill>
                <a:latin typeface="Century Gothic"/>
                <a:cs typeface="Century Gothic"/>
              </a:rPr>
              <a:t>future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development</a:t>
            </a:r>
            <a:endParaRPr sz="1300">
              <a:latin typeface="Century Gothic"/>
              <a:cs typeface="Century Gothic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90188" y="3634800"/>
            <a:ext cx="169835" cy="176714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590550" y="3886200"/>
            <a:ext cx="5038725" cy="19050"/>
          </a:xfrm>
          <a:custGeom>
            <a:avLst/>
            <a:gdLst/>
            <a:ahLst/>
            <a:cxnLst/>
            <a:rect l="l" t="t" r="r" b="b"/>
            <a:pathLst>
              <a:path w="5038725" h="19050">
                <a:moveTo>
                  <a:pt x="5038725" y="0"/>
                </a:moveTo>
                <a:lnTo>
                  <a:pt x="0" y="0"/>
                </a:lnTo>
                <a:lnTo>
                  <a:pt x="0" y="19050"/>
                </a:lnTo>
                <a:lnTo>
                  <a:pt x="5038725" y="19050"/>
                </a:lnTo>
                <a:lnTo>
                  <a:pt x="5038725" y="0"/>
                </a:lnTo>
                <a:close/>
              </a:path>
            </a:pathLst>
          </a:custGeom>
          <a:solidFill>
            <a:srgbClr val="DA1B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579635" y="3954975"/>
            <a:ext cx="5000625" cy="55880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34600"/>
              </a:lnSpc>
              <a:spcBef>
                <a:spcPts val="90"/>
              </a:spcBef>
            </a:pP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One</a:t>
            </a:r>
            <a:r>
              <a:rPr dirty="0" sz="1300" spc="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structure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across</a:t>
            </a:r>
            <a:r>
              <a:rPr dirty="0" sz="1300" spc="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content,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30">
                <a:solidFill>
                  <a:srgbClr val="3A3535"/>
                </a:solidFill>
                <a:latin typeface="Century Gothic"/>
                <a:cs typeface="Century Gothic"/>
              </a:rPr>
              <a:t>data,</a:t>
            </a:r>
            <a:r>
              <a:rPr dirty="0" sz="1300" spc="3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65">
                <a:solidFill>
                  <a:srgbClr val="3A3535"/>
                </a:solidFill>
                <a:latin typeface="Century Gothic"/>
                <a:cs typeface="Century Gothic"/>
              </a:rPr>
              <a:t>workflows,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mobile,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and </a:t>
            </a:r>
            <a:r>
              <a:rPr dirty="0" sz="1300" spc="40">
                <a:solidFill>
                  <a:srgbClr val="3A3535"/>
                </a:solidFill>
                <a:latin typeface="Century Gothic"/>
                <a:cs typeface="Century Gothic"/>
              </a:rPr>
              <a:t>AI</a:t>
            </a:r>
            <a:endParaRPr sz="1300">
              <a:latin typeface="Century Gothic"/>
              <a:cs typeface="Century Gothic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822924" y="3634802"/>
            <a:ext cx="125095" cy="173355"/>
            <a:chOff x="5822924" y="3634802"/>
            <a:chExt cx="125095" cy="173355"/>
          </a:xfrm>
        </p:grpSpPr>
        <p:sp>
          <p:nvSpPr>
            <p:cNvPr id="13" name="object 13"/>
            <p:cNvSpPr/>
            <p:nvPr/>
          </p:nvSpPr>
          <p:spPr>
            <a:xfrm>
              <a:off x="5849556" y="3680256"/>
              <a:ext cx="36830" cy="36830"/>
            </a:xfrm>
            <a:custGeom>
              <a:avLst/>
              <a:gdLst/>
              <a:ahLst/>
              <a:cxnLst/>
              <a:rect l="l" t="t" r="r" b="b"/>
              <a:pathLst>
                <a:path w="36829" h="36829">
                  <a:moveTo>
                    <a:pt x="0" y="36258"/>
                  </a:moveTo>
                  <a:lnTo>
                    <a:pt x="36309" y="0"/>
                  </a:lnTo>
                </a:path>
              </a:pathLst>
            </a:custGeom>
            <a:ln w="7494">
              <a:solidFill>
                <a:srgbClr val="3A3535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885751" y="3680256"/>
              <a:ext cx="635" cy="127635"/>
            </a:xfrm>
            <a:custGeom>
              <a:avLst/>
              <a:gdLst/>
              <a:ahLst/>
              <a:cxnLst/>
              <a:rect l="l" t="t" r="r" b="b"/>
              <a:pathLst>
                <a:path w="635" h="127635">
                  <a:moveTo>
                    <a:pt x="0" y="127508"/>
                  </a:moveTo>
                  <a:lnTo>
                    <a:pt x="114" y="0"/>
                  </a:lnTo>
                </a:path>
              </a:pathLst>
            </a:custGeom>
            <a:ln w="7494">
              <a:solidFill>
                <a:srgbClr val="3A3535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885865" y="3680256"/>
              <a:ext cx="36830" cy="37465"/>
            </a:xfrm>
            <a:custGeom>
              <a:avLst/>
              <a:gdLst/>
              <a:ahLst/>
              <a:cxnLst/>
              <a:rect l="l" t="t" r="r" b="b"/>
              <a:pathLst>
                <a:path w="36829" h="37464">
                  <a:moveTo>
                    <a:pt x="36525" y="36906"/>
                  </a:moveTo>
                  <a:lnTo>
                    <a:pt x="0" y="0"/>
                  </a:lnTo>
                </a:path>
              </a:pathLst>
            </a:custGeom>
            <a:ln w="7494">
              <a:solidFill>
                <a:srgbClr val="3A3535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5826671" y="3638549"/>
              <a:ext cx="59690" cy="59055"/>
            </a:xfrm>
            <a:custGeom>
              <a:avLst/>
              <a:gdLst/>
              <a:ahLst/>
              <a:cxnLst/>
              <a:rect l="l" t="t" r="r" b="b"/>
              <a:pathLst>
                <a:path w="59689" h="59054">
                  <a:moveTo>
                    <a:pt x="0" y="58889"/>
                  </a:moveTo>
                  <a:lnTo>
                    <a:pt x="59232" y="0"/>
                  </a:lnTo>
                </a:path>
              </a:pathLst>
            </a:custGeom>
            <a:ln w="7494">
              <a:solidFill>
                <a:srgbClr val="3A3535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5885903" y="3638549"/>
              <a:ext cx="58419" cy="58419"/>
            </a:xfrm>
            <a:custGeom>
              <a:avLst/>
              <a:gdLst/>
              <a:ahLst/>
              <a:cxnLst/>
              <a:rect l="l" t="t" r="r" b="b"/>
              <a:pathLst>
                <a:path w="58420" h="58420">
                  <a:moveTo>
                    <a:pt x="58089" y="57835"/>
                  </a:moveTo>
                  <a:lnTo>
                    <a:pt x="0" y="0"/>
                  </a:lnTo>
                </a:path>
              </a:pathLst>
            </a:custGeom>
            <a:ln w="7494">
              <a:solidFill>
                <a:srgbClr val="3A3535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/>
          <p:nvPr/>
        </p:nvSpPr>
        <p:spPr>
          <a:xfrm>
            <a:off x="5800725" y="3886200"/>
            <a:ext cx="5038725" cy="19050"/>
          </a:xfrm>
          <a:custGeom>
            <a:avLst/>
            <a:gdLst/>
            <a:ahLst/>
            <a:cxnLst/>
            <a:rect l="l" t="t" r="r" b="b"/>
            <a:pathLst>
              <a:path w="5038725" h="19050">
                <a:moveTo>
                  <a:pt x="5038725" y="0"/>
                </a:moveTo>
                <a:lnTo>
                  <a:pt x="0" y="0"/>
                </a:lnTo>
                <a:lnTo>
                  <a:pt x="0" y="19050"/>
                </a:lnTo>
                <a:lnTo>
                  <a:pt x="5038725" y="19050"/>
                </a:lnTo>
                <a:lnTo>
                  <a:pt x="5038725" y="0"/>
                </a:lnTo>
                <a:close/>
              </a:path>
            </a:pathLst>
          </a:custGeom>
          <a:solidFill>
            <a:srgbClr val="DA1B2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5786831" y="3954975"/>
            <a:ext cx="5061585" cy="55880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34600"/>
              </a:lnSpc>
              <a:spcBef>
                <a:spcPts val="90"/>
              </a:spcBef>
            </a:pP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SelfHelp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2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45">
                <a:solidFill>
                  <a:srgbClr val="3A3535"/>
                </a:solidFill>
                <a:latin typeface="Century Gothic"/>
                <a:cs typeface="Century Gothic"/>
              </a:rPr>
              <a:t>can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make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the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50">
                <a:solidFill>
                  <a:srgbClr val="3A3535"/>
                </a:solidFill>
                <a:latin typeface="Century Gothic"/>
                <a:cs typeface="Century Gothic"/>
              </a:rPr>
              <a:t>platform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even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more</a:t>
            </a:r>
            <a:r>
              <a:rPr dirty="0" sz="1300" spc="-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structured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25">
                <a:solidFill>
                  <a:srgbClr val="3A3535"/>
                </a:solidFill>
                <a:latin typeface="Century Gothic"/>
                <a:cs typeface="Century Gothic"/>
              </a:rPr>
              <a:t>and </a:t>
            </a:r>
            <a:r>
              <a:rPr dirty="0" sz="1300">
                <a:solidFill>
                  <a:srgbClr val="3A3535"/>
                </a:solidFill>
                <a:latin typeface="Century Gothic"/>
                <a:cs typeface="Century Gothic"/>
              </a:rPr>
              <a:t>easier</a:t>
            </a:r>
            <a:r>
              <a:rPr dirty="0" sz="1300" spc="8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70">
                <a:solidFill>
                  <a:srgbClr val="3A3535"/>
                </a:solidFill>
                <a:latin typeface="Century Gothic"/>
                <a:cs typeface="Century Gothic"/>
              </a:rPr>
              <a:t>to</a:t>
            </a:r>
            <a:r>
              <a:rPr dirty="0" sz="130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300" spc="-10">
                <a:solidFill>
                  <a:srgbClr val="3A3535"/>
                </a:solidFill>
                <a:latin typeface="Century Gothic"/>
                <a:cs typeface="Century Gothic"/>
              </a:rPr>
              <a:t>extend</a:t>
            </a:r>
            <a:endParaRPr sz="130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534598" y="1526296"/>
            <a:ext cx="2361565" cy="1149985"/>
          </a:xfrm>
          <a:prstGeom prst="rect"/>
        </p:spPr>
        <p:txBody>
          <a:bodyPr wrap="square" lIns="0" tIns="18161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1430"/>
              </a:spcBef>
            </a:pPr>
            <a:r>
              <a:rPr dirty="0" spc="-250"/>
              <a:t>Thank</a:t>
            </a:r>
            <a:r>
              <a:rPr dirty="0" spc="-395"/>
              <a:t> </a:t>
            </a:r>
            <a:r>
              <a:rPr dirty="0" spc="-280"/>
              <a:t>You</a:t>
            </a:r>
          </a:p>
          <a:p>
            <a:pPr algn="ctr">
              <a:lnSpc>
                <a:spcPct val="100000"/>
              </a:lnSpc>
              <a:spcBef>
                <a:spcPts val="800"/>
              </a:spcBef>
            </a:pPr>
            <a:r>
              <a:rPr dirty="0" sz="2100" spc="-10"/>
              <a:t>Questions?</a:t>
            </a:r>
            <a:endParaRPr sz="2100"/>
          </a:p>
        </p:txBody>
      </p:sp>
      <p:sp>
        <p:nvSpPr>
          <p:cNvPr id="3" name="object 3"/>
          <p:cNvSpPr txBox="1"/>
          <p:nvPr/>
        </p:nvSpPr>
        <p:spPr>
          <a:xfrm>
            <a:off x="4529683" y="4490618"/>
            <a:ext cx="2371725" cy="187960"/>
          </a:xfrm>
          <a:prstGeom prst="rect">
            <a:avLst/>
          </a:prstGeom>
        </p:spPr>
        <p:txBody>
          <a:bodyPr wrap="square" lIns="0" tIns="1460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dirty="0" sz="1050">
                <a:solidFill>
                  <a:srgbClr val="3A3535"/>
                </a:solidFill>
                <a:latin typeface="Century Gothic"/>
                <a:cs typeface="Century Gothic"/>
              </a:rPr>
              <a:t>Stefan</a:t>
            </a:r>
            <a:r>
              <a:rPr dirty="0" sz="1050" spc="80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050">
                <a:solidFill>
                  <a:srgbClr val="3A3535"/>
                </a:solidFill>
                <a:latin typeface="Century Gothic"/>
                <a:cs typeface="Century Gothic"/>
              </a:rPr>
              <a:t>Kodzhabashev</a:t>
            </a:r>
            <a:r>
              <a:rPr dirty="0" sz="105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050" spc="-85">
                <a:solidFill>
                  <a:srgbClr val="3A3535"/>
                </a:solidFill>
                <a:latin typeface="Century Gothic"/>
                <a:cs typeface="Century Gothic"/>
              </a:rPr>
              <a:t>·</a:t>
            </a:r>
            <a:r>
              <a:rPr dirty="0" sz="1050" spc="85">
                <a:solidFill>
                  <a:srgbClr val="3A3535"/>
                </a:solidFill>
                <a:latin typeface="Century Gothic"/>
                <a:cs typeface="Century Gothic"/>
              </a:rPr>
              <a:t> </a:t>
            </a:r>
            <a:r>
              <a:rPr dirty="0" sz="1050" spc="75">
                <a:solidFill>
                  <a:srgbClr val="3A3535"/>
                </a:solidFill>
                <a:latin typeface="Century Gothic"/>
                <a:cs typeface="Century Gothic"/>
              </a:rPr>
              <a:t>30.03.2026</a:t>
            </a:r>
            <a:endParaRPr sz="105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2026-03-24T15:22:41Z</dcterms:created>
  <dcterms:modified xsi:type="dcterms:W3CDTF">2026-03-24T15:22:41Z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2026-03-24T00:00:00Z</vt:filetime>
  </property>
  <property fmtid="{D5CDD505-2E9C-101B-9397-08002B2CF9AE}" pid="3" name="Creator">
    <vt:lpwstr>pdf-lib (https://github.com/Hopding/pdf-lib)</vt:lpwstr>
  </property>
  <property fmtid="{D5CDD505-2E9C-101B-9397-08002B2CF9AE}" pid="4" name="LastSaved">
    <vt:filetime>2026-03-24T00:00:00Z</vt:filetime>
  </property>
  <property fmtid="{D5CDD505-2E9C-101B-9397-08002B2CF9AE}" pid="5" name="Producer">
    <vt:lpwstr>GPL Ghostscript 9.56.1</vt:lpwstr>
  </property>
</Properties>
</file>