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4"/>
  </p:notesMasterIdLst>
  <p:sldIdLst>
    <p:sldId id="256" r:id="rId2"/>
    <p:sldId id="257" r:id="rId3"/>
    <p:sldId id="258" r:id="rId4"/>
    <p:sldId id="259" r:id="rId5"/>
    <p:sldId id="260" r:id="rId6"/>
    <p:sldId id="261" r:id="rId7"/>
    <p:sldId id="263" r:id="rId8"/>
    <p:sldId id="264" r:id="rId9"/>
    <p:sldId id="265" r:id="rId10"/>
    <p:sldId id="266" r:id="rId11"/>
    <p:sldId id="267" r:id="rId12"/>
    <p:sldId id="268" r:id="rId13"/>
  </p:sldIdLst>
  <p:sldSz cx="11430000" cy="6445250"/>
  <p:notesSz cx="11430000" cy="644525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3450" autoAdjust="0"/>
  </p:normalViewPr>
  <p:slideViewPr>
    <p:cSldViewPr>
      <p:cViewPr varScale="1">
        <p:scale>
          <a:sx n="62" d="100"/>
          <a:sy n="62" d="100"/>
        </p:scale>
        <p:origin x="2000" y="48"/>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934449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Some of you may remember that we presented </a:t>
            </a:r>
            <a:r>
              <a:rPr dirty="0" err="1"/>
              <a:t>SelfHelp</a:t>
            </a:r>
            <a:r>
              <a:rPr dirty="0"/>
              <a:t> here in 2021. Today I want to briefly reconnect to that earlier version and show what has changed since then.</a:t>
            </a:r>
          </a:p>
          <a:p>
            <a:endParaRPr dirty="0"/>
          </a:p>
          <a:p>
            <a:r>
              <a:rPr dirty="0"/>
              <a:t>The main point is simple. </a:t>
            </a:r>
            <a:r>
              <a:rPr dirty="0" err="1"/>
              <a:t>SelfHelp</a:t>
            </a:r>
            <a:r>
              <a:rPr dirty="0"/>
              <a:t> is no longer just a website system. It has grown into a platform for complete digital programs.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If I had to explain </a:t>
            </a:r>
            <a:r>
              <a:rPr dirty="0" err="1"/>
              <a:t>SelfHelp</a:t>
            </a:r>
            <a:r>
              <a:rPr dirty="0"/>
              <a:t> in one sentence, I would call it a platform for running digital programs.</a:t>
            </a:r>
          </a:p>
          <a:p>
            <a:endParaRPr dirty="0"/>
          </a:p>
          <a:p>
            <a:r>
              <a:rPr dirty="0"/>
              <a:t>What makes it useful is that it brings together things that are often split apart. Content, assessments, workflows, and mobile delivery can all live in the same system.</a:t>
            </a:r>
          </a:p>
          <a:p>
            <a:endParaRPr dirty="0"/>
          </a:p>
          <a:p>
            <a:pPr algn="l"/>
            <a:r>
              <a:rPr dirty="0"/>
              <a:t>That makes projects easier to build and easier to adapt later. And because it can run under university control, it also fits settings where governance and data protection matter.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easiest way to understand the evolution is to look at where the emphasis was at each stage.</a:t>
            </a:r>
          </a:p>
          <a:p>
            <a:endParaRPr dirty="0"/>
          </a:p>
          <a:p>
            <a:r>
              <a:rPr dirty="0"/>
              <a:t>In 2021, </a:t>
            </a:r>
            <a:r>
              <a:rPr dirty="0" err="1"/>
              <a:t>SelfHelp</a:t>
            </a:r>
            <a:r>
              <a:rPr dirty="0"/>
              <a:t> was mainly presented as a platform for self-help and research websites. By 2023, it had become more modular and more practical to run, with better page structure, scheduling, and mobile integration.</a:t>
            </a:r>
          </a:p>
          <a:p>
            <a:endParaRPr dirty="0"/>
          </a:p>
          <a:p>
            <a:r>
              <a:rPr dirty="0"/>
              <a:t>Then from 2024 to 2026, a lot of the progress happened in the foundation. The data model became stronger, workflows became more systematic, permissions became clearer, and two-factor authentication was added.</a:t>
            </a:r>
          </a:p>
          <a:p>
            <a:endParaRPr dirty="0"/>
          </a:p>
          <a:p>
            <a:r>
              <a:rPr dirty="0"/>
              <a:t>On top of that stronger base, AI could then be added in a more serious way. So the overall direction is clear. </a:t>
            </a:r>
            <a:r>
              <a:rPr dirty="0" err="1"/>
              <a:t>SelfHelp</a:t>
            </a:r>
            <a:r>
              <a:rPr dirty="0"/>
              <a:t> started with content publishing, and it is now moving toward structured digital program delivery.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this means in practice is that a team can take an idea and turn it into a full user journey.</a:t>
            </a:r>
          </a:p>
          <a:p>
            <a:endParaRPr/>
          </a:p>
          <a:p>
            <a:r>
              <a:t>With SelfHelp, you can build a complete digital program: onboarding, content, structured assessments, reminders, and follow-up. That can all happen in one environment instead of being spread across disconnected tools.</a:t>
            </a:r>
          </a:p>
          <a:p>
            <a:endParaRPr/>
          </a:p>
          <a:p>
            <a:r>
              <a:t>A person can move through the program step by step. The system can adapt content, timing, and next actions based on role, group, language, or previous activity.</a:t>
            </a:r>
          </a:p>
          <a:p>
            <a:endParaRPr/>
          </a:p>
          <a:p>
            <a:r>
              <a:t>So the value is not only that SelfHelp can publish content. It can run a process over time.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Another important part of the story is how </a:t>
            </a:r>
            <a:r>
              <a:rPr dirty="0" err="1"/>
              <a:t>SelfHelp</a:t>
            </a:r>
            <a:r>
              <a:rPr dirty="0"/>
              <a:t> grows.</a:t>
            </a:r>
          </a:p>
          <a:p>
            <a:endParaRPr dirty="0"/>
          </a:p>
          <a:p>
            <a:r>
              <a:rPr dirty="0"/>
              <a:t>It grows through plugins. That means new capabilities can be added without rebuilding the core platform every time.</a:t>
            </a:r>
          </a:p>
          <a:p>
            <a:endParaRPr dirty="0"/>
          </a:p>
          <a:p>
            <a:r>
              <a:rPr dirty="0"/>
              <a:t>Some of those plugins are especially important in the background. External authentication helps it fit institutional access models. Lab.js brings browser-based experiments into the same environment. R integration supports more advanced analysis. And custom formulas allow scoring and derived values directly in the system.</a:t>
            </a:r>
          </a:p>
          <a:p>
            <a:endParaRPr dirty="0"/>
          </a:p>
          <a:p>
            <a:r>
              <a:rPr dirty="0"/>
              <a:t>On top of that foundation, there are also newer plugins that are more visible to users. Those are the three I want to focus on next.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SurveyJS is a good example of how SelfHelp has moved beyond simple forms.</a:t>
            </a:r>
          </a:p>
          <a:p>
            <a:endParaRPr/>
          </a:p>
          <a:p>
            <a:r>
              <a:t>The key point is not only that surveys can be created. The key point is that they can be managed properly inside the platform. They can be versioned, scheduled, edited later, and connected to dashboards.</a:t>
            </a:r>
          </a:p>
          <a:p>
            <a:endParaRPr/>
          </a:p>
          <a:p>
            <a:r>
              <a:t>That improves data quality and makes repeated assessment much easier to handle. It also makes the whole assessment layer more flexible, because responses can include files and voice recordings.</a:t>
            </a:r>
          </a:p>
          <a:p>
            <a:endParaRPr/>
          </a:p>
          <a:p>
            <a:r>
              <a:t>So SurveyJS turns SelfHelp into a much stronger environment for structured data collection over time.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LLM plugin should not be understood as just a chatbot. It is better understood as a controlled and testable AI component.</a:t>
            </a:r>
          </a:p>
          <a:p>
            <a:endParaRPr dirty="0"/>
          </a:p>
          <a:p>
            <a:r>
              <a:rPr dirty="0"/>
              <a:t>It lets us place a purpose-built assistant inside a page, with a clear role and a clear context. An important part of that is prompt management. Prompts can be versioned, tested, replayed, and improved before they are used in a real setting.</a:t>
            </a:r>
          </a:p>
          <a:p>
            <a:endParaRPr dirty="0"/>
          </a:p>
          <a:p>
            <a:r>
              <a:rPr dirty="0"/>
              <a:t>The plugin can also work with files, images, and voice input. And it can return either normal conversation or structured JSON output, including formats that fit OpenAI-style workflows.</a:t>
            </a:r>
          </a:p>
          <a:p>
            <a:endParaRPr dirty="0"/>
          </a:p>
          <a:p>
            <a:r>
              <a:rPr dirty="0"/>
              <a:t>That matters because it makes AI output easier to connect back into the platform in a controlled way. And at the moment, we are using the university's local LLM infrastructure, which means the interaction stays inside the university environment.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therapy chat plugin is probably the most distinctive part of the current platform.</a:t>
            </a:r>
          </a:p>
          <a:p>
            <a:endParaRPr dirty="0"/>
          </a:p>
          <a:p>
            <a:r>
              <a:rPr dirty="0"/>
              <a:t>The key idea is supervised communication. A user can interact with AI, but therapists remain present through their own dashboard. They can review conversations, step in directly, write notes, generate drafts, and manage risk status.</a:t>
            </a:r>
          </a:p>
          <a:p>
            <a:endParaRPr dirty="0"/>
          </a:p>
          <a:p>
            <a:r>
              <a:rPr dirty="0"/>
              <a:t>It is also important that this can run without AI. That means the same framework can support both AI-assisted and human-only communication.</a:t>
            </a:r>
          </a:p>
          <a:p>
            <a:endParaRPr dirty="0"/>
          </a:p>
          <a:p>
            <a:r>
              <a:rPr dirty="0"/>
              <a:t>That makes it interesting not only for service delivery, but also for research, because different communication models can be compared in the same environment.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mobile app matters because digital programs rarely stay on the desktop.</a:t>
            </a:r>
          </a:p>
          <a:p>
            <a:endParaRPr/>
          </a:p>
          <a:p>
            <a:r>
              <a:t>SelfHelp already has a mobile frontend that uses the same platform logic. Surveys, AI chat, therapy chat, notifications, camera input, and microphone input are already part of that picture.</a:t>
            </a:r>
          </a:p>
          <a:p>
            <a:endParaRPr/>
          </a:p>
          <a:p>
            <a:r>
              <a:t>That makes repeated interaction much easier in real life. People can respond, upload, reflect, or interact when it fits their day, not only when they are sitting at a computer.</a:t>
            </a:r>
          </a:p>
          <a:p>
            <a:endParaRPr/>
          </a:p>
          <a:p>
            <a:r>
              <a:t>So the same program can stay with the user across different situations, instead of being split across separate tools.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It is also useful to compare </a:t>
            </a:r>
            <a:r>
              <a:rPr dirty="0" err="1"/>
              <a:t>SelfHelp</a:t>
            </a:r>
            <a:r>
              <a:rPr dirty="0"/>
              <a:t> with other open and self-hosted tools.</a:t>
            </a:r>
          </a:p>
          <a:p>
            <a:endParaRPr dirty="0"/>
          </a:p>
          <a:p>
            <a:r>
              <a:rPr dirty="0" err="1"/>
              <a:t>LimeSurvey</a:t>
            </a:r>
            <a:r>
              <a:rPr dirty="0"/>
              <a:t> is very strong for surveys. JATOS and </a:t>
            </a:r>
            <a:r>
              <a:rPr dirty="0" err="1"/>
              <a:t>formr</a:t>
            </a:r>
            <a:r>
              <a:rPr dirty="0"/>
              <a:t> are strong for online studies. Moodle is strong for learning delivery.</a:t>
            </a:r>
          </a:p>
          <a:p>
            <a:endParaRPr dirty="0"/>
          </a:p>
          <a:p>
            <a:r>
              <a:rPr dirty="0" err="1"/>
              <a:t>SelfHelp</a:t>
            </a:r>
            <a:r>
              <a:rPr dirty="0"/>
              <a:t> is strongest in a different kind of case. It becomes most valuable when content, data collection, workflows, mobile use, permissions, and AI all need to stay connected in one locally controlled system.</a:t>
            </a:r>
          </a:p>
          <a:p>
            <a:endParaRPr dirty="0"/>
          </a:p>
          <a:p>
            <a:r>
              <a:rPr dirty="0"/>
              <a:t>So the difference is not that it replaces every other tool. The difference is that it connects more of the full program in one place.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To close, I would summarize it like this.</a:t>
            </a:r>
          </a:p>
          <a:p>
            <a:endParaRPr dirty="0"/>
          </a:p>
          <a:p>
            <a:r>
              <a:rPr dirty="0" err="1"/>
              <a:t>SelfHelp</a:t>
            </a:r>
            <a:r>
              <a:rPr dirty="0"/>
              <a:t> gives us one platform where content, assessments, workflows, mobile interaction, and AI can all be part of the same program. That is already useful today.</a:t>
            </a:r>
          </a:p>
          <a:p>
            <a:endParaRPr dirty="0"/>
          </a:p>
          <a:p>
            <a:r>
              <a:rPr dirty="0"/>
              <a:t>At the same time, </a:t>
            </a:r>
            <a:r>
              <a:rPr dirty="0" err="1"/>
              <a:t>SelfHelp</a:t>
            </a:r>
            <a:r>
              <a:rPr dirty="0"/>
              <a:t> 2 is already well underway. It is not just a redesign. The goal is to make the platform more structured, easier to extend, and faster to build with.</a:t>
            </a:r>
          </a:p>
          <a:p>
            <a:endParaRPr dirty="0"/>
          </a:p>
          <a:p>
            <a:r>
              <a:rPr dirty="0"/>
              <a:t>One especially promising next step is LLM-supported content creation. That could reduce the time spent building website structure by hand and give teams more time for the actual study design, content quality, and assessment logic.</a:t>
            </a:r>
          </a:p>
          <a:p>
            <a:endParaRPr dirty="0"/>
          </a:p>
          <a:p>
            <a:r>
              <a:rPr dirty="0"/>
              <a:t>And if colleagues see value in this direction, especially in the local university AI infrastructure behind it, support for making that service permanent would be very helpful.</a:t>
            </a:r>
          </a:p>
          <a:p>
            <a:endParaRPr dirty="0"/>
          </a:p>
          <a:p>
            <a:r>
              <a:rPr dirty="0"/>
              <a:t>The main message I would leave you with is this: </a:t>
            </a:r>
            <a:r>
              <a:rPr dirty="0" err="1"/>
              <a:t>SelfHelp</a:t>
            </a:r>
            <a:r>
              <a:rPr dirty="0"/>
              <a:t> moves us from isolated digital tools to continuous digital programs.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very much. I am happy to take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857250" y="1998027"/>
            <a:ext cx="9715500" cy="1353502"/>
          </a:xfrm>
          <a:prstGeom prst="rect">
            <a:avLst/>
          </a:prstGeom>
        </p:spPr>
        <p:txBody>
          <a:bodyPr wrap="square" lIns="0" tIns="0" rIns="0" bIns="0">
            <a:spAutoFit/>
          </a:bodyPr>
          <a:lstStyle>
            <a:lvl1pPr>
              <a:defRPr sz="3500" b="1" i="0">
                <a:solidFill>
                  <a:srgbClr val="1F1E1E"/>
                </a:solidFill>
                <a:latin typeface="Verdana"/>
                <a:cs typeface="Verdana"/>
              </a:defRPr>
            </a:lvl1pPr>
          </a:lstStyle>
          <a:p>
            <a:endParaRPr/>
          </a:p>
        </p:txBody>
      </p:sp>
      <p:sp>
        <p:nvSpPr>
          <p:cNvPr id="3" name="Holder 3"/>
          <p:cNvSpPr>
            <a:spLocks noGrp="1"/>
          </p:cNvSpPr>
          <p:nvPr>
            <p:ph type="subTitle" idx="4"/>
          </p:nvPr>
        </p:nvSpPr>
        <p:spPr>
          <a:xfrm>
            <a:off x="1714500" y="3609340"/>
            <a:ext cx="8001000" cy="1611312"/>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24-Mar-26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500" b="1" i="0">
                <a:solidFill>
                  <a:srgbClr val="1F1E1E"/>
                </a:solidFill>
                <a:latin typeface="Verdana"/>
                <a:cs typeface="Verdana"/>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24-Mar-26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500" b="1" i="0">
                <a:solidFill>
                  <a:srgbClr val="1F1E1E"/>
                </a:solidFill>
                <a:latin typeface="Verdana"/>
                <a:cs typeface="Verdana"/>
              </a:defRPr>
            </a:lvl1pPr>
          </a:lstStyle>
          <a:p>
            <a:endParaRPr/>
          </a:p>
        </p:txBody>
      </p:sp>
      <p:sp>
        <p:nvSpPr>
          <p:cNvPr id="3" name="Holder 3"/>
          <p:cNvSpPr>
            <a:spLocks noGrp="1"/>
          </p:cNvSpPr>
          <p:nvPr>
            <p:ph sz="half" idx="2"/>
          </p:nvPr>
        </p:nvSpPr>
        <p:spPr>
          <a:xfrm>
            <a:off x="571500" y="1482407"/>
            <a:ext cx="4972050" cy="4253865"/>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5871514" y="1886102"/>
            <a:ext cx="4398645" cy="3514090"/>
          </a:xfrm>
          <a:prstGeom prst="rect">
            <a:avLst/>
          </a:prstGeom>
        </p:spPr>
        <p:txBody>
          <a:bodyPr wrap="square" lIns="0" tIns="0" rIns="0" bIns="0">
            <a:spAutoFit/>
          </a:bodyPr>
          <a:lstStyle>
            <a:lvl1pPr>
              <a:defRPr sz="2000" b="1" i="0">
                <a:solidFill>
                  <a:srgbClr val="3A3535"/>
                </a:solidFill>
                <a:latin typeface="Verdana"/>
                <a:cs typeface="Verdana"/>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24-Mar-26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500" b="1" i="0">
                <a:solidFill>
                  <a:srgbClr val="1F1E1E"/>
                </a:solidFill>
                <a:latin typeface="Verdana"/>
                <a:cs typeface="Verdana"/>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24-Mar-26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24-Mar-26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579640" y="494411"/>
            <a:ext cx="6170295" cy="864869"/>
          </a:xfrm>
          <a:prstGeom prst="rect">
            <a:avLst/>
          </a:prstGeom>
        </p:spPr>
        <p:txBody>
          <a:bodyPr wrap="square" lIns="0" tIns="0" rIns="0" bIns="0">
            <a:spAutoFit/>
          </a:bodyPr>
          <a:lstStyle>
            <a:lvl1pPr>
              <a:defRPr sz="3500" b="1" i="0">
                <a:solidFill>
                  <a:srgbClr val="1F1E1E"/>
                </a:solidFill>
                <a:latin typeface="Verdana"/>
                <a:cs typeface="Verdana"/>
              </a:defRPr>
            </a:lvl1pPr>
          </a:lstStyle>
          <a:p>
            <a:endParaRPr/>
          </a:p>
        </p:txBody>
      </p:sp>
      <p:sp>
        <p:nvSpPr>
          <p:cNvPr id="3" name="Holder 3"/>
          <p:cNvSpPr>
            <a:spLocks noGrp="1"/>
          </p:cNvSpPr>
          <p:nvPr>
            <p:ph type="body" idx="1"/>
          </p:nvPr>
        </p:nvSpPr>
        <p:spPr>
          <a:xfrm>
            <a:off x="571500" y="1482407"/>
            <a:ext cx="10287000" cy="4253865"/>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3886200" y="5994082"/>
            <a:ext cx="3657600" cy="322262"/>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571500" y="5994082"/>
            <a:ext cx="2628900" cy="322262"/>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24-Mar-26</a:t>
            </a:fld>
            <a:endParaRPr lang="en-US"/>
          </a:p>
        </p:txBody>
      </p:sp>
      <p:sp>
        <p:nvSpPr>
          <p:cNvPr id="6" name="Holder 6"/>
          <p:cNvSpPr>
            <a:spLocks noGrp="1"/>
          </p:cNvSpPr>
          <p:nvPr>
            <p:ph type="sldNum" sz="quarter" idx="7"/>
          </p:nvPr>
        </p:nvSpPr>
        <p:spPr>
          <a:xfrm>
            <a:off x="8229600" y="5994082"/>
            <a:ext cx="2628900" cy="322262"/>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10248900" y="676274"/>
            <a:ext cx="685799" cy="685799"/>
          </a:xfrm>
          <a:prstGeom prst="rect">
            <a:avLst/>
          </a:prstGeom>
        </p:spPr>
      </p:pic>
      <p:sp>
        <p:nvSpPr>
          <p:cNvPr id="3" name="object 3" descr="$PPTXTitle"/>
          <p:cNvSpPr txBox="1">
            <a:spLocks noGrp="1"/>
          </p:cNvSpPr>
          <p:nvPr>
            <p:ph type="title"/>
          </p:nvPr>
        </p:nvSpPr>
        <p:spPr>
          <a:xfrm>
            <a:off x="492721" y="2407602"/>
            <a:ext cx="1709420" cy="481965"/>
          </a:xfrm>
          <a:prstGeom prst="rect">
            <a:avLst/>
          </a:prstGeom>
        </p:spPr>
        <p:txBody>
          <a:bodyPr vert="horz" wrap="square" lIns="0" tIns="11430" rIns="0" bIns="0" rtlCol="0">
            <a:spAutoFit/>
          </a:bodyPr>
          <a:lstStyle/>
          <a:p>
            <a:pPr marL="12700">
              <a:lnSpc>
                <a:spcPct val="100000"/>
              </a:lnSpc>
              <a:spcBef>
                <a:spcPts val="90"/>
              </a:spcBef>
            </a:pPr>
            <a:r>
              <a:rPr sz="3000" spc="-100" dirty="0"/>
              <a:t>SelfHelp</a:t>
            </a:r>
            <a:endParaRPr sz="3000" dirty="0"/>
          </a:p>
        </p:txBody>
      </p:sp>
      <p:sp>
        <p:nvSpPr>
          <p:cNvPr id="4" name="object 4"/>
          <p:cNvSpPr txBox="1"/>
          <p:nvPr/>
        </p:nvSpPr>
        <p:spPr>
          <a:xfrm>
            <a:off x="492721" y="3033776"/>
            <a:ext cx="4536479" cy="217367"/>
          </a:xfrm>
          <a:prstGeom prst="rect">
            <a:avLst/>
          </a:prstGeom>
        </p:spPr>
        <p:txBody>
          <a:bodyPr vert="horz" wrap="square" lIns="0" tIns="17145" rIns="0" bIns="0" rtlCol="0">
            <a:spAutoFit/>
          </a:bodyPr>
          <a:lstStyle/>
          <a:p>
            <a:pPr marL="12700">
              <a:lnSpc>
                <a:spcPct val="100000"/>
              </a:lnSpc>
              <a:spcBef>
                <a:spcPts val="135"/>
              </a:spcBef>
            </a:pPr>
            <a:r>
              <a:rPr sz="1300" spc="70" dirty="0">
                <a:solidFill>
                  <a:srgbClr val="3A3535"/>
                </a:solidFill>
                <a:latin typeface="Century Gothic"/>
                <a:cs typeface="Century Gothic"/>
              </a:rPr>
              <a:t>From</a:t>
            </a:r>
            <a:r>
              <a:rPr sz="1300" spc="20" dirty="0">
                <a:solidFill>
                  <a:srgbClr val="3A3535"/>
                </a:solidFill>
                <a:latin typeface="Century Gothic"/>
                <a:cs typeface="Century Gothic"/>
              </a:rPr>
              <a:t> </a:t>
            </a:r>
            <a:r>
              <a:rPr sz="1300" spc="50" dirty="0">
                <a:solidFill>
                  <a:srgbClr val="3A3535"/>
                </a:solidFill>
                <a:latin typeface="Century Gothic"/>
                <a:cs typeface="Century Gothic"/>
              </a:rPr>
              <a:t>website</a:t>
            </a:r>
            <a:r>
              <a:rPr sz="1300" spc="20" dirty="0">
                <a:solidFill>
                  <a:srgbClr val="3A3535"/>
                </a:solidFill>
                <a:latin typeface="Century Gothic"/>
                <a:cs typeface="Century Gothic"/>
              </a:rPr>
              <a:t> </a:t>
            </a:r>
            <a:r>
              <a:rPr sz="1300" spc="80" dirty="0">
                <a:solidFill>
                  <a:srgbClr val="3A3535"/>
                </a:solidFill>
                <a:latin typeface="Century Gothic"/>
                <a:cs typeface="Century Gothic"/>
              </a:rPr>
              <a:t>system</a:t>
            </a:r>
            <a:r>
              <a:rPr sz="1300" spc="25" dirty="0">
                <a:solidFill>
                  <a:srgbClr val="3A3535"/>
                </a:solidFill>
                <a:latin typeface="Century Gothic"/>
                <a:cs typeface="Century Gothic"/>
              </a:rPr>
              <a:t> </a:t>
            </a:r>
            <a:r>
              <a:rPr sz="1300" spc="60" dirty="0">
                <a:solidFill>
                  <a:srgbClr val="3A3535"/>
                </a:solidFill>
                <a:latin typeface="Century Gothic"/>
                <a:cs typeface="Century Gothic"/>
              </a:rPr>
              <a:t>to</a:t>
            </a:r>
            <a:r>
              <a:rPr sz="1300" spc="20" dirty="0">
                <a:solidFill>
                  <a:srgbClr val="3A3535"/>
                </a:solidFill>
                <a:latin typeface="Century Gothic"/>
                <a:cs typeface="Century Gothic"/>
              </a:rPr>
              <a:t> digital</a:t>
            </a:r>
            <a:r>
              <a:rPr sz="1300" spc="25" dirty="0">
                <a:solidFill>
                  <a:srgbClr val="3A3535"/>
                </a:solidFill>
                <a:latin typeface="Century Gothic"/>
                <a:cs typeface="Century Gothic"/>
              </a:rPr>
              <a:t> </a:t>
            </a:r>
            <a:r>
              <a:rPr sz="1300" spc="20" dirty="0">
                <a:solidFill>
                  <a:srgbClr val="3A3535"/>
                </a:solidFill>
                <a:latin typeface="Century Gothic"/>
                <a:cs typeface="Century Gothic"/>
              </a:rPr>
              <a:t>program </a:t>
            </a:r>
            <a:r>
              <a:rPr sz="1300" spc="-10" dirty="0">
                <a:solidFill>
                  <a:srgbClr val="3A3535"/>
                </a:solidFill>
                <a:latin typeface="Century Gothic"/>
                <a:cs typeface="Century Gothic"/>
              </a:rPr>
              <a:t>platform</a:t>
            </a:r>
            <a:endParaRPr sz="1300" dirty="0">
              <a:latin typeface="Century Gothic"/>
              <a:cs typeface="Century Gothic"/>
            </a:endParaRPr>
          </a:p>
        </p:txBody>
      </p:sp>
      <p:pic>
        <p:nvPicPr>
          <p:cNvPr id="5" name="object 5"/>
          <p:cNvPicPr/>
          <p:nvPr/>
        </p:nvPicPr>
        <p:blipFill>
          <a:blip r:embed="rId4" cstate="print"/>
          <a:stretch>
            <a:fillRect/>
          </a:stretch>
        </p:blipFill>
        <p:spPr>
          <a:xfrm>
            <a:off x="7191375" y="2133600"/>
            <a:ext cx="2666999" cy="2657474"/>
          </a:xfrm>
          <a:prstGeom prst="rect">
            <a:avLst/>
          </a:prstGeom>
        </p:spPr>
      </p:pic>
      <p:sp>
        <p:nvSpPr>
          <p:cNvPr id="6" name="object 6"/>
          <p:cNvSpPr txBox="1"/>
          <p:nvPr/>
        </p:nvSpPr>
        <p:spPr>
          <a:xfrm>
            <a:off x="2861443" y="5356225"/>
            <a:ext cx="5707113" cy="652743"/>
          </a:xfrm>
          <a:prstGeom prst="rect">
            <a:avLst/>
          </a:prstGeom>
        </p:spPr>
        <p:txBody>
          <a:bodyPr vert="horz" wrap="square" lIns="0" tIns="13970" rIns="0" bIns="0" rtlCol="0">
            <a:spAutoFit/>
          </a:bodyPr>
          <a:lstStyle/>
          <a:p>
            <a:pPr algn="ctr">
              <a:lnSpc>
                <a:spcPct val="100000"/>
              </a:lnSpc>
              <a:spcBef>
                <a:spcPts val="110"/>
              </a:spcBef>
            </a:pPr>
            <a:r>
              <a:rPr sz="1300" dirty="0">
                <a:solidFill>
                  <a:srgbClr val="3A3535"/>
                </a:solidFill>
                <a:latin typeface="Century Gothic"/>
                <a:cs typeface="Century Gothic"/>
              </a:rPr>
              <a:t>Stefan</a:t>
            </a:r>
            <a:r>
              <a:rPr sz="1300" spc="60" dirty="0">
                <a:solidFill>
                  <a:srgbClr val="3A3535"/>
                </a:solidFill>
                <a:latin typeface="Century Gothic"/>
                <a:cs typeface="Century Gothic"/>
              </a:rPr>
              <a:t> </a:t>
            </a:r>
            <a:r>
              <a:rPr sz="1300" dirty="0">
                <a:solidFill>
                  <a:srgbClr val="3A3535"/>
                </a:solidFill>
                <a:latin typeface="Century Gothic"/>
                <a:cs typeface="Century Gothic"/>
              </a:rPr>
              <a:t>Kodzhabashev</a:t>
            </a:r>
            <a:r>
              <a:rPr sz="1300" spc="60" dirty="0">
                <a:solidFill>
                  <a:srgbClr val="3A3535"/>
                </a:solidFill>
                <a:latin typeface="Century Gothic"/>
                <a:cs typeface="Century Gothic"/>
              </a:rPr>
              <a:t> </a:t>
            </a:r>
            <a:r>
              <a:rPr sz="1300" spc="-75" dirty="0">
                <a:solidFill>
                  <a:srgbClr val="3A3535"/>
                </a:solidFill>
                <a:latin typeface="Century Gothic"/>
                <a:cs typeface="Century Gothic"/>
              </a:rPr>
              <a:t>·</a:t>
            </a:r>
            <a:r>
              <a:rPr sz="1300" spc="60" dirty="0">
                <a:solidFill>
                  <a:srgbClr val="3A3535"/>
                </a:solidFill>
                <a:latin typeface="Century Gothic"/>
                <a:cs typeface="Century Gothic"/>
              </a:rPr>
              <a:t> </a:t>
            </a:r>
            <a:r>
              <a:rPr sz="1300" spc="65" dirty="0">
                <a:solidFill>
                  <a:srgbClr val="3A3535"/>
                </a:solidFill>
                <a:latin typeface="Century Gothic"/>
                <a:cs typeface="Century Gothic"/>
              </a:rPr>
              <a:t>30.03.2026</a:t>
            </a:r>
            <a:endParaRPr sz="1300" dirty="0">
              <a:latin typeface="Century Gothic"/>
              <a:cs typeface="Century Gothic"/>
            </a:endParaRPr>
          </a:p>
          <a:p>
            <a:pPr>
              <a:lnSpc>
                <a:spcPct val="100000"/>
              </a:lnSpc>
              <a:spcBef>
                <a:spcPts val="290"/>
              </a:spcBef>
            </a:pPr>
            <a:endParaRPr sz="1300" dirty="0">
              <a:latin typeface="Century Gothic"/>
              <a:cs typeface="Century Gothic"/>
            </a:endParaRPr>
          </a:p>
          <a:p>
            <a:pPr algn="ctr">
              <a:lnSpc>
                <a:spcPct val="100000"/>
              </a:lnSpc>
            </a:pPr>
            <a:r>
              <a:rPr sz="1300" dirty="0">
                <a:solidFill>
                  <a:srgbClr val="3A3535"/>
                </a:solidFill>
                <a:latin typeface="Century Gothic"/>
                <a:cs typeface="Century Gothic"/>
              </a:rPr>
              <a:t>Faculty</a:t>
            </a:r>
            <a:r>
              <a:rPr sz="1300" spc="15" dirty="0">
                <a:solidFill>
                  <a:srgbClr val="3A3535"/>
                </a:solidFill>
                <a:latin typeface="Century Gothic"/>
                <a:cs typeface="Century Gothic"/>
              </a:rPr>
              <a:t> </a:t>
            </a:r>
            <a:r>
              <a:rPr sz="1300" dirty="0">
                <a:solidFill>
                  <a:srgbClr val="3A3535"/>
                </a:solidFill>
                <a:latin typeface="Century Gothic"/>
                <a:cs typeface="Century Gothic"/>
              </a:rPr>
              <a:t>Meeting</a:t>
            </a:r>
            <a:r>
              <a:rPr sz="1300" spc="15" dirty="0">
                <a:solidFill>
                  <a:srgbClr val="3A3535"/>
                </a:solidFill>
                <a:latin typeface="Century Gothic"/>
                <a:cs typeface="Century Gothic"/>
              </a:rPr>
              <a:t> </a:t>
            </a:r>
            <a:r>
              <a:rPr sz="1300" spc="-75" dirty="0">
                <a:solidFill>
                  <a:srgbClr val="3A3535"/>
                </a:solidFill>
                <a:latin typeface="Century Gothic"/>
                <a:cs typeface="Century Gothic"/>
              </a:rPr>
              <a:t>·</a:t>
            </a:r>
            <a:r>
              <a:rPr sz="1300" spc="20" dirty="0">
                <a:solidFill>
                  <a:srgbClr val="3A3535"/>
                </a:solidFill>
                <a:latin typeface="Century Gothic"/>
                <a:cs typeface="Century Gothic"/>
              </a:rPr>
              <a:t> </a:t>
            </a:r>
            <a:r>
              <a:rPr sz="1300" spc="-10" dirty="0">
                <a:solidFill>
                  <a:srgbClr val="3A3535"/>
                </a:solidFill>
                <a:latin typeface="Century Gothic"/>
                <a:cs typeface="Century Gothic"/>
              </a:rPr>
              <a:t>March</a:t>
            </a:r>
            <a:r>
              <a:rPr sz="1300" spc="15" dirty="0">
                <a:solidFill>
                  <a:srgbClr val="3A3535"/>
                </a:solidFill>
                <a:latin typeface="Century Gothic"/>
                <a:cs typeface="Century Gothic"/>
              </a:rPr>
              <a:t> </a:t>
            </a:r>
            <a:r>
              <a:rPr sz="1300" spc="95" dirty="0">
                <a:solidFill>
                  <a:srgbClr val="3A3535"/>
                </a:solidFill>
                <a:latin typeface="Century Gothic"/>
                <a:cs typeface="Century Gothic"/>
              </a:rPr>
              <a:t>2026</a:t>
            </a:r>
            <a:r>
              <a:rPr sz="1300" spc="20" dirty="0">
                <a:solidFill>
                  <a:srgbClr val="3A3535"/>
                </a:solidFill>
                <a:latin typeface="Century Gothic"/>
                <a:cs typeface="Century Gothic"/>
              </a:rPr>
              <a:t> </a:t>
            </a:r>
            <a:r>
              <a:rPr sz="1300" spc="-75" dirty="0">
                <a:solidFill>
                  <a:srgbClr val="3A3535"/>
                </a:solidFill>
                <a:latin typeface="Century Gothic"/>
                <a:cs typeface="Century Gothic"/>
              </a:rPr>
              <a:t>·</a:t>
            </a:r>
            <a:r>
              <a:rPr sz="1300" spc="15" dirty="0">
                <a:solidFill>
                  <a:srgbClr val="3A3535"/>
                </a:solidFill>
                <a:latin typeface="Century Gothic"/>
                <a:cs typeface="Century Gothic"/>
              </a:rPr>
              <a:t> </a:t>
            </a:r>
            <a:r>
              <a:rPr sz="1300" spc="50" dirty="0">
                <a:solidFill>
                  <a:srgbClr val="3A3535"/>
                </a:solidFill>
                <a:latin typeface="Century Gothic"/>
                <a:cs typeface="Century Gothic"/>
              </a:rPr>
              <a:t>Building</a:t>
            </a:r>
            <a:r>
              <a:rPr sz="1300" spc="20" dirty="0">
                <a:solidFill>
                  <a:srgbClr val="3A3535"/>
                </a:solidFill>
                <a:latin typeface="Century Gothic"/>
                <a:cs typeface="Century Gothic"/>
              </a:rPr>
              <a:t> </a:t>
            </a:r>
            <a:r>
              <a:rPr sz="1300" dirty="0">
                <a:solidFill>
                  <a:srgbClr val="3A3535"/>
                </a:solidFill>
                <a:latin typeface="Century Gothic"/>
                <a:cs typeface="Century Gothic"/>
              </a:rPr>
              <a:t>on</a:t>
            </a:r>
            <a:r>
              <a:rPr sz="1300" spc="15" dirty="0">
                <a:solidFill>
                  <a:srgbClr val="3A3535"/>
                </a:solidFill>
                <a:latin typeface="Century Gothic"/>
                <a:cs typeface="Century Gothic"/>
              </a:rPr>
              <a:t> </a:t>
            </a:r>
            <a:r>
              <a:rPr sz="1300" dirty="0">
                <a:solidFill>
                  <a:srgbClr val="3A3535"/>
                </a:solidFill>
                <a:latin typeface="Century Gothic"/>
                <a:cs typeface="Century Gothic"/>
              </a:rPr>
              <a:t>our</a:t>
            </a:r>
            <a:r>
              <a:rPr sz="1300" spc="15" dirty="0">
                <a:solidFill>
                  <a:srgbClr val="3A3535"/>
                </a:solidFill>
                <a:latin typeface="Century Gothic"/>
                <a:cs typeface="Century Gothic"/>
              </a:rPr>
              <a:t> </a:t>
            </a:r>
            <a:r>
              <a:rPr sz="1300" dirty="0">
                <a:solidFill>
                  <a:srgbClr val="3A3535"/>
                </a:solidFill>
                <a:latin typeface="Century Gothic"/>
                <a:cs typeface="Century Gothic"/>
              </a:rPr>
              <a:t>2021</a:t>
            </a:r>
            <a:r>
              <a:rPr sz="1300" spc="20" dirty="0">
                <a:solidFill>
                  <a:srgbClr val="3A3535"/>
                </a:solidFill>
                <a:latin typeface="Century Gothic"/>
                <a:cs typeface="Century Gothic"/>
              </a:rPr>
              <a:t> </a:t>
            </a:r>
            <a:r>
              <a:rPr sz="1300" spc="-10" dirty="0">
                <a:solidFill>
                  <a:srgbClr val="3A3535"/>
                </a:solidFill>
                <a:latin typeface="Century Gothic"/>
                <a:cs typeface="Century Gothic"/>
              </a:rPr>
              <a:t>presentation</a:t>
            </a:r>
            <a:endParaRPr sz="1300" dirty="0">
              <a:latin typeface="Century Gothic"/>
              <a:cs typeface="Century Gothic"/>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579640" y="1589786"/>
            <a:ext cx="3785235" cy="560070"/>
          </a:xfrm>
          <a:prstGeom prst="rect">
            <a:avLst/>
          </a:prstGeom>
        </p:spPr>
        <p:txBody>
          <a:bodyPr vert="horz" wrap="square" lIns="0" tIns="13335" rIns="0" bIns="0" rtlCol="0">
            <a:spAutoFit/>
          </a:bodyPr>
          <a:lstStyle/>
          <a:p>
            <a:pPr marL="12700">
              <a:lnSpc>
                <a:spcPct val="100000"/>
              </a:lnSpc>
              <a:spcBef>
                <a:spcPts val="105"/>
              </a:spcBef>
            </a:pPr>
            <a:r>
              <a:rPr spc="-215" dirty="0"/>
              <a:t>What</a:t>
            </a:r>
            <a:r>
              <a:rPr spc="-400" dirty="0"/>
              <a:t> </a:t>
            </a:r>
            <a:r>
              <a:rPr spc="-130" dirty="0"/>
              <a:t>SelfHelp</a:t>
            </a:r>
            <a:r>
              <a:rPr spc="-395" dirty="0"/>
              <a:t> </a:t>
            </a:r>
            <a:r>
              <a:rPr spc="-505" dirty="0"/>
              <a:t>Is</a:t>
            </a:r>
          </a:p>
        </p:txBody>
      </p:sp>
      <p:sp>
        <p:nvSpPr>
          <p:cNvPr id="3" name="object 3"/>
          <p:cNvSpPr txBox="1"/>
          <p:nvPr/>
        </p:nvSpPr>
        <p:spPr>
          <a:xfrm>
            <a:off x="579635" y="2459550"/>
            <a:ext cx="9766300" cy="577850"/>
          </a:xfrm>
          <a:prstGeom prst="rect">
            <a:avLst/>
          </a:prstGeom>
        </p:spPr>
        <p:txBody>
          <a:bodyPr vert="horz" wrap="square" lIns="0" tIns="11430" rIns="0" bIns="0" rtlCol="0">
            <a:spAutoFit/>
          </a:bodyPr>
          <a:lstStyle/>
          <a:p>
            <a:pPr marL="12700" marR="5080">
              <a:lnSpc>
                <a:spcPct val="139400"/>
              </a:lnSpc>
              <a:spcBef>
                <a:spcPts val="90"/>
              </a:spcBef>
            </a:pPr>
            <a:r>
              <a:rPr sz="1300" dirty="0">
                <a:solidFill>
                  <a:srgbClr val="3A3535"/>
                </a:solidFill>
                <a:latin typeface="Century Gothic"/>
                <a:cs typeface="Century Gothic"/>
              </a:rPr>
              <a:t>A</a:t>
            </a:r>
            <a:r>
              <a:rPr sz="1300" spc="40" dirty="0">
                <a:solidFill>
                  <a:srgbClr val="3A3535"/>
                </a:solidFill>
                <a:latin typeface="Century Gothic"/>
                <a:cs typeface="Century Gothic"/>
              </a:rPr>
              <a:t> </a:t>
            </a:r>
            <a:r>
              <a:rPr sz="1300" dirty="0">
                <a:solidFill>
                  <a:srgbClr val="3A3535"/>
                </a:solidFill>
                <a:latin typeface="Century Gothic"/>
                <a:cs typeface="Century Gothic"/>
              </a:rPr>
              <a:t>modular</a:t>
            </a:r>
            <a:r>
              <a:rPr sz="1300" spc="40" dirty="0">
                <a:solidFill>
                  <a:srgbClr val="3A3535"/>
                </a:solidFill>
                <a:latin typeface="Century Gothic"/>
                <a:cs typeface="Century Gothic"/>
              </a:rPr>
              <a:t> </a:t>
            </a:r>
            <a:r>
              <a:rPr sz="1300" spc="50" dirty="0">
                <a:solidFill>
                  <a:srgbClr val="3A3535"/>
                </a:solidFill>
                <a:latin typeface="Century Gothic"/>
                <a:cs typeface="Century Gothic"/>
              </a:rPr>
              <a:t>platform</a:t>
            </a:r>
            <a:r>
              <a:rPr sz="1300" spc="40" dirty="0">
                <a:solidFill>
                  <a:srgbClr val="3A3535"/>
                </a:solidFill>
                <a:latin typeface="Century Gothic"/>
                <a:cs typeface="Century Gothic"/>
              </a:rPr>
              <a:t> </a:t>
            </a:r>
            <a:r>
              <a:rPr sz="1300" dirty="0">
                <a:solidFill>
                  <a:srgbClr val="3A3535"/>
                </a:solidFill>
                <a:latin typeface="Century Gothic"/>
                <a:cs typeface="Century Gothic"/>
              </a:rPr>
              <a:t>that</a:t>
            </a:r>
            <a:r>
              <a:rPr sz="1300" spc="40" dirty="0">
                <a:solidFill>
                  <a:srgbClr val="3A3535"/>
                </a:solidFill>
                <a:latin typeface="Century Gothic"/>
                <a:cs typeface="Century Gothic"/>
              </a:rPr>
              <a:t> </a:t>
            </a:r>
            <a:r>
              <a:rPr sz="1300" spc="95" dirty="0">
                <a:solidFill>
                  <a:srgbClr val="3A3535"/>
                </a:solidFill>
                <a:latin typeface="Century Gothic"/>
                <a:cs typeface="Century Gothic"/>
              </a:rPr>
              <a:t>brings</a:t>
            </a:r>
            <a:r>
              <a:rPr sz="1300" spc="45" dirty="0">
                <a:solidFill>
                  <a:srgbClr val="3A3535"/>
                </a:solidFill>
                <a:latin typeface="Century Gothic"/>
                <a:cs typeface="Century Gothic"/>
              </a:rPr>
              <a:t> </a:t>
            </a:r>
            <a:r>
              <a:rPr sz="1300" dirty="0">
                <a:solidFill>
                  <a:srgbClr val="3A3535"/>
                </a:solidFill>
                <a:latin typeface="Century Gothic"/>
                <a:cs typeface="Century Gothic"/>
              </a:rPr>
              <a:t>content,</a:t>
            </a:r>
            <a:r>
              <a:rPr sz="1300" spc="40" dirty="0">
                <a:solidFill>
                  <a:srgbClr val="3A3535"/>
                </a:solidFill>
                <a:latin typeface="Century Gothic"/>
                <a:cs typeface="Century Gothic"/>
              </a:rPr>
              <a:t> </a:t>
            </a:r>
            <a:r>
              <a:rPr sz="1300" spc="80" dirty="0">
                <a:solidFill>
                  <a:srgbClr val="3A3535"/>
                </a:solidFill>
                <a:latin typeface="Century Gothic"/>
                <a:cs typeface="Century Gothic"/>
              </a:rPr>
              <a:t>assessments,</a:t>
            </a:r>
            <a:r>
              <a:rPr sz="1300" spc="30" dirty="0">
                <a:solidFill>
                  <a:srgbClr val="3A3535"/>
                </a:solidFill>
                <a:latin typeface="Century Gothic"/>
                <a:cs typeface="Century Gothic"/>
              </a:rPr>
              <a:t> </a:t>
            </a:r>
            <a:r>
              <a:rPr sz="1300" spc="65" dirty="0">
                <a:solidFill>
                  <a:srgbClr val="3A3535"/>
                </a:solidFill>
                <a:latin typeface="Century Gothic"/>
                <a:cs typeface="Century Gothic"/>
              </a:rPr>
              <a:t>workflows,</a:t>
            </a:r>
            <a:r>
              <a:rPr sz="1300" spc="4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40" dirty="0">
                <a:solidFill>
                  <a:srgbClr val="3A3535"/>
                </a:solidFill>
                <a:latin typeface="Century Gothic"/>
                <a:cs typeface="Century Gothic"/>
              </a:rPr>
              <a:t> </a:t>
            </a:r>
            <a:r>
              <a:rPr sz="1300" spc="50" dirty="0">
                <a:solidFill>
                  <a:srgbClr val="3A3535"/>
                </a:solidFill>
                <a:latin typeface="Century Gothic"/>
                <a:cs typeface="Century Gothic"/>
              </a:rPr>
              <a:t>mobile</a:t>
            </a:r>
            <a:r>
              <a:rPr sz="1300" spc="40" dirty="0">
                <a:solidFill>
                  <a:srgbClr val="3A3535"/>
                </a:solidFill>
                <a:latin typeface="Century Gothic"/>
                <a:cs typeface="Century Gothic"/>
              </a:rPr>
              <a:t> </a:t>
            </a:r>
            <a:r>
              <a:rPr sz="1300" dirty="0">
                <a:solidFill>
                  <a:srgbClr val="3A3535"/>
                </a:solidFill>
                <a:latin typeface="Century Gothic"/>
                <a:cs typeface="Century Gothic"/>
              </a:rPr>
              <a:t>delivery</a:t>
            </a:r>
            <a:r>
              <a:rPr sz="1300" spc="40" dirty="0">
                <a:solidFill>
                  <a:srgbClr val="3A3535"/>
                </a:solidFill>
                <a:latin typeface="Century Gothic"/>
                <a:cs typeface="Century Gothic"/>
              </a:rPr>
              <a:t> </a:t>
            </a:r>
            <a:r>
              <a:rPr sz="1300" spc="80" dirty="0">
                <a:solidFill>
                  <a:srgbClr val="3A3535"/>
                </a:solidFill>
                <a:latin typeface="Century Gothic"/>
                <a:cs typeface="Century Gothic"/>
              </a:rPr>
              <a:t>into</a:t>
            </a:r>
            <a:r>
              <a:rPr sz="1300" spc="45" dirty="0">
                <a:solidFill>
                  <a:srgbClr val="3A3535"/>
                </a:solidFill>
                <a:latin typeface="Century Gothic"/>
                <a:cs typeface="Century Gothic"/>
              </a:rPr>
              <a:t> </a:t>
            </a:r>
            <a:r>
              <a:rPr sz="1300" dirty="0">
                <a:solidFill>
                  <a:srgbClr val="3A3535"/>
                </a:solidFill>
                <a:latin typeface="Century Gothic"/>
                <a:cs typeface="Century Gothic"/>
              </a:rPr>
              <a:t>one</a:t>
            </a:r>
            <a:r>
              <a:rPr sz="1300" spc="40" dirty="0">
                <a:solidFill>
                  <a:srgbClr val="3A3535"/>
                </a:solidFill>
                <a:latin typeface="Century Gothic"/>
                <a:cs typeface="Century Gothic"/>
              </a:rPr>
              <a:t> </a:t>
            </a:r>
            <a:r>
              <a:rPr sz="1300" dirty="0">
                <a:solidFill>
                  <a:srgbClr val="3A3535"/>
                </a:solidFill>
                <a:latin typeface="Century Gothic"/>
                <a:cs typeface="Century Gothic"/>
              </a:rPr>
              <a:t>connected</a:t>
            </a:r>
            <a:r>
              <a:rPr sz="1300" spc="40" dirty="0">
                <a:solidFill>
                  <a:srgbClr val="3A3535"/>
                </a:solidFill>
                <a:latin typeface="Century Gothic"/>
                <a:cs typeface="Century Gothic"/>
              </a:rPr>
              <a:t> </a:t>
            </a:r>
            <a:r>
              <a:rPr sz="1300" spc="85" dirty="0">
                <a:solidFill>
                  <a:srgbClr val="3A3535"/>
                </a:solidFill>
                <a:latin typeface="Century Gothic"/>
                <a:cs typeface="Century Gothic"/>
              </a:rPr>
              <a:t>system</a:t>
            </a:r>
            <a:r>
              <a:rPr sz="1300" spc="40" dirty="0">
                <a:solidFill>
                  <a:srgbClr val="3A3535"/>
                </a:solidFill>
                <a:latin typeface="Century Gothic"/>
                <a:cs typeface="Century Gothic"/>
              </a:rPr>
              <a:t> </a:t>
            </a:r>
            <a:r>
              <a:rPr sz="1300" spc="-50" dirty="0">
                <a:solidFill>
                  <a:srgbClr val="3A3535"/>
                </a:solidFill>
                <a:latin typeface="Century Gothic"/>
                <a:cs typeface="Century Gothic"/>
              </a:rPr>
              <a:t>— </a:t>
            </a:r>
            <a:r>
              <a:rPr sz="1300" spc="10" dirty="0">
                <a:solidFill>
                  <a:srgbClr val="3A3535"/>
                </a:solidFill>
                <a:latin typeface="Century Gothic"/>
                <a:cs typeface="Century Gothic"/>
              </a:rPr>
              <a:t>hostable</a:t>
            </a:r>
            <a:r>
              <a:rPr sz="1300" spc="105" dirty="0">
                <a:solidFill>
                  <a:srgbClr val="3A3535"/>
                </a:solidFill>
                <a:latin typeface="Century Gothic"/>
                <a:cs typeface="Century Gothic"/>
              </a:rPr>
              <a:t> </a:t>
            </a:r>
            <a:r>
              <a:rPr sz="1300" spc="10" dirty="0">
                <a:solidFill>
                  <a:srgbClr val="3A3535"/>
                </a:solidFill>
                <a:latin typeface="Century Gothic"/>
                <a:cs typeface="Century Gothic"/>
              </a:rPr>
              <a:t>under</a:t>
            </a:r>
            <a:r>
              <a:rPr sz="1300" spc="105" dirty="0">
                <a:solidFill>
                  <a:srgbClr val="3A3535"/>
                </a:solidFill>
                <a:latin typeface="Century Gothic"/>
                <a:cs typeface="Century Gothic"/>
              </a:rPr>
              <a:t> </a:t>
            </a:r>
            <a:r>
              <a:rPr sz="1300" spc="75" dirty="0">
                <a:solidFill>
                  <a:srgbClr val="3A3535"/>
                </a:solidFill>
                <a:latin typeface="Century Gothic"/>
                <a:cs typeface="Century Gothic"/>
              </a:rPr>
              <a:t>university</a:t>
            </a:r>
            <a:r>
              <a:rPr sz="1300" spc="110" dirty="0">
                <a:solidFill>
                  <a:srgbClr val="3A3535"/>
                </a:solidFill>
                <a:latin typeface="Century Gothic"/>
                <a:cs typeface="Century Gothic"/>
              </a:rPr>
              <a:t> </a:t>
            </a:r>
            <a:r>
              <a:rPr sz="1300" spc="40" dirty="0">
                <a:solidFill>
                  <a:srgbClr val="3A3535"/>
                </a:solidFill>
                <a:latin typeface="Century Gothic"/>
                <a:cs typeface="Century Gothic"/>
              </a:rPr>
              <a:t>control.</a:t>
            </a:r>
            <a:endParaRPr sz="1300" dirty="0">
              <a:latin typeface="Century Gothic"/>
              <a:cs typeface="Century Gothic"/>
            </a:endParaRPr>
          </a:p>
        </p:txBody>
      </p:sp>
      <p:grpSp>
        <p:nvGrpSpPr>
          <p:cNvPr id="4" name="object 4"/>
          <p:cNvGrpSpPr/>
          <p:nvPr/>
        </p:nvGrpSpPr>
        <p:grpSpPr>
          <a:xfrm>
            <a:off x="590550" y="3257550"/>
            <a:ext cx="3305175" cy="1552575"/>
            <a:chOff x="590550" y="3257550"/>
            <a:chExt cx="3305175" cy="1552575"/>
          </a:xfrm>
        </p:grpSpPr>
        <p:sp>
          <p:nvSpPr>
            <p:cNvPr id="5" name="object 5"/>
            <p:cNvSpPr/>
            <p:nvPr/>
          </p:nvSpPr>
          <p:spPr>
            <a:xfrm>
              <a:off x="595312" y="3262312"/>
              <a:ext cx="3295650" cy="1543050"/>
            </a:xfrm>
            <a:custGeom>
              <a:avLst/>
              <a:gdLst/>
              <a:ahLst/>
              <a:cxnLst/>
              <a:rect l="l" t="t" r="r" b="b"/>
              <a:pathLst>
                <a:path w="3295650" h="1543050">
                  <a:moveTo>
                    <a:pt x="3244748" y="0"/>
                  </a:moveTo>
                  <a:lnTo>
                    <a:pt x="50904" y="0"/>
                  </a:lnTo>
                  <a:lnTo>
                    <a:pt x="47362" y="342"/>
                  </a:lnTo>
                  <a:lnTo>
                    <a:pt x="13428" y="18491"/>
                  </a:lnTo>
                  <a:lnTo>
                    <a:pt x="0" y="50901"/>
                  </a:lnTo>
                  <a:lnTo>
                    <a:pt x="0" y="1488567"/>
                  </a:lnTo>
                  <a:lnTo>
                    <a:pt x="0" y="1492148"/>
                  </a:lnTo>
                  <a:lnTo>
                    <a:pt x="18484" y="1529626"/>
                  </a:lnTo>
                  <a:lnTo>
                    <a:pt x="50904" y="1543050"/>
                  </a:lnTo>
                  <a:lnTo>
                    <a:pt x="3244748" y="1543050"/>
                  </a:lnTo>
                  <a:lnTo>
                    <a:pt x="3282226" y="1524558"/>
                  </a:lnTo>
                  <a:lnTo>
                    <a:pt x="3295650" y="1492148"/>
                  </a:lnTo>
                  <a:lnTo>
                    <a:pt x="3295650" y="50901"/>
                  </a:lnTo>
                  <a:lnTo>
                    <a:pt x="3277158" y="13423"/>
                  </a:lnTo>
                  <a:lnTo>
                    <a:pt x="3248291" y="342"/>
                  </a:lnTo>
                  <a:lnTo>
                    <a:pt x="3244748" y="0"/>
                  </a:lnTo>
                  <a:close/>
                </a:path>
              </a:pathLst>
            </a:custGeom>
            <a:solidFill>
              <a:srgbClr val="F9D2D6"/>
            </a:solidFill>
          </p:spPr>
          <p:txBody>
            <a:bodyPr wrap="square" lIns="0" tIns="0" rIns="0" bIns="0" rtlCol="0"/>
            <a:lstStyle/>
            <a:p>
              <a:endParaRPr/>
            </a:p>
          </p:txBody>
        </p:sp>
        <p:sp>
          <p:nvSpPr>
            <p:cNvPr id="6" name="object 6"/>
            <p:cNvSpPr/>
            <p:nvPr/>
          </p:nvSpPr>
          <p:spPr>
            <a:xfrm>
              <a:off x="595312" y="3262312"/>
              <a:ext cx="3295650" cy="1543050"/>
            </a:xfrm>
            <a:custGeom>
              <a:avLst/>
              <a:gdLst/>
              <a:ahLst/>
              <a:cxnLst/>
              <a:rect l="l" t="t" r="r" b="b"/>
              <a:pathLst>
                <a:path w="3295650" h="1543050">
                  <a:moveTo>
                    <a:pt x="0" y="1488567"/>
                  </a:moveTo>
                  <a:lnTo>
                    <a:pt x="0" y="54483"/>
                  </a:lnTo>
                  <a:lnTo>
                    <a:pt x="0" y="50901"/>
                  </a:lnTo>
                  <a:lnTo>
                    <a:pt x="346" y="47358"/>
                  </a:lnTo>
                  <a:lnTo>
                    <a:pt x="1046" y="43853"/>
                  </a:lnTo>
                  <a:lnTo>
                    <a:pt x="1746" y="40347"/>
                  </a:lnTo>
                  <a:lnTo>
                    <a:pt x="2778" y="36931"/>
                  </a:lnTo>
                  <a:lnTo>
                    <a:pt x="4147" y="33629"/>
                  </a:lnTo>
                  <a:lnTo>
                    <a:pt x="5516" y="30327"/>
                  </a:lnTo>
                  <a:lnTo>
                    <a:pt x="24213" y="9182"/>
                  </a:lnTo>
                  <a:lnTo>
                    <a:pt x="27185" y="7188"/>
                  </a:lnTo>
                  <a:lnTo>
                    <a:pt x="30326" y="5511"/>
                  </a:lnTo>
                  <a:lnTo>
                    <a:pt x="33629" y="4152"/>
                  </a:lnTo>
                  <a:lnTo>
                    <a:pt x="36939" y="2781"/>
                  </a:lnTo>
                  <a:lnTo>
                    <a:pt x="40342" y="1739"/>
                  </a:lnTo>
                  <a:lnTo>
                    <a:pt x="43854" y="1041"/>
                  </a:lnTo>
                  <a:lnTo>
                    <a:pt x="47362" y="342"/>
                  </a:lnTo>
                  <a:lnTo>
                    <a:pt x="50904" y="0"/>
                  </a:lnTo>
                  <a:lnTo>
                    <a:pt x="54480" y="0"/>
                  </a:lnTo>
                  <a:lnTo>
                    <a:pt x="3241167" y="0"/>
                  </a:lnTo>
                  <a:lnTo>
                    <a:pt x="3244748" y="0"/>
                  </a:lnTo>
                  <a:lnTo>
                    <a:pt x="3248291" y="342"/>
                  </a:lnTo>
                  <a:lnTo>
                    <a:pt x="3251796" y="1041"/>
                  </a:lnTo>
                  <a:lnTo>
                    <a:pt x="3255302" y="1739"/>
                  </a:lnTo>
                  <a:lnTo>
                    <a:pt x="3258705" y="2781"/>
                  </a:lnTo>
                  <a:lnTo>
                    <a:pt x="3262020" y="4152"/>
                  </a:lnTo>
                  <a:lnTo>
                    <a:pt x="3265322" y="5511"/>
                  </a:lnTo>
                  <a:lnTo>
                    <a:pt x="3268459" y="7188"/>
                  </a:lnTo>
                  <a:lnTo>
                    <a:pt x="3271431" y="9182"/>
                  </a:lnTo>
                  <a:lnTo>
                    <a:pt x="3274415" y="11163"/>
                  </a:lnTo>
                  <a:lnTo>
                    <a:pt x="3277158" y="13423"/>
                  </a:lnTo>
                  <a:lnTo>
                    <a:pt x="3279686" y="15951"/>
                  </a:lnTo>
                  <a:lnTo>
                    <a:pt x="3282226" y="18491"/>
                  </a:lnTo>
                  <a:lnTo>
                    <a:pt x="3284486" y="21234"/>
                  </a:lnTo>
                  <a:lnTo>
                    <a:pt x="3286467" y="24206"/>
                  </a:lnTo>
                  <a:lnTo>
                    <a:pt x="3288461" y="27190"/>
                  </a:lnTo>
                  <a:lnTo>
                    <a:pt x="3290138" y="30327"/>
                  </a:lnTo>
                  <a:lnTo>
                    <a:pt x="3291497" y="33629"/>
                  </a:lnTo>
                  <a:lnTo>
                    <a:pt x="3292868" y="36931"/>
                  </a:lnTo>
                  <a:lnTo>
                    <a:pt x="3293910" y="40347"/>
                  </a:lnTo>
                  <a:lnTo>
                    <a:pt x="3294608" y="43853"/>
                  </a:lnTo>
                  <a:lnTo>
                    <a:pt x="3295307" y="47358"/>
                  </a:lnTo>
                  <a:lnTo>
                    <a:pt x="3295650" y="50901"/>
                  </a:lnTo>
                  <a:lnTo>
                    <a:pt x="3295650" y="54483"/>
                  </a:lnTo>
                  <a:lnTo>
                    <a:pt x="3295650" y="1488567"/>
                  </a:lnTo>
                  <a:lnTo>
                    <a:pt x="3295650" y="1492148"/>
                  </a:lnTo>
                  <a:lnTo>
                    <a:pt x="3295307" y="1495691"/>
                  </a:lnTo>
                  <a:lnTo>
                    <a:pt x="3294608" y="1499196"/>
                  </a:lnTo>
                  <a:lnTo>
                    <a:pt x="3293910" y="1502702"/>
                  </a:lnTo>
                  <a:lnTo>
                    <a:pt x="3292868" y="1506105"/>
                  </a:lnTo>
                  <a:lnTo>
                    <a:pt x="3291497" y="1509420"/>
                  </a:lnTo>
                  <a:lnTo>
                    <a:pt x="3290138" y="1512722"/>
                  </a:lnTo>
                  <a:lnTo>
                    <a:pt x="3288461" y="1515859"/>
                  </a:lnTo>
                  <a:lnTo>
                    <a:pt x="3286467" y="1518831"/>
                  </a:lnTo>
                  <a:lnTo>
                    <a:pt x="3284486" y="1521802"/>
                  </a:lnTo>
                  <a:lnTo>
                    <a:pt x="3282226" y="1524558"/>
                  </a:lnTo>
                  <a:lnTo>
                    <a:pt x="3279686" y="1527086"/>
                  </a:lnTo>
                  <a:lnTo>
                    <a:pt x="3277158" y="1529626"/>
                  </a:lnTo>
                  <a:lnTo>
                    <a:pt x="3244748" y="1543050"/>
                  </a:lnTo>
                  <a:lnTo>
                    <a:pt x="3241167" y="1543050"/>
                  </a:lnTo>
                  <a:lnTo>
                    <a:pt x="54480" y="1543050"/>
                  </a:lnTo>
                  <a:lnTo>
                    <a:pt x="50904" y="1543050"/>
                  </a:lnTo>
                  <a:lnTo>
                    <a:pt x="47362" y="1542694"/>
                  </a:lnTo>
                  <a:lnTo>
                    <a:pt x="15958" y="1527086"/>
                  </a:lnTo>
                  <a:lnTo>
                    <a:pt x="13428" y="1524558"/>
                  </a:lnTo>
                  <a:lnTo>
                    <a:pt x="11167" y="1521802"/>
                  </a:lnTo>
                  <a:lnTo>
                    <a:pt x="9182" y="1518831"/>
                  </a:lnTo>
                  <a:lnTo>
                    <a:pt x="7193" y="1515859"/>
                  </a:lnTo>
                  <a:lnTo>
                    <a:pt x="1046" y="1499196"/>
                  </a:lnTo>
                  <a:lnTo>
                    <a:pt x="346" y="1495691"/>
                  </a:lnTo>
                  <a:lnTo>
                    <a:pt x="0" y="1492148"/>
                  </a:lnTo>
                  <a:lnTo>
                    <a:pt x="0" y="1488567"/>
                  </a:lnTo>
                  <a:close/>
                </a:path>
              </a:pathLst>
            </a:custGeom>
            <a:ln w="9525">
              <a:solidFill>
                <a:srgbClr val="DFB7BB"/>
              </a:solidFill>
            </a:ln>
          </p:spPr>
          <p:txBody>
            <a:bodyPr wrap="square" lIns="0" tIns="0" rIns="0" bIns="0" rtlCol="0"/>
            <a:lstStyle/>
            <a:p>
              <a:endParaRPr/>
            </a:p>
          </p:txBody>
        </p:sp>
      </p:grpSp>
      <p:sp>
        <p:nvSpPr>
          <p:cNvPr id="7" name="object 7"/>
          <p:cNvSpPr txBox="1"/>
          <p:nvPr/>
        </p:nvSpPr>
        <p:spPr>
          <a:xfrm>
            <a:off x="758377" y="3412680"/>
            <a:ext cx="2436495" cy="1186815"/>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Modular</a:t>
            </a:r>
            <a:endParaRPr sz="1750" dirty="0">
              <a:latin typeface="Verdana"/>
              <a:cs typeface="Verdana"/>
            </a:endParaRPr>
          </a:p>
          <a:p>
            <a:pPr marL="12700" marR="5080" algn="just">
              <a:lnSpc>
                <a:spcPct val="137000"/>
              </a:lnSpc>
              <a:spcBef>
                <a:spcPts val="625"/>
              </a:spcBef>
            </a:pPr>
            <a:r>
              <a:rPr sz="1300" spc="20" dirty="0">
                <a:solidFill>
                  <a:srgbClr val="3A3535"/>
                </a:solidFill>
                <a:latin typeface="Century Gothic"/>
                <a:cs typeface="Century Gothic"/>
              </a:rPr>
              <a:t>Reusable</a:t>
            </a:r>
            <a:r>
              <a:rPr sz="1300" spc="145" dirty="0">
                <a:solidFill>
                  <a:srgbClr val="3A3535"/>
                </a:solidFill>
                <a:latin typeface="Century Gothic"/>
                <a:cs typeface="Century Gothic"/>
              </a:rPr>
              <a:t> </a:t>
            </a:r>
            <a:r>
              <a:rPr sz="1300" spc="20" dirty="0">
                <a:solidFill>
                  <a:srgbClr val="3A3535"/>
                </a:solidFill>
                <a:latin typeface="Century Gothic"/>
                <a:cs typeface="Century Gothic"/>
              </a:rPr>
              <a:t>components</a:t>
            </a:r>
            <a:r>
              <a:rPr sz="1300" spc="150" dirty="0">
                <a:solidFill>
                  <a:srgbClr val="3A3535"/>
                </a:solidFill>
                <a:latin typeface="Century Gothic"/>
                <a:cs typeface="Century Gothic"/>
              </a:rPr>
              <a:t> </a:t>
            </a:r>
            <a:r>
              <a:rPr sz="1300" spc="-20" dirty="0">
                <a:solidFill>
                  <a:srgbClr val="3A3535"/>
                </a:solidFill>
                <a:latin typeface="Century Gothic"/>
                <a:cs typeface="Century Gothic"/>
              </a:rPr>
              <a:t>make </a:t>
            </a:r>
            <a:r>
              <a:rPr sz="1300" spc="55" dirty="0">
                <a:solidFill>
                  <a:srgbClr val="3A3535"/>
                </a:solidFill>
                <a:latin typeface="Century Gothic"/>
                <a:cs typeface="Century Gothic"/>
              </a:rPr>
              <a:t>programs</a:t>
            </a:r>
            <a:r>
              <a:rPr sz="1300" spc="-35" dirty="0">
                <a:solidFill>
                  <a:srgbClr val="3A3535"/>
                </a:solidFill>
                <a:latin typeface="Century Gothic"/>
                <a:cs typeface="Century Gothic"/>
              </a:rPr>
              <a:t> </a:t>
            </a:r>
            <a:r>
              <a:rPr sz="1300" spc="55" dirty="0">
                <a:solidFill>
                  <a:srgbClr val="3A3535"/>
                </a:solidFill>
                <a:latin typeface="Century Gothic"/>
                <a:cs typeface="Century Gothic"/>
              </a:rPr>
              <a:t>faster</a:t>
            </a:r>
            <a:r>
              <a:rPr sz="1300" spc="-35" dirty="0">
                <a:solidFill>
                  <a:srgbClr val="3A3535"/>
                </a:solidFill>
                <a:latin typeface="Century Gothic"/>
                <a:cs typeface="Century Gothic"/>
              </a:rPr>
              <a:t> </a:t>
            </a:r>
            <a:r>
              <a:rPr sz="1300" spc="70" dirty="0">
                <a:solidFill>
                  <a:srgbClr val="3A3535"/>
                </a:solidFill>
                <a:latin typeface="Century Gothic"/>
                <a:cs typeface="Century Gothic"/>
              </a:rPr>
              <a:t>to</a:t>
            </a:r>
            <a:r>
              <a:rPr sz="1300" spc="-35" dirty="0">
                <a:solidFill>
                  <a:srgbClr val="3A3535"/>
                </a:solidFill>
                <a:latin typeface="Century Gothic"/>
                <a:cs typeface="Century Gothic"/>
              </a:rPr>
              <a:t> </a:t>
            </a:r>
            <a:r>
              <a:rPr sz="1300" spc="60" dirty="0">
                <a:solidFill>
                  <a:srgbClr val="3A3535"/>
                </a:solidFill>
                <a:latin typeface="Century Gothic"/>
                <a:cs typeface="Century Gothic"/>
              </a:rPr>
              <a:t>build</a:t>
            </a:r>
            <a:r>
              <a:rPr sz="1300" spc="-35" dirty="0">
                <a:solidFill>
                  <a:srgbClr val="3A3535"/>
                </a:solidFill>
                <a:latin typeface="Century Gothic"/>
                <a:cs typeface="Century Gothic"/>
              </a:rPr>
              <a:t> </a:t>
            </a:r>
            <a:r>
              <a:rPr sz="1300" spc="-25" dirty="0">
                <a:solidFill>
                  <a:srgbClr val="3A3535"/>
                </a:solidFill>
                <a:latin typeface="Century Gothic"/>
                <a:cs typeface="Century Gothic"/>
              </a:rPr>
              <a:t>and </a:t>
            </a:r>
            <a:r>
              <a:rPr sz="1300" dirty="0">
                <a:solidFill>
                  <a:srgbClr val="3A3535"/>
                </a:solidFill>
                <a:latin typeface="Century Gothic"/>
                <a:cs typeface="Century Gothic"/>
              </a:rPr>
              <a:t>easier</a:t>
            </a:r>
            <a:r>
              <a:rPr sz="1300" spc="80" dirty="0">
                <a:solidFill>
                  <a:srgbClr val="3A3535"/>
                </a:solidFill>
                <a:latin typeface="Century Gothic"/>
                <a:cs typeface="Century Gothic"/>
              </a:rPr>
              <a:t> </a:t>
            </a:r>
            <a:r>
              <a:rPr sz="1300" spc="70" dirty="0">
                <a:solidFill>
                  <a:srgbClr val="3A3535"/>
                </a:solidFill>
                <a:latin typeface="Century Gothic"/>
                <a:cs typeface="Century Gothic"/>
              </a:rPr>
              <a:t>to</a:t>
            </a:r>
            <a:r>
              <a:rPr sz="1300" spc="85" dirty="0">
                <a:solidFill>
                  <a:srgbClr val="3A3535"/>
                </a:solidFill>
                <a:latin typeface="Century Gothic"/>
                <a:cs typeface="Century Gothic"/>
              </a:rPr>
              <a:t> </a:t>
            </a:r>
            <a:r>
              <a:rPr sz="1300" spc="-10" dirty="0">
                <a:solidFill>
                  <a:srgbClr val="3A3535"/>
                </a:solidFill>
                <a:latin typeface="Century Gothic"/>
                <a:cs typeface="Century Gothic"/>
              </a:rPr>
              <a:t>adapt</a:t>
            </a:r>
            <a:endParaRPr sz="1300" dirty="0">
              <a:latin typeface="Century Gothic"/>
              <a:cs typeface="Century Gothic"/>
            </a:endParaRPr>
          </a:p>
        </p:txBody>
      </p:sp>
      <p:grpSp>
        <p:nvGrpSpPr>
          <p:cNvPr id="8" name="object 8"/>
          <p:cNvGrpSpPr/>
          <p:nvPr/>
        </p:nvGrpSpPr>
        <p:grpSpPr>
          <a:xfrm>
            <a:off x="4067175" y="3257550"/>
            <a:ext cx="3295650" cy="1552575"/>
            <a:chOff x="4067175" y="3257550"/>
            <a:chExt cx="3295650" cy="1552575"/>
          </a:xfrm>
        </p:grpSpPr>
        <p:sp>
          <p:nvSpPr>
            <p:cNvPr id="9" name="object 9"/>
            <p:cNvSpPr/>
            <p:nvPr/>
          </p:nvSpPr>
          <p:spPr>
            <a:xfrm>
              <a:off x="4071937" y="3262312"/>
              <a:ext cx="3286125" cy="1543050"/>
            </a:xfrm>
            <a:custGeom>
              <a:avLst/>
              <a:gdLst/>
              <a:ahLst/>
              <a:cxnLst/>
              <a:rect l="l" t="t" r="r" b="b"/>
              <a:pathLst>
                <a:path w="3286125" h="1543050">
                  <a:moveTo>
                    <a:pt x="3235223" y="0"/>
                  </a:moveTo>
                  <a:lnTo>
                    <a:pt x="50901" y="0"/>
                  </a:lnTo>
                  <a:lnTo>
                    <a:pt x="47358" y="342"/>
                  </a:lnTo>
                  <a:lnTo>
                    <a:pt x="13423" y="18491"/>
                  </a:lnTo>
                  <a:lnTo>
                    <a:pt x="0" y="50901"/>
                  </a:lnTo>
                  <a:lnTo>
                    <a:pt x="0" y="1488567"/>
                  </a:lnTo>
                  <a:lnTo>
                    <a:pt x="0" y="1492148"/>
                  </a:lnTo>
                  <a:lnTo>
                    <a:pt x="15963" y="1527086"/>
                  </a:lnTo>
                  <a:lnTo>
                    <a:pt x="18478" y="1529626"/>
                  </a:lnTo>
                  <a:lnTo>
                    <a:pt x="50901" y="1543050"/>
                  </a:lnTo>
                  <a:lnTo>
                    <a:pt x="3235223" y="1543050"/>
                  </a:lnTo>
                  <a:lnTo>
                    <a:pt x="3272701" y="1524558"/>
                  </a:lnTo>
                  <a:lnTo>
                    <a:pt x="3286125" y="1492148"/>
                  </a:lnTo>
                  <a:lnTo>
                    <a:pt x="3286125" y="50901"/>
                  </a:lnTo>
                  <a:lnTo>
                    <a:pt x="3267633" y="13423"/>
                  </a:lnTo>
                  <a:lnTo>
                    <a:pt x="3238766" y="342"/>
                  </a:lnTo>
                  <a:lnTo>
                    <a:pt x="3235223" y="0"/>
                  </a:lnTo>
                  <a:close/>
                </a:path>
              </a:pathLst>
            </a:custGeom>
            <a:solidFill>
              <a:srgbClr val="F9D2D6"/>
            </a:solidFill>
          </p:spPr>
          <p:txBody>
            <a:bodyPr wrap="square" lIns="0" tIns="0" rIns="0" bIns="0" rtlCol="0"/>
            <a:lstStyle/>
            <a:p>
              <a:endParaRPr/>
            </a:p>
          </p:txBody>
        </p:sp>
        <p:sp>
          <p:nvSpPr>
            <p:cNvPr id="10" name="object 10"/>
            <p:cNvSpPr/>
            <p:nvPr/>
          </p:nvSpPr>
          <p:spPr>
            <a:xfrm>
              <a:off x="4071937" y="3262312"/>
              <a:ext cx="3286125" cy="1543050"/>
            </a:xfrm>
            <a:custGeom>
              <a:avLst/>
              <a:gdLst/>
              <a:ahLst/>
              <a:cxnLst/>
              <a:rect l="l" t="t" r="r" b="b"/>
              <a:pathLst>
                <a:path w="3286125" h="1543050">
                  <a:moveTo>
                    <a:pt x="0" y="1488567"/>
                  </a:moveTo>
                  <a:lnTo>
                    <a:pt x="0" y="54483"/>
                  </a:lnTo>
                  <a:lnTo>
                    <a:pt x="0" y="50901"/>
                  </a:lnTo>
                  <a:lnTo>
                    <a:pt x="342" y="47358"/>
                  </a:lnTo>
                  <a:lnTo>
                    <a:pt x="1041" y="43853"/>
                  </a:lnTo>
                  <a:lnTo>
                    <a:pt x="1752" y="40347"/>
                  </a:lnTo>
                  <a:lnTo>
                    <a:pt x="2781" y="36931"/>
                  </a:lnTo>
                  <a:lnTo>
                    <a:pt x="4152" y="33629"/>
                  </a:lnTo>
                  <a:lnTo>
                    <a:pt x="5511" y="30327"/>
                  </a:lnTo>
                  <a:lnTo>
                    <a:pt x="7188" y="27190"/>
                  </a:lnTo>
                  <a:lnTo>
                    <a:pt x="9182" y="24206"/>
                  </a:lnTo>
                  <a:lnTo>
                    <a:pt x="11163" y="21234"/>
                  </a:lnTo>
                  <a:lnTo>
                    <a:pt x="13423" y="18491"/>
                  </a:lnTo>
                  <a:lnTo>
                    <a:pt x="15963" y="15951"/>
                  </a:lnTo>
                  <a:lnTo>
                    <a:pt x="18478" y="13423"/>
                  </a:lnTo>
                  <a:lnTo>
                    <a:pt x="21234" y="11163"/>
                  </a:lnTo>
                  <a:lnTo>
                    <a:pt x="24218" y="9182"/>
                  </a:lnTo>
                  <a:lnTo>
                    <a:pt x="27190" y="7188"/>
                  </a:lnTo>
                  <a:lnTo>
                    <a:pt x="30327" y="5511"/>
                  </a:lnTo>
                  <a:lnTo>
                    <a:pt x="33629" y="4152"/>
                  </a:lnTo>
                  <a:lnTo>
                    <a:pt x="36931" y="2781"/>
                  </a:lnTo>
                  <a:lnTo>
                    <a:pt x="40347" y="1739"/>
                  </a:lnTo>
                  <a:lnTo>
                    <a:pt x="43853" y="1041"/>
                  </a:lnTo>
                  <a:lnTo>
                    <a:pt x="47358" y="342"/>
                  </a:lnTo>
                  <a:lnTo>
                    <a:pt x="50901" y="0"/>
                  </a:lnTo>
                  <a:lnTo>
                    <a:pt x="54483" y="0"/>
                  </a:lnTo>
                  <a:lnTo>
                    <a:pt x="3231642" y="0"/>
                  </a:lnTo>
                  <a:lnTo>
                    <a:pt x="3235223" y="0"/>
                  </a:lnTo>
                  <a:lnTo>
                    <a:pt x="3238766" y="342"/>
                  </a:lnTo>
                  <a:lnTo>
                    <a:pt x="3242271" y="1041"/>
                  </a:lnTo>
                  <a:lnTo>
                    <a:pt x="3245777" y="1739"/>
                  </a:lnTo>
                  <a:lnTo>
                    <a:pt x="3249180" y="2781"/>
                  </a:lnTo>
                  <a:lnTo>
                    <a:pt x="3252495" y="4152"/>
                  </a:lnTo>
                  <a:lnTo>
                    <a:pt x="3255797" y="5511"/>
                  </a:lnTo>
                  <a:lnTo>
                    <a:pt x="3258934" y="7188"/>
                  </a:lnTo>
                  <a:lnTo>
                    <a:pt x="3261906" y="9182"/>
                  </a:lnTo>
                  <a:lnTo>
                    <a:pt x="3264890" y="11163"/>
                  </a:lnTo>
                  <a:lnTo>
                    <a:pt x="3267633" y="13423"/>
                  </a:lnTo>
                  <a:lnTo>
                    <a:pt x="3270161" y="15951"/>
                  </a:lnTo>
                  <a:lnTo>
                    <a:pt x="3272701" y="18491"/>
                  </a:lnTo>
                  <a:lnTo>
                    <a:pt x="3281972" y="33629"/>
                  </a:lnTo>
                  <a:lnTo>
                    <a:pt x="3283343" y="36931"/>
                  </a:lnTo>
                  <a:lnTo>
                    <a:pt x="3284385" y="40347"/>
                  </a:lnTo>
                  <a:lnTo>
                    <a:pt x="3285083" y="43853"/>
                  </a:lnTo>
                  <a:lnTo>
                    <a:pt x="3285782" y="47358"/>
                  </a:lnTo>
                  <a:lnTo>
                    <a:pt x="3286125" y="50901"/>
                  </a:lnTo>
                  <a:lnTo>
                    <a:pt x="3286125" y="54483"/>
                  </a:lnTo>
                  <a:lnTo>
                    <a:pt x="3286125" y="1488567"/>
                  </a:lnTo>
                  <a:lnTo>
                    <a:pt x="3286125" y="1492148"/>
                  </a:lnTo>
                  <a:lnTo>
                    <a:pt x="3285782" y="1495691"/>
                  </a:lnTo>
                  <a:lnTo>
                    <a:pt x="3285083" y="1499196"/>
                  </a:lnTo>
                  <a:lnTo>
                    <a:pt x="3284385" y="1502702"/>
                  </a:lnTo>
                  <a:lnTo>
                    <a:pt x="3283343" y="1506105"/>
                  </a:lnTo>
                  <a:lnTo>
                    <a:pt x="3281972" y="1509420"/>
                  </a:lnTo>
                  <a:lnTo>
                    <a:pt x="3280613" y="1512722"/>
                  </a:lnTo>
                  <a:lnTo>
                    <a:pt x="3278936" y="1515859"/>
                  </a:lnTo>
                  <a:lnTo>
                    <a:pt x="3276942" y="1518831"/>
                  </a:lnTo>
                  <a:lnTo>
                    <a:pt x="3274949" y="1521802"/>
                  </a:lnTo>
                  <a:lnTo>
                    <a:pt x="3272701" y="1524558"/>
                  </a:lnTo>
                  <a:lnTo>
                    <a:pt x="3270161" y="1527086"/>
                  </a:lnTo>
                  <a:lnTo>
                    <a:pt x="3267633" y="1529626"/>
                  </a:lnTo>
                  <a:lnTo>
                    <a:pt x="3235223" y="1543050"/>
                  </a:lnTo>
                  <a:lnTo>
                    <a:pt x="3231642" y="1543050"/>
                  </a:lnTo>
                  <a:lnTo>
                    <a:pt x="54483" y="1543050"/>
                  </a:lnTo>
                  <a:lnTo>
                    <a:pt x="50901" y="1543050"/>
                  </a:lnTo>
                  <a:lnTo>
                    <a:pt x="47358" y="1542694"/>
                  </a:lnTo>
                  <a:lnTo>
                    <a:pt x="15963" y="1527086"/>
                  </a:lnTo>
                  <a:lnTo>
                    <a:pt x="13423" y="1524558"/>
                  </a:lnTo>
                  <a:lnTo>
                    <a:pt x="11163" y="1521802"/>
                  </a:lnTo>
                  <a:lnTo>
                    <a:pt x="9182" y="1518831"/>
                  </a:lnTo>
                  <a:lnTo>
                    <a:pt x="7188" y="1515859"/>
                  </a:lnTo>
                  <a:lnTo>
                    <a:pt x="5511" y="1512722"/>
                  </a:lnTo>
                  <a:lnTo>
                    <a:pt x="4152" y="1509420"/>
                  </a:lnTo>
                  <a:lnTo>
                    <a:pt x="2781" y="1506105"/>
                  </a:lnTo>
                  <a:lnTo>
                    <a:pt x="1752" y="1502702"/>
                  </a:lnTo>
                  <a:lnTo>
                    <a:pt x="1041" y="1499196"/>
                  </a:lnTo>
                  <a:lnTo>
                    <a:pt x="342" y="1495691"/>
                  </a:lnTo>
                  <a:lnTo>
                    <a:pt x="0" y="1492148"/>
                  </a:lnTo>
                  <a:lnTo>
                    <a:pt x="0" y="1488567"/>
                  </a:lnTo>
                  <a:close/>
                </a:path>
              </a:pathLst>
            </a:custGeom>
            <a:ln w="9525">
              <a:solidFill>
                <a:srgbClr val="DFB7BB"/>
              </a:solidFill>
            </a:ln>
          </p:spPr>
          <p:txBody>
            <a:bodyPr wrap="square" lIns="0" tIns="0" rIns="0" bIns="0" rtlCol="0"/>
            <a:lstStyle/>
            <a:p>
              <a:endParaRPr/>
            </a:p>
          </p:txBody>
        </p:sp>
      </p:grpSp>
      <p:sp>
        <p:nvSpPr>
          <p:cNvPr id="11" name="object 11"/>
          <p:cNvSpPr txBox="1"/>
          <p:nvPr/>
        </p:nvSpPr>
        <p:spPr>
          <a:xfrm>
            <a:off x="4229798" y="3412680"/>
            <a:ext cx="2832100" cy="910590"/>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Connected</a:t>
            </a:r>
            <a:endParaRPr sz="1750">
              <a:latin typeface="Verdana"/>
              <a:cs typeface="Verdana"/>
            </a:endParaRPr>
          </a:p>
          <a:p>
            <a:pPr marL="12700" marR="5080">
              <a:lnSpc>
                <a:spcPct val="134600"/>
              </a:lnSpc>
              <a:spcBef>
                <a:spcPts val="660"/>
              </a:spcBef>
            </a:pPr>
            <a:r>
              <a:rPr sz="1300" dirty="0">
                <a:solidFill>
                  <a:srgbClr val="3A3535"/>
                </a:solidFill>
                <a:latin typeface="Century Gothic"/>
                <a:cs typeface="Century Gothic"/>
              </a:rPr>
              <a:t>Content,</a:t>
            </a:r>
            <a:r>
              <a:rPr sz="1300" spc="25" dirty="0">
                <a:solidFill>
                  <a:srgbClr val="3A3535"/>
                </a:solidFill>
                <a:latin typeface="Century Gothic"/>
                <a:cs typeface="Century Gothic"/>
              </a:rPr>
              <a:t> </a:t>
            </a:r>
            <a:r>
              <a:rPr sz="1300" spc="-30" dirty="0">
                <a:solidFill>
                  <a:srgbClr val="3A3535"/>
                </a:solidFill>
                <a:latin typeface="Century Gothic"/>
                <a:cs typeface="Century Gothic"/>
              </a:rPr>
              <a:t>data,</a:t>
            </a:r>
            <a:r>
              <a:rPr sz="1300" spc="2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25" dirty="0">
                <a:solidFill>
                  <a:srgbClr val="3A3535"/>
                </a:solidFill>
                <a:latin typeface="Century Gothic"/>
                <a:cs typeface="Century Gothic"/>
              </a:rPr>
              <a:t> </a:t>
            </a:r>
            <a:r>
              <a:rPr sz="1300" spc="75" dirty="0">
                <a:solidFill>
                  <a:srgbClr val="3A3535"/>
                </a:solidFill>
                <a:latin typeface="Century Gothic"/>
                <a:cs typeface="Century Gothic"/>
              </a:rPr>
              <a:t>workflows</a:t>
            </a:r>
            <a:r>
              <a:rPr sz="1300" spc="25" dirty="0">
                <a:solidFill>
                  <a:srgbClr val="3A3535"/>
                </a:solidFill>
                <a:latin typeface="Century Gothic"/>
                <a:cs typeface="Century Gothic"/>
              </a:rPr>
              <a:t> </a:t>
            </a:r>
            <a:r>
              <a:rPr sz="1300" spc="-20" dirty="0">
                <a:solidFill>
                  <a:srgbClr val="3A3535"/>
                </a:solidFill>
                <a:latin typeface="Century Gothic"/>
                <a:cs typeface="Century Gothic"/>
              </a:rPr>
              <a:t>live </a:t>
            </a:r>
            <a:r>
              <a:rPr sz="1300" spc="90" dirty="0">
                <a:solidFill>
                  <a:srgbClr val="3A3535"/>
                </a:solidFill>
                <a:latin typeface="Century Gothic"/>
                <a:cs typeface="Century Gothic"/>
              </a:rPr>
              <a:t>in</a:t>
            </a:r>
            <a:r>
              <a:rPr sz="1300" spc="-25" dirty="0">
                <a:solidFill>
                  <a:srgbClr val="3A3535"/>
                </a:solidFill>
                <a:latin typeface="Century Gothic"/>
                <a:cs typeface="Century Gothic"/>
              </a:rPr>
              <a:t> </a:t>
            </a:r>
            <a:r>
              <a:rPr sz="1300" dirty="0">
                <a:solidFill>
                  <a:srgbClr val="3A3535"/>
                </a:solidFill>
                <a:latin typeface="Century Gothic"/>
                <a:cs typeface="Century Gothic"/>
              </a:rPr>
              <a:t>one</a:t>
            </a:r>
            <a:r>
              <a:rPr sz="1300" spc="-20" dirty="0">
                <a:solidFill>
                  <a:srgbClr val="3A3535"/>
                </a:solidFill>
                <a:latin typeface="Century Gothic"/>
                <a:cs typeface="Century Gothic"/>
              </a:rPr>
              <a:t> </a:t>
            </a:r>
            <a:r>
              <a:rPr sz="1300" spc="40" dirty="0">
                <a:solidFill>
                  <a:srgbClr val="3A3535"/>
                </a:solidFill>
                <a:latin typeface="Century Gothic"/>
                <a:cs typeface="Century Gothic"/>
              </a:rPr>
              <a:t>environment</a:t>
            </a:r>
            <a:endParaRPr sz="1300">
              <a:latin typeface="Century Gothic"/>
              <a:cs typeface="Century Gothic"/>
            </a:endParaRPr>
          </a:p>
        </p:txBody>
      </p:sp>
      <p:grpSp>
        <p:nvGrpSpPr>
          <p:cNvPr id="12" name="object 12"/>
          <p:cNvGrpSpPr/>
          <p:nvPr/>
        </p:nvGrpSpPr>
        <p:grpSpPr>
          <a:xfrm>
            <a:off x="7534275" y="3257550"/>
            <a:ext cx="3305175" cy="1552575"/>
            <a:chOff x="7534275" y="3257550"/>
            <a:chExt cx="3305175" cy="1552575"/>
          </a:xfrm>
        </p:grpSpPr>
        <p:sp>
          <p:nvSpPr>
            <p:cNvPr id="13" name="object 13"/>
            <p:cNvSpPr/>
            <p:nvPr/>
          </p:nvSpPr>
          <p:spPr>
            <a:xfrm>
              <a:off x="7539037" y="3262312"/>
              <a:ext cx="3295650" cy="1543050"/>
            </a:xfrm>
            <a:custGeom>
              <a:avLst/>
              <a:gdLst/>
              <a:ahLst/>
              <a:cxnLst/>
              <a:rect l="l" t="t" r="r" b="b"/>
              <a:pathLst>
                <a:path w="3295650" h="1543050">
                  <a:moveTo>
                    <a:pt x="3244748" y="0"/>
                  </a:moveTo>
                  <a:lnTo>
                    <a:pt x="50901" y="0"/>
                  </a:lnTo>
                  <a:lnTo>
                    <a:pt x="47358" y="342"/>
                  </a:lnTo>
                  <a:lnTo>
                    <a:pt x="13423" y="18491"/>
                  </a:lnTo>
                  <a:lnTo>
                    <a:pt x="0" y="50901"/>
                  </a:lnTo>
                  <a:lnTo>
                    <a:pt x="0" y="1488567"/>
                  </a:lnTo>
                  <a:lnTo>
                    <a:pt x="0" y="1492148"/>
                  </a:lnTo>
                  <a:lnTo>
                    <a:pt x="18478" y="1529626"/>
                  </a:lnTo>
                  <a:lnTo>
                    <a:pt x="50901" y="1543050"/>
                  </a:lnTo>
                  <a:lnTo>
                    <a:pt x="3244748" y="1543050"/>
                  </a:lnTo>
                  <a:lnTo>
                    <a:pt x="3282226" y="1524558"/>
                  </a:lnTo>
                  <a:lnTo>
                    <a:pt x="3295650" y="1492148"/>
                  </a:lnTo>
                  <a:lnTo>
                    <a:pt x="3295650" y="50901"/>
                  </a:lnTo>
                  <a:lnTo>
                    <a:pt x="3277158" y="13423"/>
                  </a:lnTo>
                  <a:lnTo>
                    <a:pt x="3248291" y="342"/>
                  </a:lnTo>
                  <a:lnTo>
                    <a:pt x="3244748" y="0"/>
                  </a:lnTo>
                  <a:close/>
                </a:path>
              </a:pathLst>
            </a:custGeom>
            <a:solidFill>
              <a:srgbClr val="F9D2D6"/>
            </a:solidFill>
          </p:spPr>
          <p:txBody>
            <a:bodyPr wrap="square" lIns="0" tIns="0" rIns="0" bIns="0" rtlCol="0"/>
            <a:lstStyle/>
            <a:p>
              <a:endParaRPr/>
            </a:p>
          </p:txBody>
        </p:sp>
        <p:sp>
          <p:nvSpPr>
            <p:cNvPr id="14" name="object 14"/>
            <p:cNvSpPr/>
            <p:nvPr/>
          </p:nvSpPr>
          <p:spPr>
            <a:xfrm>
              <a:off x="7539037" y="3262312"/>
              <a:ext cx="3295650" cy="1543050"/>
            </a:xfrm>
            <a:custGeom>
              <a:avLst/>
              <a:gdLst/>
              <a:ahLst/>
              <a:cxnLst/>
              <a:rect l="l" t="t" r="r" b="b"/>
              <a:pathLst>
                <a:path w="3295650" h="1543050">
                  <a:moveTo>
                    <a:pt x="0" y="1488567"/>
                  </a:moveTo>
                  <a:lnTo>
                    <a:pt x="0" y="54483"/>
                  </a:lnTo>
                  <a:lnTo>
                    <a:pt x="0" y="50901"/>
                  </a:lnTo>
                  <a:lnTo>
                    <a:pt x="342" y="47358"/>
                  </a:lnTo>
                  <a:lnTo>
                    <a:pt x="1041" y="43853"/>
                  </a:lnTo>
                  <a:lnTo>
                    <a:pt x="1752" y="40347"/>
                  </a:lnTo>
                  <a:lnTo>
                    <a:pt x="2781" y="36931"/>
                  </a:lnTo>
                  <a:lnTo>
                    <a:pt x="4152" y="33629"/>
                  </a:lnTo>
                  <a:lnTo>
                    <a:pt x="5511" y="30327"/>
                  </a:lnTo>
                  <a:lnTo>
                    <a:pt x="7188" y="27190"/>
                  </a:lnTo>
                  <a:lnTo>
                    <a:pt x="9182" y="24206"/>
                  </a:lnTo>
                  <a:lnTo>
                    <a:pt x="11163" y="21234"/>
                  </a:lnTo>
                  <a:lnTo>
                    <a:pt x="24206" y="9182"/>
                  </a:lnTo>
                  <a:lnTo>
                    <a:pt x="27190" y="7188"/>
                  </a:lnTo>
                  <a:lnTo>
                    <a:pt x="30327" y="5511"/>
                  </a:lnTo>
                  <a:lnTo>
                    <a:pt x="33629" y="4152"/>
                  </a:lnTo>
                  <a:lnTo>
                    <a:pt x="36931" y="2781"/>
                  </a:lnTo>
                  <a:lnTo>
                    <a:pt x="40347" y="1739"/>
                  </a:lnTo>
                  <a:lnTo>
                    <a:pt x="43853" y="1041"/>
                  </a:lnTo>
                  <a:lnTo>
                    <a:pt x="47358" y="342"/>
                  </a:lnTo>
                  <a:lnTo>
                    <a:pt x="50901" y="0"/>
                  </a:lnTo>
                  <a:lnTo>
                    <a:pt x="54483" y="0"/>
                  </a:lnTo>
                  <a:lnTo>
                    <a:pt x="3241167" y="0"/>
                  </a:lnTo>
                  <a:lnTo>
                    <a:pt x="3244748" y="0"/>
                  </a:lnTo>
                  <a:lnTo>
                    <a:pt x="3248291" y="342"/>
                  </a:lnTo>
                  <a:lnTo>
                    <a:pt x="3251796" y="1041"/>
                  </a:lnTo>
                  <a:lnTo>
                    <a:pt x="3255302" y="1739"/>
                  </a:lnTo>
                  <a:lnTo>
                    <a:pt x="3258705" y="2781"/>
                  </a:lnTo>
                  <a:lnTo>
                    <a:pt x="3262020" y="4152"/>
                  </a:lnTo>
                  <a:lnTo>
                    <a:pt x="3265322" y="5511"/>
                  </a:lnTo>
                  <a:lnTo>
                    <a:pt x="3268459" y="7188"/>
                  </a:lnTo>
                  <a:lnTo>
                    <a:pt x="3271431" y="9182"/>
                  </a:lnTo>
                  <a:lnTo>
                    <a:pt x="3274415" y="11163"/>
                  </a:lnTo>
                  <a:lnTo>
                    <a:pt x="3277158" y="13423"/>
                  </a:lnTo>
                  <a:lnTo>
                    <a:pt x="3279686" y="15951"/>
                  </a:lnTo>
                  <a:lnTo>
                    <a:pt x="3282226" y="18491"/>
                  </a:lnTo>
                  <a:lnTo>
                    <a:pt x="3291497" y="33629"/>
                  </a:lnTo>
                  <a:lnTo>
                    <a:pt x="3292868" y="36931"/>
                  </a:lnTo>
                  <a:lnTo>
                    <a:pt x="3293910" y="40347"/>
                  </a:lnTo>
                  <a:lnTo>
                    <a:pt x="3294608" y="43853"/>
                  </a:lnTo>
                  <a:lnTo>
                    <a:pt x="3295307" y="47358"/>
                  </a:lnTo>
                  <a:lnTo>
                    <a:pt x="3295650" y="50901"/>
                  </a:lnTo>
                  <a:lnTo>
                    <a:pt x="3295650" y="54483"/>
                  </a:lnTo>
                  <a:lnTo>
                    <a:pt x="3295650" y="1488567"/>
                  </a:lnTo>
                  <a:lnTo>
                    <a:pt x="3295650" y="1492148"/>
                  </a:lnTo>
                  <a:lnTo>
                    <a:pt x="3295307" y="1495691"/>
                  </a:lnTo>
                  <a:lnTo>
                    <a:pt x="3294608" y="1499196"/>
                  </a:lnTo>
                  <a:lnTo>
                    <a:pt x="3293910" y="1502702"/>
                  </a:lnTo>
                  <a:lnTo>
                    <a:pt x="3292868" y="1506105"/>
                  </a:lnTo>
                  <a:lnTo>
                    <a:pt x="3291497" y="1509420"/>
                  </a:lnTo>
                  <a:lnTo>
                    <a:pt x="3290138" y="1512722"/>
                  </a:lnTo>
                  <a:lnTo>
                    <a:pt x="3288461" y="1515859"/>
                  </a:lnTo>
                  <a:lnTo>
                    <a:pt x="3286467" y="1518831"/>
                  </a:lnTo>
                  <a:lnTo>
                    <a:pt x="3284486" y="1521802"/>
                  </a:lnTo>
                  <a:lnTo>
                    <a:pt x="3282226" y="1524558"/>
                  </a:lnTo>
                  <a:lnTo>
                    <a:pt x="3279686" y="1527086"/>
                  </a:lnTo>
                  <a:lnTo>
                    <a:pt x="3277158" y="1529626"/>
                  </a:lnTo>
                  <a:lnTo>
                    <a:pt x="3244748" y="1543050"/>
                  </a:lnTo>
                  <a:lnTo>
                    <a:pt x="3241167" y="1543050"/>
                  </a:lnTo>
                  <a:lnTo>
                    <a:pt x="54483" y="1543050"/>
                  </a:lnTo>
                  <a:lnTo>
                    <a:pt x="50901" y="1543050"/>
                  </a:lnTo>
                  <a:lnTo>
                    <a:pt x="47358" y="1542694"/>
                  </a:lnTo>
                  <a:lnTo>
                    <a:pt x="15951" y="1527086"/>
                  </a:lnTo>
                  <a:lnTo>
                    <a:pt x="13423" y="1524558"/>
                  </a:lnTo>
                  <a:lnTo>
                    <a:pt x="11163" y="1521802"/>
                  </a:lnTo>
                  <a:lnTo>
                    <a:pt x="9182" y="1518831"/>
                  </a:lnTo>
                  <a:lnTo>
                    <a:pt x="7188" y="1515859"/>
                  </a:lnTo>
                  <a:lnTo>
                    <a:pt x="5511" y="1512722"/>
                  </a:lnTo>
                  <a:lnTo>
                    <a:pt x="4152" y="1509420"/>
                  </a:lnTo>
                  <a:lnTo>
                    <a:pt x="2781" y="1506105"/>
                  </a:lnTo>
                  <a:lnTo>
                    <a:pt x="1752" y="1502702"/>
                  </a:lnTo>
                  <a:lnTo>
                    <a:pt x="1041" y="1499196"/>
                  </a:lnTo>
                  <a:lnTo>
                    <a:pt x="342" y="1495691"/>
                  </a:lnTo>
                  <a:lnTo>
                    <a:pt x="0" y="1492148"/>
                  </a:lnTo>
                  <a:lnTo>
                    <a:pt x="0" y="1488567"/>
                  </a:lnTo>
                  <a:close/>
                </a:path>
              </a:pathLst>
            </a:custGeom>
            <a:ln w="9525">
              <a:solidFill>
                <a:srgbClr val="DFB7BB"/>
              </a:solidFill>
            </a:ln>
          </p:spPr>
          <p:txBody>
            <a:bodyPr wrap="square" lIns="0" tIns="0" rIns="0" bIns="0" rtlCol="0"/>
            <a:lstStyle/>
            <a:p>
              <a:endParaRPr/>
            </a:p>
          </p:txBody>
        </p:sp>
      </p:grpSp>
      <p:sp>
        <p:nvSpPr>
          <p:cNvPr id="15" name="object 15"/>
          <p:cNvSpPr txBox="1"/>
          <p:nvPr/>
        </p:nvSpPr>
        <p:spPr>
          <a:xfrm>
            <a:off x="7701356" y="3412680"/>
            <a:ext cx="2760980" cy="1186815"/>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Controlled</a:t>
            </a:r>
            <a:endParaRPr sz="1750">
              <a:latin typeface="Verdana"/>
              <a:cs typeface="Verdana"/>
            </a:endParaRPr>
          </a:p>
          <a:p>
            <a:pPr marL="12700" marR="5080">
              <a:lnSpc>
                <a:spcPct val="137000"/>
              </a:lnSpc>
              <a:spcBef>
                <a:spcPts val="625"/>
              </a:spcBef>
            </a:pPr>
            <a:r>
              <a:rPr sz="1300" spc="-35" dirty="0">
                <a:solidFill>
                  <a:srgbClr val="3A3535"/>
                </a:solidFill>
                <a:latin typeface="Century Gothic"/>
                <a:cs typeface="Century Gothic"/>
              </a:rPr>
              <a:t>Can</a:t>
            </a:r>
            <a:r>
              <a:rPr sz="1300" spc="25" dirty="0">
                <a:solidFill>
                  <a:srgbClr val="3A3535"/>
                </a:solidFill>
                <a:latin typeface="Century Gothic"/>
                <a:cs typeface="Century Gothic"/>
              </a:rPr>
              <a:t> </a:t>
            </a:r>
            <a:r>
              <a:rPr sz="1300" spc="75" dirty="0">
                <a:solidFill>
                  <a:srgbClr val="3A3535"/>
                </a:solidFill>
                <a:latin typeface="Century Gothic"/>
                <a:cs typeface="Century Gothic"/>
              </a:rPr>
              <a:t>run</a:t>
            </a:r>
            <a:r>
              <a:rPr sz="1300" spc="30" dirty="0">
                <a:solidFill>
                  <a:srgbClr val="3A3535"/>
                </a:solidFill>
                <a:latin typeface="Century Gothic"/>
                <a:cs typeface="Century Gothic"/>
              </a:rPr>
              <a:t> </a:t>
            </a:r>
            <a:r>
              <a:rPr sz="1300" dirty="0">
                <a:solidFill>
                  <a:srgbClr val="3A3535"/>
                </a:solidFill>
                <a:latin typeface="Century Gothic"/>
                <a:cs typeface="Century Gothic"/>
              </a:rPr>
              <a:t>under</a:t>
            </a:r>
            <a:r>
              <a:rPr sz="1300" spc="30" dirty="0">
                <a:solidFill>
                  <a:srgbClr val="3A3535"/>
                </a:solidFill>
                <a:latin typeface="Century Gothic"/>
                <a:cs typeface="Century Gothic"/>
              </a:rPr>
              <a:t> </a:t>
            </a:r>
            <a:r>
              <a:rPr sz="1300" spc="65" dirty="0">
                <a:solidFill>
                  <a:srgbClr val="3A3535"/>
                </a:solidFill>
                <a:latin typeface="Century Gothic"/>
                <a:cs typeface="Century Gothic"/>
              </a:rPr>
              <a:t>university </a:t>
            </a:r>
            <a:r>
              <a:rPr sz="1300" dirty="0">
                <a:solidFill>
                  <a:srgbClr val="3A3535"/>
                </a:solidFill>
                <a:latin typeface="Century Gothic"/>
                <a:cs typeface="Century Gothic"/>
              </a:rPr>
              <a:t>governance</a:t>
            </a:r>
            <a:r>
              <a:rPr sz="1300" spc="-4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45" dirty="0">
                <a:solidFill>
                  <a:srgbClr val="3A3535"/>
                </a:solidFill>
                <a:latin typeface="Century Gothic"/>
                <a:cs typeface="Century Gothic"/>
              </a:rPr>
              <a:t> </a:t>
            </a:r>
            <a:r>
              <a:rPr sz="1300" spc="-40" dirty="0">
                <a:solidFill>
                  <a:srgbClr val="3A3535"/>
                </a:solidFill>
                <a:latin typeface="Century Gothic"/>
                <a:cs typeface="Century Gothic"/>
              </a:rPr>
              <a:t>data </a:t>
            </a:r>
            <a:r>
              <a:rPr sz="1300" spc="45" dirty="0">
                <a:solidFill>
                  <a:srgbClr val="3A3535"/>
                </a:solidFill>
                <a:latin typeface="Century Gothic"/>
                <a:cs typeface="Century Gothic"/>
              </a:rPr>
              <a:t>protection </a:t>
            </a:r>
            <a:r>
              <a:rPr sz="1300" spc="50" dirty="0">
                <a:solidFill>
                  <a:srgbClr val="3A3535"/>
                </a:solidFill>
                <a:latin typeface="Century Gothic"/>
                <a:cs typeface="Century Gothic"/>
              </a:rPr>
              <a:t>requirements</a:t>
            </a:r>
            <a:endParaRPr sz="1300">
              <a:latin typeface="Century Gothic"/>
              <a:cs typeface="Century Gothic"/>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579640" y="1132586"/>
            <a:ext cx="5031740" cy="560070"/>
          </a:xfrm>
          <a:prstGeom prst="rect">
            <a:avLst/>
          </a:prstGeom>
        </p:spPr>
        <p:txBody>
          <a:bodyPr vert="horz" wrap="square" lIns="0" tIns="13335" rIns="0" bIns="0" rtlCol="0">
            <a:spAutoFit/>
          </a:bodyPr>
          <a:lstStyle/>
          <a:p>
            <a:pPr marL="12700">
              <a:lnSpc>
                <a:spcPct val="100000"/>
              </a:lnSpc>
              <a:spcBef>
                <a:spcPts val="105"/>
              </a:spcBef>
            </a:pPr>
            <a:r>
              <a:rPr spc="-180" dirty="0"/>
              <a:t>How</a:t>
            </a:r>
            <a:r>
              <a:rPr spc="-400" dirty="0"/>
              <a:t> </a:t>
            </a:r>
            <a:r>
              <a:rPr spc="-130" dirty="0"/>
              <a:t>SelfHelp</a:t>
            </a:r>
            <a:r>
              <a:rPr spc="-400" dirty="0"/>
              <a:t> </a:t>
            </a:r>
            <a:r>
              <a:rPr spc="-150" dirty="0"/>
              <a:t>Evolved</a:t>
            </a:r>
          </a:p>
        </p:txBody>
      </p:sp>
      <p:grpSp>
        <p:nvGrpSpPr>
          <p:cNvPr id="3" name="object 3"/>
          <p:cNvGrpSpPr/>
          <p:nvPr/>
        </p:nvGrpSpPr>
        <p:grpSpPr>
          <a:xfrm>
            <a:off x="590550" y="3162223"/>
            <a:ext cx="10248900" cy="695325"/>
            <a:chOff x="590550" y="3162223"/>
            <a:chExt cx="10248900" cy="695325"/>
          </a:xfrm>
        </p:grpSpPr>
        <p:sp>
          <p:nvSpPr>
            <p:cNvPr id="4" name="object 4"/>
            <p:cNvSpPr/>
            <p:nvPr/>
          </p:nvSpPr>
          <p:spPr>
            <a:xfrm>
              <a:off x="590550" y="3162223"/>
              <a:ext cx="10248900" cy="524510"/>
            </a:xfrm>
            <a:custGeom>
              <a:avLst/>
              <a:gdLst/>
              <a:ahLst/>
              <a:cxnLst/>
              <a:rect l="l" t="t" r="r" b="b"/>
              <a:pathLst>
                <a:path w="10248900" h="524510">
                  <a:moveTo>
                    <a:pt x="2000250" y="6896"/>
                  </a:moveTo>
                  <a:lnTo>
                    <a:pt x="1999322" y="4648"/>
                  </a:lnTo>
                  <a:lnTo>
                    <a:pt x="1995601" y="927"/>
                  </a:lnTo>
                  <a:lnTo>
                    <a:pt x="1993353" y="0"/>
                  </a:lnTo>
                  <a:lnTo>
                    <a:pt x="1988096" y="0"/>
                  </a:lnTo>
                  <a:lnTo>
                    <a:pt x="1985848" y="927"/>
                  </a:lnTo>
                  <a:lnTo>
                    <a:pt x="1982127" y="4648"/>
                  </a:lnTo>
                  <a:lnTo>
                    <a:pt x="1981200" y="6896"/>
                  </a:lnTo>
                  <a:lnTo>
                    <a:pt x="1981200" y="495300"/>
                  </a:lnTo>
                  <a:lnTo>
                    <a:pt x="1981200" y="497928"/>
                  </a:lnTo>
                  <a:lnTo>
                    <a:pt x="1982127" y="500176"/>
                  </a:lnTo>
                  <a:lnTo>
                    <a:pt x="1985848" y="503897"/>
                  </a:lnTo>
                  <a:lnTo>
                    <a:pt x="1988096" y="504825"/>
                  </a:lnTo>
                  <a:lnTo>
                    <a:pt x="1993353" y="504825"/>
                  </a:lnTo>
                  <a:lnTo>
                    <a:pt x="1995601" y="503897"/>
                  </a:lnTo>
                  <a:lnTo>
                    <a:pt x="1999322" y="500176"/>
                  </a:lnTo>
                  <a:lnTo>
                    <a:pt x="2000250" y="497928"/>
                  </a:lnTo>
                  <a:lnTo>
                    <a:pt x="2000250" y="6896"/>
                  </a:lnTo>
                  <a:close/>
                </a:path>
                <a:path w="10248900" h="524510">
                  <a:moveTo>
                    <a:pt x="10248900" y="511797"/>
                  </a:moveTo>
                  <a:lnTo>
                    <a:pt x="10247973" y="509549"/>
                  </a:lnTo>
                  <a:lnTo>
                    <a:pt x="10244252" y="505828"/>
                  </a:lnTo>
                  <a:lnTo>
                    <a:pt x="10242004" y="504901"/>
                  </a:lnTo>
                  <a:lnTo>
                    <a:pt x="6896" y="504901"/>
                  </a:lnTo>
                  <a:lnTo>
                    <a:pt x="4648" y="505828"/>
                  </a:lnTo>
                  <a:lnTo>
                    <a:pt x="927" y="509549"/>
                  </a:lnTo>
                  <a:lnTo>
                    <a:pt x="0" y="511797"/>
                  </a:lnTo>
                  <a:lnTo>
                    <a:pt x="0" y="514426"/>
                  </a:lnTo>
                  <a:lnTo>
                    <a:pt x="0" y="517055"/>
                  </a:lnTo>
                  <a:lnTo>
                    <a:pt x="927" y="519303"/>
                  </a:lnTo>
                  <a:lnTo>
                    <a:pt x="4648" y="523024"/>
                  </a:lnTo>
                  <a:lnTo>
                    <a:pt x="6896" y="523951"/>
                  </a:lnTo>
                  <a:lnTo>
                    <a:pt x="10242004" y="523951"/>
                  </a:lnTo>
                  <a:lnTo>
                    <a:pt x="10244252" y="523024"/>
                  </a:lnTo>
                  <a:lnTo>
                    <a:pt x="10247973" y="519303"/>
                  </a:lnTo>
                  <a:lnTo>
                    <a:pt x="10248900" y="517055"/>
                  </a:lnTo>
                  <a:lnTo>
                    <a:pt x="10248900" y="511797"/>
                  </a:lnTo>
                  <a:close/>
                </a:path>
              </a:pathLst>
            </a:custGeom>
            <a:solidFill>
              <a:srgbClr val="DFB7BB"/>
            </a:solidFill>
          </p:spPr>
          <p:txBody>
            <a:bodyPr wrap="square" lIns="0" tIns="0" rIns="0" bIns="0" rtlCol="0"/>
            <a:lstStyle/>
            <a:p>
              <a:endParaRPr/>
            </a:p>
          </p:txBody>
        </p:sp>
        <p:sp>
          <p:nvSpPr>
            <p:cNvPr id="5" name="object 5"/>
            <p:cNvSpPr/>
            <p:nvPr/>
          </p:nvSpPr>
          <p:spPr>
            <a:xfrm>
              <a:off x="2395537" y="3481311"/>
              <a:ext cx="371475" cy="371475"/>
            </a:xfrm>
            <a:custGeom>
              <a:avLst/>
              <a:gdLst/>
              <a:ahLst/>
              <a:cxnLst/>
              <a:rect l="l" t="t" r="r" b="b"/>
              <a:pathLst>
                <a:path w="371475" h="371475">
                  <a:moveTo>
                    <a:pt x="320573" y="0"/>
                  </a:moveTo>
                  <a:lnTo>
                    <a:pt x="50901" y="0"/>
                  </a:lnTo>
                  <a:lnTo>
                    <a:pt x="47358" y="355"/>
                  </a:lnTo>
                  <a:lnTo>
                    <a:pt x="13423" y="18491"/>
                  </a:lnTo>
                  <a:lnTo>
                    <a:pt x="0" y="50901"/>
                  </a:lnTo>
                  <a:lnTo>
                    <a:pt x="0" y="316992"/>
                  </a:lnTo>
                  <a:lnTo>
                    <a:pt x="0" y="320573"/>
                  </a:lnTo>
                  <a:lnTo>
                    <a:pt x="18478" y="358051"/>
                  </a:lnTo>
                  <a:lnTo>
                    <a:pt x="50901" y="371475"/>
                  </a:lnTo>
                  <a:lnTo>
                    <a:pt x="320573" y="371475"/>
                  </a:lnTo>
                  <a:lnTo>
                    <a:pt x="358051" y="352983"/>
                  </a:lnTo>
                  <a:lnTo>
                    <a:pt x="371475" y="320573"/>
                  </a:lnTo>
                  <a:lnTo>
                    <a:pt x="371475" y="50901"/>
                  </a:lnTo>
                  <a:lnTo>
                    <a:pt x="352996" y="13423"/>
                  </a:lnTo>
                  <a:lnTo>
                    <a:pt x="324116" y="355"/>
                  </a:lnTo>
                  <a:lnTo>
                    <a:pt x="320573" y="0"/>
                  </a:lnTo>
                  <a:close/>
                </a:path>
              </a:pathLst>
            </a:custGeom>
            <a:solidFill>
              <a:srgbClr val="F9D2D6"/>
            </a:solidFill>
          </p:spPr>
          <p:txBody>
            <a:bodyPr wrap="square" lIns="0" tIns="0" rIns="0" bIns="0" rtlCol="0"/>
            <a:lstStyle/>
            <a:p>
              <a:endParaRPr/>
            </a:p>
          </p:txBody>
        </p:sp>
        <p:sp>
          <p:nvSpPr>
            <p:cNvPr id="6" name="object 6"/>
            <p:cNvSpPr/>
            <p:nvPr/>
          </p:nvSpPr>
          <p:spPr>
            <a:xfrm>
              <a:off x="2395537" y="3481311"/>
              <a:ext cx="371475" cy="371475"/>
            </a:xfrm>
            <a:custGeom>
              <a:avLst/>
              <a:gdLst/>
              <a:ahLst/>
              <a:cxnLst/>
              <a:rect l="l" t="t" r="r" b="b"/>
              <a:pathLst>
                <a:path w="371475" h="371475">
                  <a:moveTo>
                    <a:pt x="0" y="316992"/>
                  </a:moveTo>
                  <a:lnTo>
                    <a:pt x="0" y="54483"/>
                  </a:lnTo>
                  <a:lnTo>
                    <a:pt x="0" y="50901"/>
                  </a:lnTo>
                  <a:lnTo>
                    <a:pt x="342" y="47358"/>
                  </a:lnTo>
                  <a:lnTo>
                    <a:pt x="1041" y="43853"/>
                  </a:lnTo>
                  <a:lnTo>
                    <a:pt x="1752" y="40347"/>
                  </a:lnTo>
                  <a:lnTo>
                    <a:pt x="2781" y="36931"/>
                  </a:lnTo>
                  <a:lnTo>
                    <a:pt x="4152" y="33629"/>
                  </a:lnTo>
                  <a:lnTo>
                    <a:pt x="5511" y="30327"/>
                  </a:lnTo>
                  <a:lnTo>
                    <a:pt x="7188" y="27190"/>
                  </a:lnTo>
                  <a:lnTo>
                    <a:pt x="9182" y="24206"/>
                  </a:lnTo>
                  <a:lnTo>
                    <a:pt x="11163" y="21234"/>
                  </a:lnTo>
                  <a:lnTo>
                    <a:pt x="13423" y="18491"/>
                  </a:lnTo>
                  <a:lnTo>
                    <a:pt x="15963" y="15951"/>
                  </a:lnTo>
                  <a:lnTo>
                    <a:pt x="18478" y="13423"/>
                  </a:lnTo>
                  <a:lnTo>
                    <a:pt x="43853" y="1054"/>
                  </a:lnTo>
                  <a:lnTo>
                    <a:pt x="47358" y="355"/>
                  </a:lnTo>
                  <a:lnTo>
                    <a:pt x="50901" y="0"/>
                  </a:lnTo>
                  <a:lnTo>
                    <a:pt x="54483" y="0"/>
                  </a:lnTo>
                  <a:lnTo>
                    <a:pt x="316992" y="0"/>
                  </a:lnTo>
                  <a:lnTo>
                    <a:pt x="320573" y="0"/>
                  </a:lnTo>
                  <a:lnTo>
                    <a:pt x="324116" y="355"/>
                  </a:lnTo>
                  <a:lnTo>
                    <a:pt x="327621" y="1054"/>
                  </a:lnTo>
                  <a:lnTo>
                    <a:pt x="331127" y="1739"/>
                  </a:lnTo>
                  <a:lnTo>
                    <a:pt x="355511" y="15951"/>
                  </a:lnTo>
                  <a:lnTo>
                    <a:pt x="358051" y="18491"/>
                  </a:lnTo>
                  <a:lnTo>
                    <a:pt x="360311" y="21234"/>
                  </a:lnTo>
                  <a:lnTo>
                    <a:pt x="362292" y="24206"/>
                  </a:lnTo>
                  <a:lnTo>
                    <a:pt x="364286" y="27190"/>
                  </a:lnTo>
                  <a:lnTo>
                    <a:pt x="365963" y="30327"/>
                  </a:lnTo>
                  <a:lnTo>
                    <a:pt x="367322" y="33629"/>
                  </a:lnTo>
                  <a:lnTo>
                    <a:pt x="368693" y="36931"/>
                  </a:lnTo>
                  <a:lnTo>
                    <a:pt x="369735" y="40347"/>
                  </a:lnTo>
                  <a:lnTo>
                    <a:pt x="370433" y="43853"/>
                  </a:lnTo>
                  <a:lnTo>
                    <a:pt x="371132" y="47358"/>
                  </a:lnTo>
                  <a:lnTo>
                    <a:pt x="371475" y="50901"/>
                  </a:lnTo>
                  <a:lnTo>
                    <a:pt x="371475" y="54483"/>
                  </a:lnTo>
                  <a:lnTo>
                    <a:pt x="371475" y="316992"/>
                  </a:lnTo>
                  <a:lnTo>
                    <a:pt x="371475" y="320573"/>
                  </a:lnTo>
                  <a:lnTo>
                    <a:pt x="371132" y="324116"/>
                  </a:lnTo>
                  <a:lnTo>
                    <a:pt x="370433" y="327621"/>
                  </a:lnTo>
                  <a:lnTo>
                    <a:pt x="369735" y="331127"/>
                  </a:lnTo>
                  <a:lnTo>
                    <a:pt x="368693" y="334543"/>
                  </a:lnTo>
                  <a:lnTo>
                    <a:pt x="367322" y="337845"/>
                  </a:lnTo>
                  <a:lnTo>
                    <a:pt x="365963" y="341147"/>
                  </a:lnTo>
                  <a:lnTo>
                    <a:pt x="364286" y="344284"/>
                  </a:lnTo>
                  <a:lnTo>
                    <a:pt x="362292" y="347268"/>
                  </a:lnTo>
                  <a:lnTo>
                    <a:pt x="360311" y="350240"/>
                  </a:lnTo>
                  <a:lnTo>
                    <a:pt x="358051" y="352983"/>
                  </a:lnTo>
                  <a:lnTo>
                    <a:pt x="355511" y="355523"/>
                  </a:lnTo>
                  <a:lnTo>
                    <a:pt x="352996" y="358051"/>
                  </a:lnTo>
                  <a:lnTo>
                    <a:pt x="350240" y="360311"/>
                  </a:lnTo>
                  <a:lnTo>
                    <a:pt x="347256" y="362292"/>
                  </a:lnTo>
                  <a:lnTo>
                    <a:pt x="344284" y="364274"/>
                  </a:lnTo>
                  <a:lnTo>
                    <a:pt x="320573" y="371475"/>
                  </a:lnTo>
                  <a:lnTo>
                    <a:pt x="316992" y="371475"/>
                  </a:lnTo>
                  <a:lnTo>
                    <a:pt x="54483" y="371475"/>
                  </a:lnTo>
                  <a:lnTo>
                    <a:pt x="50901" y="371475"/>
                  </a:lnTo>
                  <a:lnTo>
                    <a:pt x="47358" y="371119"/>
                  </a:lnTo>
                  <a:lnTo>
                    <a:pt x="24218" y="362292"/>
                  </a:lnTo>
                  <a:lnTo>
                    <a:pt x="21234" y="360311"/>
                  </a:lnTo>
                  <a:lnTo>
                    <a:pt x="18478" y="358051"/>
                  </a:lnTo>
                  <a:lnTo>
                    <a:pt x="15963" y="355523"/>
                  </a:lnTo>
                  <a:lnTo>
                    <a:pt x="13423" y="352983"/>
                  </a:lnTo>
                  <a:lnTo>
                    <a:pt x="11163" y="350240"/>
                  </a:lnTo>
                  <a:lnTo>
                    <a:pt x="9182" y="347268"/>
                  </a:lnTo>
                  <a:lnTo>
                    <a:pt x="7188" y="344284"/>
                  </a:lnTo>
                  <a:lnTo>
                    <a:pt x="5511" y="341147"/>
                  </a:lnTo>
                  <a:lnTo>
                    <a:pt x="4152" y="337845"/>
                  </a:lnTo>
                  <a:lnTo>
                    <a:pt x="2781" y="334543"/>
                  </a:lnTo>
                  <a:lnTo>
                    <a:pt x="1752" y="331127"/>
                  </a:lnTo>
                  <a:lnTo>
                    <a:pt x="1041" y="327621"/>
                  </a:lnTo>
                  <a:lnTo>
                    <a:pt x="342" y="324116"/>
                  </a:lnTo>
                  <a:lnTo>
                    <a:pt x="0" y="320573"/>
                  </a:lnTo>
                  <a:lnTo>
                    <a:pt x="0" y="316992"/>
                  </a:lnTo>
                  <a:close/>
                </a:path>
              </a:pathLst>
            </a:custGeom>
            <a:ln w="9525">
              <a:solidFill>
                <a:srgbClr val="DFB7BB"/>
              </a:solidFill>
            </a:ln>
          </p:spPr>
          <p:txBody>
            <a:bodyPr wrap="square" lIns="0" tIns="0" rIns="0" bIns="0" rtlCol="0"/>
            <a:lstStyle/>
            <a:p>
              <a:endParaRPr/>
            </a:p>
          </p:txBody>
        </p:sp>
      </p:grpSp>
      <p:sp>
        <p:nvSpPr>
          <p:cNvPr id="7" name="object 7"/>
          <p:cNvSpPr txBox="1"/>
          <p:nvPr/>
        </p:nvSpPr>
        <p:spPr>
          <a:xfrm>
            <a:off x="2508224" y="3467836"/>
            <a:ext cx="139065" cy="346075"/>
          </a:xfrm>
          <a:prstGeom prst="rect">
            <a:avLst/>
          </a:prstGeom>
        </p:spPr>
        <p:txBody>
          <a:bodyPr vert="horz" wrap="square" lIns="0" tIns="12700" rIns="0" bIns="0" rtlCol="0">
            <a:spAutoFit/>
          </a:bodyPr>
          <a:lstStyle/>
          <a:p>
            <a:pPr marL="12700">
              <a:lnSpc>
                <a:spcPct val="100000"/>
              </a:lnSpc>
              <a:spcBef>
                <a:spcPts val="100"/>
              </a:spcBef>
            </a:pPr>
            <a:r>
              <a:rPr sz="2100" b="1" spc="-645" dirty="0">
                <a:solidFill>
                  <a:srgbClr val="3A3535"/>
                </a:solidFill>
                <a:latin typeface="Verdana"/>
                <a:cs typeface="Verdana"/>
              </a:rPr>
              <a:t>1</a:t>
            </a:r>
            <a:endParaRPr sz="2100">
              <a:latin typeface="Verdana"/>
              <a:cs typeface="Verdana"/>
            </a:endParaRPr>
          </a:p>
        </p:txBody>
      </p:sp>
      <p:sp>
        <p:nvSpPr>
          <p:cNvPr id="8" name="object 8"/>
          <p:cNvSpPr txBox="1"/>
          <p:nvPr/>
        </p:nvSpPr>
        <p:spPr>
          <a:xfrm>
            <a:off x="2293988" y="2041080"/>
            <a:ext cx="567690" cy="292735"/>
          </a:xfrm>
          <a:prstGeom prst="rect">
            <a:avLst/>
          </a:prstGeom>
        </p:spPr>
        <p:txBody>
          <a:bodyPr vert="horz" wrap="square" lIns="0" tIns="12700" rIns="0" bIns="0" rtlCol="0">
            <a:spAutoFit/>
          </a:bodyPr>
          <a:lstStyle/>
          <a:p>
            <a:pPr marL="12700">
              <a:lnSpc>
                <a:spcPct val="100000"/>
              </a:lnSpc>
              <a:spcBef>
                <a:spcPts val="100"/>
              </a:spcBef>
            </a:pPr>
            <a:r>
              <a:rPr sz="1750" b="1" spc="-170" dirty="0">
                <a:solidFill>
                  <a:srgbClr val="3A3535"/>
                </a:solidFill>
                <a:latin typeface="Verdana"/>
                <a:cs typeface="Verdana"/>
              </a:rPr>
              <a:t>2021</a:t>
            </a:r>
            <a:endParaRPr sz="1750">
              <a:latin typeface="Verdana"/>
              <a:cs typeface="Verdana"/>
            </a:endParaRPr>
          </a:p>
        </p:txBody>
      </p:sp>
      <p:sp>
        <p:nvSpPr>
          <p:cNvPr id="9" name="object 9"/>
          <p:cNvSpPr txBox="1"/>
          <p:nvPr/>
        </p:nvSpPr>
        <p:spPr>
          <a:xfrm>
            <a:off x="752424" y="2392875"/>
            <a:ext cx="3651885" cy="558800"/>
          </a:xfrm>
          <a:prstGeom prst="rect">
            <a:avLst/>
          </a:prstGeom>
        </p:spPr>
        <p:txBody>
          <a:bodyPr vert="horz" wrap="square" lIns="0" tIns="11430" rIns="0" bIns="0" rtlCol="0">
            <a:spAutoFit/>
          </a:bodyPr>
          <a:lstStyle/>
          <a:p>
            <a:pPr marL="1118235" marR="5080" indent="-1106170">
              <a:lnSpc>
                <a:spcPct val="134600"/>
              </a:lnSpc>
              <a:spcBef>
                <a:spcPts val="90"/>
              </a:spcBef>
            </a:pPr>
            <a:r>
              <a:rPr sz="1300" spc="85" dirty="0">
                <a:solidFill>
                  <a:srgbClr val="3A3535"/>
                </a:solidFill>
                <a:latin typeface="Century Gothic"/>
                <a:cs typeface="Century Gothic"/>
              </a:rPr>
              <a:t>Self-</a:t>
            </a:r>
            <a:r>
              <a:rPr sz="1300" spc="75" dirty="0">
                <a:solidFill>
                  <a:srgbClr val="3A3535"/>
                </a:solidFill>
                <a:latin typeface="Century Gothic"/>
                <a:cs typeface="Century Gothic"/>
              </a:rPr>
              <a:t>help</a:t>
            </a:r>
            <a:r>
              <a:rPr sz="1300" spc="1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15" dirty="0">
                <a:solidFill>
                  <a:srgbClr val="3A3535"/>
                </a:solidFill>
                <a:latin typeface="Century Gothic"/>
                <a:cs typeface="Century Gothic"/>
              </a:rPr>
              <a:t> </a:t>
            </a:r>
            <a:r>
              <a:rPr sz="1300" dirty="0">
                <a:solidFill>
                  <a:srgbClr val="3A3535"/>
                </a:solidFill>
                <a:latin typeface="Century Gothic"/>
                <a:cs typeface="Century Gothic"/>
              </a:rPr>
              <a:t>research</a:t>
            </a:r>
            <a:r>
              <a:rPr sz="1300" spc="20" dirty="0">
                <a:solidFill>
                  <a:srgbClr val="3A3535"/>
                </a:solidFill>
                <a:latin typeface="Century Gothic"/>
                <a:cs typeface="Century Gothic"/>
              </a:rPr>
              <a:t> </a:t>
            </a:r>
            <a:r>
              <a:rPr sz="1300" spc="70" dirty="0">
                <a:solidFill>
                  <a:srgbClr val="3A3535"/>
                </a:solidFill>
                <a:latin typeface="Century Gothic"/>
                <a:cs typeface="Century Gothic"/>
              </a:rPr>
              <a:t>websites</a:t>
            </a:r>
            <a:r>
              <a:rPr sz="1300" spc="15" dirty="0">
                <a:solidFill>
                  <a:srgbClr val="3A3535"/>
                </a:solidFill>
                <a:latin typeface="Century Gothic"/>
                <a:cs typeface="Century Gothic"/>
              </a:rPr>
              <a:t> </a:t>
            </a:r>
            <a:r>
              <a:rPr sz="1300" spc="-125" dirty="0">
                <a:solidFill>
                  <a:srgbClr val="3A3535"/>
                </a:solidFill>
                <a:latin typeface="Century Gothic"/>
                <a:cs typeface="Century Gothic"/>
              </a:rPr>
              <a:t>—</a:t>
            </a:r>
            <a:r>
              <a:rPr sz="1300" spc="20" dirty="0">
                <a:solidFill>
                  <a:srgbClr val="3A3535"/>
                </a:solidFill>
                <a:latin typeface="Century Gothic"/>
                <a:cs typeface="Century Gothic"/>
              </a:rPr>
              <a:t> </a:t>
            </a:r>
            <a:r>
              <a:rPr sz="1300" spc="-10" dirty="0">
                <a:solidFill>
                  <a:srgbClr val="3A3535"/>
                </a:solidFill>
                <a:latin typeface="Century Gothic"/>
                <a:cs typeface="Century Gothic"/>
              </a:rPr>
              <a:t>content </a:t>
            </a:r>
            <a:r>
              <a:rPr sz="1300" spc="75" dirty="0">
                <a:solidFill>
                  <a:srgbClr val="3A3535"/>
                </a:solidFill>
                <a:latin typeface="Century Gothic"/>
                <a:cs typeface="Century Gothic"/>
              </a:rPr>
              <a:t>publishing</a:t>
            </a:r>
            <a:r>
              <a:rPr sz="1300" spc="-45" dirty="0">
                <a:solidFill>
                  <a:srgbClr val="3A3535"/>
                </a:solidFill>
                <a:latin typeface="Century Gothic"/>
                <a:cs typeface="Century Gothic"/>
              </a:rPr>
              <a:t> </a:t>
            </a:r>
            <a:r>
              <a:rPr sz="1300" spc="50" dirty="0">
                <a:solidFill>
                  <a:srgbClr val="3A3535"/>
                </a:solidFill>
                <a:latin typeface="Century Gothic"/>
                <a:cs typeface="Century Gothic"/>
              </a:rPr>
              <a:t>focus</a:t>
            </a:r>
            <a:endParaRPr sz="1300">
              <a:latin typeface="Century Gothic"/>
              <a:cs typeface="Century Gothic"/>
            </a:endParaRPr>
          </a:p>
        </p:txBody>
      </p:sp>
      <p:grpSp>
        <p:nvGrpSpPr>
          <p:cNvPr id="10" name="object 10"/>
          <p:cNvGrpSpPr/>
          <p:nvPr/>
        </p:nvGrpSpPr>
        <p:grpSpPr>
          <a:xfrm>
            <a:off x="4476750" y="3476700"/>
            <a:ext cx="381000" cy="695325"/>
            <a:chOff x="4476750" y="3476700"/>
            <a:chExt cx="381000" cy="695325"/>
          </a:xfrm>
        </p:grpSpPr>
        <p:sp>
          <p:nvSpPr>
            <p:cNvPr id="11" name="object 11"/>
            <p:cNvSpPr/>
            <p:nvPr/>
          </p:nvSpPr>
          <p:spPr>
            <a:xfrm>
              <a:off x="4657725" y="3667200"/>
              <a:ext cx="19050" cy="504825"/>
            </a:xfrm>
            <a:custGeom>
              <a:avLst/>
              <a:gdLst/>
              <a:ahLst/>
              <a:cxnLst/>
              <a:rect l="l" t="t" r="r" b="b"/>
              <a:pathLst>
                <a:path w="19050" h="504825">
                  <a:moveTo>
                    <a:pt x="12153" y="0"/>
                  </a:moveTo>
                  <a:lnTo>
                    <a:pt x="6896" y="0"/>
                  </a:lnTo>
                  <a:lnTo>
                    <a:pt x="4648" y="927"/>
                  </a:lnTo>
                  <a:lnTo>
                    <a:pt x="927" y="4648"/>
                  </a:lnTo>
                  <a:lnTo>
                    <a:pt x="0" y="6896"/>
                  </a:lnTo>
                  <a:lnTo>
                    <a:pt x="0" y="495300"/>
                  </a:lnTo>
                  <a:lnTo>
                    <a:pt x="0" y="497928"/>
                  </a:lnTo>
                  <a:lnTo>
                    <a:pt x="927" y="500176"/>
                  </a:lnTo>
                  <a:lnTo>
                    <a:pt x="4648" y="503885"/>
                  </a:lnTo>
                  <a:lnTo>
                    <a:pt x="6896" y="504825"/>
                  </a:lnTo>
                  <a:lnTo>
                    <a:pt x="12153" y="504825"/>
                  </a:lnTo>
                  <a:lnTo>
                    <a:pt x="14401" y="503885"/>
                  </a:lnTo>
                  <a:lnTo>
                    <a:pt x="18122" y="500176"/>
                  </a:lnTo>
                  <a:lnTo>
                    <a:pt x="19050" y="497928"/>
                  </a:lnTo>
                  <a:lnTo>
                    <a:pt x="19050" y="6896"/>
                  </a:lnTo>
                  <a:lnTo>
                    <a:pt x="18122" y="4648"/>
                  </a:lnTo>
                  <a:lnTo>
                    <a:pt x="14401" y="927"/>
                  </a:lnTo>
                  <a:lnTo>
                    <a:pt x="12153" y="0"/>
                  </a:lnTo>
                  <a:close/>
                </a:path>
              </a:pathLst>
            </a:custGeom>
            <a:solidFill>
              <a:srgbClr val="DFB7BB"/>
            </a:solidFill>
          </p:spPr>
          <p:txBody>
            <a:bodyPr wrap="square" lIns="0" tIns="0" rIns="0" bIns="0" rtlCol="0"/>
            <a:lstStyle/>
            <a:p>
              <a:endParaRPr/>
            </a:p>
          </p:txBody>
        </p:sp>
        <p:sp>
          <p:nvSpPr>
            <p:cNvPr id="12" name="object 12"/>
            <p:cNvSpPr/>
            <p:nvPr/>
          </p:nvSpPr>
          <p:spPr>
            <a:xfrm>
              <a:off x="4481512" y="3481463"/>
              <a:ext cx="371475" cy="371475"/>
            </a:xfrm>
            <a:custGeom>
              <a:avLst/>
              <a:gdLst/>
              <a:ahLst/>
              <a:cxnLst/>
              <a:rect l="l" t="t" r="r" b="b"/>
              <a:pathLst>
                <a:path w="371475" h="371475">
                  <a:moveTo>
                    <a:pt x="320573" y="0"/>
                  </a:moveTo>
                  <a:lnTo>
                    <a:pt x="50901" y="0"/>
                  </a:lnTo>
                  <a:lnTo>
                    <a:pt x="47358" y="342"/>
                  </a:lnTo>
                  <a:lnTo>
                    <a:pt x="13423" y="18478"/>
                  </a:lnTo>
                  <a:lnTo>
                    <a:pt x="0" y="50901"/>
                  </a:lnTo>
                  <a:lnTo>
                    <a:pt x="0" y="316992"/>
                  </a:lnTo>
                  <a:lnTo>
                    <a:pt x="0" y="320573"/>
                  </a:lnTo>
                  <a:lnTo>
                    <a:pt x="15963" y="355511"/>
                  </a:lnTo>
                  <a:lnTo>
                    <a:pt x="18478" y="358051"/>
                  </a:lnTo>
                  <a:lnTo>
                    <a:pt x="50901" y="371475"/>
                  </a:lnTo>
                  <a:lnTo>
                    <a:pt x="320573" y="371475"/>
                  </a:lnTo>
                  <a:lnTo>
                    <a:pt x="355511" y="355511"/>
                  </a:lnTo>
                  <a:lnTo>
                    <a:pt x="358051" y="352983"/>
                  </a:lnTo>
                  <a:lnTo>
                    <a:pt x="371475" y="320573"/>
                  </a:lnTo>
                  <a:lnTo>
                    <a:pt x="371475" y="50901"/>
                  </a:lnTo>
                  <a:lnTo>
                    <a:pt x="352996" y="13423"/>
                  </a:lnTo>
                  <a:lnTo>
                    <a:pt x="324116" y="342"/>
                  </a:lnTo>
                  <a:lnTo>
                    <a:pt x="320573" y="0"/>
                  </a:lnTo>
                  <a:close/>
                </a:path>
              </a:pathLst>
            </a:custGeom>
            <a:solidFill>
              <a:srgbClr val="F9D2D6"/>
            </a:solidFill>
          </p:spPr>
          <p:txBody>
            <a:bodyPr wrap="square" lIns="0" tIns="0" rIns="0" bIns="0" rtlCol="0"/>
            <a:lstStyle/>
            <a:p>
              <a:endParaRPr/>
            </a:p>
          </p:txBody>
        </p:sp>
        <p:sp>
          <p:nvSpPr>
            <p:cNvPr id="13" name="object 13"/>
            <p:cNvSpPr/>
            <p:nvPr/>
          </p:nvSpPr>
          <p:spPr>
            <a:xfrm>
              <a:off x="4481512" y="3481463"/>
              <a:ext cx="371475" cy="371475"/>
            </a:xfrm>
            <a:custGeom>
              <a:avLst/>
              <a:gdLst/>
              <a:ahLst/>
              <a:cxnLst/>
              <a:rect l="l" t="t" r="r" b="b"/>
              <a:pathLst>
                <a:path w="371475" h="371475">
                  <a:moveTo>
                    <a:pt x="0" y="316992"/>
                  </a:moveTo>
                  <a:lnTo>
                    <a:pt x="0" y="54483"/>
                  </a:lnTo>
                  <a:lnTo>
                    <a:pt x="0" y="50901"/>
                  </a:lnTo>
                  <a:lnTo>
                    <a:pt x="342" y="47358"/>
                  </a:lnTo>
                  <a:lnTo>
                    <a:pt x="1041" y="43853"/>
                  </a:lnTo>
                  <a:lnTo>
                    <a:pt x="1752" y="40335"/>
                  </a:lnTo>
                  <a:lnTo>
                    <a:pt x="2781" y="36931"/>
                  </a:lnTo>
                  <a:lnTo>
                    <a:pt x="4152" y="33629"/>
                  </a:lnTo>
                  <a:lnTo>
                    <a:pt x="5511" y="30327"/>
                  </a:lnTo>
                  <a:lnTo>
                    <a:pt x="7188" y="27190"/>
                  </a:lnTo>
                  <a:lnTo>
                    <a:pt x="9182" y="24206"/>
                  </a:lnTo>
                  <a:lnTo>
                    <a:pt x="11163" y="21234"/>
                  </a:lnTo>
                  <a:lnTo>
                    <a:pt x="13423" y="18478"/>
                  </a:lnTo>
                  <a:lnTo>
                    <a:pt x="15963" y="15951"/>
                  </a:lnTo>
                  <a:lnTo>
                    <a:pt x="18478" y="13423"/>
                  </a:lnTo>
                  <a:lnTo>
                    <a:pt x="21234" y="11163"/>
                  </a:lnTo>
                  <a:lnTo>
                    <a:pt x="24218" y="9182"/>
                  </a:lnTo>
                  <a:lnTo>
                    <a:pt x="27190" y="7188"/>
                  </a:lnTo>
                  <a:lnTo>
                    <a:pt x="43853" y="1041"/>
                  </a:lnTo>
                  <a:lnTo>
                    <a:pt x="47358" y="342"/>
                  </a:lnTo>
                  <a:lnTo>
                    <a:pt x="50901" y="0"/>
                  </a:lnTo>
                  <a:lnTo>
                    <a:pt x="54483" y="0"/>
                  </a:lnTo>
                  <a:lnTo>
                    <a:pt x="316992" y="0"/>
                  </a:lnTo>
                  <a:lnTo>
                    <a:pt x="320573" y="0"/>
                  </a:lnTo>
                  <a:lnTo>
                    <a:pt x="324116" y="342"/>
                  </a:lnTo>
                  <a:lnTo>
                    <a:pt x="347256" y="9182"/>
                  </a:lnTo>
                  <a:lnTo>
                    <a:pt x="350240" y="11163"/>
                  </a:lnTo>
                  <a:lnTo>
                    <a:pt x="352996" y="13423"/>
                  </a:lnTo>
                  <a:lnTo>
                    <a:pt x="355511" y="15951"/>
                  </a:lnTo>
                  <a:lnTo>
                    <a:pt x="358051" y="18478"/>
                  </a:lnTo>
                  <a:lnTo>
                    <a:pt x="360311" y="21234"/>
                  </a:lnTo>
                  <a:lnTo>
                    <a:pt x="362292" y="24206"/>
                  </a:lnTo>
                  <a:lnTo>
                    <a:pt x="364286" y="27190"/>
                  </a:lnTo>
                  <a:lnTo>
                    <a:pt x="365963" y="30327"/>
                  </a:lnTo>
                  <a:lnTo>
                    <a:pt x="367322" y="33629"/>
                  </a:lnTo>
                  <a:lnTo>
                    <a:pt x="368693" y="36931"/>
                  </a:lnTo>
                  <a:lnTo>
                    <a:pt x="369735" y="40335"/>
                  </a:lnTo>
                  <a:lnTo>
                    <a:pt x="370433" y="43853"/>
                  </a:lnTo>
                  <a:lnTo>
                    <a:pt x="371132" y="47358"/>
                  </a:lnTo>
                  <a:lnTo>
                    <a:pt x="371475" y="50901"/>
                  </a:lnTo>
                  <a:lnTo>
                    <a:pt x="371475" y="54483"/>
                  </a:lnTo>
                  <a:lnTo>
                    <a:pt x="371475" y="316992"/>
                  </a:lnTo>
                  <a:lnTo>
                    <a:pt x="371475" y="320573"/>
                  </a:lnTo>
                  <a:lnTo>
                    <a:pt x="371132" y="324116"/>
                  </a:lnTo>
                  <a:lnTo>
                    <a:pt x="370433" y="327621"/>
                  </a:lnTo>
                  <a:lnTo>
                    <a:pt x="369735" y="331127"/>
                  </a:lnTo>
                  <a:lnTo>
                    <a:pt x="368693" y="334530"/>
                  </a:lnTo>
                  <a:lnTo>
                    <a:pt x="367322" y="337832"/>
                  </a:lnTo>
                  <a:lnTo>
                    <a:pt x="365963" y="341147"/>
                  </a:lnTo>
                  <a:lnTo>
                    <a:pt x="364286" y="344284"/>
                  </a:lnTo>
                  <a:lnTo>
                    <a:pt x="362292" y="347256"/>
                  </a:lnTo>
                  <a:lnTo>
                    <a:pt x="360311" y="350227"/>
                  </a:lnTo>
                  <a:lnTo>
                    <a:pt x="358051" y="352983"/>
                  </a:lnTo>
                  <a:lnTo>
                    <a:pt x="355511" y="355511"/>
                  </a:lnTo>
                  <a:lnTo>
                    <a:pt x="352996" y="358051"/>
                  </a:lnTo>
                  <a:lnTo>
                    <a:pt x="337845" y="367322"/>
                  </a:lnTo>
                  <a:lnTo>
                    <a:pt x="334530" y="368693"/>
                  </a:lnTo>
                  <a:lnTo>
                    <a:pt x="331127" y="369722"/>
                  </a:lnTo>
                  <a:lnTo>
                    <a:pt x="327621" y="370433"/>
                  </a:lnTo>
                  <a:lnTo>
                    <a:pt x="324116" y="371119"/>
                  </a:lnTo>
                  <a:lnTo>
                    <a:pt x="320573" y="371475"/>
                  </a:lnTo>
                  <a:lnTo>
                    <a:pt x="316992" y="371475"/>
                  </a:lnTo>
                  <a:lnTo>
                    <a:pt x="54483" y="371475"/>
                  </a:lnTo>
                  <a:lnTo>
                    <a:pt x="50901" y="371475"/>
                  </a:lnTo>
                  <a:lnTo>
                    <a:pt x="47358" y="371119"/>
                  </a:lnTo>
                  <a:lnTo>
                    <a:pt x="43853" y="370433"/>
                  </a:lnTo>
                  <a:lnTo>
                    <a:pt x="40347" y="369722"/>
                  </a:lnTo>
                  <a:lnTo>
                    <a:pt x="36944" y="368693"/>
                  </a:lnTo>
                  <a:lnTo>
                    <a:pt x="33629" y="367322"/>
                  </a:lnTo>
                  <a:lnTo>
                    <a:pt x="30327" y="365963"/>
                  </a:lnTo>
                  <a:lnTo>
                    <a:pt x="15963" y="355511"/>
                  </a:lnTo>
                  <a:lnTo>
                    <a:pt x="13423" y="352983"/>
                  </a:lnTo>
                  <a:lnTo>
                    <a:pt x="11163" y="350227"/>
                  </a:lnTo>
                  <a:lnTo>
                    <a:pt x="9182" y="347256"/>
                  </a:lnTo>
                  <a:lnTo>
                    <a:pt x="7188" y="344284"/>
                  </a:lnTo>
                  <a:lnTo>
                    <a:pt x="5511" y="341147"/>
                  </a:lnTo>
                  <a:lnTo>
                    <a:pt x="4152" y="337832"/>
                  </a:lnTo>
                  <a:lnTo>
                    <a:pt x="2781" y="334530"/>
                  </a:lnTo>
                  <a:lnTo>
                    <a:pt x="1752" y="331127"/>
                  </a:lnTo>
                  <a:lnTo>
                    <a:pt x="1041" y="327621"/>
                  </a:lnTo>
                  <a:lnTo>
                    <a:pt x="342" y="324116"/>
                  </a:lnTo>
                  <a:lnTo>
                    <a:pt x="0" y="320573"/>
                  </a:lnTo>
                  <a:lnTo>
                    <a:pt x="0" y="316992"/>
                  </a:lnTo>
                  <a:close/>
                </a:path>
              </a:pathLst>
            </a:custGeom>
            <a:ln w="9525">
              <a:solidFill>
                <a:srgbClr val="DFB7BB"/>
              </a:solidFill>
            </a:ln>
          </p:spPr>
          <p:txBody>
            <a:bodyPr wrap="square" lIns="0" tIns="0" rIns="0" bIns="0" rtlCol="0"/>
            <a:lstStyle/>
            <a:p>
              <a:endParaRPr/>
            </a:p>
          </p:txBody>
        </p:sp>
      </p:grpSp>
      <p:sp>
        <p:nvSpPr>
          <p:cNvPr id="14" name="object 14"/>
          <p:cNvSpPr txBox="1"/>
          <p:nvPr/>
        </p:nvSpPr>
        <p:spPr>
          <a:xfrm>
            <a:off x="4572469" y="3467976"/>
            <a:ext cx="193040" cy="346075"/>
          </a:xfrm>
          <a:prstGeom prst="rect">
            <a:avLst/>
          </a:prstGeom>
        </p:spPr>
        <p:txBody>
          <a:bodyPr vert="horz" wrap="square" lIns="0" tIns="12700" rIns="0" bIns="0" rtlCol="0">
            <a:spAutoFit/>
          </a:bodyPr>
          <a:lstStyle/>
          <a:p>
            <a:pPr marL="12700">
              <a:lnSpc>
                <a:spcPct val="100000"/>
              </a:lnSpc>
              <a:spcBef>
                <a:spcPts val="100"/>
              </a:spcBef>
            </a:pPr>
            <a:r>
              <a:rPr sz="2100" b="1" spc="-125" dirty="0">
                <a:solidFill>
                  <a:srgbClr val="3A3535"/>
                </a:solidFill>
                <a:latin typeface="Verdana"/>
                <a:cs typeface="Verdana"/>
              </a:rPr>
              <a:t>2</a:t>
            </a:r>
            <a:endParaRPr sz="2100">
              <a:latin typeface="Verdana"/>
              <a:cs typeface="Verdana"/>
            </a:endParaRPr>
          </a:p>
        </p:txBody>
      </p:sp>
      <p:sp>
        <p:nvSpPr>
          <p:cNvPr id="15" name="object 15"/>
          <p:cNvSpPr txBox="1"/>
          <p:nvPr/>
        </p:nvSpPr>
        <p:spPr>
          <a:xfrm>
            <a:off x="3000768" y="4317555"/>
            <a:ext cx="3337560" cy="910590"/>
          </a:xfrm>
          <a:prstGeom prst="rect">
            <a:avLst/>
          </a:prstGeom>
        </p:spPr>
        <p:txBody>
          <a:bodyPr vert="horz" wrap="square" lIns="0" tIns="12700" rIns="0" bIns="0" rtlCol="0">
            <a:spAutoFit/>
          </a:bodyPr>
          <a:lstStyle/>
          <a:p>
            <a:pPr algn="ctr">
              <a:lnSpc>
                <a:spcPct val="100000"/>
              </a:lnSpc>
              <a:spcBef>
                <a:spcPts val="100"/>
              </a:spcBef>
            </a:pPr>
            <a:r>
              <a:rPr sz="1750" b="1" spc="-20" dirty="0">
                <a:solidFill>
                  <a:srgbClr val="3A3535"/>
                </a:solidFill>
                <a:latin typeface="Verdana"/>
                <a:cs typeface="Verdana"/>
              </a:rPr>
              <a:t>2023</a:t>
            </a:r>
            <a:endParaRPr sz="1750" dirty="0">
              <a:latin typeface="Verdana"/>
              <a:cs typeface="Verdana"/>
            </a:endParaRPr>
          </a:p>
          <a:p>
            <a:pPr marL="12700" marR="5080" algn="ctr">
              <a:lnSpc>
                <a:spcPct val="134600"/>
              </a:lnSpc>
              <a:spcBef>
                <a:spcPts val="660"/>
              </a:spcBef>
            </a:pPr>
            <a:r>
              <a:rPr sz="1300" dirty="0">
                <a:solidFill>
                  <a:srgbClr val="3A3535"/>
                </a:solidFill>
                <a:latin typeface="Century Gothic"/>
                <a:cs typeface="Century Gothic"/>
              </a:rPr>
              <a:t>Modular</a:t>
            </a:r>
            <a:r>
              <a:rPr sz="1300" spc="130" dirty="0">
                <a:solidFill>
                  <a:srgbClr val="3A3535"/>
                </a:solidFill>
                <a:latin typeface="Century Gothic"/>
                <a:cs typeface="Century Gothic"/>
              </a:rPr>
              <a:t> </a:t>
            </a:r>
            <a:r>
              <a:rPr sz="1300" dirty="0">
                <a:solidFill>
                  <a:srgbClr val="3A3535"/>
                </a:solidFill>
                <a:latin typeface="Century Gothic"/>
                <a:cs typeface="Century Gothic"/>
              </a:rPr>
              <a:t>pages,</a:t>
            </a:r>
            <a:r>
              <a:rPr sz="1300" spc="135" dirty="0">
                <a:solidFill>
                  <a:srgbClr val="3A3535"/>
                </a:solidFill>
                <a:latin typeface="Century Gothic"/>
                <a:cs typeface="Century Gothic"/>
              </a:rPr>
              <a:t> </a:t>
            </a:r>
            <a:r>
              <a:rPr sz="1300" dirty="0">
                <a:solidFill>
                  <a:srgbClr val="3A3535"/>
                </a:solidFill>
                <a:latin typeface="Century Gothic"/>
                <a:cs typeface="Century Gothic"/>
              </a:rPr>
              <a:t>scheduling,</a:t>
            </a:r>
            <a:r>
              <a:rPr sz="1300" spc="13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135" dirty="0">
                <a:solidFill>
                  <a:srgbClr val="3A3535"/>
                </a:solidFill>
                <a:latin typeface="Century Gothic"/>
                <a:cs typeface="Century Gothic"/>
              </a:rPr>
              <a:t> </a:t>
            </a:r>
            <a:r>
              <a:rPr sz="1300" spc="40" dirty="0">
                <a:solidFill>
                  <a:srgbClr val="3A3535"/>
                </a:solidFill>
                <a:latin typeface="Century Gothic"/>
                <a:cs typeface="Century Gothic"/>
              </a:rPr>
              <a:t>mobile </a:t>
            </a:r>
            <a:r>
              <a:rPr sz="1300" spc="45" dirty="0">
                <a:solidFill>
                  <a:srgbClr val="3A3535"/>
                </a:solidFill>
                <a:latin typeface="Century Gothic"/>
                <a:cs typeface="Century Gothic"/>
              </a:rPr>
              <a:t>integration</a:t>
            </a:r>
            <a:endParaRPr sz="1300" dirty="0">
              <a:latin typeface="Century Gothic"/>
              <a:cs typeface="Century Gothic"/>
            </a:endParaRPr>
          </a:p>
        </p:txBody>
      </p:sp>
      <p:grpSp>
        <p:nvGrpSpPr>
          <p:cNvPr id="16" name="object 16"/>
          <p:cNvGrpSpPr/>
          <p:nvPr/>
        </p:nvGrpSpPr>
        <p:grpSpPr>
          <a:xfrm>
            <a:off x="6572250" y="3162223"/>
            <a:ext cx="381000" cy="695325"/>
            <a:chOff x="6572250" y="3162223"/>
            <a:chExt cx="381000" cy="695325"/>
          </a:xfrm>
        </p:grpSpPr>
        <p:sp>
          <p:nvSpPr>
            <p:cNvPr id="17" name="object 17"/>
            <p:cNvSpPr/>
            <p:nvPr/>
          </p:nvSpPr>
          <p:spPr>
            <a:xfrm>
              <a:off x="6753225" y="3162223"/>
              <a:ext cx="19050" cy="504825"/>
            </a:xfrm>
            <a:custGeom>
              <a:avLst/>
              <a:gdLst/>
              <a:ahLst/>
              <a:cxnLst/>
              <a:rect l="l" t="t" r="r" b="b"/>
              <a:pathLst>
                <a:path w="19050" h="504825">
                  <a:moveTo>
                    <a:pt x="12153" y="0"/>
                  </a:moveTo>
                  <a:lnTo>
                    <a:pt x="6896" y="0"/>
                  </a:lnTo>
                  <a:lnTo>
                    <a:pt x="4648" y="927"/>
                  </a:lnTo>
                  <a:lnTo>
                    <a:pt x="927" y="4648"/>
                  </a:lnTo>
                  <a:lnTo>
                    <a:pt x="0" y="6896"/>
                  </a:lnTo>
                  <a:lnTo>
                    <a:pt x="0" y="495300"/>
                  </a:lnTo>
                  <a:lnTo>
                    <a:pt x="0" y="497928"/>
                  </a:lnTo>
                  <a:lnTo>
                    <a:pt x="927" y="500176"/>
                  </a:lnTo>
                  <a:lnTo>
                    <a:pt x="4648" y="503897"/>
                  </a:lnTo>
                  <a:lnTo>
                    <a:pt x="6896" y="504825"/>
                  </a:lnTo>
                  <a:lnTo>
                    <a:pt x="12153" y="504825"/>
                  </a:lnTo>
                  <a:lnTo>
                    <a:pt x="14401" y="503897"/>
                  </a:lnTo>
                  <a:lnTo>
                    <a:pt x="18122" y="500176"/>
                  </a:lnTo>
                  <a:lnTo>
                    <a:pt x="19050" y="497928"/>
                  </a:lnTo>
                  <a:lnTo>
                    <a:pt x="19050" y="6896"/>
                  </a:lnTo>
                  <a:lnTo>
                    <a:pt x="18122" y="4648"/>
                  </a:lnTo>
                  <a:lnTo>
                    <a:pt x="14401" y="927"/>
                  </a:lnTo>
                  <a:lnTo>
                    <a:pt x="12153" y="0"/>
                  </a:lnTo>
                  <a:close/>
                </a:path>
              </a:pathLst>
            </a:custGeom>
            <a:solidFill>
              <a:srgbClr val="DFB7BB"/>
            </a:solidFill>
          </p:spPr>
          <p:txBody>
            <a:bodyPr wrap="square" lIns="0" tIns="0" rIns="0" bIns="0" rtlCol="0"/>
            <a:lstStyle/>
            <a:p>
              <a:endParaRPr/>
            </a:p>
          </p:txBody>
        </p:sp>
        <p:sp>
          <p:nvSpPr>
            <p:cNvPr id="18" name="object 18"/>
            <p:cNvSpPr/>
            <p:nvPr/>
          </p:nvSpPr>
          <p:spPr>
            <a:xfrm>
              <a:off x="6577012" y="3481311"/>
              <a:ext cx="371475" cy="371475"/>
            </a:xfrm>
            <a:custGeom>
              <a:avLst/>
              <a:gdLst/>
              <a:ahLst/>
              <a:cxnLst/>
              <a:rect l="l" t="t" r="r" b="b"/>
              <a:pathLst>
                <a:path w="371475" h="371475">
                  <a:moveTo>
                    <a:pt x="320573" y="0"/>
                  </a:moveTo>
                  <a:lnTo>
                    <a:pt x="50901" y="0"/>
                  </a:lnTo>
                  <a:lnTo>
                    <a:pt x="47358" y="355"/>
                  </a:lnTo>
                  <a:lnTo>
                    <a:pt x="13423" y="18491"/>
                  </a:lnTo>
                  <a:lnTo>
                    <a:pt x="0" y="50901"/>
                  </a:lnTo>
                  <a:lnTo>
                    <a:pt x="0" y="316992"/>
                  </a:lnTo>
                  <a:lnTo>
                    <a:pt x="0" y="320573"/>
                  </a:lnTo>
                  <a:lnTo>
                    <a:pt x="18478" y="358051"/>
                  </a:lnTo>
                  <a:lnTo>
                    <a:pt x="50901" y="371475"/>
                  </a:lnTo>
                  <a:lnTo>
                    <a:pt x="320573" y="371475"/>
                  </a:lnTo>
                  <a:lnTo>
                    <a:pt x="358051" y="352983"/>
                  </a:lnTo>
                  <a:lnTo>
                    <a:pt x="371475" y="320573"/>
                  </a:lnTo>
                  <a:lnTo>
                    <a:pt x="371475" y="50901"/>
                  </a:lnTo>
                  <a:lnTo>
                    <a:pt x="352983" y="13423"/>
                  </a:lnTo>
                  <a:lnTo>
                    <a:pt x="324116" y="355"/>
                  </a:lnTo>
                  <a:lnTo>
                    <a:pt x="320573" y="0"/>
                  </a:lnTo>
                  <a:close/>
                </a:path>
              </a:pathLst>
            </a:custGeom>
            <a:solidFill>
              <a:srgbClr val="F9D2D6"/>
            </a:solidFill>
          </p:spPr>
          <p:txBody>
            <a:bodyPr wrap="square" lIns="0" tIns="0" rIns="0" bIns="0" rtlCol="0"/>
            <a:lstStyle/>
            <a:p>
              <a:endParaRPr/>
            </a:p>
          </p:txBody>
        </p:sp>
        <p:sp>
          <p:nvSpPr>
            <p:cNvPr id="19" name="object 19"/>
            <p:cNvSpPr/>
            <p:nvPr/>
          </p:nvSpPr>
          <p:spPr>
            <a:xfrm>
              <a:off x="6577012" y="3481311"/>
              <a:ext cx="371475" cy="371475"/>
            </a:xfrm>
            <a:custGeom>
              <a:avLst/>
              <a:gdLst/>
              <a:ahLst/>
              <a:cxnLst/>
              <a:rect l="l" t="t" r="r" b="b"/>
              <a:pathLst>
                <a:path w="371475" h="371475">
                  <a:moveTo>
                    <a:pt x="0" y="316992"/>
                  </a:moveTo>
                  <a:lnTo>
                    <a:pt x="0" y="54483"/>
                  </a:lnTo>
                  <a:lnTo>
                    <a:pt x="0" y="50901"/>
                  </a:lnTo>
                  <a:lnTo>
                    <a:pt x="342" y="47358"/>
                  </a:lnTo>
                  <a:lnTo>
                    <a:pt x="1041" y="43853"/>
                  </a:lnTo>
                  <a:lnTo>
                    <a:pt x="1752" y="40347"/>
                  </a:lnTo>
                  <a:lnTo>
                    <a:pt x="2781" y="36931"/>
                  </a:lnTo>
                  <a:lnTo>
                    <a:pt x="4152" y="33629"/>
                  </a:lnTo>
                  <a:lnTo>
                    <a:pt x="5511" y="30327"/>
                  </a:lnTo>
                  <a:lnTo>
                    <a:pt x="7188" y="27190"/>
                  </a:lnTo>
                  <a:lnTo>
                    <a:pt x="9182" y="24206"/>
                  </a:lnTo>
                  <a:lnTo>
                    <a:pt x="11163" y="21234"/>
                  </a:lnTo>
                  <a:lnTo>
                    <a:pt x="43853" y="1054"/>
                  </a:lnTo>
                  <a:lnTo>
                    <a:pt x="47358" y="355"/>
                  </a:lnTo>
                  <a:lnTo>
                    <a:pt x="50901" y="0"/>
                  </a:lnTo>
                  <a:lnTo>
                    <a:pt x="54483" y="0"/>
                  </a:lnTo>
                  <a:lnTo>
                    <a:pt x="316992" y="0"/>
                  </a:lnTo>
                  <a:lnTo>
                    <a:pt x="320573" y="0"/>
                  </a:lnTo>
                  <a:lnTo>
                    <a:pt x="324116" y="355"/>
                  </a:lnTo>
                  <a:lnTo>
                    <a:pt x="327621" y="1054"/>
                  </a:lnTo>
                  <a:lnTo>
                    <a:pt x="331127" y="1739"/>
                  </a:lnTo>
                  <a:lnTo>
                    <a:pt x="355511" y="15951"/>
                  </a:lnTo>
                  <a:lnTo>
                    <a:pt x="358051" y="18491"/>
                  </a:lnTo>
                  <a:lnTo>
                    <a:pt x="360311" y="21234"/>
                  </a:lnTo>
                  <a:lnTo>
                    <a:pt x="362292" y="24206"/>
                  </a:lnTo>
                  <a:lnTo>
                    <a:pt x="364286" y="27190"/>
                  </a:lnTo>
                  <a:lnTo>
                    <a:pt x="365963" y="30327"/>
                  </a:lnTo>
                  <a:lnTo>
                    <a:pt x="367322" y="33629"/>
                  </a:lnTo>
                  <a:lnTo>
                    <a:pt x="368693" y="36931"/>
                  </a:lnTo>
                  <a:lnTo>
                    <a:pt x="369735" y="40347"/>
                  </a:lnTo>
                  <a:lnTo>
                    <a:pt x="370433" y="43853"/>
                  </a:lnTo>
                  <a:lnTo>
                    <a:pt x="371132" y="47358"/>
                  </a:lnTo>
                  <a:lnTo>
                    <a:pt x="371475" y="50901"/>
                  </a:lnTo>
                  <a:lnTo>
                    <a:pt x="371475" y="54483"/>
                  </a:lnTo>
                  <a:lnTo>
                    <a:pt x="371475" y="316992"/>
                  </a:lnTo>
                  <a:lnTo>
                    <a:pt x="371475" y="320573"/>
                  </a:lnTo>
                  <a:lnTo>
                    <a:pt x="371132" y="324116"/>
                  </a:lnTo>
                  <a:lnTo>
                    <a:pt x="370433" y="327621"/>
                  </a:lnTo>
                  <a:lnTo>
                    <a:pt x="369735" y="331127"/>
                  </a:lnTo>
                  <a:lnTo>
                    <a:pt x="368693" y="334543"/>
                  </a:lnTo>
                  <a:lnTo>
                    <a:pt x="367322" y="337845"/>
                  </a:lnTo>
                  <a:lnTo>
                    <a:pt x="365963" y="341147"/>
                  </a:lnTo>
                  <a:lnTo>
                    <a:pt x="364286" y="344284"/>
                  </a:lnTo>
                  <a:lnTo>
                    <a:pt x="362292" y="347268"/>
                  </a:lnTo>
                  <a:lnTo>
                    <a:pt x="360311" y="350240"/>
                  </a:lnTo>
                  <a:lnTo>
                    <a:pt x="358051" y="352983"/>
                  </a:lnTo>
                  <a:lnTo>
                    <a:pt x="355511" y="355523"/>
                  </a:lnTo>
                  <a:lnTo>
                    <a:pt x="352983" y="358051"/>
                  </a:lnTo>
                  <a:lnTo>
                    <a:pt x="350240" y="360311"/>
                  </a:lnTo>
                  <a:lnTo>
                    <a:pt x="347256" y="362292"/>
                  </a:lnTo>
                  <a:lnTo>
                    <a:pt x="344284" y="364274"/>
                  </a:lnTo>
                  <a:lnTo>
                    <a:pt x="320573" y="371475"/>
                  </a:lnTo>
                  <a:lnTo>
                    <a:pt x="316992" y="371475"/>
                  </a:lnTo>
                  <a:lnTo>
                    <a:pt x="54483" y="371475"/>
                  </a:lnTo>
                  <a:lnTo>
                    <a:pt x="50901" y="371475"/>
                  </a:lnTo>
                  <a:lnTo>
                    <a:pt x="47358" y="371119"/>
                  </a:lnTo>
                  <a:lnTo>
                    <a:pt x="24218" y="362292"/>
                  </a:lnTo>
                  <a:lnTo>
                    <a:pt x="21234" y="360311"/>
                  </a:lnTo>
                  <a:lnTo>
                    <a:pt x="9182" y="347268"/>
                  </a:lnTo>
                  <a:lnTo>
                    <a:pt x="7188" y="344284"/>
                  </a:lnTo>
                  <a:lnTo>
                    <a:pt x="5511" y="341147"/>
                  </a:lnTo>
                  <a:lnTo>
                    <a:pt x="4152" y="337845"/>
                  </a:lnTo>
                  <a:lnTo>
                    <a:pt x="2781" y="334543"/>
                  </a:lnTo>
                  <a:lnTo>
                    <a:pt x="1752" y="331127"/>
                  </a:lnTo>
                  <a:lnTo>
                    <a:pt x="1041" y="327621"/>
                  </a:lnTo>
                  <a:lnTo>
                    <a:pt x="342" y="324116"/>
                  </a:lnTo>
                  <a:lnTo>
                    <a:pt x="0" y="320573"/>
                  </a:lnTo>
                  <a:lnTo>
                    <a:pt x="0" y="316992"/>
                  </a:lnTo>
                  <a:close/>
                </a:path>
              </a:pathLst>
            </a:custGeom>
            <a:ln w="9525">
              <a:solidFill>
                <a:srgbClr val="DFB7BB"/>
              </a:solidFill>
            </a:ln>
          </p:spPr>
          <p:txBody>
            <a:bodyPr wrap="square" lIns="0" tIns="0" rIns="0" bIns="0" rtlCol="0"/>
            <a:lstStyle/>
            <a:p>
              <a:endParaRPr/>
            </a:p>
          </p:txBody>
        </p:sp>
      </p:grpSp>
      <p:sp>
        <p:nvSpPr>
          <p:cNvPr id="20" name="object 20"/>
          <p:cNvSpPr txBox="1"/>
          <p:nvPr/>
        </p:nvSpPr>
        <p:spPr>
          <a:xfrm>
            <a:off x="6663956" y="3467836"/>
            <a:ext cx="193040" cy="346075"/>
          </a:xfrm>
          <a:prstGeom prst="rect">
            <a:avLst/>
          </a:prstGeom>
        </p:spPr>
        <p:txBody>
          <a:bodyPr vert="horz" wrap="square" lIns="0" tIns="12700" rIns="0" bIns="0" rtlCol="0">
            <a:spAutoFit/>
          </a:bodyPr>
          <a:lstStyle/>
          <a:p>
            <a:pPr marL="12700">
              <a:lnSpc>
                <a:spcPct val="100000"/>
              </a:lnSpc>
              <a:spcBef>
                <a:spcPts val="100"/>
              </a:spcBef>
            </a:pPr>
            <a:r>
              <a:rPr sz="2100" b="1" spc="-125" dirty="0">
                <a:solidFill>
                  <a:srgbClr val="3A3535"/>
                </a:solidFill>
                <a:latin typeface="Verdana"/>
                <a:cs typeface="Verdana"/>
              </a:rPr>
              <a:t>3</a:t>
            </a:r>
            <a:endParaRPr sz="2100">
              <a:latin typeface="Verdana"/>
              <a:cs typeface="Verdana"/>
            </a:endParaRPr>
          </a:p>
        </p:txBody>
      </p:sp>
      <p:sp>
        <p:nvSpPr>
          <p:cNvPr id="21" name="object 21"/>
          <p:cNvSpPr txBox="1"/>
          <p:nvPr/>
        </p:nvSpPr>
        <p:spPr>
          <a:xfrm>
            <a:off x="6093129" y="2041080"/>
            <a:ext cx="1335405" cy="292735"/>
          </a:xfrm>
          <a:prstGeom prst="rect">
            <a:avLst/>
          </a:prstGeom>
        </p:spPr>
        <p:txBody>
          <a:bodyPr vert="horz" wrap="square" lIns="0" tIns="12700" rIns="0" bIns="0" rtlCol="0">
            <a:spAutoFit/>
          </a:bodyPr>
          <a:lstStyle/>
          <a:p>
            <a:pPr marL="12700">
              <a:lnSpc>
                <a:spcPct val="100000"/>
              </a:lnSpc>
              <a:spcBef>
                <a:spcPts val="100"/>
              </a:spcBef>
            </a:pPr>
            <a:r>
              <a:rPr sz="1750" b="1" spc="-120" dirty="0">
                <a:solidFill>
                  <a:srgbClr val="3A3535"/>
                </a:solidFill>
                <a:latin typeface="Verdana"/>
                <a:cs typeface="Verdana"/>
              </a:rPr>
              <a:t>2024–</a:t>
            </a:r>
            <a:r>
              <a:rPr sz="1750" b="1" spc="-85" dirty="0">
                <a:solidFill>
                  <a:srgbClr val="3A3535"/>
                </a:solidFill>
                <a:latin typeface="Verdana"/>
                <a:cs typeface="Verdana"/>
              </a:rPr>
              <a:t>2026</a:t>
            </a:r>
            <a:endParaRPr sz="1750">
              <a:latin typeface="Verdana"/>
              <a:cs typeface="Verdana"/>
            </a:endParaRPr>
          </a:p>
        </p:txBody>
      </p:sp>
      <p:sp>
        <p:nvSpPr>
          <p:cNvPr id="22" name="object 22"/>
          <p:cNvSpPr txBox="1"/>
          <p:nvPr/>
        </p:nvSpPr>
        <p:spPr>
          <a:xfrm>
            <a:off x="4977206" y="2392875"/>
            <a:ext cx="3567429" cy="558800"/>
          </a:xfrm>
          <a:prstGeom prst="rect">
            <a:avLst/>
          </a:prstGeom>
        </p:spPr>
        <p:txBody>
          <a:bodyPr vert="horz" wrap="square" lIns="0" tIns="11430" rIns="0" bIns="0" rtlCol="0">
            <a:spAutoFit/>
          </a:bodyPr>
          <a:lstStyle/>
          <a:p>
            <a:pPr marL="12700" marR="5080" indent="394970">
              <a:lnSpc>
                <a:spcPct val="134600"/>
              </a:lnSpc>
              <a:spcBef>
                <a:spcPts val="90"/>
              </a:spcBef>
            </a:pPr>
            <a:r>
              <a:rPr sz="1300" spc="95" dirty="0">
                <a:solidFill>
                  <a:srgbClr val="3A3535"/>
                </a:solidFill>
                <a:latin typeface="Century Gothic"/>
                <a:cs typeface="Century Gothic"/>
              </a:rPr>
              <a:t>Stronger</a:t>
            </a:r>
            <a:r>
              <a:rPr sz="1300" dirty="0">
                <a:solidFill>
                  <a:srgbClr val="3A3535"/>
                </a:solidFill>
                <a:latin typeface="Century Gothic"/>
                <a:cs typeface="Century Gothic"/>
              </a:rPr>
              <a:t> </a:t>
            </a:r>
            <a:r>
              <a:rPr sz="1300" spc="-40" dirty="0">
                <a:solidFill>
                  <a:srgbClr val="3A3535"/>
                </a:solidFill>
                <a:latin typeface="Century Gothic"/>
                <a:cs typeface="Century Gothic"/>
              </a:rPr>
              <a:t>data</a:t>
            </a:r>
            <a:r>
              <a:rPr sz="1300" dirty="0">
                <a:solidFill>
                  <a:srgbClr val="3A3535"/>
                </a:solidFill>
                <a:latin typeface="Century Gothic"/>
                <a:cs typeface="Century Gothic"/>
              </a:rPr>
              <a:t> model,</a:t>
            </a:r>
            <a:r>
              <a:rPr sz="1300" spc="5" dirty="0">
                <a:solidFill>
                  <a:srgbClr val="3A3535"/>
                </a:solidFill>
                <a:latin typeface="Century Gothic"/>
                <a:cs typeface="Century Gothic"/>
              </a:rPr>
              <a:t> </a:t>
            </a:r>
            <a:r>
              <a:rPr sz="1300" spc="55" dirty="0">
                <a:solidFill>
                  <a:srgbClr val="3A3535"/>
                </a:solidFill>
                <a:latin typeface="Century Gothic"/>
                <a:cs typeface="Century Gothic"/>
              </a:rPr>
              <a:t>workflows, </a:t>
            </a:r>
            <a:r>
              <a:rPr sz="1300" spc="90" dirty="0">
                <a:solidFill>
                  <a:srgbClr val="3A3535"/>
                </a:solidFill>
                <a:latin typeface="Century Gothic"/>
                <a:cs typeface="Century Gothic"/>
              </a:rPr>
              <a:t>permissions,</a:t>
            </a:r>
            <a:r>
              <a:rPr sz="1300" spc="70" dirty="0">
                <a:solidFill>
                  <a:srgbClr val="3A3535"/>
                </a:solidFill>
                <a:latin typeface="Century Gothic"/>
                <a:cs typeface="Century Gothic"/>
              </a:rPr>
              <a:t> </a:t>
            </a:r>
            <a:r>
              <a:rPr sz="1300" dirty="0">
                <a:solidFill>
                  <a:srgbClr val="3A3535"/>
                </a:solidFill>
                <a:latin typeface="Century Gothic"/>
                <a:cs typeface="Century Gothic"/>
              </a:rPr>
              <a:t>2FA,</a:t>
            </a:r>
            <a:r>
              <a:rPr sz="1300" spc="70" dirty="0">
                <a:solidFill>
                  <a:srgbClr val="3A3535"/>
                </a:solidFill>
                <a:latin typeface="Century Gothic"/>
                <a:cs typeface="Century Gothic"/>
              </a:rPr>
              <a:t> </a:t>
            </a:r>
            <a:r>
              <a:rPr sz="1300" dirty="0">
                <a:solidFill>
                  <a:srgbClr val="3A3535"/>
                </a:solidFill>
                <a:latin typeface="Century Gothic"/>
                <a:cs typeface="Century Gothic"/>
              </a:rPr>
              <a:t>background</a:t>
            </a:r>
            <a:r>
              <a:rPr sz="1300" spc="75" dirty="0">
                <a:solidFill>
                  <a:srgbClr val="3A3535"/>
                </a:solidFill>
                <a:latin typeface="Century Gothic"/>
                <a:cs typeface="Century Gothic"/>
              </a:rPr>
              <a:t> </a:t>
            </a:r>
            <a:r>
              <a:rPr sz="1300" spc="60" dirty="0">
                <a:solidFill>
                  <a:srgbClr val="3A3535"/>
                </a:solidFill>
                <a:latin typeface="Century Gothic"/>
                <a:cs typeface="Century Gothic"/>
              </a:rPr>
              <a:t>processing</a:t>
            </a:r>
            <a:endParaRPr sz="1300">
              <a:latin typeface="Century Gothic"/>
              <a:cs typeface="Century Gothic"/>
            </a:endParaRPr>
          </a:p>
        </p:txBody>
      </p:sp>
      <p:grpSp>
        <p:nvGrpSpPr>
          <p:cNvPr id="23" name="object 23"/>
          <p:cNvGrpSpPr/>
          <p:nvPr/>
        </p:nvGrpSpPr>
        <p:grpSpPr>
          <a:xfrm>
            <a:off x="8658225" y="3476700"/>
            <a:ext cx="381000" cy="695325"/>
            <a:chOff x="8658225" y="3476700"/>
            <a:chExt cx="381000" cy="695325"/>
          </a:xfrm>
        </p:grpSpPr>
        <p:sp>
          <p:nvSpPr>
            <p:cNvPr id="24" name="object 24"/>
            <p:cNvSpPr/>
            <p:nvPr/>
          </p:nvSpPr>
          <p:spPr>
            <a:xfrm>
              <a:off x="8839200" y="3667200"/>
              <a:ext cx="19050" cy="504825"/>
            </a:xfrm>
            <a:custGeom>
              <a:avLst/>
              <a:gdLst/>
              <a:ahLst/>
              <a:cxnLst/>
              <a:rect l="l" t="t" r="r" b="b"/>
              <a:pathLst>
                <a:path w="19050" h="504825">
                  <a:moveTo>
                    <a:pt x="12153" y="0"/>
                  </a:moveTo>
                  <a:lnTo>
                    <a:pt x="6896" y="0"/>
                  </a:lnTo>
                  <a:lnTo>
                    <a:pt x="4648" y="927"/>
                  </a:lnTo>
                  <a:lnTo>
                    <a:pt x="927" y="4648"/>
                  </a:lnTo>
                  <a:lnTo>
                    <a:pt x="0" y="6896"/>
                  </a:lnTo>
                  <a:lnTo>
                    <a:pt x="0" y="495300"/>
                  </a:lnTo>
                  <a:lnTo>
                    <a:pt x="0" y="497928"/>
                  </a:lnTo>
                  <a:lnTo>
                    <a:pt x="927" y="500176"/>
                  </a:lnTo>
                  <a:lnTo>
                    <a:pt x="4648" y="503885"/>
                  </a:lnTo>
                  <a:lnTo>
                    <a:pt x="6896" y="504825"/>
                  </a:lnTo>
                  <a:lnTo>
                    <a:pt x="12153" y="504825"/>
                  </a:lnTo>
                  <a:lnTo>
                    <a:pt x="14401" y="503885"/>
                  </a:lnTo>
                  <a:lnTo>
                    <a:pt x="18122" y="500176"/>
                  </a:lnTo>
                  <a:lnTo>
                    <a:pt x="19050" y="497928"/>
                  </a:lnTo>
                  <a:lnTo>
                    <a:pt x="19050" y="6896"/>
                  </a:lnTo>
                  <a:lnTo>
                    <a:pt x="18122" y="4648"/>
                  </a:lnTo>
                  <a:lnTo>
                    <a:pt x="14401" y="927"/>
                  </a:lnTo>
                  <a:lnTo>
                    <a:pt x="12153" y="0"/>
                  </a:lnTo>
                  <a:close/>
                </a:path>
              </a:pathLst>
            </a:custGeom>
            <a:solidFill>
              <a:srgbClr val="DFB7BB"/>
            </a:solidFill>
          </p:spPr>
          <p:txBody>
            <a:bodyPr wrap="square" lIns="0" tIns="0" rIns="0" bIns="0" rtlCol="0"/>
            <a:lstStyle/>
            <a:p>
              <a:endParaRPr/>
            </a:p>
          </p:txBody>
        </p:sp>
        <p:sp>
          <p:nvSpPr>
            <p:cNvPr id="25" name="object 25"/>
            <p:cNvSpPr/>
            <p:nvPr/>
          </p:nvSpPr>
          <p:spPr>
            <a:xfrm>
              <a:off x="8662987" y="3481463"/>
              <a:ext cx="371475" cy="371475"/>
            </a:xfrm>
            <a:custGeom>
              <a:avLst/>
              <a:gdLst/>
              <a:ahLst/>
              <a:cxnLst/>
              <a:rect l="l" t="t" r="r" b="b"/>
              <a:pathLst>
                <a:path w="371475" h="371475">
                  <a:moveTo>
                    <a:pt x="320573" y="0"/>
                  </a:moveTo>
                  <a:lnTo>
                    <a:pt x="50901" y="0"/>
                  </a:lnTo>
                  <a:lnTo>
                    <a:pt x="47358" y="342"/>
                  </a:lnTo>
                  <a:lnTo>
                    <a:pt x="13423" y="18478"/>
                  </a:lnTo>
                  <a:lnTo>
                    <a:pt x="0" y="50901"/>
                  </a:lnTo>
                  <a:lnTo>
                    <a:pt x="0" y="316992"/>
                  </a:lnTo>
                  <a:lnTo>
                    <a:pt x="0" y="320573"/>
                  </a:lnTo>
                  <a:lnTo>
                    <a:pt x="18478" y="358051"/>
                  </a:lnTo>
                  <a:lnTo>
                    <a:pt x="50901" y="371475"/>
                  </a:lnTo>
                  <a:lnTo>
                    <a:pt x="320573" y="371475"/>
                  </a:lnTo>
                  <a:lnTo>
                    <a:pt x="358051" y="352983"/>
                  </a:lnTo>
                  <a:lnTo>
                    <a:pt x="371475" y="320573"/>
                  </a:lnTo>
                  <a:lnTo>
                    <a:pt x="371475" y="50901"/>
                  </a:lnTo>
                  <a:lnTo>
                    <a:pt x="352983" y="13423"/>
                  </a:lnTo>
                  <a:lnTo>
                    <a:pt x="324116" y="342"/>
                  </a:lnTo>
                  <a:lnTo>
                    <a:pt x="320573" y="0"/>
                  </a:lnTo>
                  <a:close/>
                </a:path>
              </a:pathLst>
            </a:custGeom>
            <a:solidFill>
              <a:srgbClr val="F9D2D6"/>
            </a:solidFill>
          </p:spPr>
          <p:txBody>
            <a:bodyPr wrap="square" lIns="0" tIns="0" rIns="0" bIns="0" rtlCol="0"/>
            <a:lstStyle/>
            <a:p>
              <a:endParaRPr/>
            </a:p>
          </p:txBody>
        </p:sp>
        <p:sp>
          <p:nvSpPr>
            <p:cNvPr id="26" name="object 26"/>
            <p:cNvSpPr/>
            <p:nvPr/>
          </p:nvSpPr>
          <p:spPr>
            <a:xfrm>
              <a:off x="8662987" y="3481463"/>
              <a:ext cx="371475" cy="371475"/>
            </a:xfrm>
            <a:custGeom>
              <a:avLst/>
              <a:gdLst/>
              <a:ahLst/>
              <a:cxnLst/>
              <a:rect l="l" t="t" r="r" b="b"/>
              <a:pathLst>
                <a:path w="371475" h="371475">
                  <a:moveTo>
                    <a:pt x="0" y="316992"/>
                  </a:moveTo>
                  <a:lnTo>
                    <a:pt x="0" y="54483"/>
                  </a:lnTo>
                  <a:lnTo>
                    <a:pt x="0" y="50901"/>
                  </a:lnTo>
                  <a:lnTo>
                    <a:pt x="342" y="47358"/>
                  </a:lnTo>
                  <a:lnTo>
                    <a:pt x="1041" y="43853"/>
                  </a:lnTo>
                  <a:lnTo>
                    <a:pt x="1752" y="40335"/>
                  </a:lnTo>
                  <a:lnTo>
                    <a:pt x="2781" y="36931"/>
                  </a:lnTo>
                  <a:lnTo>
                    <a:pt x="4152" y="33629"/>
                  </a:lnTo>
                  <a:lnTo>
                    <a:pt x="5511" y="30327"/>
                  </a:lnTo>
                  <a:lnTo>
                    <a:pt x="7188" y="27190"/>
                  </a:lnTo>
                  <a:lnTo>
                    <a:pt x="9182" y="24206"/>
                  </a:lnTo>
                  <a:lnTo>
                    <a:pt x="11163" y="21234"/>
                  </a:lnTo>
                  <a:lnTo>
                    <a:pt x="24218" y="9182"/>
                  </a:lnTo>
                  <a:lnTo>
                    <a:pt x="27190" y="7188"/>
                  </a:lnTo>
                  <a:lnTo>
                    <a:pt x="43853" y="1041"/>
                  </a:lnTo>
                  <a:lnTo>
                    <a:pt x="47358" y="342"/>
                  </a:lnTo>
                  <a:lnTo>
                    <a:pt x="50901" y="0"/>
                  </a:lnTo>
                  <a:lnTo>
                    <a:pt x="54483" y="0"/>
                  </a:lnTo>
                  <a:lnTo>
                    <a:pt x="316992" y="0"/>
                  </a:lnTo>
                  <a:lnTo>
                    <a:pt x="320573" y="0"/>
                  </a:lnTo>
                  <a:lnTo>
                    <a:pt x="324116" y="342"/>
                  </a:lnTo>
                  <a:lnTo>
                    <a:pt x="347256" y="9182"/>
                  </a:lnTo>
                  <a:lnTo>
                    <a:pt x="350240" y="11163"/>
                  </a:lnTo>
                  <a:lnTo>
                    <a:pt x="352983" y="13423"/>
                  </a:lnTo>
                  <a:lnTo>
                    <a:pt x="355511" y="15951"/>
                  </a:lnTo>
                  <a:lnTo>
                    <a:pt x="358051" y="18478"/>
                  </a:lnTo>
                  <a:lnTo>
                    <a:pt x="360311" y="21234"/>
                  </a:lnTo>
                  <a:lnTo>
                    <a:pt x="362292" y="24206"/>
                  </a:lnTo>
                  <a:lnTo>
                    <a:pt x="364286" y="27190"/>
                  </a:lnTo>
                  <a:lnTo>
                    <a:pt x="365963" y="30327"/>
                  </a:lnTo>
                  <a:lnTo>
                    <a:pt x="367322" y="33629"/>
                  </a:lnTo>
                  <a:lnTo>
                    <a:pt x="368693" y="36931"/>
                  </a:lnTo>
                  <a:lnTo>
                    <a:pt x="369735" y="40335"/>
                  </a:lnTo>
                  <a:lnTo>
                    <a:pt x="370433" y="43853"/>
                  </a:lnTo>
                  <a:lnTo>
                    <a:pt x="371132" y="47358"/>
                  </a:lnTo>
                  <a:lnTo>
                    <a:pt x="371475" y="50901"/>
                  </a:lnTo>
                  <a:lnTo>
                    <a:pt x="371475" y="54483"/>
                  </a:lnTo>
                  <a:lnTo>
                    <a:pt x="371475" y="316992"/>
                  </a:lnTo>
                  <a:lnTo>
                    <a:pt x="371475" y="320573"/>
                  </a:lnTo>
                  <a:lnTo>
                    <a:pt x="371132" y="324116"/>
                  </a:lnTo>
                  <a:lnTo>
                    <a:pt x="370433" y="327621"/>
                  </a:lnTo>
                  <a:lnTo>
                    <a:pt x="369735" y="331127"/>
                  </a:lnTo>
                  <a:lnTo>
                    <a:pt x="368693" y="334530"/>
                  </a:lnTo>
                  <a:lnTo>
                    <a:pt x="367322" y="337832"/>
                  </a:lnTo>
                  <a:lnTo>
                    <a:pt x="365963" y="341147"/>
                  </a:lnTo>
                  <a:lnTo>
                    <a:pt x="364286" y="344284"/>
                  </a:lnTo>
                  <a:lnTo>
                    <a:pt x="362292" y="347256"/>
                  </a:lnTo>
                  <a:lnTo>
                    <a:pt x="360311" y="350227"/>
                  </a:lnTo>
                  <a:lnTo>
                    <a:pt x="358051" y="352983"/>
                  </a:lnTo>
                  <a:lnTo>
                    <a:pt x="355511" y="355511"/>
                  </a:lnTo>
                  <a:lnTo>
                    <a:pt x="352983" y="358051"/>
                  </a:lnTo>
                  <a:lnTo>
                    <a:pt x="337845" y="367322"/>
                  </a:lnTo>
                  <a:lnTo>
                    <a:pt x="334530" y="368693"/>
                  </a:lnTo>
                  <a:lnTo>
                    <a:pt x="331127" y="369722"/>
                  </a:lnTo>
                  <a:lnTo>
                    <a:pt x="327621" y="370433"/>
                  </a:lnTo>
                  <a:lnTo>
                    <a:pt x="324116" y="371119"/>
                  </a:lnTo>
                  <a:lnTo>
                    <a:pt x="320573" y="371475"/>
                  </a:lnTo>
                  <a:lnTo>
                    <a:pt x="316992" y="371475"/>
                  </a:lnTo>
                  <a:lnTo>
                    <a:pt x="54483" y="371475"/>
                  </a:lnTo>
                  <a:lnTo>
                    <a:pt x="50901" y="371475"/>
                  </a:lnTo>
                  <a:lnTo>
                    <a:pt x="47358" y="371119"/>
                  </a:lnTo>
                  <a:lnTo>
                    <a:pt x="43853" y="370433"/>
                  </a:lnTo>
                  <a:lnTo>
                    <a:pt x="40347" y="369722"/>
                  </a:lnTo>
                  <a:lnTo>
                    <a:pt x="36944" y="368693"/>
                  </a:lnTo>
                  <a:lnTo>
                    <a:pt x="33629" y="367322"/>
                  </a:lnTo>
                  <a:lnTo>
                    <a:pt x="30327" y="365963"/>
                  </a:lnTo>
                  <a:lnTo>
                    <a:pt x="15951" y="355511"/>
                  </a:lnTo>
                  <a:lnTo>
                    <a:pt x="13423" y="352983"/>
                  </a:lnTo>
                  <a:lnTo>
                    <a:pt x="11163" y="350227"/>
                  </a:lnTo>
                  <a:lnTo>
                    <a:pt x="9182" y="347256"/>
                  </a:lnTo>
                  <a:lnTo>
                    <a:pt x="7188" y="344284"/>
                  </a:lnTo>
                  <a:lnTo>
                    <a:pt x="5511" y="341147"/>
                  </a:lnTo>
                  <a:lnTo>
                    <a:pt x="4152" y="337832"/>
                  </a:lnTo>
                  <a:lnTo>
                    <a:pt x="2781" y="334530"/>
                  </a:lnTo>
                  <a:lnTo>
                    <a:pt x="1752" y="331127"/>
                  </a:lnTo>
                  <a:lnTo>
                    <a:pt x="1041" y="327621"/>
                  </a:lnTo>
                  <a:lnTo>
                    <a:pt x="342" y="324116"/>
                  </a:lnTo>
                  <a:lnTo>
                    <a:pt x="0" y="320573"/>
                  </a:lnTo>
                  <a:lnTo>
                    <a:pt x="0" y="316992"/>
                  </a:lnTo>
                  <a:close/>
                </a:path>
              </a:pathLst>
            </a:custGeom>
            <a:ln w="9525">
              <a:solidFill>
                <a:srgbClr val="DFB7BB"/>
              </a:solidFill>
            </a:ln>
          </p:spPr>
          <p:txBody>
            <a:bodyPr wrap="square" lIns="0" tIns="0" rIns="0" bIns="0" rtlCol="0"/>
            <a:lstStyle/>
            <a:p>
              <a:endParaRPr/>
            </a:p>
          </p:txBody>
        </p:sp>
      </p:grpSp>
      <p:sp>
        <p:nvSpPr>
          <p:cNvPr id="27" name="object 27"/>
          <p:cNvSpPr txBox="1"/>
          <p:nvPr/>
        </p:nvSpPr>
        <p:spPr>
          <a:xfrm>
            <a:off x="8750668" y="3467976"/>
            <a:ext cx="202565" cy="346075"/>
          </a:xfrm>
          <a:prstGeom prst="rect">
            <a:avLst/>
          </a:prstGeom>
        </p:spPr>
        <p:txBody>
          <a:bodyPr vert="horz" wrap="square" lIns="0" tIns="12700" rIns="0" bIns="0" rtlCol="0">
            <a:spAutoFit/>
          </a:bodyPr>
          <a:lstStyle/>
          <a:p>
            <a:pPr marL="12700">
              <a:lnSpc>
                <a:spcPct val="100000"/>
              </a:lnSpc>
              <a:spcBef>
                <a:spcPts val="100"/>
              </a:spcBef>
            </a:pPr>
            <a:r>
              <a:rPr sz="2100" b="1" spc="-50" dirty="0">
                <a:solidFill>
                  <a:srgbClr val="3A3535"/>
                </a:solidFill>
                <a:latin typeface="Verdana"/>
                <a:cs typeface="Verdana"/>
              </a:rPr>
              <a:t>4</a:t>
            </a:r>
            <a:endParaRPr sz="2100">
              <a:latin typeface="Verdana"/>
              <a:cs typeface="Verdana"/>
            </a:endParaRPr>
          </a:p>
        </p:txBody>
      </p:sp>
      <p:sp>
        <p:nvSpPr>
          <p:cNvPr id="28" name="object 28"/>
          <p:cNvSpPr txBox="1"/>
          <p:nvPr/>
        </p:nvSpPr>
        <p:spPr>
          <a:xfrm>
            <a:off x="7292378" y="4317555"/>
            <a:ext cx="3119755" cy="910590"/>
          </a:xfrm>
          <a:prstGeom prst="rect">
            <a:avLst/>
          </a:prstGeom>
        </p:spPr>
        <p:txBody>
          <a:bodyPr vert="horz" wrap="square" lIns="0" tIns="12700" rIns="0" bIns="0" rtlCol="0">
            <a:spAutoFit/>
          </a:bodyPr>
          <a:lstStyle/>
          <a:p>
            <a:pPr algn="ctr">
              <a:lnSpc>
                <a:spcPct val="100000"/>
              </a:lnSpc>
              <a:spcBef>
                <a:spcPts val="100"/>
              </a:spcBef>
            </a:pPr>
            <a:r>
              <a:rPr sz="1750" b="1" spc="-25" dirty="0">
                <a:solidFill>
                  <a:srgbClr val="3A3535"/>
                </a:solidFill>
                <a:latin typeface="Verdana"/>
                <a:cs typeface="Verdana"/>
              </a:rPr>
              <a:t>Now</a:t>
            </a:r>
            <a:endParaRPr sz="1750">
              <a:latin typeface="Verdana"/>
              <a:cs typeface="Verdana"/>
            </a:endParaRPr>
          </a:p>
          <a:p>
            <a:pPr marL="12700" marR="5080" algn="ctr">
              <a:lnSpc>
                <a:spcPct val="134600"/>
              </a:lnSpc>
              <a:spcBef>
                <a:spcPts val="660"/>
              </a:spcBef>
            </a:pPr>
            <a:r>
              <a:rPr sz="1300" dirty="0">
                <a:solidFill>
                  <a:srgbClr val="3A3535"/>
                </a:solidFill>
                <a:latin typeface="Century Gothic"/>
                <a:cs typeface="Century Gothic"/>
              </a:rPr>
              <a:t>General</a:t>
            </a:r>
            <a:r>
              <a:rPr sz="1300" spc="-45" dirty="0">
                <a:solidFill>
                  <a:srgbClr val="3A3535"/>
                </a:solidFill>
                <a:latin typeface="Century Gothic"/>
                <a:cs typeface="Century Gothic"/>
              </a:rPr>
              <a:t> </a:t>
            </a:r>
            <a:r>
              <a:rPr sz="1300" spc="80" dirty="0">
                <a:solidFill>
                  <a:srgbClr val="3A3535"/>
                </a:solidFill>
                <a:latin typeface="Century Gothic"/>
                <a:cs typeface="Century Gothic"/>
              </a:rPr>
              <a:t>LLM</a:t>
            </a:r>
            <a:r>
              <a:rPr sz="1300" spc="-40" dirty="0">
                <a:solidFill>
                  <a:srgbClr val="3A3535"/>
                </a:solidFill>
                <a:latin typeface="Century Gothic"/>
                <a:cs typeface="Century Gothic"/>
              </a:rPr>
              <a:t> </a:t>
            </a:r>
            <a:r>
              <a:rPr sz="1300" spc="85" dirty="0">
                <a:solidFill>
                  <a:srgbClr val="3A3535"/>
                </a:solidFill>
                <a:latin typeface="Century Gothic"/>
                <a:cs typeface="Century Gothic"/>
              </a:rPr>
              <a:t>support</a:t>
            </a:r>
            <a:r>
              <a:rPr sz="1300" spc="-4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40" dirty="0">
                <a:solidFill>
                  <a:srgbClr val="3A3535"/>
                </a:solidFill>
                <a:latin typeface="Century Gothic"/>
                <a:cs typeface="Century Gothic"/>
              </a:rPr>
              <a:t> </a:t>
            </a:r>
            <a:r>
              <a:rPr sz="1300" spc="60" dirty="0">
                <a:solidFill>
                  <a:srgbClr val="3A3535"/>
                </a:solidFill>
                <a:latin typeface="Century Gothic"/>
                <a:cs typeface="Century Gothic"/>
              </a:rPr>
              <a:t>supervised </a:t>
            </a:r>
            <a:r>
              <a:rPr sz="1300" dirty="0">
                <a:solidFill>
                  <a:srgbClr val="3A3535"/>
                </a:solidFill>
                <a:latin typeface="Century Gothic"/>
                <a:cs typeface="Century Gothic"/>
              </a:rPr>
              <a:t>therapy-</a:t>
            </a:r>
            <a:r>
              <a:rPr sz="1300" spc="100" dirty="0">
                <a:solidFill>
                  <a:srgbClr val="3A3535"/>
                </a:solidFill>
                <a:latin typeface="Century Gothic"/>
                <a:cs typeface="Century Gothic"/>
              </a:rPr>
              <a:t>style</a:t>
            </a:r>
            <a:r>
              <a:rPr sz="1300" spc="70" dirty="0">
                <a:solidFill>
                  <a:srgbClr val="3A3535"/>
                </a:solidFill>
                <a:latin typeface="Century Gothic"/>
                <a:cs typeface="Century Gothic"/>
              </a:rPr>
              <a:t> </a:t>
            </a:r>
            <a:r>
              <a:rPr sz="1300" spc="65" dirty="0">
                <a:solidFill>
                  <a:srgbClr val="3A3535"/>
                </a:solidFill>
                <a:latin typeface="Century Gothic"/>
                <a:cs typeface="Century Gothic"/>
              </a:rPr>
              <a:t>AI</a:t>
            </a:r>
            <a:r>
              <a:rPr sz="1300" spc="75" dirty="0">
                <a:solidFill>
                  <a:srgbClr val="3A3535"/>
                </a:solidFill>
                <a:latin typeface="Century Gothic"/>
                <a:cs typeface="Century Gothic"/>
              </a:rPr>
              <a:t> </a:t>
            </a:r>
            <a:r>
              <a:rPr sz="1300" spc="-20" dirty="0">
                <a:solidFill>
                  <a:srgbClr val="3A3535"/>
                </a:solidFill>
                <a:latin typeface="Century Gothic"/>
                <a:cs typeface="Century Gothic"/>
              </a:rPr>
              <a:t>chat</a:t>
            </a:r>
            <a:endParaRPr sz="1300">
              <a:latin typeface="Century Gothic"/>
              <a:cs typeface="Century Gothic"/>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318135" rIns="0" bIns="0" rtlCol="0">
            <a:spAutoFit/>
          </a:bodyPr>
          <a:lstStyle/>
          <a:p>
            <a:pPr marL="12700">
              <a:lnSpc>
                <a:spcPct val="100000"/>
              </a:lnSpc>
              <a:spcBef>
                <a:spcPts val="105"/>
              </a:spcBef>
            </a:pPr>
            <a:r>
              <a:rPr spc="-215" dirty="0"/>
              <a:t>What</a:t>
            </a:r>
            <a:r>
              <a:rPr spc="-420" dirty="0"/>
              <a:t> </a:t>
            </a:r>
            <a:r>
              <a:rPr spc="-280" dirty="0"/>
              <a:t>Teams</a:t>
            </a:r>
            <a:r>
              <a:rPr spc="-420" dirty="0"/>
              <a:t> </a:t>
            </a:r>
            <a:r>
              <a:rPr spc="-105" dirty="0"/>
              <a:t>Can</a:t>
            </a:r>
            <a:r>
              <a:rPr spc="-420" dirty="0"/>
              <a:t> </a:t>
            </a:r>
            <a:r>
              <a:rPr spc="-114" dirty="0"/>
              <a:t>Do</a:t>
            </a:r>
            <a:r>
              <a:rPr spc="-420" dirty="0"/>
              <a:t> </a:t>
            </a:r>
            <a:r>
              <a:rPr spc="-170" dirty="0"/>
              <a:t>With</a:t>
            </a:r>
            <a:r>
              <a:rPr spc="-420" dirty="0"/>
              <a:t> </a:t>
            </a:r>
            <a:r>
              <a:rPr spc="-465" dirty="0"/>
              <a:t>It</a:t>
            </a:r>
          </a:p>
        </p:txBody>
      </p:sp>
      <p:grpSp>
        <p:nvGrpSpPr>
          <p:cNvPr id="3" name="object 3"/>
          <p:cNvGrpSpPr/>
          <p:nvPr/>
        </p:nvGrpSpPr>
        <p:grpSpPr>
          <a:xfrm>
            <a:off x="585152" y="1728152"/>
            <a:ext cx="5133975" cy="688340"/>
            <a:chOff x="585152" y="1728152"/>
            <a:chExt cx="5133975" cy="688340"/>
          </a:xfrm>
        </p:grpSpPr>
        <p:sp>
          <p:nvSpPr>
            <p:cNvPr id="4" name="object 4"/>
            <p:cNvSpPr/>
            <p:nvPr/>
          </p:nvSpPr>
          <p:spPr>
            <a:xfrm>
              <a:off x="590550" y="1733549"/>
              <a:ext cx="5123180" cy="677545"/>
            </a:xfrm>
            <a:custGeom>
              <a:avLst/>
              <a:gdLst/>
              <a:ahLst/>
              <a:cxnLst/>
              <a:rect l="l" t="t" r="r" b="b"/>
              <a:pathLst>
                <a:path w="5123180" h="677544">
                  <a:moveTo>
                    <a:pt x="4953393" y="0"/>
                  </a:moveTo>
                  <a:lnTo>
                    <a:pt x="0" y="0"/>
                  </a:lnTo>
                  <a:lnTo>
                    <a:pt x="169266" y="338531"/>
                  </a:lnTo>
                  <a:lnTo>
                    <a:pt x="0" y="677062"/>
                  </a:lnTo>
                  <a:lnTo>
                    <a:pt x="4953393" y="677062"/>
                  </a:lnTo>
                  <a:lnTo>
                    <a:pt x="5122659" y="338531"/>
                  </a:lnTo>
                  <a:lnTo>
                    <a:pt x="4953393" y="0"/>
                  </a:lnTo>
                  <a:close/>
                </a:path>
              </a:pathLst>
            </a:custGeom>
            <a:solidFill>
              <a:srgbClr val="F9D2D6"/>
            </a:solidFill>
          </p:spPr>
          <p:txBody>
            <a:bodyPr wrap="square" lIns="0" tIns="0" rIns="0" bIns="0" rtlCol="0"/>
            <a:lstStyle/>
            <a:p>
              <a:endParaRPr/>
            </a:p>
          </p:txBody>
        </p:sp>
        <p:sp>
          <p:nvSpPr>
            <p:cNvPr id="5" name="object 5"/>
            <p:cNvSpPr/>
            <p:nvPr/>
          </p:nvSpPr>
          <p:spPr>
            <a:xfrm>
              <a:off x="590550" y="1733549"/>
              <a:ext cx="5123180" cy="677545"/>
            </a:xfrm>
            <a:custGeom>
              <a:avLst/>
              <a:gdLst/>
              <a:ahLst/>
              <a:cxnLst/>
              <a:rect l="l" t="t" r="r" b="b"/>
              <a:pathLst>
                <a:path w="5123180" h="677544">
                  <a:moveTo>
                    <a:pt x="4953393" y="0"/>
                  </a:moveTo>
                  <a:lnTo>
                    <a:pt x="5122659" y="338531"/>
                  </a:lnTo>
                  <a:lnTo>
                    <a:pt x="4953393" y="677062"/>
                  </a:lnTo>
                  <a:lnTo>
                    <a:pt x="0" y="677062"/>
                  </a:lnTo>
                  <a:lnTo>
                    <a:pt x="169266" y="338531"/>
                  </a:lnTo>
                  <a:lnTo>
                    <a:pt x="0" y="0"/>
                  </a:lnTo>
                  <a:lnTo>
                    <a:pt x="4953393" y="0"/>
                  </a:lnTo>
                  <a:close/>
                </a:path>
              </a:pathLst>
            </a:custGeom>
            <a:ln w="10579">
              <a:solidFill>
                <a:srgbClr val="DFB7BB"/>
              </a:solidFill>
            </a:ln>
          </p:spPr>
          <p:txBody>
            <a:bodyPr wrap="square" lIns="0" tIns="0" rIns="0" bIns="0" rtlCol="0"/>
            <a:lstStyle/>
            <a:p>
              <a:endParaRPr/>
            </a:p>
          </p:txBody>
        </p:sp>
      </p:grpSp>
      <p:sp>
        <p:nvSpPr>
          <p:cNvPr id="6" name="object 6"/>
          <p:cNvSpPr txBox="1"/>
          <p:nvPr/>
        </p:nvSpPr>
        <p:spPr>
          <a:xfrm>
            <a:off x="748842" y="1886102"/>
            <a:ext cx="3919854" cy="1304290"/>
          </a:xfrm>
          <a:prstGeom prst="rect">
            <a:avLst/>
          </a:prstGeom>
        </p:spPr>
        <p:txBody>
          <a:bodyPr vert="horz" wrap="square" lIns="0" tIns="12065" rIns="0" bIns="0" rtlCol="0">
            <a:spAutoFit/>
          </a:bodyPr>
          <a:lstStyle/>
          <a:p>
            <a:pPr marL="889635" algn="ctr">
              <a:lnSpc>
                <a:spcPct val="100000"/>
              </a:lnSpc>
              <a:spcBef>
                <a:spcPts val="95"/>
              </a:spcBef>
            </a:pPr>
            <a:r>
              <a:rPr sz="2000" b="1" spc="-635" dirty="0">
                <a:solidFill>
                  <a:srgbClr val="3A3535"/>
                </a:solidFill>
                <a:latin typeface="Verdana"/>
                <a:cs typeface="Verdana"/>
              </a:rPr>
              <a:t>1</a:t>
            </a:r>
            <a:endParaRPr sz="2000">
              <a:latin typeface="Verdana"/>
              <a:cs typeface="Verdana"/>
            </a:endParaRPr>
          </a:p>
          <a:p>
            <a:pPr>
              <a:lnSpc>
                <a:spcPct val="100000"/>
              </a:lnSpc>
              <a:spcBef>
                <a:spcPts val="445"/>
              </a:spcBef>
            </a:pPr>
            <a:endParaRPr sz="2000">
              <a:latin typeface="Verdana"/>
              <a:cs typeface="Verdana"/>
            </a:endParaRPr>
          </a:p>
          <a:p>
            <a:pPr marL="12700">
              <a:lnSpc>
                <a:spcPct val="100000"/>
              </a:lnSpc>
            </a:pPr>
            <a:r>
              <a:rPr sz="1750" b="1" spc="-10" dirty="0">
                <a:solidFill>
                  <a:srgbClr val="3A3535"/>
                </a:solidFill>
                <a:latin typeface="Verdana"/>
                <a:cs typeface="Verdana"/>
              </a:rPr>
              <a:t>Onboard</a:t>
            </a:r>
            <a:endParaRPr sz="1750">
              <a:latin typeface="Verdana"/>
              <a:cs typeface="Verdana"/>
            </a:endParaRPr>
          </a:p>
          <a:p>
            <a:pPr marL="12700">
              <a:lnSpc>
                <a:spcPct val="100000"/>
              </a:lnSpc>
              <a:spcBef>
                <a:spcPts val="1125"/>
              </a:spcBef>
            </a:pPr>
            <a:r>
              <a:rPr sz="1300" spc="100" dirty="0">
                <a:solidFill>
                  <a:srgbClr val="3A3535"/>
                </a:solidFill>
                <a:latin typeface="Century Gothic"/>
                <a:cs typeface="Century Gothic"/>
              </a:rPr>
              <a:t>Turn</a:t>
            </a:r>
            <a:r>
              <a:rPr sz="1300" spc="-5" dirty="0">
                <a:solidFill>
                  <a:srgbClr val="3A3535"/>
                </a:solidFill>
                <a:latin typeface="Century Gothic"/>
                <a:cs typeface="Century Gothic"/>
              </a:rPr>
              <a:t> </a:t>
            </a:r>
            <a:r>
              <a:rPr sz="1300" spc="-140" dirty="0">
                <a:solidFill>
                  <a:srgbClr val="3A3535"/>
                </a:solidFill>
                <a:latin typeface="Century Gothic"/>
                <a:cs typeface="Century Gothic"/>
              </a:rPr>
              <a:t>a</a:t>
            </a:r>
            <a:r>
              <a:rPr sz="1300" dirty="0">
                <a:solidFill>
                  <a:srgbClr val="3A3535"/>
                </a:solidFill>
                <a:latin typeface="Century Gothic"/>
                <a:cs typeface="Century Gothic"/>
              </a:rPr>
              <a:t> concept </a:t>
            </a:r>
            <a:r>
              <a:rPr sz="1300" spc="80" dirty="0">
                <a:solidFill>
                  <a:srgbClr val="3A3535"/>
                </a:solidFill>
                <a:latin typeface="Century Gothic"/>
                <a:cs typeface="Century Gothic"/>
              </a:rPr>
              <a:t>into</a:t>
            </a:r>
            <a:r>
              <a:rPr sz="1300" dirty="0">
                <a:solidFill>
                  <a:srgbClr val="3A3535"/>
                </a:solidFill>
                <a:latin typeface="Century Gothic"/>
                <a:cs typeface="Century Gothic"/>
              </a:rPr>
              <a:t> </a:t>
            </a:r>
            <a:r>
              <a:rPr sz="1300" spc="-140" dirty="0">
                <a:solidFill>
                  <a:srgbClr val="3A3535"/>
                </a:solidFill>
                <a:latin typeface="Century Gothic"/>
                <a:cs typeface="Century Gothic"/>
              </a:rPr>
              <a:t>a</a:t>
            </a:r>
            <a:r>
              <a:rPr sz="1300" dirty="0">
                <a:solidFill>
                  <a:srgbClr val="3A3535"/>
                </a:solidFill>
                <a:latin typeface="Century Gothic"/>
                <a:cs typeface="Century Gothic"/>
              </a:rPr>
              <a:t> guided </a:t>
            </a:r>
            <a:r>
              <a:rPr sz="1300" spc="55" dirty="0">
                <a:solidFill>
                  <a:srgbClr val="3A3535"/>
                </a:solidFill>
                <a:latin typeface="Century Gothic"/>
                <a:cs typeface="Century Gothic"/>
              </a:rPr>
              <a:t>entry</a:t>
            </a:r>
            <a:r>
              <a:rPr sz="1300" dirty="0">
                <a:solidFill>
                  <a:srgbClr val="3A3535"/>
                </a:solidFill>
                <a:latin typeface="Century Gothic"/>
                <a:cs typeface="Century Gothic"/>
              </a:rPr>
              <a:t> </a:t>
            </a:r>
            <a:r>
              <a:rPr sz="1300" spc="-10" dirty="0">
                <a:solidFill>
                  <a:srgbClr val="3A3535"/>
                </a:solidFill>
                <a:latin typeface="Century Gothic"/>
                <a:cs typeface="Century Gothic"/>
              </a:rPr>
              <a:t>experience</a:t>
            </a:r>
            <a:endParaRPr sz="1300">
              <a:latin typeface="Century Gothic"/>
              <a:cs typeface="Century Gothic"/>
            </a:endParaRPr>
          </a:p>
        </p:txBody>
      </p:sp>
      <p:grpSp>
        <p:nvGrpSpPr>
          <p:cNvPr id="7" name="object 7"/>
          <p:cNvGrpSpPr/>
          <p:nvPr/>
        </p:nvGrpSpPr>
        <p:grpSpPr>
          <a:xfrm>
            <a:off x="5709710" y="1728260"/>
            <a:ext cx="5133340" cy="687705"/>
            <a:chOff x="5709710" y="1728260"/>
            <a:chExt cx="5133340" cy="687705"/>
          </a:xfrm>
        </p:grpSpPr>
        <p:sp>
          <p:nvSpPr>
            <p:cNvPr id="8" name="object 8"/>
            <p:cNvSpPr/>
            <p:nvPr/>
          </p:nvSpPr>
          <p:spPr>
            <a:xfrm>
              <a:off x="5714999" y="1733549"/>
              <a:ext cx="5123180" cy="677545"/>
            </a:xfrm>
            <a:custGeom>
              <a:avLst/>
              <a:gdLst/>
              <a:ahLst/>
              <a:cxnLst/>
              <a:rect l="l" t="t" r="r" b="b"/>
              <a:pathLst>
                <a:path w="5123180" h="677544">
                  <a:moveTo>
                    <a:pt x="4953393" y="0"/>
                  </a:moveTo>
                  <a:lnTo>
                    <a:pt x="0" y="0"/>
                  </a:lnTo>
                  <a:lnTo>
                    <a:pt x="169265" y="338531"/>
                  </a:lnTo>
                  <a:lnTo>
                    <a:pt x="0" y="677062"/>
                  </a:lnTo>
                  <a:lnTo>
                    <a:pt x="4953393" y="677062"/>
                  </a:lnTo>
                  <a:lnTo>
                    <a:pt x="5122659" y="338531"/>
                  </a:lnTo>
                  <a:lnTo>
                    <a:pt x="4953393" y="0"/>
                  </a:lnTo>
                  <a:close/>
                </a:path>
              </a:pathLst>
            </a:custGeom>
            <a:solidFill>
              <a:srgbClr val="F9D2D6"/>
            </a:solidFill>
          </p:spPr>
          <p:txBody>
            <a:bodyPr wrap="square" lIns="0" tIns="0" rIns="0" bIns="0" rtlCol="0"/>
            <a:lstStyle/>
            <a:p>
              <a:endParaRPr/>
            </a:p>
          </p:txBody>
        </p:sp>
        <p:sp>
          <p:nvSpPr>
            <p:cNvPr id="9" name="object 9"/>
            <p:cNvSpPr/>
            <p:nvPr/>
          </p:nvSpPr>
          <p:spPr>
            <a:xfrm>
              <a:off x="5714999" y="1733549"/>
              <a:ext cx="5123180" cy="677545"/>
            </a:xfrm>
            <a:custGeom>
              <a:avLst/>
              <a:gdLst/>
              <a:ahLst/>
              <a:cxnLst/>
              <a:rect l="l" t="t" r="r" b="b"/>
              <a:pathLst>
                <a:path w="5123180" h="677544">
                  <a:moveTo>
                    <a:pt x="4953393" y="0"/>
                  </a:moveTo>
                  <a:lnTo>
                    <a:pt x="5122659" y="338531"/>
                  </a:lnTo>
                  <a:lnTo>
                    <a:pt x="4953393" y="677062"/>
                  </a:lnTo>
                  <a:lnTo>
                    <a:pt x="0" y="677062"/>
                  </a:lnTo>
                  <a:lnTo>
                    <a:pt x="169265" y="338531"/>
                  </a:lnTo>
                  <a:lnTo>
                    <a:pt x="0" y="0"/>
                  </a:lnTo>
                  <a:lnTo>
                    <a:pt x="4953393" y="0"/>
                  </a:lnTo>
                  <a:close/>
                </a:path>
              </a:pathLst>
            </a:custGeom>
            <a:ln w="10579">
              <a:solidFill>
                <a:srgbClr val="DFB7BB"/>
              </a:solidFill>
            </a:ln>
          </p:spPr>
          <p:txBody>
            <a:bodyPr wrap="square" lIns="0" tIns="0" rIns="0" bIns="0" rtlCol="0"/>
            <a:lstStyle/>
            <a:p>
              <a:endParaRPr/>
            </a:p>
          </p:txBody>
        </p:sp>
      </p:grpSp>
      <p:grpSp>
        <p:nvGrpSpPr>
          <p:cNvPr id="10" name="object 10"/>
          <p:cNvGrpSpPr/>
          <p:nvPr/>
        </p:nvGrpSpPr>
        <p:grpSpPr>
          <a:xfrm>
            <a:off x="585152" y="3661727"/>
            <a:ext cx="5133975" cy="688340"/>
            <a:chOff x="585152" y="3661727"/>
            <a:chExt cx="5133975" cy="688340"/>
          </a:xfrm>
        </p:grpSpPr>
        <p:sp>
          <p:nvSpPr>
            <p:cNvPr id="11" name="object 11"/>
            <p:cNvSpPr/>
            <p:nvPr/>
          </p:nvSpPr>
          <p:spPr>
            <a:xfrm>
              <a:off x="590550" y="3667124"/>
              <a:ext cx="5123180" cy="677545"/>
            </a:xfrm>
            <a:custGeom>
              <a:avLst/>
              <a:gdLst/>
              <a:ahLst/>
              <a:cxnLst/>
              <a:rect l="l" t="t" r="r" b="b"/>
              <a:pathLst>
                <a:path w="5123180" h="677545">
                  <a:moveTo>
                    <a:pt x="4953393" y="0"/>
                  </a:moveTo>
                  <a:lnTo>
                    <a:pt x="0" y="0"/>
                  </a:lnTo>
                  <a:lnTo>
                    <a:pt x="169266" y="338531"/>
                  </a:lnTo>
                  <a:lnTo>
                    <a:pt x="0" y="677062"/>
                  </a:lnTo>
                  <a:lnTo>
                    <a:pt x="4953393" y="677062"/>
                  </a:lnTo>
                  <a:lnTo>
                    <a:pt x="5122659" y="338531"/>
                  </a:lnTo>
                  <a:lnTo>
                    <a:pt x="4953393" y="0"/>
                  </a:lnTo>
                  <a:close/>
                </a:path>
              </a:pathLst>
            </a:custGeom>
            <a:solidFill>
              <a:srgbClr val="F9D2D6"/>
            </a:solidFill>
          </p:spPr>
          <p:txBody>
            <a:bodyPr wrap="square" lIns="0" tIns="0" rIns="0" bIns="0" rtlCol="0"/>
            <a:lstStyle/>
            <a:p>
              <a:endParaRPr/>
            </a:p>
          </p:txBody>
        </p:sp>
        <p:sp>
          <p:nvSpPr>
            <p:cNvPr id="12" name="object 12"/>
            <p:cNvSpPr/>
            <p:nvPr/>
          </p:nvSpPr>
          <p:spPr>
            <a:xfrm>
              <a:off x="590550" y="3667124"/>
              <a:ext cx="5123180" cy="677545"/>
            </a:xfrm>
            <a:custGeom>
              <a:avLst/>
              <a:gdLst/>
              <a:ahLst/>
              <a:cxnLst/>
              <a:rect l="l" t="t" r="r" b="b"/>
              <a:pathLst>
                <a:path w="5123180" h="677545">
                  <a:moveTo>
                    <a:pt x="4953393" y="0"/>
                  </a:moveTo>
                  <a:lnTo>
                    <a:pt x="5122659" y="338531"/>
                  </a:lnTo>
                  <a:lnTo>
                    <a:pt x="4953393" y="677062"/>
                  </a:lnTo>
                  <a:lnTo>
                    <a:pt x="0" y="677062"/>
                  </a:lnTo>
                  <a:lnTo>
                    <a:pt x="169266" y="338531"/>
                  </a:lnTo>
                  <a:lnTo>
                    <a:pt x="0" y="0"/>
                  </a:lnTo>
                  <a:lnTo>
                    <a:pt x="4953393" y="0"/>
                  </a:lnTo>
                  <a:close/>
                </a:path>
              </a:pathLst>
            </a:custGeom>
            <a:ln w="10579">
              <a:solidFill>
                <a:srgbClr val="DFB7BB"/>
              </a:solidFill>
            </a:ln>
          </p:spPr>
          <p:txBody>
            <a:bodyPr wrap="square" lIns="0" tIns="0" rIns="0" bIns="0" rtlCol="0"/>
            <a:lstStyle/>
            <a:p>
              <a:endParaRPr/>
            </a:p>
          </p:txBody>
        </p:sp>
      </p:grpSp>
      <p:sp>
        <p:nvSpPr>
          <p:cNvPr id="13" name="object 13"/>
          <p:cNvSpPr txBox="1"/>
          <p:nvPr/>
        </p:nvSpPr>
        <p:spPr>
          <a:xfrm>
            <a:off x="748855" y="3819677"/>
            <a:ext cx="4589145" cy="1580515"/>
          </a:xfrm>
          <a:prstGeom prst="rect">
            <a:avLst/>
          </a:prstGeom>
        </p:spPr>
        <p:txBody>
          <a:bodyPr vert="horz" wrap="square" lIns="0" tIns="12065" rIns="0" bIns="0" rtlCol="0">
            <a:spAutoFit/>
          </a:bodyPr>
          <a:lstStyle/>
          <a:p>
            <a:pPr marL="220345" algn="ctr">
              <a:lnSpc>
                <a:spcPct val="100000"/>
              </a:lnSpc>
              <a:spcBef>
                <a:spcPts val="95"/>
              </a:spcBef>
            </a:pPr>
            <a:r>
              <a:rPr sz="2000" b="1" spc="-50" dirty="0">
                <a:solidFill>
                  <a:srgbClr val="3A3535"/>
                </a:solidFill>
                <a:latin typeface="Verdana"/>
                <a:cs typeface="Verdana"/>
              </a:rPr>
              <a:t>3</a:t>
            </a:r>
            <a:endParaRPr sz="2000" dirty="0">
              <a:latin typeface="Verdana"/>
              <a:cs typeface="Verdana"/>
            </a:endParaRPr>
          </a:p>
          <a:p>
            <a:pPr>
              <a:lnSpc>
                <a:spcPct val="100000"/>
              </a:lnSpc>
              <a:spcBef>
                <a:spcPts val="445"/>
              </a:spcBef>
            </a:pPr>
            <a:endParaRPr sz="2000" dirty="0">
              <a:latin typeface="Verdana"/>
              <a:cs typeface="Verdana"/>
            </a:endParaRPr>
          </a:p>
          <a:p>
            <a:pPr marL="12700">
              <a:lnSpc>
                <a:spcPct val="100000"/>
              </a:lnSpc>
            </a:pPr>
            <a:r>
              <a:rPr sz="1750" b="1" spc="-10" dirty="0">
                <a:solidFill>
                  <a:srgbClr val="3A3535"/>
                </a:solidFill>
                <a:latin typeface="Verdana"/>
                <a:cs typeface="Verdana"/>
              </a:rPr>
              <a:t>Adapt</a:t>
            </a:r>
            <a:endParaRPr sz="1750" dirty="0">
              <a:latin typeface="Verdana"/>
              <a:cs typeface="Verdana"/>
            </a:endParaRPr>
          </a:p>
          <a:p>
            <a:pPr marL="12700" marR="5080">
              <a:lnSpc>
                <a:spcPct val="134600"/>
              </a:lnSpc>
              <a:spcBef>
                <a:spcPts val="660"/>
              </a:spcBef>
            </a:pPr>
            <a:r>
              <a:rPr sz="1300" spc="85" dirty="0">
                <a:solidFill>
                  <a:srgbClr val="3A3535"/>
                </a:solidFill>
                <a:latin typeface="Century Gothic"/>
                <a:cs typeface="Century Gothic"/>
              </a:rPr>
              <a:t>Adjust</a:t>
            </a:r>
            <a:r>
              <a:rPr sz="1300" spc="40" dirty="0">
                <a:solidFill>
                  <a:srgbClr val="3A3535"/>
                </a:solidFill>
                <a:latin typeface="Century Gothic"/>
                <a:cs typeface="Century Gothic"/>
              </a:rPr>
              <a:t> </a:t>
            </a:r>
            <a:r>
              <a:rPr sz="1300" dirty="0">
                <a:solidFill>
                  <a:srgbClr val="3A3535"/>
                </a:solidFill>
                <a:latin typeface="Century Gothic"/>
                <a:cs typeface="Century Gothic"/>
              </a:rPr>
              <a:t>content</a:t>
            </a:r>
            <a:r>
              <a:rPr sz="1300" spc="4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45" dirty="0">
                <a:solidFill>
                  <a:srgbClr val="3A3535"/>
                </a:solidFill>
                <a:latin typeface="Century Gothic"/>
                <a:cs typeface="Century Gothic"/>
              </a:rPr>
              <a:t> </a:t>
            </a:r>
            <a:r>
              <a:rPr sz="1300" spc="80" dirty="0">
                <a:solidFill>
                  <a:srgbClr val="3A3535"/>
                </a:solidFill>
                <a:latin typeface="Century Gothic"/>
                <a:cs typeface="Century Gothic"/>
              </a:rPr>
              <a:t>timing</a:t>
            </a:r>
            <a:r>
              <a:rPr sz="1300" spc="40" dirty="0">
                <a:solidFill>
                  <a:srgbClr val="3A3535"/>
                </a:solidFill>
                <a:latin typeface="Century Gothic"/>
                <a:cs typeface="Century Gothic"/>
              </a:rPr>
              <a:t> </a:t>
            </a:r>
            <a:r>
              <a:rPr sz="1300" dirty="0">
                <a:solidFill>
                  <a:srgbClr val="3A3535"/>
                </a:solidFill>
                <a:latin typeface="Century Gothic"/>
                <a:cs typeface="Century Gothic"/>
              </a:rPr>
              <a:t>by</a:t>
            </a:r>
            <a:r>
              <a:rPr sz="1300" spc="40" dirty="0">
                <a:solidFill>
                  <a:srgbClr val="3A3535"/>
                </a:solidFill>
                <a:latin typeface="Century Gothic"/>
                <a:cs typeface="Century Gothic"/>
              </a:rPr>
              <a:t> </a:t>
            </a:r>
            <a:r>
              <a:rPr sz="1300" dirty="0">
                <a:solidFill>
                  <a:srgbClr val="3A3535"/>
                </a:solidFill>
                <a:latin typeface="Century Gothic"/>
                <a:cs typeface="Century Gothic"/>
              </a:rPr>
              <a:t>role,</a:t>
            </a:r>
            <a:r>
              <a:rPr sz="1300" spc="45" dirty="0">
                <a:solidFill>
                  <a:srgbClr val="3A3535"/>
                </a:solidFill>
                <a:latin typeface="Century Gothic"/>
                <a:cs typeface="Century Gothic"/>
              </a:rPr>
              <a:t> </a:t>
            </a:r>
            <a:r>
              <a:rPr sz="1300" dirty="0">
                <a:solidFill>
                  <a:srgbClr val="3A3535"/>
                </a:solidFill>
                <a:latin typeface="Century Gothic"/>
                <a:cs typeface="Century Gothic"/>
              </a:rPr>
              <a:t>group,</a:t>
            </a:r>
            <a:r>
              <a:rPr sz="1300" spc="40" dirty="0">
                <a:solidFill>
                  <a:srgbClr val="3A3535"/>
                </a:solidFill>
                <a:latin typeface="Century Gothic"/>
                <a:cs typeface="Century Gothic"/>
              </a:rPr>
              <a:t> </a:t>
            </a:r>
            <a:r>
              <a:rPr sz="1300" spc="-10" dirty="0">
                <a:solidFill>
                  <a:srgbClr val="3A3535"/>
                </a:solidFill>
                <a:latin typeface="Century Gothic"/>
                <a:cs typeface="Century Gothic"/>
              </a:rPr>
              <a:t>language,</a:t>
            </a:r>
            <a:r>
              <a:rPr sz="1300" spc="40" dirty="0">
                <a:solidFill>
                  <a:srgbClr val="3A3535"/>
                </a:solidFill>
                <a:latin typeface="Century Gothic"/>
                <a:cs typeface="Century Gothic"/>
              </a:rPr>
              <a:t> </a:t>
            </a:r>
            <a:r>
              <a:rPr sz="1300" spc="65" dirty="0">
                <a:solidFill>
                  <a:srgbClr val="3A3535"/>
                </a:solidFill>
                <a:latin typeface="Century Gothic"/>
                <a:cs typeface="Century Gothic"/>
              </a:rPr>
              <a:t>or </a:t>
            </a:r>
            <a:r>
              <a:rPr sz="1300" spc="85" dirty="0">
                <a:solidFill>
                  <a:srgbClr val="3A3535"/>
                </a:solidFill>
                <a:latin typeface="Century Gothic"/>
                <a:cs typeface="Century Gothic"/>
              </a:rPr>
              <a:t>user</a:t>
            </a:r>
            <a:r>
              <a:rPr sz="1300" spc="-40" dirty="0">
                <a:solidFill>
                  <a:srgbClr val="3A3535"/>
                </a:solidFill>
                <a:latin typeface="Century Gothic"/>
                <a:cs typeface="Century Gothic"/>
              </a:rPr>
              <a:t> </a:t>
            </a:r>
            <a:r>
              <a:rPr sz="1300" spc="40" dirty="0">
                <a:solidFill>
                  <a:srgbClr val="3A3535"/>
                </a:solidFill>
                <a:latin typeface="Century Gothic"/>
                <a:cs typeface="Century Gothic"/>
              </a:rPr>
              <a:t>state</a:t>
            </a:r>
            <a:endParaRPr sz="1300" dirty="0">
              <a:latin typeface="Century Gothic"/>
              <a:cs typeface="Century Gothic"/>
            </a:endParaRPr>
          </a:p>
        </p:txBody>
      </p:sp>
      <p:grpSp>
        <p:nvGrpSpPr>
          <p:cNvPr id="14" name="object 14"/>
          <p:cNvGrpSpPr/>
          <p:nvPr/>
        </p:nvGrpSpPr>
        <p:grpSpPr>
          <a:xfrm>
            <a:off x="5709710" y="3661835"/>
            <a:ext cx="5133340" cy="687705"/>
            <a:chOff x="5709710" y="3661835"/>
            <a:chExt cx="5133340" cy="687705"/>
          </a:xfrm>
        </p:grpSpPr>
        <p:sp>
          <p:nvSpPr>
            <p:cNvPr id="15" name="object 15"/>
            <p:cNvSpPr/>
            <p:nvPr/>
          </p:nvSpPr>
          <p:spPr>
            <a:xfrm>
              <a:off x="5714999" y="3667124"/>
              <a:ext cx="5123180" cy="677545"/>
            </a:xfrm>
            <a:custGeom>
              <a:avLst/>
              <a:gdLst/>
              <a:ahLst/>
              <a:cxnLst/>
              <a:rect l="l" t="t" r="r" b="b"/>
              <a:pathLst>
                <a:path w="5123180" h="677545">
                  <a:moveTo>
                    <a:pt x="4953393" y="0"/>
                  </a:moveTo>
                  <a:lnTo>
                    <a:pt x="0" y="0"/>
                  </a:lnTo>
                  <a:lnTo>
                    <a:pt x="169265" y="338531"/>
                  </a:lnTo>
                  <a:lnTo>
                    <a:pt x="0" y="677062"/>
                  </a:lnTo>
                  <a:lnTo>
                    <a:pt x="4953393" y="677062"/>
                  </a:lnTo>
                  <a:lnTo>
                    <a:pt x="5122659" y="338531"/>
                  </a:lnTo>
                  <a:lnTo>
                    <a:pt x="4953393" y="0"/>
                  </a:lnTo>
                  <a:close/>
                </a:path>
              </a:pathLst>
            </a:custGeom>
            <a:solidFill>
              <a:srgbClr val="F9D2D6"/>
            </a:solidFill>
          </p:spPr>
          <p:txBody>
            <a:bodyPr wrap="square" lIns="0" tIns="0" rIns="0" bIns="0" rtlCol="0"/>
            <a:lstStyle/>
            <a:p>
              <a:endParaRPr/>
            </a:p>
          </p:txBody>
        </p:sp>
        <p:sp>
          <p:nvSpPr>
            <p:cNvPr id="16" name="object 16"/>
            <p:cNvSpPr/>
            <p:nvPr/>
          </p:nvSpPr>
          <p:spPr>
            <a:xfrm>
              <a:off x="5714999" y="3667124"/>
              <a:ext cx="5123180" cy="677545"/>
            </a:xfrm>
            <a:custGeom>
              <a:avLst/>
              <a:gdLst/>
              <a:ahLst/>
              <a:cxnLst/>
              <a:rect l="l" t="t" r="r" b="b"/>
              <a:pathLst>
                <a:path w="5123180" h="677545">
                  <a:moveTo>
                    <a:pt x="4953393" y="0"/>
                  </a:moveTo>
                  <a:lnTo>
                    <a:pt x="5122659" y="338531"/>
                  </a:lnTo>
                  <a:lnTo>
                    <a:pt x="4953393" y="677062"/>
                  </a:lnTo>
                  <a:lnTo>
                    <a:pt x="0" y="677062"/>
                  </a:lnTo>
                  <a:lnTo>
                    <a:pt x="169265" y="338531"/>
                  </a:lnTo>
                  <a:lnTo>
                    <a:pt x="0" y="0"/>
                  </a:lnTo>
                  <a:lnTo>
                    <a:pt x="4953393" y="0"/>
                  </a:lnTo>
                  <a:close/>
                </a:path>
              </a:pathLst>
            </a:custGeom>
            <a:ln w="10579">
              <a:solidFill>
                <a:srgbClr val="DFB7BB"/>
              </a:solidFill>
            </a:ln>
          </p:spPr>
          <p:txBody>
            <a:bodyPr wrap="square" lIns="0" tIns="0" rIns="0" bIns="0" rtlCol="0"/>
            <a:lstStyle/>
            <a:p>
              <a:endParaRPr/>
            </a:p>
          </p:txBody>
        </p:sp>
      </p:grpSp>
      <p:sp>
        <p:nvSpPr>
          <p:cNvPr id="17" name="object 17"/>
          <p:cNvSpPr txBox="1">
            <a:spLocks noGrp="1"/>
          </p:cNvSpPr>
          <p:nvPr>
            <p:ph sz="half" idx="3"/>
          </p:nvPr>
        </p:nvSpPr>
        <p:spPr>
          <a:prstGeom prst="rect">
            <a:avLst/>
          </a:prstGeom>
        </p:spPr>
        <p:txBody>
          <a:bodyPr vert="horz" wrap="square" lIns="0" tIns="12065" rIns="0" bIns="0" rtlCol="0">
            <a:spAutoFit/>
          </a:bodyPr>
          <a:lstStyle/>
          <a:p>
            <a:pPr marL="410845" algn="ctr">
              <a:lnSpc>
                <a:spcPct val="100000"/>
              </a:lnSpc>
              <a:spcBef>
                <a:spcPts val="95"/>
              </a:spcBef>
            </a:pPr>
            <a:r>
              <a:rPr spc="-50" dirty="0"/>
              <a:t>2</a:t>
            </a:r>
          </a:p>
          <a:p>
            <a:pPr>
              <a:lnSpc>
                <a:spcPct val="100000"/>
              </a:lnSpc>
              <a:spcBef>
                <a:spcPts val="445"/>
              </a:spcBef>
            </a:pPr>
            <a:endParaRPr spc="-50" dirty="0"/>
          </a:p>
          <a:p>
            <a:pPr marL="12700">
              <a:lnSpc>
                <a:spcPct val="100000"/>
              </a:lnSpc>
            </a:pPr>
            <a:r>
              <a:rPr sz="1750" spc="-10" dirty="0"/>
              <a:t>Assess</a:t>
            </a:r>
            <a:endParaRPr sz="1750"/>
          </a:p>
          <a:p>
            <a:pPr marL="12700" marR="5080">
              <a:lnSpc>
                <a:spcPct val="139400"/>
              </a:lnSpc>
              <a:spcBef>
                <a:spcPts val="509"/>
              </a:spcBef>
            </a:pPr>
            <a:r>
              <a:rPr sz="1300" b="0" spc="70" dirty="0">
                <a:latin typeface="Century Gothic"/>
                <a:cs typeface="Century Gothic"/>
              </a:rPr>
              <a:t>Run</a:t>
            </a:r>
            <a:r>
              <a:rPr sz="1300" b="0" dirty="0">
                <a:latin typeface="Century Gothic"/>
                <a:cs typeface="Century Gothic"/>
              </a:rPr>
              <a:t> repeated</a:t>
            </a:r>
            <a:r>
              <a:rPr sz="1300" b="0" spc="5" dirty="0">
                <a:latin typeface="Century Gothic"/>
                <a:cs typeface="Century Gothic"/>
              </a:rPr>
              <a:t> </a:t>
            </a:r>
            <a:r>
              <a:rPr sz="1300" b="0" spc="90" dirty="0">
                <a:latin typeface="Century Gothic"/>
                <a:cs typeface="Century Gothic"/>
              </a:rPr>
              <a:t>assessments</a:t>
            </a:r>
            <a:r>
              <a:rPr sz="1300" b="0" spc="5" dirty="0">
                <a:latin typeface="Century Gothic"/>
                <a:cs typeface="Century Gothic"/>
              </a:rPr>
              <a:t> </a:t>
            </a:r>
            <a:r>
              <a:rPr sz="1300" b="0" spc="-10" dirty="0">
                <a:latin typeface="Century Gothic"/>
                <a:cs typeface="Century Gothic"/>
              </a:rPr>
              <a:t>and</a:t>
            </a:r>
            <a:r>
              <a:rPr sz="1300" b="0" dirty="0">
                <a:latin typeface="Century Gothic"/>
                <a:cs typeface="Century Gothic"/>
              </a:rPr>
              <a:t> collect</a:t>
            </a:r>
            <a:r>
              <a:rPr sz="1300" b="0" spc="5" dirty="0">
                <a:latin typeface="Century Gothic"/>
                <a:cs typeface="Century Gothic"/>
              </a:rPr>
              <a:t> </a:t>
            </a:r>
            <a:r>
              <a:rPr sz="1300" b="0" spc="70" dirty="0">
                <a:latin typeface="Century Gothic"/>
                <a:cs typeface="Century Gothic"/>
              </a:rPr>
              <a:t>richer</a:t>
            </a:r>
            <a:r>
              <a:rPr sz="1300" b="0" spc="5" dirty="0">
                <a:latin typeface="Century Gothic"/>
                <a:cs typeface="Century Gothic"/>
              </a:rPr>
              <a:t> </a:t>
            </a:r>
            <a:r>
              <a:rPr sz="1300" b="0" spc="85" dirty="0">
                <a:latin typeface="Century Gothic"/>
                <a:cs typeface="Century Gothic"/>
              </a:rPr>
              <a:t>inputs </a:t>
            </a:r>
            <a:r>
              <a:rPr sz="1300" b="0" dirty="0">
                <a:latin typeface="Century Gothic"/>
                <a:cs typeface="Century Gothic"/>
              </a:rPr>
              <a:t>over</a:t>
            </a:r>
            <a:r>
              <a:rPr sz="1300" b="0" spc="50" dirty="0">
                <a:latin typeface="Century Gothic"/>
                <a:cs typeface="Century Gothic"/>
              </a:rPr>
              <a:t> </a:t>
            </a:r>
            <a:r>
              <a:rPr sz="1300" b="0" spc="45" dirty="0">
                <a:latin typeface="Century Gothic"/>
                <a:cs typeface="Century Gothic"/>
              </a:rPr>
              <a:t>time</a:t>
            </a:r>
            <a:endParaRPr sz="1300">
              <a:latin typeface="Century Gothic"/>
              <a:cs typeface="Century Gothic"/>
            </a:endParaRPr>
          </a:p>
          <a:p>
            <a:pPr>
              <a:lnSpc>
                <a:spcPct val="100000"/>
              </a:lnSpc>
              <a:spcBef>
                <a:spcPts val="1395"/>
              </a:spcBef>
            </a:pPr>
            <a:endParaRPr sz="1300">
              <a:latin typeface="Century Gothic"/>
              <a:cs typeface="Century Gothic"/>
            </a:endParaRPr>
          </a:p>
          <a:p>
            <a:pPr marL="410845" algn="ctr">
              <a:lnSpc>
                <a:spcPct val="100000"/>
              </a:lnSpc>
              <a:spcBef>
                <a:spcPts val="5"/>
              </a:spcBef>
            </a:pPr>
            <a:r>
              <a:rPr spc="-50" dirty="0"/>
              <a:t>4</a:t>
            </a:r>
          </a:p>
          <a:p>
            <a:pPr>
              <a:lnSpc>
                <a:spcPct val="100000"/>
              </a:lnSpc>
              <a:spcBef>
                <a:spcPts val="440"/>
              </a:spcBef>
            </a:pPr>
            <a:endParaRPr spc="-50" dirty="0"/>
          </a:p>
          <a:p>
            <a:pPr marL="12700">
              <a:lnSpc>
                <a:spcPct val="100000"/>
              </a:lnSpc>
            </a:pPr>
            <a:r>
              <a:rPr sz="1750" spc="-100" dirty="0"/>
              <a:t>Follow</a:t>
            </a:r>
            <a:r>
              <a:rPr sz="1750" spc="-165" dirty="0"/>
              <a:t> </a:t>
            </a:r>
            <a:r>
              <a:rPr sz="1750" spc="-25" dirty="0"/>
              <a:t>Up</a:t>
            </a:r>
            <a:endParaRPr sz="1750"/>
          </a:p>
          <a:p>
            <a:pPr marL="12700" marR="236220">
              <a:lnSpc>
                <a:spcPct val="134600"/>
              </a:lnSpc>
              <a:spcBef>
                <a:spcPts val="665"/>
              </a:spcBef>
            </a:pPr>
            <a:r>
              <a:rPr sz="1300" b="0" dirty="0">
                <a:latin typeface="Century Gothic"/>
                <a:cs typeface="Century Gothic"/>
              </a:rPr>
              <a:t>Automate</a:t>
            </a:r>
            <a:r>
              <a:rPr sz="1300" b="0" spc="-10" dirty="0">
                <a:latin typeface="Century Gothic"/>
                <a:cs typeface="Century Gothic"/>
              </a:rPr>
              <a:t> </a:t>
            </a:r>
            <a:r>
              <a:rPr sz="1300" b="0" spc="60" dirty="0">
                <a:latin typeface="Century Gothic"/>
                <a:cs typeface="Century Gothic"/>
              </a:rPr>
              <a:t>reminders,</a:t>
            </a:r>
            <a:r>
              <a:rPr sz="1300" b="0" spc="-5" dirty="0">
                <a:latin typeface="Century Gothic"/>
                <a:cs typeface="Century Gothic"/>
              </a:rPr>
              <a:t> </a:t>
            </a:r>
            <a:r>
              <a:rPr sz="1300" b="0" spc="65" dirty="0">
                <a:latin typeface="Century Gothic"/>
                <a:cs typeface="Century Gothic"/>
              </a:rPr>
              <a:t>tasks,</a:t>
            </a:r>
            <a:r>
              <a:rPr sz="1300" b="0" spc="-5" dirty="0">
                <a:latin typeface="Century Gothic"/>
                <a:cs typeface="Century Gothic"/>
              </a:rPr>
              <a:t> </a:t>
            </a:r>
            <a:r>
              <a:rPr sz="1300" b="0" spc="-10" dirty="0">
                <a:latin typeface="Century Gothic"/>
                <a:cs typeface="Century Gothic"/>
              </a:rPr>
              <a:t>and </a:t>
            </a:r>
            <a:r>
              <a:rPr sz="1300" b="0" spc="55" dirty="0">
                <a:latin typeface="Century Gothic"/>
                <a:cs typeface="Century Gothic"/>
              </a:rPr>
              <a:t>next</a:t>
            </a:r>
            <a:r>
              <a:rPr sz="1300" b="0" spc="-5" dirty="0">
                <a:latin typeface="Century Gothic"/>
                <a:cs typeface="Century Gothic"/>
              </a:rPr>
              <a:t> </a:t>
            </a:r>
            <a:r>
              <a:rPr sz="1300" b="0" spc="95" dirty="0">
                <a:latin typeface="Century Gothic"/>
                <a:cs typeface="Century Gothic"/>
              </a:rPr>
              <a:t>steps</a:t>
            </a:r>
            <a:r>
              <a:rPr sz="1300" b="0" spc="-5" dirty="0">
                <a:latin typeface="Century Gothic"/>
                <a:cs typeface="Century Gothic"/>
              </a:rPr>
              <a:t> </a:t>
            </a:r>
            <a:r>
              <a:rPr sz="1300" b="0" dirty="0">
                <a:latin typeface="Century Gothic"/>
                <a:cs typeface="Century Gothic"/>
              </a:rPr>
              <a:t>as</a:t>
            </a:r>
            <a:r>
              <a:rPr sz="1300" b="0" spc="-10" dirty="0">
                <a:latin typeface="Century Gothic"/>
                <a:cs typeface="Century Gothic"/>
              </a:rPr>
              <a:t> </a:t>
            </a:r>
            <a:r>
              <a:rPr sz="1300" b="0" spc="-25" dirty="0">
                <a:latin typeface="Century Gothic"/>
                <a:cs typeface="Century Gothic"/>
              </a:rPr>
              <a:t>the </a:t>
            </a:r>
            <a:r>
              <a:rPr sz="1300" b="0" dirty="0">
                <a:latin typeface="Century Gothic"/>
                <a:cs typeface="Century Gothic"/>
              </a:rPr>
              <a:t>program</a:t>
            </a:r>
            <a:r>
              <a:rPr sz="1300" b="0" spc="204" dirty="0">
                <a:latin typeface="Century Gothic"/>
                <a:cs typeface="Century Gothic"/>
              </a:rPr>
              <a:t> </a:t>
            </a:r>
            <a:r>
              <a:rPr sz="1300" b="0" spc="70" dirty="0">
                <a:latin typeface="Century Gothic"/>
                <a:cs typeface="Century Gothic"/>
              </a:rPr>
              <a:t>progresses</a:t>
            </a:r>
            <a:endParaRPr sz="1300">
              <a:latin typeface="Century Gothic"/>
              <a:cs typeface="Century Gothic"/>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3335" rIns="0" bIns="0" rtlCol="0">
            <a:spAutoFit/>
          </a:bodyPr>
          <a:lstStyle/>
          <a:p>
            <a:pPr marL="12700">
              <a:lnSpc>
                <a:spcPct val="100000"/>
              </a:lnSpc>
              <a:spcBef>
                <a:spcPts val="105"/>
              </a:spcBef>
            </a:pPr>
            <a:r>
              <a:rPr spc="-180" dirty="0"/>
              <a:t>How</a:t>
            </a:r>
            <a:r>
              <a:rPr spc="-400" dirty="0"/>
              <a:t> </a:t>
            </a:r>
            <a:r>
              <a:rPr spc="-130" dirty="0"/>
              <a:t>SelfHelp</a:t>
            </a:r>
            <a:r>
              <a:rPr spc="-400" dirty="0"/>
              <a:t> </a:t>
            </a:r>
            <a:r>
              <a:rPr spc="-160" dirty="0"/>
              <a:t>Expands</a:t>
            </a:r>
          </a:p>
        </p:txBody>
      </p:sp>
      <p:sp>
        <p:nvSpPr>
          <p:cNvPr id="3" name="object 3"/>
          <p:cNvSpPr txBox="1"/>
          <p:nvPr/>
        </p:nvSpPr>
        <p:spPr>
          <a:xfrm>
            <a:off x="579640" y="1437297"/>
            <a:ext cx="7090409" cy="228600"/>
          </a:xfrm>
          <a:prstGeom prst="rect">
            <a:avLst/>
          </a:prstGeom>
        </p:spPr>
        <p:txBody>
          <a:bodyPr vert="horz" wrap="square" lIns="0" tIns="16510" rIns="0" bIns="0" rtlCol="0">
            <a:spAutoFit/>
          </a:bodyPr>
          <a:lstStyle/>
          <a:p>
            <a:pPr marL="12700">
              <a:lnSpc>
                <a:spcPct val="100000"/>
              </a:lnSpc>
              <a:spcBef>
                <a:spcPts val="130"/>
              </a:spcBef>
            </a:pPr>
            <a:r>
              <a:rPr sz="1300" dirty="0">
                <a:solidFill>
                  <a:srgbClr val="3A3535"/>
                </a:solidFill>
                <a:latin typeface="Century Gothic"/>
                <a:cs typeface="Century Gothic"/>
              </a:rPr>
              <a:t>New</a:t>
            </a:r>
            <a:r>
              <a:rPr sz="1300" spc="25" dirty="0">
                <a:solidFill>
                  <a:srgbClr val="3A3535"/>
                </a:solidFill>
                <a:latin typeface="Century Gothic"/>
                <a:cs typeface="Century Gothic"/>
              </a:rPr>
              <a:t> </a:t>
            </a:r>
            <a:r>
              <a:rPr sz="1300" dirty="0">
                <a:solidFill>
                  <a:srgbClr val="3A3535"/>
                </a:solidFill>
                <a:latin typeface="Century Gothic"/>
                <a:cs typeface="Century Gothic"/>
              </a:rPr>
              <a:t>capabilities</a:t>
            </a:r>
            <a:r>
              <a:rPr sz="1300" spc="30" dirty="0">
                <a:solidFill>
                  <a:srgbClr val="3A3535"/>
                </a:solidFill>
                <a:latin typeface="Century Gothic"/>
                <a:cs typeface="Century Gothic"/>
              </a:rPr>
              <a:t> </a:t>
            </a:r>
            <a:r>
              <a:rPr sz="1300" dirty="0">
                <a:solidFill>
                  <a:srgbClr val="3A3535"/>
                </a:solidFill>
                <a:latin typeface="Century Gothic"/>
                <a:cs typeface="Century Gothic"/>
              </a:rPr>
              <a:t>are</a:t>
            </a:r>
            <a:r>
              <a:rPr sz="1300" spc="30" dirty="0">
                <a:solidFill>
                  <a:srgbClr val="3A3535"/>
                </a:solidFill>
                <a:latin typeface="Century Gothic"/>
                <a:cs typeface="Century Gothic"/>
              </a:rPr>
              <a:t> </a:t>
            </a:r>
            <a:r>
              <a:rPr sz="1300" spc="-25" dirty="0">
                <a:solidFill>
                  <a:srgbClr val="3A3535"/>
                </a:solidFill>
                <a:latin typeface="Century Gothic"/>
                <a:cs typeface="Century Gothic"/>
              </a:rPr>
              <a:t>added</a:t>
            </a:r>
            <a:r>
              <a:rPr sz="1300" spc="25" dirty="0">
                <a:solidFill>
                  <a:srgbClr val="3A3535"/>
                </a:solidFill>
                <a:latin typeface="Century Gothic"/>
                <a:cs typeface="Century Gothic"/>
              </a:rPr>
              <a:t> </a:t>
            </a:r>
            <a:r>
              <a:rPr sz="1300" spc="60" dirty="0">
                <a:solidFill>
                  <a:srgbClr val="3A3535"/>
                </a:solidFill>
                <a:latin typeface="Century Gothic"/>
                <a:cs typeface="Century Gothic"/>
              </a:rPr>
              <a:t>through</a:t>
            </a:r>
            <a:r>
              <a:rPr sz="1300" spc="30" dirty="0">
                <a:solidFill>
                  <a:srgbClr val="3A3535"/>
                </a:solidFill>
                <a:latin typeface="Century Gothic"/>
                <a:cs typeface="Century Gothic"/>
              </a:rPr>
              <a:t> </a:t>
            </a:r>
            <a:r>
              <a:rPr sz="1300" spc="80" dirty="0">
                <a:solidFill>
                  <a:srgbClr val="3A3535"/>
                </a:solidFill>
                <a:latin typeface="Century Gothic"/>
                <a:cs typeface="Century Gothic"/>
              </a:rPr>
              <a:t>plugins</a:t>
            </a:r>
            <a:r>
              <a:rPr sz="1300" spc="30" dirty="0">
                <a:solidFill>
                  <a:srgbClr val="3A3535"/>
                </a:solidFill>
                <a:latin typeface="Century Gothic"/>
                <a:cs typeface="Century Gothic"/>
              </a:rPr>
              <a:t> </a:t>
            </a:r>
            <a:r>
              <a:rPr sz="1300" spc="-125" dirty="0">
                <a:solidFill>
                  <a:srgbClr val="3A3535"/>
                </a:solidFill>
                <a:latin typeface="Century Gothic"/>
                <a:cs typeface="Century Gothic"/>
              </a:rPr>
              <a:t>—</a:t>
            </a:r>
            <a:r>
              <a:rPr sz="1300" spc="30" dirty="0">
                <a:solidFill>
                  <a:srgbClr val="3A3535"/>
                </a:solidFill>
                <a:latin typeface="Century Gothic"/>
                <a:cs typeface="Century Gothic"/>
              </a:rPr>
              <a:t> </a:t>
            </a:r>
            <a:r>
              <a:rPr sz="1300" spc="70" dirty="0">
                <a:solidFill>
                  <a:srgbClr val="3A3535"/>
                </a:solidFill>
                <a:latin typeface="Century Gothic"/>
                <a:cs typeface="Century Gothic"/>
              </a:rPr>
              <a:t>without</a:t>
            </a:r>
            <a:r>
              <a:rPr sz="1300" spc="15" dirty="0">
                <a:solidFill>
                  <a:srgbClr val="3A3535"/>
                </a:solidFill>
                <a:latin typeface="Century Gothic"/>
                <a:cs typeface="Century Gothic"/>
              </a:rPr>
              <a:t> </a:t>
            </a:r>
            <a:r>
              <a:rPr sz="1300" spc="60" dirty="0">
                <a:solidFill>
                  <a:srgbClr val="3A3535"/>
                </a:solidFill>
                <a:latin typeface="Century Gothic"/>
                <a:cs typeface="Century Gothic"/>
              </a:rPr>
              <a:t>rebuilding</a:t>
            </a:r>
            <a:r>
              <a:rPr sz="1300" spc="30" dirty="0">
                <a:solidFill>
                  <a:srgbClr val="3A3535"/>
                </a:solidFill>
                <a:latin typeface="Century Gothic"/>
                <a:cs typeface="Century Gothic"/>
              </a:rPr>
              <a:t> </a:t>
            </a:r>
            <a:r>
              <a:rPr sz="1300" dirty="0">
                <a:solidFill>
                  <a:srgbClr val="3A3535"/>
                </a:solidFill>
                <a:latin typeface="Century Gothic"/>
                <a:cs typeface="Century Gothic"/>
              </a:rPr>
              <a:t>the</a:t>
            </a:r>
            <a:r>
              <a:rPr sz="1300" spc="25" dirty="0">
                <a:solidFill>
                  <a:srgbClr val="3A3535"/>
                </a:solidFill>
                <a:latin typeface="Century Gothic"/>
                <a:cs typeface="Century Gothic"/>
              </a:rPr>
              <a:t> </a:t>
            </a:r>
            <a:r>
              <a:rPr sz="1300" dirty="0">
                <a:solidFill>
                  <a:srgbClr val="3A3535"/>
                </a:solidFill>
                <a:latin typeface="Century Gothic"/>
                <a:cs typeface="Century Gothic"/>
              </a:rPr>
              <a:t>core</a:t>
            </a:r>
            <a:r>
              <a:rPr sz="1300" spc="30" dirty="0">
                <a:solidFill>
                  <a:srgbClr val="3A3535"/>
                </a:solidFill>
                <a:latin typeface="Century Gothic"/>
                <a:cs typeface="Century Gothic"/>
              </a:rPr>
              <a:t> </a:t>
            </a:r>
            <a:r>
              <a:rPr sz="1300" spc="-10" dirty="0">
                <a:solidFill>
                  <a:srgbClr val="3A3535"/>
                </a:solidFill>
                <a:latin typeface="Century Gothic"/>
                <a:cs typeface="Century Gothic"/>
              </a:rPr>
              <a:t>platform.</a:t>
            </a:r>
            <a:endParaRPr sz="1300">
              <a:latin typeface="Century Gothic"/>
              <a:cs typeface="Century Gothic"/>
            </a:endParaRPr>
          </a:p>
        </p:txBody>
      </p:sp>
      <p:sp>
        <p:nvSpPr>
          <p:cNvPr id="4" name="object 4"/>
          <p:cNvSpPr txBox="1"/>
          <p:nvPr/>
        </p:nvSpPr>
        <p:spPr>
          <a:xfrm>
            <a:off x="579635" y="2041080"/>
            <a:ext cx="2844165" cy="292735"/>
          </a:xfrm>
          <a:prstGeom prst="rect">
            <a:avLst/>
          </a:prstGeom>
        </p:spPr>
        <p:txBody>
          <a:bodyPr vert="horz" wrap="square" lIns="0" tIns="12700" rIns="0" bIns="0" rtlCol="0">
            <a:spAutoFit/>
          </a:bodyPr>
          <a:lstStyle/>
          <a:p>
            <a:pPr marL="12700">
              <a:lnSpc>
                <a:spcPct val="100000"/>
              </a:lnSpc>
              <a:spcBef>
                <a:spcPts val="100"/>
              </a:spcBef>
            </a:pPr>
            <a:r>
              <a:rPr sz="1750" b="1" spc="-40" dirty="0">
                <a:solidFill>
                  <a:srgbClr val="1F1E1E"/>
                </a:solidFill>
                <a:latin typeface="Verdana"/>
                <a:cs typeface="Verdana"/>
              </a:rPr>
              <a:t>Core</a:t>
            </a:r>
            <a:r>
              <a:rPr sz="1750" b="1" spc="-160" dirty="0">
                <a:solidFill>
                  <a:srgbClr val="1F1E1E"/>
                </a:solidFill>
                <a:latin typeface="Verdana"/>
                <a:cs typeface="Verdana"/>
              </a:rPr>
              <a:t> </a:t>
            </a:r>
            <a:r>
              <a:rPr sz="1750" b="1" spc="-65" dirty="0">
                <a:solidFill>
                  <a:srgbClr val="1F1E1E"/>
                </a:solidFill>
                <a:latin typeface="Verdana"/>
                <a:cs typeface="Verdana"/>
              </a:rPr>
              <a:t>Supporting</a:t>
            </a:r>
            <a:r>
              <a:rPr sz="1750" b="1" spc="-160" dirty="0">
                <a:solidFill>
                  <a:srgbClr val="1F1E1E"/>
                </a:solidFill>
                <a:latin typeface="Verdana"/>
                <a:cs typeface="Verdana"/>
              </a:rPr>
              <a:t> </a:t>
            </a:r>
            <a:r>
              <a:rPr sz="1750" b="1" spc="-75" dirty="0">
                <a:solidFill>
                  <a:srgbClr val="1F1E1E"/>
                </a:solidFill>
                <a:latin typeface="Verdana"/>
                <a:cs typeface="Verdana"/>
              </a:rPr>
              <a:t>Plugins</a:t>
            </a:r>
            <a:endParaRPr sz="1750">
              <a:latin typeface="Verdana"/>
              <a:cs typeface="Verdana"/>
            </a:endParaRPr>
          </a:p>
        </p:txBody>
      </p:sp>
      <p:sp>
        <p:nvSpPr>
          <p:cNvPr id="5" name="object 5"/>
          <p:cNvSpPr/>
          <p:nvPr/>
        </p:nvSpPr>
        <p:spPr>
          <a:xfrm>
            <a:off x="600075" y="2543174"/>
            <a:ext cx="2352675" cy="1343025"/>
          </a:xfrm>
          <a:custGeom>
            <a:avLst/>
            <a:gdLst/>
            <a:ahLst/>
            <a:cxnLst/>
            <a:rect l="l" t="t" r="r" b="b"/>
            <a:pathLst>
              <a:path w="2352675" h="1343025">
                <a:moveTo>
                  <a:pt x="0" y="1293304"/>
                </a:moveTo>
                <a:lnTo>
                  <a:pt x="0" y="49720"/>
                </a:lnTo>
                <a:lnTo>
                  <a:pt x="0" y="43129"/>
                </a:lnTo>
                <a:lnTo>
                  <a:pt x="1259" y="36779"/>
                </a:lnTo>
                <a:lnTo>
                  <a:pt x="3784" y="30683"/>
                </a:lnTo>
                <a:lnTo>
                  <a:pt x="6305" y="24599"/>
                </a:lnTo>
                <a:lnTo>
                  <a:pt x="9902" y="19227"/>
                </a:lnTo>
                <a:lnTo>
                  <a:pt x="14560" y="14566"/>
                </a:lnTo>
                <a:lnTo>
                  <a:pt x="19223" y="9893"/>
                </a:lnTo>
                <a:lnTo>
                  <a:pt x="24601" y="6311"/>
                </a:lnTo>
                <a:lnTo>
                  <a:pt x="30693" y="3784"/>
                </a:lnTo>
                <a:lnTo>
                  <a:pt x="36785" y="1257"/>
                </a:lnTo>
                <a:lnTo>
                  <a:pt x="43125" y="0"/>
                </a:lnTo>
                <a:lnTo>
                  <a:pt x="49717" y="0"/>
                </a:lnTo>
                <a:lnTo>
                  <a:pt x="2302954" y="0"/>
                </a:lnTo>
                <a:lnTo>
                  <a:pt x="2309545" y="0"/>
                </a:lnTo>
                <a:lnTo>
                  <a:pt x="2315895" y="1257"/>
                </a:lnTo>
                <a:lnTo>
                  <a:pt x="2321979" y="3784"/>
                </a:lnTo>
                <a:lnTo>
                  <a:pt x="2328075" y="6311"/>
                </a:lnTo>
                <a:lnTo>
                  <a:pt x="2351417" y="36779"/>
                </a:lnTo>
                <a:lnTo>
                  <a:pt x="2352675" y="43129"/>
                </a:lnTo>
                <a:lnTo>
                  <a:pt x="2352675" y="49720"/>
                </a:lnTo>
                <a:lnTo>
                  <a:pt x="2352675" y="1293304"/>
                </a:lnTo>
                <a:lnTo>
                  <a:pt x="2352675" y="1299895"/>
                </a:lnTo>
                <a:lnTo>
                  <a:pt x="2351417" y="1306245"/>
                </a:lnTo>
                <a:lnTo>
                  <a:pt x="2348890" y="1312329"/>
                </a:lnTo>
                <a:lnTo>
                  <a:pt x="2346363" y="1318425"/>
                </a:lnTo>
                <a:lnTo>
                  <a:pt x="2315895" y="1341755"/>
                </a:lnTo>
                <a:lnTo>
                  <a:pt x="2309545" y="1343025"/>
                </a:lnTo>
                <a:lnTo>
                  <a:pt x="2302954" y="1343025"/>
                </a:lnTo>
                <a:lnTo>
                  <a:pt x="49717" y="1343025"/>
                </a:lnTo>
                <a:lnTo>
                  <a:pt x="43125" y="1343025"/>
                </a:lnTo>
                <a:lnTo>
                  <a:pt x="36785" y="1341755"/>
                </a:lnTo>
                <a:lnTo>
                  <a:pt x="6305" y="1318425"/>
                </a:lnTo>
                <a:lnTo>
                  <a:pt x="3784" y="1312329"/>
                </a:lnTo>
                <a:lnTo>
                  <a:pt x="1259" y="1306245"/>
                </a:lnTo>
                <a:lnTo>
                  <a:pt x="0" y="1299895"/>
                </a:lnTo>
                <a:lnTo>
                  <a:pt x="0" y="1293304"/>
                </a:lnTo>
                <a:close/>
              </a:path>
            </a:pathLst>
          </a:custGeom>
          <a:ln w="19050">
            <a:solidFill>
              <a:srgbClr val="DFB7BB"/>
            </a:solidFill>
          </a:ln>
        </p:spPr>
        <p:txBody>
          <a:bodyPr wrap="square" lIns="0" tIns="0" rIns="0" bIns="0" rtlCol="0"/>
          <a:lstStyle/>
          <a:p>
            <a:endParaRPr/>
          </a:p>
        </p:txBody>
      </p:sp>
      <p:sp>
        <p:nvSpPr>
          <p:cNvPr id="6" name="object 6"/>
          <p:cNvSpPr txBox="1"/>
          <p:nvPr/>
        </p:nvSpPr>
        <p:spPr>
          <a:xfrm>
            <a:off x="767902" y="2698305"/>
            <a:ext cx="2022475" cy="977265"/>
          </a:xfrm>
          <a:prstGeom prst="rect">
            <a:avLst/>
          </a:prstGeom>
        </p:spPr>
        <p:txBody>
          <a:bodyPr vert="horz" wrap="square" lIns="0" tIns="12700" rIns="0" bIns="0" rtlCol="0">
            <a:spAutoFit/>
          </a:bodyPr>
          <a:lstStyle/>
          <a:p>
            <a:pPr marL="12700">
              <a:lnSpc>
                <a:spcPct val="100000"/>
              </a:lnSpc>
              <a:spcBef>
                <a:spcPts val="100"/>
              </a:spcBef>
            </a:pPr>
            <a:r>
              <a:rPr sz="1750" b="1" spc="-125" dirty="0">
                <a:solidFill>
                  <a:srgbClr val="3A3535"/>
                </a:solidFill>
                <a:latin typeface="Verdana"/>
                <a:cs typeface="Verdana"/>
              </a:rPr>
              <a:t>External</a:t>
            </a:r>
            <a:r>
              <a:rPr sz="1750" b="1" spc="-155" dirty="0">
                <a:solidFill>
                  <a:srgbClr val="3A3535"/>
                </a:solidFill>
                <a:latin typeface="Verdana"/>
                <a:cs typeface="Verdana"/>
              </a:rPr>
              <a:t> </a:t>
            </a:r>
            <a:r>
              <a:rPr sz="1750" b="1" spc="-20" dirty="0">
                <a:solidFill>
                  <a:srgbClr val="3A3535"/>
                </a:solidFill>
                <a:latin typeface="Verdana"/>
                <a:cs typeface="Verdana"/>
              </a:rPr>
              <a:t>Auth</a:t>
            </a:r>
            <a:endParaRPr sz="1750">
              <a:latin typeface="Verdana"/>
              <a:cs typeface="Verdana"/>
            </a:endParaRPr>
          </a:p>
          <a:p>
            <a:pPr marL="12700" marR="5080">
              <a:lnSpc>
                <a:spcPct val="134600"/>
              </a:lnSpc>
              <a:spcBef>
                <a:spcPts val="1185"/>
              </a:spcBef>
            </a:pPr>
            <a:r>
              <a:rPr sz="1300" spc="135" dirty="0">
                <a:solidFill>
                  <a:srgbClr val="3A3535"/>
                </a:solidFill>
                <a:latin typeface="Century Gothic"/>
                <a:cs typeface="Century Gothic"/>
              </a:rPr>
              <a:t>Fits</a:t>
            </a:r>
            <a:r>
              <a:rPr sz="1300" spc="-40" dirty="0">
                <a:solidFill>
                  <a:srgbClr val="3A3535"/>
                </a:solidFill>
                <a:latin typeface="Century Gothic"/>
                <a:cs typeface="Century Gothic"/>
              </a:rPr>
              <a:t> </a:t>
            </a:r>
            <a:r>
              <a:rPr sz="1300" spc="85" dirty="0">
                <a:solidFill>
                  <a:srgbClr val="3A3535"/>
                </a:solidFill>
                <a:latin typeface="Century Gothic"/>
                <a:cs typeface="Century Gothic"/>
              </a:rPr>
              <a:t>institutional</a:t>
            </a:r>
            <a:r>
              <a:rPr sz="1300" spc="-35" dirty="0">
                <a:solidFill>
                  <a:srgbClr val="3A3535"/>
                </a:solidFill>
                <a:latin typeface="Century Gothic"/>
                <a:cs typeface="Century Gothic"/>
              </a:rPr>
              <a:t> </a:t>
            </a:r>
            <a:r>
              <a:rPr sz="1300" spc="-10" dirty="0">
                <a:solidFill>
                  <a:srgbClr val="3A3535"/>
                </a:solidFill>
                <a:latin typeface="Century Gothic"/>
                <a:cs typeface="Century Gothic"/>
              </a:rPr>
              <a:t>access </a:t>
            </a:r>
            <a:r>
              <a:rPr sz="1300" spc="50" dirty="0">
                <a:solidFill>
                  <a:srgbClr val="3A3535"/>
                </a:solidFill>
                <a:latin typeface="Century Gothic"/>
                <a:cs typeface="Century Gothic"/>
              </a:rPr>
              <a:t>models</a:t>
            </a:r>
            <a:endParaRPr sz="1300">
              <a:latin typeface="Century Gothic"/>
              <a:cs typeface="Century Gothic"/>
            </a:endParaRPr>
          </a:p>
        </p:txBody>
      </p:sp>
      <p:sp>
        <p:nvSpPr>
          <p:cNvPr id="7" name="object 7"/>
          <p:cNvSpPr/>
          <p:nvPr/>
        </p:nvSpPr>
        <p:spPr>
          <a:xfrm>
            <a:off x="3143250" y="2543174"/>
            <a:ext cx="2352675" cy="1343025"/>
          </a:xfrm>
          <a:custGeom>
            <a:avLst/>
            <a:gdLst/>
            <a:ahLst/>
            <a:cxnLst/>
            <a:rect l="l" t="t" r="r" b="b"/>
            <a:pathLst>
              <a:path w="2352675" h="1343025">
                <a:moveTo>
                  <a:pt x="0" y="1293304"/>
                </a:moveTo>
                <a:lnTo>
                  <a:pt x="0" y="49720"/>
                </a:lnTo>
                <a:lnTo>
                  <a:pt x="0" y="43129"/>
                </a:lnTo>
                <a:lnTo>
                  <a:pt x="1257" y="36779"/>
                </a:lnTo>
                <a:lnTo>
                  <a:pt x="3784" y="30683"/>
                </a:lnTo>
                <a:lnTo>
                  <a:pt x="6299" y="24599"/>
                </a:lnTo>
                <a:lnTo>
                  <a:pt x="9893" y="19227"/>
                </a:lnTo>
                <a:lnTo>
                  <a:pt x="14554" y="14566"/>
                </a:lnTo>
                <a:lnTo>
                  <a:pt x="19227" y="9893"/>
                </a:lnTo>
                <a:lnTo>
                  <a:pt x="24599" y="6311"/>
                </a:lnTo>
                <a:lnTo>
                  <a:pt x="30695" y="3784"/>
                </a:lnTo>
                <a:lnTo>
                  <a:pt x="36779" y="1257"/>
                </a:lnTo>
                <a:lnTo>
                  <a:pt x="43129" y="0"/>
                </a:lnTo>
                <a:lnTo>
                  <a:pt x="49720" y="0"/>
                </a:lnTo>
                <a:lnTo>
                  <a:pt x="2302954" y="0"/>
                </a:lnTo>
                <a:lnTo>
                  <a:pt x="2309545" y="0"/>
                </a:lnTo>
                <a:lnTo>
                  <a:pt x="2315895" y="1257"/>
                </a:lnTo>
                <a:lnTo>
                  <a:pt x="2321979" y="3784"/>
                </a:lnTo>
                <a:lnTo>
                  <a:pt x="2328075" y="6311"/>
                </a:lnTo>
                <a:lnTo>
                  <a:pt x="2351405" y="36779"/>
                </a:lnTo>
                <a:lnTo>
                  <a:pt x="2352675" y="43129"/>
                </a:lnTo>
                <a:lnTo>
                  <a:pt x="2352675" y="49720"/>
                </a:lnTo>
                <a:lnTo>
                  <a:pt x="2352675" y="1293304"/>
                </a:lnTo>
                <a:lnTo>
                  <a:pt x="2352675" y="1299895"/>
                </a:lnTo>
                <a:lnTo>
                  <a:pt x="2351405" y="1306245"/>
                </a:lnTo>
                <a:lnTo>
                  <a:pt x="2328075" y="1336713"/>
                </a:lnTo>
                <a:lnTo>
                  <a:pt x="2309545" y="1343025"/>
                </a:lnTo>
                <a:lnTo>
                  <a:pt x="2302954" y="1343025"/>
                </a:lnTo>
                <a:lnTo>
                  <a:pt x="49720" y="1343025"/>
                </a:lnTo>
                <a:lnTo>
                  <a:pt x="43129" y="1343025"/>
                </a:lnTo>
                <a:lnTo>
                  <a:pt x="36779" y="1341755"/>
                </a:lnTo>
                <a:lnTo>
                  <a:pt x="6299" y="1318425"/>
                </a:lnTo>
                <a:lnTo>
                  <a:pt x="3784" y="1312329"/>
                </a:lnTo>
                <a:lnTo>
                  <a:pt x="1257" y="1306245"/>
                </a:lnTo>
                <a:lnTo>
                  <a:pt x="0" y="1299895"/>
                </a:lnTo>
                <a:lnTo>
                  <a:pt x="0" y="1293304"/>
                </a:lnTo>
                <a:close/>
              </a:path>
            </a:pathLst>
          </a:custGeom>
          <a:ln w="19050">
            <a:solidFill>
              <a:srgbClr val="DFB7BB"/>
            </a:solidFill>
          </a:ln>
        </p:spPr>
        <p:txBody>
          <a:bodyPr wrap="square" lIns="0" tIns="0" rIns="0" bIns="0" rtlCol="0"/>
          <a:lstStyle/>
          <a:p>
            <a:endParaRPr/>
          </a:p>
        </p:txBody>
      </p:sp>
      <p:sp>
        <p:nvSpPr>
          <p:cNvPr id="8" name="object 8"/>
          <p:cNvSpPr txBox="1"/>
          <p:nvPr/>
        </p:nvSpPr>
        <p:spPr>
          <a:xfrm>
            <a:off x="3310635" y="2698305"/>
            <a:ext cx="1322070" cy="977265"/>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Lab.js</a:t>
            </a:r>
            <a:endParaRPr sz="1750" dirty="0">
              <a:latin typeface="Verdana"/>
              <a:cs typeface="Verdana"/>
            </a:endParaRPr>
          </a:p>
          <a:p>
            <a:pPr marL="12700" marR="5080">
              <a:lnSpc>
                <a:spcPct val="134600"/>
              </a:lnSpc>
              <a:spcBef>
                <a:spcPts val="1185"/>
              </a:spcBef>
            </a:pPr>
            <a:r>
              <a:rPr sz="1300" spc="75" dirty="0">
                <a:solidFill>
                  <a:srgbClr val="3A3535"/>
                </a:solidFill>
                <a:latin typeface="Century Gothic"/>
                <a:cs typeface="Century Gothic"/>
              </a:rPr>
              <a:t>Browser-</a:t>
            </a:r>
            <a:r>
              <a:rPr sz="1300" spc="45" dirty="0">
                <a:solidFill>
                  <a:srgbClr val="3A3535"/>
                </a:solidFill>
                <a:latin typeface="Century Gothic"/>
                <a:cs typeface="Century Gothic"/>
              </a:rPr>
              <a:t>based </a:t>
            </a:r>
            <a:r>
              <a:rPr sz="1300" spc="55" dirty="0">
                <a:solidFill>
                  <a:srgbClr val="3A3535"/>
                </a:solidFill>
                <a:latin typeface="Century Gothic"/>
                <a:cs typeface="Century Gothic"/>
              </a:rPr>
              <a:t>experiments</a:t>
            </a:r>
            <a:endParaRPr sz="1300" dirty="0">
              <a:latin typeface="Century Gothic"/>
              <a:cs typeface="Century Gothic"/>
            </a:endParaRPr>
          </a:p>
        </p:txBody>
      </p:sp>
      <p:sp>
        <p:nvSpPr>
          <p:cNvPr id="9" name="object 9"/>
          <p:cNvSpPr/>
          <p:nvPr/>
        </p:nvSpPr>
        <p:spPr>
          <a:xfrm>
            <a:off x="600075" y="4076700"/>
            <a:ext cx="2352675" cy="1628775"/>
          </a:xfrm>
          <a:custGeom>
            <a:avLst/>
            <a:gdLst/>
            <a:ahLst/>
            <a:cxnLst/>
            <a:rect l="l" t="t" r="r" b="b"/>
            <a:pathLst>
              <a:path w="2352675" h="1628775">
                <a:moveTo>
                  <a:pt x="0" y="1579057"/>
                </a:moveTo>
                <a:lnTo>
                  <a:pt x="0" y="49720"/>
                </a:lnTo>
                <a:lnTo>
                  <a:pt x="0" y="43129"/>
                </a:lnTo>
                <a:lnTo>
                  <a:pt x="1259" y="36779"/>
                </a:lnTo>
                <a:lnTo>
                  <a:pt x="3784" y="30683"/>
                </a:lnTo>
                <a:lnTo>
                  <a:pt x="6305" y="24599"/>
                </a:lnTo>
                <a:lnTo>
                  <a:pt x="9902" y="19227"/>
                </a:lnTo>
                <a:lnTo>
                  <a:pt x="14560" y="14566"/>
                </a:lnTo>
                <a:lnTo>
                  <a:pt x="19223" y="9893"/>
                </a:lnTo>
                <a:lnTo>
                  <a:pt x="24601" y="6311"/>
                </a:lnTo>
                <a:lnTo>
                  <a:pt x="30693" y="3784"/>
                </a:lnTo>
                <a:lnTo>
                  <a:pt x="36785" y="1257"/>
                </a:lnTo>
                <a:lnTo>
                  <a:pt x="43125" y="0"/>
                </a:lnTo>
                <a:lnTo>
                  <a:pt x="49717" y="0"/>
                </a:lnTo>
                <a:lnTo>
                  <a:pt x="2302954" y="0"/>
                </a:lnTo>
                <a:lnTo>
                  <a:pt x="2309545" y="0"/>
                </a:lnTo>
                <a:lnTo>
                  <a:pt x="2315895" y="1257"/>
                </a:lnTo>
                <a:lnTo>
                  <a:pt x="2321979" y="3784"/>
                </a:lnTo>
                <a:lnTo>
                  <a:pt x="2328075" y="6311"/>
                </a:lnTo>
                <a:lnTo>
                  <a:pt x="2351417" y="36779"/>
                </a:lnTo>
                <a:lnTo>
                  <a:pt x="2352675" y="43129"/>
                </a:lnTo>
                <a:lnTo>
                  <a:pt x="2352675" y="49720"/>
                </a:lnTo>
                <a:lnTo>
                  <a:pt x="2352675" y="1579057"/>
                </a:lnTo>
                <a:lnTo>
                  <a:pt x="2352675" y="1585650"/>
                </a:lnTo>
                <a:lnTo>
                  <a:pt x="2351417" y="1591990"/>
                </a:lnTo>
                <a:lnTo>
                  <a:pt x="2348890" y="1598082"/>
                </a:lnTo>
                <a:lnTo>
                  <a:pt x="2346363" y="1604175"/>
                </a:lnTo>
                <a:lnTo>
                  <a:pt x="2321979" y="1624990"/>
                </a:lnTo>
                <a:lnTo>
                  <a:pt x="2315895" y="1627511"/>
                </a:lnTo>
                <a:lnTo>
                  <a:pt x="2309545" y="1628771"/>
                </a:lnTo>
                <a:lnTo>
                  <a:pt x="2302954" y="1628776"/>
                </a:lnTo>
                <a:lnTo>
                  <a:pt x="49717" y="1628776"/>
                </a:lnTo>
                <a:lnTo>
                  <a:pt x="9902" y="1609547"/>
                </a:lnTo>
                <a:lnTo>
                  <a:pt x="3784" y="1598082"/>
                </a:lnTo>
                <a:lnTo>
                  <a:pt x="1259" y="1591990"/>
                </a:lnTo>
                <a:lnTo>
                  <a:pt x="0" y="1585650"/>
                </a:lnTo>
                <a:lnTo>
                  <a:pt x="0" y="1579057"/>
                </a:lnTo>
                <a:close/>
              </a:path>
            </a:pathLst>
          </a:custGeom>
          <a:ln w="19050">
            <a:solidFill>
              <a:srgbClr val="DFB7BB"/>
            </a:solidFill>
          </a:ln>
        </p:spPr>
        <p:txBody>
          <a:bodyPr wrap="square" lIns="0" tIns="0" rIns="0" bIns="0" rtlCol="0"/>
          <a:lstStyle/>
          <a:p>
            <a:endParaRPr/>
          </a:p>
        </p:txBody>
      </p:sp>
      <p:sp>
        <p:nvSpPr>
          <p:cNvPr id="10" name="object 10"/>
          <p:cNvSpPr txBox="1"/>
          <p:nvPr/>
        </p:nvSpPr>
        <p:spPr>
          <a:xfrm>
            <a:off x="767902" y="4231830"/>
            <a:ext cx="1871980" cy="977265"/>
          </a:xfrm>
          <a:prstGeom prst="rect">
            <a:avLst/>
          </a:prstGeom>
        </p:spPr>
        <p:txBody>
          <a:bodyPr vert="horz" wrap="square" lIns="0" tIns="12700" rIns="0" bIns="0" rtlCol="0">
            <a:spAutoFit/>
          </a:bodyPr>
          <a:lstStyle/>
          <a:p>
            <a:pPr marL="12700">
              <a:lnSpc>
                <a:spcPct val="100000"/>
              </a:lnSpc>
              <a:spcBef>
                <a:spcPts val="100"/>
              </a:spcBef>
            </a:pPr>
            <a:r>
              <a:rPr sz="1750" b="1" spc="-130" dirty="0">
                <a:solidFill>
                  <a:srgbClr val="3A3535"/>
                </a:solidFill>
                <a:latin typeface="Verdana"/>
                <a:cs typeface="Verdana"/>
              </a:rPr>
              <a:t>R</a:t>
            </a:r>
            <a:r>
              <a:rPr sz="1750" b="1" spc="-215" dirty="0">
                <a:solidFill>
                  <a:srgbClr val="3A3535"/>
                </a:solidFill>
                <a:latin typeface="Verdana"/>
                <a:cs typeface="Verdana"/>
              </a:rPr>
              <a:t> </a:t>
            </a:r>
            <a:r>
              <a:rPr sz="1750" b="1" spc="-25" dirty="0">
                <a:solidFill>
                  <a:srgbClr val="3A3535"/>
                </a:solidFill>
                <a:latin typeface="Verdana"/>
                <a:cs typeface="Verdana"/>
              </a:rPr>
              <a:t>Integration</a:t>
            </a:r>
            <a:endParaRPr sz="1750">
              <a:latin typeface="Verdana"/>
              <a:cs typeface="Verdana"/>
            </a:endParaRPr>
          </a:p>
          <a:p>
            <a:pPr marL="12700" marR="5080">
              <a:lnSpc>
                <a:spcPct val="134600"/>
              </a:lnSpc>
              <a:spcBef>
                <a:spcPts val="1185"/>
              </a:spcBef>
            </a:pPr>
            <a:r>
              <a:rPr sz="1300" spc="-10" dirty="0">
                <a:solidFill>
                  <a:srgbClr val="3A3535"/>
                </a:solidFill>
                <a:latin typeface="Century Gothic"/>
                <a:cs typeface="Century Gothic"/>
              </a:rPr>
              <a:t>Advanced</a:t>
            </a:r>
            <a:r>
              <a:rPr sz="1300" spc="-65" dirty="0">
                <a:solidFill>
                  <a:srgbClr val="3A3535"/>
                </a:solidFill>
                <a:latin typeface="Century Gothic"/>
                <a:cs typeface="Century Gothic"/>
              </a:rPr>
              <a:t> </a:t>
            </a:r>
            <a:r>
              <a:rPr sz="1300" spc="50" dirty="0">
                <a:solidFill>
                  <a:srgbClr val="3A3535"/>
                </a:solidFill>
                <a:latin typeface="Century Gothic"/>
                <a:cs typeface="Century Gothic"/>
              </a:rPr>
              <a:t>analysis</a:t>
            </a:r>
            <a:r>
              <a:rPr sz="1300" spc="-65" dirty="0">
                <a:solidFill>
                  <a:srgbClr val="3A3535"/>
                </a:solidFill>
                <a:latin typeface="Century Gothic"/>
                <a:cs typeface="Century Gothic"/>
              </a:rPr>
              <a:t> </a:t>
            </a:r>
            <a:r>
              <a:rPr sz="1300" spc="110" dirty="0">
                <a:solidFill>
                  <a:srgbClr val="3A3535"/>
                </a:solidFill>
                <a:latin typeface="Century Gothic"/>
                <a:cs typeface="Century Gothic"/>
              </a:rPr>
              <a:t>in-</a:t>
            </a:r>
            <a:r>
              <a:rPr sz="1300" spc="40" dirty="0">
                <a:solidFill>
                  <a:srgbClr val="3A3535"/>
                </a:solidFill>
                <a:latin typeface="Century Gothic"/>
                <a:cs typeface="Century Gothic"/>
              </a:rPr>
              <a:t>platform</a:t>
            </a:r>
            <a:endParaRPr sz="1300">
              <a:latin typeface="Century Gothic"/>
              <a:cs typeface="Century Gothic"/>
            </a:endParaRPr>
          </a:p>
        </p:txBody>
      </p:sp>
      <p:sp>
        <p:nvSpPr>
          <p:cNvPr id="11" name="object 11"/>
          <p:cNvSpPr/>
          <p:nvPr/>
        </p:nvSpPr>
        <p:spPr>
          <a:xfrm>
            <a:off x="3143250" y="4076700"/>
            <a:ext cx="2352675" cy="1628775"/>
          </a:xfrm>
          <a:custGeom>
            <a:avLst/>
            <a:gdLst/>
            <a:ahLst/>
            <a:cxnLst/>
            <a:rect l="l" t="t" r="r" b="b"/>
            <a:pathLst>
              <a:path w="2352675" h="1628775">
                <a:moveTo>
                  <a:pt x="0" y="1579057"/>
                </a:moveTo>
                <a:lnTo>
                  <a:pt x="0" y="49720"/>
                </a:lnTo>
                <a:lnTo>
                  <a:pt x="0" y="43129"/>
                </a:lnTo>
                <a:lnTo>
                  <a:pt x="1257" y="36779"/>
                </a:lnTo>
                <a:lnTo>
                  <a:pt x="3784" y="30683"/>
                </a:lnTo>
                <a:lnTo>
                  <a:pt x="6299" y="24599"/>
                </a:lnTo>
                <a:lnTo>
                  <a:pt x="9893" y="19227"/>
                </a:lnTo>
                <a:lnTo>
                  <a:pt x="14554" y="14566"/>
                </a:lnTo>
                <a:lnTo>
                  <a:pt x="19227" y="9893"/>
                </a:lnTo>
                <a:lnTo>
                  <a:pt x="24599" y="6311"/>
                </a:lnTo>
                <a:lnTo>
                  <a:pt x="30695" y="3784"/>
                </a:lnTo>
                <a:lnTo>
                  <a:pt x="36779" y="1257"/>
                </a:lnTo>
                <a:lnTo>
                  <a:pt x="43129" y="0"/>
                </a:lnTo>
                <a:lnTo>
                  <a:pt x="49720" y="0"/>
                </a:lnTo>
                <a:lnTo>
                  <a:pt x="2302954" y="0"/>
                </a:lnTo>
                <a:lnTo>
                  <a:pt x="2309545" y="0"/>
                </a:lnTo>
                <a:lnTo>
                  <a:pt x="2315895" y="1257"/>
                </a:lnTo>
                <a:lnTo>
                  <a:pt x="2321979" y="3784"/>
                </a:lnTo>
                <a:lnTo>
                  <a:pt x="2328075" y="6311"/>
                </a:lnTo>
                <a:lnTo>
                  <a:pt x="2351405" y="36779"/>
                </a:lnTo>
                <a:lnTo>
                  <a:pt x="2352675" y="43129"/>
                </a:lnTo>
                <a:lnTo>
                  <a:pt x="2352675" y="49720"/>
                </a:lnTo>
                <a:lnTo>
                  <a:pt x="2352675" y="1579057"/>
                </a:lnTo>
                <a:lnTo>
                  <a:pt x="2352675" y="1585650"/>
                </a:lnTo>
                <a:lnTo>
                  <a:pt x="2351405" y="1591990"/>
                </a:lnTo>
                <a:lnTo>
                  <a:pt x="2328075" y="1622465"/>
                </a:lnTo>
                <a:lnTo>
                  <a:pt x="2321979" y="1624990"/>
                </a:lnTo>
                <a:lnTo>
                  <a:pt x="2315895" y="1627511"/>
                </a:lnTo>
                <a:lnTo>
                  <a:pt x="2309545" y="1628771"/>
                </a:lnTo>
                <a:lnTo>
                  <a:pt x="2302954" y="1628776"/>
                </a:lnTo>
                <a:lnTo>
                  <a:pt x="49720" y="1628776"/>
                </a:lnTo>
                <a:lnTo>
                  <a:pt x="43129" y="1628771"/>
                </a:lnTo>
                <a:lnTo>
                  <a:pt x="36779" y="1627511"/>
                </a:lnTo>
                <a:lnTo>
                  <a:pt x="30695" y="1624990"/>
                </a:lnTo>
                <a:lnTo>
                  <a:pt x="24599" y="1622465"/>
                </a:lnTo>
                <a:lnTo>
                  <a:pt x="3784" y="1598082"/>
                </a:lnTo>
                <a:lnTo>
                  <a:pt x="1257" y="1591990"/>
                </a:lnTo>
                <a:lnTo>
                  <a:pt x="0" y="1585650"/>
                </a:lnTo>
                <a:lnTo>
                  <a:pt x="0" y="1579057"/>
                </a:lnTo>
                <a:close/>
              </a:path>
            </a:pathLst>
          </a:custGeom>
          <a:ln w="19050">
            <a:solidFill>
              <a:srgbClr val="DFB7BB"/>
            </a:solidFill>
          </a:ln>
        </p:spPr>
        <p:txBody>
          <a:bodyPr wrap="square" lIns="0" tIns="0" rIns="0" bIns="0" rtlCol="0"/>
          <a:lstStyle/>
          <a:p>
            <a:endParaRPr/>
          </a:p>
        </p:txBody>
      </p:sp>
      <p:sp>
        <p:nvSpPr>
          <p:cNvPr id="12" name="object 12"/>
          <p:cNvSpPr txBox="1"/>
          <p:nvPr/>
        </p:nvSpPr>
        <p:spPr>
          <a:xfrm>
            <a:off x="3310635" y="4231830"/>
            <a:ext cx="1744980" cy="1253490"/>
          </a:xfrm>
          <a:prstGeom prst="rect">
            <a:avLst/>
          </a:prstGeom>
        </p:spPr>
        <p:txBody>
          <a:bodyPr vert="horz" wrap="square" lIns="0" tIns="3175" rIns="0" bIns="0" rtlCol="0">
            <a:spAutoFit/>
          </a:bodyPr>
          <a:lstStyle/>
          <a:p>
            <a:pPr marL="12700" marR="676910">
              <a:lnSpc>
                <a:spcPct val="103600"/>
              </a:lnSpc>
              <a:spcBef>
                <a:spcPts val="25"/>
              </a:spcBef>
            </a:pPr>
            <a:r>
              <a:rPr sz="1750" b="1" spc="-10" dirty="0">
                <a:solidFill>
                  <a:srgbClr val="3A3535"/>
                </a:solidFill>
                <a:latin typeface="Verdana"/>
                <a:cs typeface="Verdana"/>
              </a:rPr>
              <a:t>Custom </a:t>
            </a:r>
            <a:r>
              <a:rPr sz="1750" b="1" spc="-120" dirty="0">
                <a:solidFill>
                  <a:srgbClr val="3A3535"/>
                </a:solidFill>
                <a:latin typeface="Verdana"/>
                <a:cs typeface="Verdana"/>
              </a:rPr>
              <a:t>Formulas</a:t>
            </a:r>
            <a:endParaRPr sz="1750">
              <a:latin typeface="Verdana"/>
              <a:cs typeface="Verdana"/>
            </a:endParaRPr>
          </a:p>
          <a:p>
            <a:pPr marL="12700" marR="5080">
              <a:lnSpc>
                <a:spcPct val="134600"/>
              </a:lnSpc>
              <a:spcBef>
                <a:spcPts val="1185"/>
              </a:spcBef>
            </a:pPr>
            <a:r>
              <a:rPr sz="1300" spc="90" dirty="0">
                <a:solidFill>
                  <a:srgbClr val="3A3535"/>
                </a:solidFill>
                <a:latin typeface="Century Gothic"/>
                <a:cs typeface="Century Gothic"/>
              </a:rPr>
              <a:t>Scoring</a:t>
            </a:r>
            <a:r>
              <a:rPr sz="1300" spc="-5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50" dirty="0">
                <a:solidFill>
                  <a:srgbClr val="3A3535"/>
                </a:solidFill>
                <a:latin typeface="Century Gothic"/>
                <a:cs typeface="Century Gothic"/>
              </a:rPr>
              <a:t> </a:t>
            </a:r>
            <a:r>
              <a:rPr sz="1300" spc="-10" dirty="0">
                <a:solidFill>
                  <a:srgbClr val="3A3535"/>
                </a:solidFill>
                <a:latin typeface="Century Gothic"/>
                <a:cs typeface="Century Gothic"/>
              </a:rPr>
              <a:t>derived values</a:t>
            </a:r>
            <a:endParaRPr sz="1300">
              <a:latin typeface="Century Gothic"/>
              <a:cs typeface="Century Gothic"/>
            </a:endParaRPr>
          </a:p>
        </p:txBody>
      </p:sp>
      <p:sp>
        <p:nvSpPr>
          <p:cNvPr id="13" name="object 13"/>
          <p:cNvSpPr/>
          <p:nvPr/>
        </p:nvSpPr>
        <p:spPr>
          <a:xfrm>
            <a:off x="5810250" y="1895474"/>
            <a:ext cx="5162550" cy="4010025"/>
          </a:xfrm>
          <a:custGeom>
            <a:avLst/>
            <a:gdLst/>
            <a:ahLst/>
            <a:cxnLst/>
            <a:rect l="l" t="t" r="r" b="b"/>
            <a:pathLst>
              <a:path w="5162550" h="4010025">
                <a:moveTo>
                  <a:pt x="5067655" y="0"/>
                </a:moveTo>
                <a:lnTo>
                  <a:pt x="94894" y="0"/>
                </a:lnTo>
                <a:lnTo>
                  <a:pt x="88290" y="647"/>
                </a:lnTo>
                <a:lnTo>
                  <a:pt x="50685" y="13411"/>
                </a:lnTo>
                <a:lnTo>
                  <a:pt x="20815" y="39585"/>
                </a:lnTo>
                <a:lnTo>
                  <a:pt x="3251" y="75209"/>
                </a:lnTo>
                <a:lnTo>
                  <a:pt x="0" y="94894"/>
                </a:lnTo>
                <a:lnTo>
                  <a:pt x="0" y="3908465"/>
                </a:lnTo>
                <a:lnTo>
                  <a:pt x="0" y="3915133"/>
                </a:lnTo>
                <a:lnTo>
                  <a:pt x="10287" y="3953491"/>
                </a:lnTo>
                <a:lnTo>
                  <a:pt x="34467" y="3984993"/>
                </a:lnTo>
                <a:lnTo>
                  <a:pt x="68846" y="4004847"/>
                </a:lnTo>
                <a:lnTo>
                  <a:pt x="94894" y="4010026"/>
                </a:lnTo>
                <a:lnTo>
                  <a:pt x="5067655" y="4010026"/>
                </a:lnTo>
                <a:lnTo>
                  <a:pt x="5106009" y="3999741"/>
                </a:lnTo>
                <a:lnTo>
                  <a:pt x="5137518" y="3975562"/>
                </a:lnTo>
                <a:lnTo>
                  <a:pt x="5157368" y="3941168"/>
                </a:lnTo>
                <a:lnTo>
                  <a:pt x="5162550" y="3915133"/>
                </a:lnTo>
                <a:lnTo>
                  <a:pt x="5162550" y="94894"/>
                </a:lnTo>
                <a:lnTo>
                  <a:pt x="5152263" y="56527"/>
                </a:lnTo>
                <a:lnTo>
                  <a:pt x="5128082" y="25031"/>
                </a:lnTo>
                <a:lnTo>
                  <a:pt x="5093690" y="5181"/>
                </a:lnTo>
                <a:lnTo>
                  <a:pt x="5074259" y="647"/>
                </a:lnTo>
                <a:lnTo>
                  <a:pt x="5067655" y="0"/>
                </a:lnTo>
                <a:close/>
              </a:path>
            </a:pathLst>
          </a:custGeom>
          <a:solidFill>
            <a:srgbClr val="F9D2D6"/>
          </a:solidFill>
        </p:spPr>
        <p:txBody>
          <a:bodyPr wrap="square" lIns="0" tIns="0" rIns="0" bIns="0" rtlCol="0"/>
          <a:lstStyle/>
          <a:p>
            <a:endParaRPr/>
          </a:p>
        </p:txBody>
      </p:sp>
      <p:sp>
        <p:nvSpPr>
          <p:cNvPr id="14" name="object 14"/>
          <p:cNvSpPr txBox="1"/>
          <p:nvPr/>
        </p:nvSpPr>
        <p:spPr>
          <a:xfrm>
            <a:off x="5965571" y="2041080"/>
            <a:ext cx="4077335" cy="710565"/>
          </a:xfrm>
          <a:prstGeom prst="rect">
            <a:avLst/>
          </a:prstGeom>
        </p:spPr>
        <p:txBody>
          <a:bodyPr vert="horz" wrap="square" lIns="0" tIns="12700" rIns="0" bIns="0" rtlCol="0">
            <a:spAutoFit/>
          </a:bodyPr>
          <a:lstStyle/>
          <a:p>
            <a:pPr marL="12700">
              <a:lnSpc>
                <a:spcPct val="100000"/>
              </a:lnSpc>
              <a:spcBef>
                <a:spcPts val="100"/>
              </a:spcBef>
            </a:pPr>
            <a:r>
              <a:rPr sz="1750" b="1" spc="-170" dirty="0">
                <a:solidFill>
                  <a:srgbClr val="1F1E1E"/>
                </a:solidFill>
                <a:latin typeface="Verdana"/>
                <a:cs typeface="Verdana"/>
              </a:rPr>
              <a:t>3</a:t>
            </a:r>
            <a:r>
              <a:rPr sz="1750" b="1" spc="-195" dirty="0">
                <a:solidFill>
                  <a:srgbClr val="1F1E1E"/>
                </a:solidFill>
                <a:latin typeface="Verdana"/>
                <a:cs typeface="Verdana"/>
              </a:rPr>
              <a:t> </a:t>
            </a:r>
            <a:r>
              <a:rPr sz="1750" b="1" spc="-114" dirty="0">
                <a:solidFill>
                  <a:srgbClr val="1F1E1E"/>
                </a:solidFill>
                <a:latin typeface="Verdana"/>
                <a:cs typeface="Verdana"/>
              </a:rPr>
              <a:t>Featured</a:t>
            </a:r>
            <a:r>
              <a:rPr sz="1750" b="1" spc="-190" dirty="0">
                <a:solidFill>
                  <a:srgbClr val="1F1E1E"/>
                </a:solidFill>
                <a:latin typeface="Verdana"/>
                <a:cs typeface="Verdana"/>
              </a:rPr>
              <a:t> </a:t>
            </a:r>
            <a:r>
              <a:rPr sz="1750" b="1" spc="-10" dirty="0">
                <a:solidFill>
                  <a:srgbClr val="1F1E1E"/>
                </a:solidFill>
                <a:latin typeface="Verdana"/>
                <a:cs typeface="Verdana"/>
              </a:rPr>
              <a:t>Plugins</a:t>
            </a:r>
            <a:endParaRPr sz="1750" dirty="0">
              <a:latin typeface="Verdana"/>
              <a:cs typeface="Verdana"/>
            </a:endParaRPr>
          </a:p>
          <a:p>
            <a:pPr marL="12700">
              <a:lnSpc>
                <a:spcPct val="100000"/>
              </a:lnSpc>
              <a:spcBef>
                <a:spcPts val="1725"/>
              </a:spcBef>
            </a:pPr>
            <a:r>
              <a:rPr sz="1300" b="1" spc="-45" dirty="0">
                <a:solidFill>
                  <a:srgbClr val="3A3535"/>
                </a:solidFill>
                <a:latin typeface="Verdana"/>
                <a:cs typeface="Verdana"/>
              </a:rPr>
              <a:t>SurveyJS</a:t>
            </a:r>
            <a:r>
              <a:rPr sz="1300" b="1" spc="-110" dirty="0">
                <a:solidFill>
                  <a:srgbClr val="3A3535"/>
                </a:solidFill>
                <a:latin typeface="Verdana"/>
                <a:cs typeface="Verdana"/>
              </a:rPr>
              <a:t> </a:t>
            </a:r>
            <a:r>
              <a:rPr sz="1300" spc="-125" dirty="0">
                <a:solidFill>
                  <a:srgbClr val="3A3535"/>
                </a:solidFill>
                <a:latin typeface="Century Gothic"/>
                <a:cs typeface="Century Gothic"/>
              </a:rPr>
              <a:t>—</a:t>
            </a:r>
            <a:r>
              <a:rPr sz="1300" spc="-20" dirty="0">
                <a:solidFill>
                  <a:srgbClr val="3A3535"/>
                </a:solidFill>
                <a:latin typeface="Century Gothic"/>
                <a:cs typeface="Century Gothic"/>
              </a:rPr>
              <a:t> </a:t>
            </a:r>
            <a:r>
              <a:rPr sz="1300" spc="70" dirty="0">
                <a:solidFill>
                  <a:srgbClr val="3A3535"/>
                </a:solidFill>
                <a:latin typeface="Century Gothic"/>
                <a:cs typeface="Century Gothic"/>
              </a:rPr>
              <a:t>structured</a:t>
            </a:r>
            <a:r>
              <a:rPr sz="1300" spc="-20" dirty="0">
                <a:solidFill>
                  <a:srgbClr val="3A3535"/>
                </a:solidFill>
                <a:latin typeface="Century Gothic"/>
                <a:cs typeface="Century Gothic"/>
              </a:rPr>
              <a:t> </a:t>
            </a:r>
            <a:r>
              <a:rPr sz="1300" spc="55" dirty="0">
                <a:solidFill>
                  <a:srgbClr val="3A3535"/>
                </a:solidFill>
                <a:latin typeface="Century Gothic"/>
                <a:cs typeface="Century Gothic"/>
              </a:rPr>
              <a:t>longitudinal</a:t>
            </a:r>
            <a:r>
              <a:rPr sz="1300" spc="-25" dirty="0">
                <a:solidFill>
                  <a:srgbClr val="3A3535"/>
                </a:solidFill>
                <a:latin typeface="Century Gothic"/>
                <a:cs typeface="Century Gothic"/>
              </a:rPr>
              <a:t> </a:t>
            </a:r>
            <a:r>
              <a:rPr sz="1300" spc="70" dirty="0">
                <a:solidFill>
                  <a:srgbClr val="3A3535"/>
                </a:solidFill>
                <a:latin typeface="Century Gothic"/>
                <a:cs typeface="Century Gothic"/>
              </a:rPr>
              <a:t>assessment</a:t>
            </a:r>
            <a:endParaRPr sz="1300" dirty="0">
              <a:latin typeface="Century Gothic"/>
              <a:cs typeface="Century Gothic"/>
            </a:endParaRPr>
          </a:p>
        </p:txBody>
      </p:sp>
      <p:sp>
        <p:nvSpPr>
          <p:cNvPr id="15" name="object 15"/>
          <p:cNvSpPr txBox="1"/>
          <p:nvPr/>
        </p:nvSpPr>
        <p:spPr>
          <a:xfrm>
            <a:off x="5965571" y="2942247"/>
            <a:ext cx="2603500" cy="228600"/>
          </a:xfrm>
          <a:prstGeom prst="rect">
            <a:avLst/>
          </a:prstGeom>
        </p:spPr>
        <p:txBody>
          <a:bodyPr vert="horz" wrap="square" lIns="0" tIns="16510" rIns="0" bIns="0" rtlCol="0">
            <a:spAutoFit/>
          </a:bodyPr>
          <a:lstStyle/>
          <a:p>
            <a:pPr marL="12700">
              <a:lnSpc>
                <a:spcPct val="100000"/>
              </a:lnSpc>
              <a:spcBef>
                <a:spcPts val="130"/>
              </a:spcBef>
            </a:pPr>
            <a:r>
              <a:rPr sz="1300" b="1" spc="-45" dirty="0">
                <a:solidFill>
                  <a:srgbClr val="3A3535"/>
                </a:solidFill>
                <a:latin typeface="Verdana"/>
                <a:cs typeface="Verdana"/>
              </a:rPr>
              <a:t>LLM</a:t>
            </a:r>
            <a:r>
              <a:rPr sz="1300" b="1" spc="-120" dirty="0">
                <a:solidFill>
                  <a:srgbClr val="3A3535"/>
                </a:solidFill>
                <a:latin typeface="Verdana"/>
                <a:cs typeface="Verdana"/>
              </a:rPr>
              <a:t> </a:t>
            </a:r>
            <a:r>
              <a:rPr sz="1300" spc="-125" dirty="0">
                <a:solidFill>
                  <a:srgbClr val="3A3535"/>
                </a:solidFill>
                <a:latin typeface="Century Gothic"/>
                <a:cs typeface="Century Gothic"/>
              </a:rPr>
              <a:t>—</a:t>
            </a:r>
            <a:r>
              <a:rPr sz="1300" spc="-30" dirty="0">
                <a:solidFill>
                  <a:srgbClr val="3A3535"/>
                </a:solidFill>
                <a:latin typeface="Century Gothic"/>
                <a:cs typeface="Century Gothic"/>
              </a:rPr>
              <a:t> </a:t>
            </a:r>
            <a:r>
              <a:rPr sz="1300" spc="50" dirty="0">
                <a:solidFill>
                  <a:srgbClr val="3A3535"/>
                </a:solidFill>
                <a:latin typeface="Century Gothic"/>
                <a:cs typeface="Century Gothic"/>
              </a:rPr>
              <a:t>controlled</a:t>
            </a:r>
            <a:r>
              <a:rPr sz="1300" spc="-30" dirty="0">
                <a:solidFill>
                  <a:srgbClr val="3A3535"/>
                </a:solidFill>
                <a:latin typeface="Century Gothic"/>
                <a:cs typeface="Century Gothic"/>
              </a:rPr>
              <a:t> </a:t>
            </a:r>
            <a:r>
              <a:rPr sz="1300" spc="65" dirty="0">
                <a:solidFill>
                  <a:srgbClr val="3A3535"/>
                </a:solidFill>
                <a:latin typeface="Century Gothic"/>
                <a:cs typeface="Century Gothic"/>
              </a:rPr>
              <a:t>AI</a:t>
            </a:r>
            <a:r>
              <a:rPr sz="1300" spc="-35" dirty="0">
                <a:solidFill>
                  <a:srgbClr val="3A3535"/>
                </a:solidFill>
                <a:latin typeface="Century Gothic"/>
                <a:cs typeface="Century Gothic"/>
              </a:rPr>
              <a:t> </a:t>
            </a:r>
            <a:r>
              <a:rPr sz="1300" spc="85" dirty="0">
                <a:solidFill>
                  <a:srgbClr val="3A3535"/>
                </a:solidFill>
                <a:latin typeface="Century Gothic"/>
                <a:cs typeface="Century Gothic"/>
              </a:rPr>
              <a:t>assistants</a:t>
            </a:r>
            <a:endParaRPr sz="1300">
              <a:latin typeface="Century Gothic"/>
              <a:cs typeface="Century Gothic"/>
            </a:endParaRPr>
          </a:p>
        </p:txBody>
      </p:sp>
      <p:sp>
        <p:nvSpPr>
          <p:cNvPr id="16" name="object 16"/>
          <p:cNvSpPr txBox="1"/>
          <p:nvPr/>
        </p:nvSpPr>
        <p:spPr>
          <a:xfrm>
            <a:off x="5965571" y="3361347"/>
            <a:ext cx="4125595" cy="228600"/>
          </a:xfrm>
          <a:prstGeom prst="rect">
            <a:avLst/>
          </a:prstGeom>
        </p:spPr>
        <p:txBody>
          <a:bodyPr vert="horz" wrap="square" lIns="0" tIns="16510" rIns="0" bIns="0" rtlCol="0">
            <a:spAutoFit/>
          </a:bodyPr>
          <a:lstStyle/>
          <a:p>
            <a:pPr marL="12700">
              <a:lnSpc>
                <a:spcPct val="100000"/>
              </a:lnSpc>
              <a:spcBef>
                <a:spcPts val="130"/>
              </a:spcBef>
            </a:pPr>
            <a:r>
              <a:rPr sz="1300" b="1" spc="-45" dirty="0">
                <a:solidFill>
                  <a:srgbClr val="3A3535"/>
                </a:solidFill>
                <a:latin typeface="Verdana"/>
                <a:cs typeface="Verdana"/>
              </a:rPr>
              <a:t>LLM</a:t>
            </a:r>
            <a:r>
              <a:rPr sz="1300" b="1" spc="-150" dirty="0">
                <a:solidFill>
                  <a:srgbClr val="3A3535"/>
                </a:solidFill>
                <a:latin typeface="Verdana"/>
                <a:cs typeface="Verdana"/>
              </a:rPr>
              <a:t> </a:t>
            </a:r>
            <a:r>
              <a:rPr sz="1300" b="1" spc="-70" dirty="0">
                <a:solidFill>
                  <a:srgbClr val="3A3535"/>
                </a:solidFill>
                <a:latin typeface="Verdana"/>
                <a:cs typeface="Verdana"/>
              </a:rPr>
              <a:t>Therapy</a:t>
            </a:r>
            <a:r>
              <a:rPr sz="1300" b="1" spc="-145" dirty="0">
                <a:solidFill>
                  <a:srgbClr val="3A3535"/>
                </a:solidFill>
                <a:latin typeface="Verdana"/>
                <a:cs typeface="Verdana"/>
              </a:rPr>
              <a:t> </a:t>
            </a:r>
            <a:r>
              <a:rPr sz="1300" b="1" spc="-10" dirty="0">
                <a:solidFill>
                  <a:srgbClr val="3A3535"/>
                </a:solidFill>
                <a:latin typeface="Verdana"/>
                <a:cs typeface="Verdana"/>
              </a:rPr>
              <a:t>Chat</a:t>
            </a:r>
            <a:r>
              <a:rPr sz="1300" b="1" spc="-110" dirty="0">
                <a:solidFill>
                  <a:srgbClr val="3A3535"/>
                </a:solidFill>
                <a:latin typeface="Verdana"/>
                <a:cs typeface="Verdana"/>
              </a:rPr>
              <a:t> </a:t>
            </a:r>
            <a:r>
              <a:rPr sz="1300" spc="-125" dirty="0">
                <a:solidFill>
                  <a:srgbClr val="3A3535"/>
                </a:solidFill>
                <a:latin typeface="Century Gothic"/>
                <a:cs typeface="Century Gothic"/>
              </a:rPr>
              <a:t>—</a:t>
            </a:r>
            <a:r>
              <a:rPr sz="1300" spc="-30" dirty="0">
                <a:solidFill>
                  <a:srgbClr val="3A3535"/>
                </a:solidFill>
                <a:latin typeface="Century Gothic"/>
                <a:cs typeface="Century Gothic"/>
              </a:rPr>
              <a:t> </a:t>
            </a:r>
            <a:r>
              <a:rPr sz="1300" spc="70" dirty="0">
                <a:solidFill>
                  <a:srgbClr val="3A3535"/>
                </a:solidFill>
                <a:latin typeface="Century Gothic"/>
                <a:cs typeface="Century Gothic"/>
              </a:rPr>
              <a:t>supervised</a:t>
            </a:r>
            <a:r>
              <a:rPr sz="1300" spc="-30" dirty="0">
                <a:solidFill>
                  <a:srgbClr val="3A3535"/>
                </a:solidFill>
                <a:latin typeface="Century Gothic"/>
                <a:cs typeface="Century Gothic"/>
              </a:rPr>
              <a:t> </a:t>
            </a:r>
            <a:r>
              <a:rPr sz="1300" spc="-10" dirty="0">
                <a:solidFill>
                  <a:srgbClr val="3A3535"/>
                </a:solidFill>
                <a:latin typeface="Century Gothic"/>
                <a:cs typeface="Century Gothic"/>
              </a:rPr>
              <a:t>communication</a:t>
            </a:r>
            <a:endParaRPr sz="1300">
              <a:latin typeface="Century Gothic"/>
              <a:cs typeface="Century Gothic"/>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289560" rIns="0" bIns="0" rtlCol="0">
            <a:spAutoFit/>
          </a:bodyPr>
          <a:lstStyle/>
          <a:p>
            <a:pPr marL="12700">
              <a:lnSpc>
                <a:spcPct val="100000"/>
              </a:lnSpc>
              <a:spcBef>
                <a:spcPts val="105"/>
              </a:spcBef>
            </a:pPr>
            <a:r>
              <a:rPr spc="-175" dirty="0"/>
              <a:t>Plugin</a:t>
            </a:r>
            <a:r>
              <a:rPr spc="-409" dirty="0"/>
              <a:t> </a:t>
            </a:r>
            <a:r>
              <a:rPr spc="-745" dirty="0"/>
              <a:t>1:</a:t>
            </a:r>
            <a:r>
              <a:rPr spc="-405" dirty="0"/>
              <a:t> </a:t>
            </a:r>
            <a:r>
              <a:rPr spc="-140" dirty="0"/>
              <a:t>SurveyJS</a:t>
            </a:r>
          </a:p>
        </p:txBody>
      </p:sp>
      <p:sp>
        <p:nvSpPr>
          <p:cNvPr id="3" name="object 3"/>
          <p:cNvSpPr/>
          <p:nvPr/>
        </p:nvSpPr>
        <p:spPr>
          <a:xfrm>
            <a:off x="628650" y="2857500"/>
            <a:ext cx="57150" cy="57150"/>
          </a:xfrm>
          <a:custGeom>
            <a:avLst/>
            <a:gdLst/>
            <a:ahLst/>
            <a:cxnLst/>
            <a:rect l="l" t="t" r="r" b="b"/>
            <a:pathLst>
              <a:path w="57150" h="57150">
                <a:moveTo>
                  <a:pt x="32364" y="0"/>
                </a:moveTo>
                <a:lnTo>
                  <a:pt x="24785" y="0"/>
                </a:lnTo>
                <a:lnTo>
                  <a:pt x="21139" y="723"/>
                </a:lnTo>
                <a:lnTo>
                  <a:pt x="0" y="24790"/>
                </a:lnTo>
                <a:lnTo>
                  <a:pt x="0" y="32359"/>
                </a:lnTo>
                <a:lnTo>
                  <a:pt x="24785" y="57150"/>
                </a:lnTo>
                <a:lnTo>
                  <a:pt x="32364" y="57150"/>
                </a:lnTo>
                <a:lnTo>
                  <a:pt x="57150" y="32359"/>
                </a:lnTo>
                <a:lnTo>
                  <a:pt x="57150" y="28575"/>
                </a:lnTo>
                <a:lnTo>
                  <a:pt x="57150" y="24790"/>
                </a:lnTo>
                <a:lnTo>
                  <a:pt x="36010" y="723"/>
                </a:lnTo>
                <a:lnTo>
                  <a:pt x="32364" y="0"/>
                </a:lnTo>
                <a:close/>
              </a:path>
            </a:pathLst>
          </a:custGeom>
          <a:solidFill>
            <a:srgbClr val="3A3535"/>
          </a:solidFill>
        </p:spPr>
        <p:txBody>
          <a:bodyPr wrap="square" lIns="0" tIns="0" rIns="0" bIns="0" rtlCol="0"/>
          <a:lstStyle/>
          <a:p>
            <a:endParaRPr/>
          </a:p>
        </p:txBody>
      </p:sp>
      <p:sp>
        <p:nvSpPr>
          <p:cNvPr id="4" name="object 4"/>
          <p:cNvSpPr/>
          <p:nvPr/>
        </p:nvSpPr>
        <p:spPr>
          <a:xfrm>
            <a:off x="628650" y="3181350"/>
            <a:ext cx="57150" cy="57150"/>
          </a:xfrm>
          <a:custGeom>
            <a:avLst/>
            <a:gdLst/>
            <a:ahLst/>
            <a:cxnLst/>
            <a:rect l="l" t="t" r="r" b="b"/>
            <a:pathLst>
              <a:path w="57150" h="57150">
                <a:moveTo>
                  <a:pt x="32364" y="0"/>
                </a:moveTo>
                <a:lnTo>
                  <a:pt x="24785" y="0"/>
                </a:lnTo>
                <a:lnTo>
                  <a:pt x="21139" y="723"/>
                </a:lnTo>
                <a:lnTo>
                  <a:pt x="0" y="24790"/>
                </a:lnTo>
                <a:lnTo>
                  <a:pt x="0" y="32359"/>
                </a:lnTo>
                <a:lnTo>
                  <a:pt x="24785" y="57150"/>
                </a:lnTo>
                <a:lnTo>
                  <a:pt x="32364" y="57150"/>
                </a:lnTo>
                <a:lnTo>
                  <a:pt x="57150" y="32359"/>
                </a:lnTo>
                <a:lnTo>
                  <a:pt x="57150" y="28575"/>
                </a:lnTo>
                <a:lnTo>
                  <a:pt x="57150" y="24790"/>
                </a:lnTo>
                <a:lnTo>
                  <a:pt x="36010" y="723"/>
                </a:lnTo>
                <a:lnTo>
                  <a:pt x="32364" y="0"/>
                </a:lnTo>
                <a:close/>
              </a:path>
            </a:pathLst>
          </a:custGeom>
          <a:solidFill>
            <a:srgbClr val="3A3535"/>
          </a:solidFill>
        </p:spPr>
        <p:txBody>
          <a:bodyPr wrap="square" lIns="0" tIns="0" rIns="0" bIns="0" rtlCol="0"/>
          <a:lstStyle/>
          <a:p>
            <a:endParaRPr/>
          </a:p>
        </p:txBody>
      </p:sp>
      <p:sp>
        <p:nvSpPr>
          <p:cNvPr id="5" name="object 5"/>
          <p:cNvSpPr/>
          <p:nvPr/>
        </p:nvSpPr>
        <p:spPr>
          <a:xfrm>
            <a:off x="628650" y="3514725"/>
            <a:ext cx="57150" cy="57150"/>
          </a:xfrm>
          <a:custGeom>
            <a:avLst/>
            <a:gdLst/>
            <a:ahLst/>
            <a:cxnLst/>
            <a:rect l="l" t="t" r="r" b="b"/>
            <a:pathLst>
              <a:path w="57150" h="57150">
                <a:moveTo>
                  <a:pt x="32364" y="0"/>
                </a:moveTo>
                <a:lnTo>
                  <a:pt x="24785" y="0"/>
                </a:lnTo>
                <a:lnTo>
                  <a:pt x="21139" y="723"/>
                </a:lnTo>
                <a:lnTo>
                  <a:pt x="0" y="24790"/>
                </a:lnTo>
                <a:lnTo>
                  <a:pt x="0" y="32359"/>
                </a:lnTo>
                <a:lnTo>
                  <a:pt x="24785" y="57150"/>
                </a:lnTo>
                <a:lnTo>
                  <a:pt x="32364" y="57150"/>
                </a:lnTo>
                <a:lnTo>
                  <a:pt x="57150" y="32359"/>
                </a:lnTo>
                <a:lnTo>
                  <a:pt x="57150" y="28575"/>
                </a:lnTo>
                <a:lnTo>
                  <a:pt x="57150" y="24790"/>
                </a:lnTo>
                <a:lnTo>
                  <a:pt x="36010" y="723"/>
                </a:lnTo>
                <a:lnTo>
                  <a:pt x="32364" y="0"/>
                </a:lnTo>
                <a:close/>
              </a:path>
            </a:pathLst>
          </a:custGeom>
          <a:solidFill>
            <a:srgbClr val="3A3535"/>
          </a:solidFill>
        </p:spPr>
        <p:txBody>
          <a:bodyPr wrap="square" lIns="0" tIns="0" rIns="0" bIns="0" rtlCol="0"/>
          <a:lstStyle/>
          <a:p>
            <a:endParaRPr/>
          </a:p>
        </p:txBody>
      </p:sp>
      <p:sp>
        <p:nvSpPr>
          <p:cNvPr id="6" name="object 6"/>
          <p:cNvSpPr txBox="1"/>
          <p:nvPr/>
        </p:nvSpPr>
        <p:spPr>
          <a:xfrm>
            <a:off x="579635" y="1707075"/>
            <a:ext cx="4725670" cy="2197100"/>
          </a:xfrm>
          <a:prstGeom prst="rect">
            <a:avLst/>
          </a:prstGeom>
        </p:spPr>
        <p:txBody>
          <a:bodyPr vert="horz" wrap="square" lIns="0" tIns="16510" rIns="0" bIns="0" rtlCol="0">
            <a:spAutoFit/>
          </a:bodyPr>
          <a:lstStyle/>
          <a:p>
            <a:pPr marL="12700" marR="5080">
              <a:lnSpc>
                <a:spcPct val="137000"/>
              </a:lnSpc>
              <a:spcBef>
                <a:spcPts val="130"/>
              </a:spcBef>
            </a:pPr>
            <a:r>
              <a:rPr sz="1300" spc="114" dirty="0">
                <a:solidFill>
                  <a:srgbClr val="3A3535"/>
                </a:solidFill>
                <a:latin typeface="Century Gothic"/>
                <a:cs typeface="Century Gothic"/>
              </a:rPr>
              <a:t>SurveyJS</a:t>
            </a:r>
            <a:r>
              <a:rPr sz="1300" spc="-5" dirty="0">
                <a:solidFill>
                  <a:srgbClr val="3A3535"/>
                </a:solidFill>
                <a:latin typeface="Century Gothic"/>
                <a:cs typeface="Century Gothic"/>
              </a:rPr>
              <a:t> </a:t>
            </a:r>
            <a:r>
              <a:rPr sz="1300" dirty="0">
                <a:solidFill>
                  <a:srgbClr val="3A3535"/>
                </a:solidFill>
                <a:latin typeface="Century Gothic"/>
                <a:cs typeface="Century Gothic"/>
              </a:rPr>
              <a:t>moves</a:t>
            </a:r>
            <a:r>
              <a:rPr sz="1300" spc="-5" dirty="0">
                <a:solidFill>
                  <a:srgbClr val="3A3535"/>
                </a:solidFill>
                <a:latin typeface="Century Gothic"/>
                <a:cs typeface="Century Gothic"/>
              </a:rPr>
              <a:t> </a:t>
            </a:r>
            <a:r>
              <a:rPr sz="1300" dirty="0">
                <a:solidFill>
                  <a:srgbClr val="3A3535"/>
                </a:solidFill>
                <a:latin typeface="Century Gothic"/>
                <a:cs typeface="Century Gothic"/>
              </a:rPr>
              <a:t>beyond</a:t>
            </a:r>
            <a:r>
              <a:rPr sz="1300" spc="-5" dirty="0">
                <a:solidFill>
                  <a:srgbClr val="3A3535"/>
                </a:solidFill>
                <a:latin typeface="Century Gothic"/>
                <a:cs typeface="Century Gothic"/>
              </a:rPr>
              <a:t> </a:t>
            </a:r>
            <a:r>
              <a:rPr sz="1300" spc="75" dirty="0">
                <a:solidFill>
                  <a:srgbClr val="3A3535"/>
                </a:solidFill>
                <a:latin typeface="Century Gothic"/>
                <a:cs typeface="Century Gothic"/>
              </a:rPr>
              <a:t>simple</a:t>
            </a:r>
            <a:r>
              <a:rPr sz="1300" spc="-5" dirty="0">
                <a:solidFill>
                  <a:srgbClr val="3A3535"/>
                </a:solidFill>
                <a:latin typeface="Century Gothic"/>
                <a:cs typeface="Century Gothic"/>
              </a:rPr>
              <a:t> </a:t>
            </a:r>
            <a:r>
              <a:rPr sz="1300" spc="100" dirty="0">
                <a:solidFill>
                  <a:srgbClr val="3A3535"/>
                </a:solidFill>
                <a:latin typeface="Century Gothic"/>
                <a:cs typeface="Century Gothic"/>
              </a:rPr>
              <a:t>forms</a:t>
            </a:r>
            <a:r>
              <a:rPr sz="1300" dirty="0">
                <a:solidFill>
                  <a:srgbClr val="3A3535"/>
                </a:solidFill>
                <a:latin typeface="Century Gothic"/>
                <a:cs typeface="Century Gothic"/>
              </a:rPr>
              <a:t> </a:t>
            </a:r>
            <a:r>
              <a:rPr sz="1300" spc="-125" dirty="0">
                <a:solidFill>
                  <a:srgbClr val="3A3535"/>
                </a:solidFill>
                <a:latin typeface="Century Gothic"/>
                <a:cs typeface="Century Gothic"/>
              </a:rPr>
              <a:t>—</a:t>
            </a:r>
            <a:r>
              <a:rPr sz="1300" spc="-5" dirty="0">
                <a:solidFill>
                  <a:srgbClr val="3A3535"/>
                </a:solidFill>
                <a:latin typeface="Century Gothic"/>
                <a:cs typeface="Century Gothic"/>
              </a:rPr>
              <a:t> </a:t>
            </a:r>
            <a:r>
              <a:rPr sz="1300" spc="75" dirty="0">
                <a:solidFill>
                  <a:srgbClr val="3A3535"/>
                </a:solidFill>
                <a:latin typeface="Century Gothic"/>
                <a:cs typeface="Century Gothic"/>
              </a:rPr>
              <a:t>surveys</a:t>
            </a:r>
            <a:r>
              <a:rPr sz="1300" spc="-5" dirty="0">
                <a:solidFill>
                  <a:srgbClr val="3A3535"/>
                </a:solidFill>
                <a:latin typeface="Century Gothic"/>
                <a:cs typeface="Century Gothic"/>
              </a:rPr>
              <a:t> </a:t>
            </a:r>
            <a:r>
              <a:rPr sz="1300" spc="-45" dirty="0">
                <a:solidFill>
                  <a:srgbClr val="3A3535"/>
                </a:solidFill>
                <a:latin typeface="Century Gothic"/>
                <a:cs typeface="Century Gothic"/>
              </a:rPr>
              <a:t>can</a:t>
            </a:r>
            <a:r>
              <a:rPr sz="1300" spc="-5" dirty="0">
                <a:solidFill>
                  <a:srgbClr val="3A3535"/>
                </a:solidFill>
                <a:latin typeface="Century Gothic"/>
                <a:cs typeface="Century Gothic"/>
              </a:rPr>
              <a:t> </a:t>
            </a:r>
            <a:r>
              <a:rPr sz="1300" spc="-25" dirty="0">
                <a:solidFill>
                  <a:srgbClr val="3A3535"/>
                </a:solidFill>
                <a:latin typeface="Century Gothic"/>
                <a:cs typeface="Century Gothic"/>
              </a:rPr>
              <a:t>be </a:t>
            </a:r>
            <a:r>
              <a:rPr sz="1300" b="1" spc="-50" dirty="0">
                <a:solidFill>
                  <a:srgbClr val="3A3535"/>
                </a:solidFill>
                <a:latin typeface="Verdana"/>
                <a:cs typeface="Verdana"/>
              </a:rPr>
              <a:t>versioned,</a:t>
            </a:r>
            <a:r>
              <a:rPr sz="1300" b="1" spc="-120" dirty="0">
                <a:solidFill>
                  <a:srgbClr val="3A3535"/>
                </a:solidFill>
                <a:latin typeface="Verdana"/>
                <a:cs typeface="Verdana"/>
              </a:rPr>
              <a:t> </a:t>
            </a:r>
            <a:r>
              <a:rPr sz="1300" b="1" spc="-40" dirty="0">
                <a:solidFill>
                  <a:srgbClr val="3A3535"/>
                </a:solidFill>
                <a:latin typeface="Verdana"/>
                <a:cs typeface="Verdana"/>
              </a:rPr>
              <a:t>scheduled,</a:t>
            </a:r>
            <a:r>
              <a:rPr sz="1300" b="1" spc="-114" dirty="0">
                <a:solidFill>
                  <a:srgbClr val="3A3535"/>
                </a:solidFill>
                <a:latin typeface="Verdana"/>
                <a:cs typeface="Verdana"/>
              </a:rPr>
              <a:t> </a:t>
            </a:r>
            <a:r>
              <a:rPr sz="1300" b="1" spc="-30" dirty="0">
                <a:solidFill>
                  <a:srgbClr val="3A3535"/>
                </a:solidFill>
                <a:latin typeface="Verdana"/>
                <a:cs typeface="Verdana"/>
              </a:rPr>
              <a:t>edited,</a:t>
            </a:r>
            <a:r>
              <a:rPr sz="1300" b="1" spc="-114" dirty="0">
                <a:solidFill>
                  <a:srgbClr val="3A3535"/>
                </a:solidFill>
                <a:latin typeface="Verdana"/>
                <a:cs typeface="Verdana"/>
              </a:rPr>
              <a:t> </a:t>
            </a:r>
            <a:r>
              <a:rPr sz="1300" b="1" spc="-45" dirty="0">
                <a:solidFill>
                  <a:srgbClr val="3A3535"/>
                </a:solidFill>
                <a:latin typeface="Verdana"/>
                <a:cs typeface="Verdana"/>
              </a:rPr>
              <a:t>and</a:t>
            </a:r>
            <a:r>
              <a:rPr sz="1300" b="1" spc="-114" dirty="0">
                <a:solidFill>
                  <a:srgbClr val="3A3535"/>
                </a:solidFill>
                <a:latin typeface="Verdana"/>
                <a:cs typeface="Verdana"/>
              </a:rPr>
              <a:t> </a:t>
            </a:r>
            <a:r>
              <a:rPr sz="1300" b="1" spc="-10" dirty="0">
                <a:solidFill>
                  <a:srgbClr val="3A3535"/>
                </a:solidFill>
                <a:latin typeface="Verdana"/>
                <a:cs typeface="Verdana"/>
              </a:rPr>
              <a:t>connected</a:t>
            </a:r>
            <a:r>
              <a:rPr sz="1300" b="1" spc="-114" dirty="0">
                <a:solidFill>
                  <a:srgbClr val="3A3535"/>
                </a:solidFill>
                <a:latin typeface="Verdana"/>
                <a:cs typeface="Verdana"/>
              </a:rPr>
              <a:t> </a:t>
            </a:r>
            <a:r>
              <a:rPr sz="1300" b="1" spc="-25" dirty="0">
                <a:solidFill>
                  <a:srgbClr val="3A3535"/>
                </a:solidFill>
                <a:latin typeface="Verdana"/>
                <a:cs typeface="Verdana"/>
              </a:rPr>
              <a:t>to </a:t>
            </a:r>
            <a:r>
              <a:rPr sz="1300" b="1" spc="-35" dirty="0">
                <a:solidFill>
                  <a:srgbClr val="3A3535"/>
                </a:solidFill>
                <a:latin typeface="Verdana"/>
                <a:cs typeface="Verdana"/>
              </a:rPr>
              <a:t>dashboards</a:t>
            </a:r>
            <a:r>
              <a:rPr sz="1300" b="1" spc="-70" dirty="0">
                <a:solidFill>
                  <a:srgbClr val="3A3535"/>
                </a:solidFill>
                <a:latin typeface="Verdana"/>
                <a:cs typeface="Verdana"/>
              </a:rPr>
              <a:t> </a:t>
            </a:r>
            <a:r>
              <a:rPr sz="1300" spc="80" dirty="0">
                <a:solidFill>
                  <a:srgbClr val="3A3535"/>
                </a:solidFill>
                <a:latin typeface="Century Gothic"/>
                <a:cs typeface="Century Gothic"/>
              </a:rPr>
              <a:t>inside</a:t>
            </a:r>
            <a:r>
              <a:rPr sz="1300" spc="15" dirty="0">
                <a:solidFill>
                  <a:srgbClr val="3A3535"/>
                </a:solidFill>
                <a:latin typeface="Century Gothic"/>
                <a:cs typeface="Century Gothic"/>
              </a:rPr>
              <a:t> </a:t>
            </a:r>
            <a:r>
              <a:rPr sz="1300" dirty="0">
                <a:solidFill>
                  <a:srgbClr val="3A3535"/>
                </a:solidFill>
                <a:latin typeface="Century Gothic"/>
                <a:cs typeface="Century Gothic"/>
              </a:rPr>
              <a:t>the</a:t>
            </a:r>
            <a:r>
              <a:rPr sz="1300" spc="15" dirty="0">
                <a:solidFill>
                  <a:srgbClr val="3A3535"/>
                </a:solidFill>
                <a:latin typeface="Century Gothic"/>
                <a:cs typeface="Century Gothic"/>
              </a:rPr>
              <a:t> </a:t>
            </a:r>
            <a:r>
              <a:rPr sz="1300" spc="-10" dirty="0">
                <a:solidFill>
                  <a:srgbClr val="3A3535"/>
                </a:solidFill>
                <a:latin typeface="Century Gothic"/>
                <a:cs typeface="Century Gothic"/>
              </a:rPr>
              <a:t>platform.</a:t>
            </a:r>
            <a:endParaRPr sz="1300">
              <a:latin typeface="Century Gothic"/>
              <a:cs typeface="Century Gothic"/>
            </a:endParaRPr>
          </a:p>
          <a:p>
            <a:pPr>
              <a:lnSpc>
                <a:spcPct val="100000"/>
              </a:lnSpc>
              <a:spcBef>
                <a:spcPts val="220"/>
              </a:spcBef>
            </a:pPr>
            <a:endParaRPr sz="1300">
              <a:latin typeface="Century Gothic"/>
              <a:cs typeface="Century Gothic"/>
            </a:endParaRPr>
          </a:p>
          <a:p>
            <a:pPr marL="283210">
              <a:lnSpc>
                <a:spcPct val="100000"/>
              </a:lnSpc>
            </a:pPr>
            <a:r>
              <a:rPr sz="1300" dirty="0">
                <a:solidFill>
                  <a:srgbClr val="3A3535"/>
                </a:solidFill>
                <a:latin typeface="Century Gothic"/>
                <a:cs typeface="Century Gothic"/>
              </a:rPr>
              <a:t>Autosave,</a:t>
            </a:r>
            <a:r>
              <a:rPr sz="1300" spc="-5" dirty="0">
                <a:solidFill>
                  <a:srgbClr val="3A3535"/>
                </a:solidFill>
                <a:latin typeface="Century Gothic"/>
                <a:cs typeface="Century Gothic"/>
              </a:rPr>
              <a:t> </a:t>
            </a:r>
            <a:r>
              <a:rPr sz="1300" spc="60" dirty="0">
                <a:solidFill>
                  <a:srgbClr val="3A3535"/>
                </a:solidFill>
                <a:latin typeface="Century Gothic"/>
                <a:cs typeface="Century Gothic"/>
              </a:rPr>
              <a:t>edit</a:t>
            </a:r>
            <a:r>
              <a:rPr sz="1300" spc="-5" dirty="0">
                <a:solidFill>
                  <a:srgbClr val="3A3535"/>
                </a:solidFill>
                <a:latin typeface="Century Gothic"/>
                <a:cs typeface="Century Gothic"/>
              </a:rPr>
              <a:t> </a:t>
            </a:r>
            <a:r>
              <a:rPr sz="1300" dirty="0">
                <a:solidFill>
                  <a:srgbClr val="3A3535"/>
                </a:solidFill>
                <a:latin typeface="Century Gothic"/>
                <a:cs typeface="Century Gothic"/>
              </a:rPr>
              <a:t>mode,</a:t>
            </a:r>
            <a:r>
              <a:rPr sz="1300" spc="-5" dirty="0">
                <a:solidFill>
                  <a:srgbClr val="3A3535"/>
                </a:solidFill>
                <a:latin typeface="Century Gothic"/>
                <a:cs typeface="Century Gothic"/>
              </a:rPr>
              <a:t> </a:t>
            </a:r>
            <a:r>
              <a:rPr sz="1300" spc="-10" dirty="0">
                <a:solidFill>
                  <a:srgbClr val="3A3535"/>
                </a:solidFill>
                <a:latin typeface="Century Gothic"/>
                <a:cs typeface="Century Gothic"/>
              </a:rPr>
              <a:t>and</a:t>
            </a:r>
            <a:r>
              <a:rPr sz="1300" dirty="0">
                <a:solidFill>
                  <a:srgbClr val="3A3535"/>
                </a:solidFill>
                <a:latin typeface="Century Gothic"/>
                <a:cs typeface="Century Gothic"/>
              </a:rPr>
              <a:t> </a:t>
            </a:r>
            <a:r>
              <a:rPr sz="1300" spc="80" dirty="0">
                <a:solidFill>
                  <a:srgbClr val="3A3535"/>
                </a:solidFill>
                <a:latin typeface="Century Gothic"/>
                <a:cs typeface="Century Gothic"/>
              </a:rPr>
              <a:t>timing</a:t>
            </a:r>
            <a:r>
              <a:rPr sz="1300" spc="-5" dirty="0">
                <a:solidFill>
                  <a:srgbClr val="3A3535"/>
                </a:solidFill>
                <a:latin typeface="Century Gothic"/>
                <a:cs typeface="Century Gothic"/>
              </a:rPr>
              <a:t> </a:t>
            </a:r>
            <a:r>
              <a:rPr sz="1300" spc="-10" dirty="0">
                <a:solidFill>
                  <a:srgbClr val="3A3535"/>
                </a:solidFill>
                <a:latin typeface="Century Gothic"/>
                <a:cs typeface="Century Gothic"/>
              </a:rPr>
              <a:t>metadata</a:t>
            </a:r>
            <a:endParaRPr sz="1300">
              <a:latin typeface="Century Gothic"/>
              <a:cs typeface="Century Gothic"/>
            </a:endParaRPr>
          </a:p>
          <a:p>
            <a:pPr marL="283210">
              <a:lnSpc>
                <a:spcPct val="100000"/>
              </a:lnSpc>
              <a:spcBef>
                <a:spcPts val="990"/>
              </a:spcBef>
            </a:pPr>
            <a:r>
              <a:rPr sz="1300" spc="70" dirty="0">
                <a:solidFill>
                  <a:srgbClr val="3A3535"/>
                </a:solidFill>
                <a:latin typeface="Century Gothic"/>
                <a:cs typeface="Century Gothic"/>
              </a:rPr>
              <a:t>File</a:t>
            </a:r>
            <a:r>
              <a:rPr sz="1300" spc="-10" dirty="0">
                <a:solidFill>
                  <a:srgbClr val="3A3535"/>
                </a:solidFill>
                <a:latin typeface="Century Gothic"/>
                <a:cs typeface="Century Gothic"/>
              </a:rPr>
              <a:t> </a:t>
            </a:r>
            <a:r>
              <a:rPr sz="1300" dirty="0">
                <a:solidFill>
                  <a:srgbClr val="3A3535"/>
                </a:solidFill>
                <a:latin typeface="Century Gothic"/>
                <a:cs typeface="Century Gothic"/>
              </a:rPr>
              <a:t>upload,</a:t>
            </a:r>
            <a:r>
              <a:rPr sz="1300" spc="-10" dirty="0">
                <a:solidFill>
                  <a:srgbClr val="3A3535"/>
                </a:solidFill>
                <a:latin typeface="Century Gothic"/>
                <a:cs typeface="Century Gothic"/>
              </a:rPr>
              <a:t> </a:t>
            </a:r>
            <a:r>
              <a:rPr sz="1300" spc="85" dirty="0">
                <a:solidFill>
                  <a:srgbClr val="3A3535"/>
                </a:solidFill>
                <a:latin typeface="Century Gothic"/>
                <a:cs typeface="Century Gothic"/>
              </a:rPr>
              <a:t>PDF</a:t>
            </a:r>
            <a:r>
              <a:rPr sz="1300" spc="-10" dirty="0">
                <a:solidFill>
                  <a:srgbClr val="3A3535"/>
                </a:solidFill>
                <a:latin typeface="Century Gothic"/>
                <a:cs typeface="Century Gothic"/>
              </a:rPr>
              <a:t> </a:t>
            </a:r>
            <a:r>
              <a:rPr sz="1300" spc="50" dirty="0">
                <a:solidFill>
                  <a:srgbClr val="3A3535"/>
                </a:solidFill>
                <a:latin typeface="Century Gothic"/>
                <a:cs typeface="Century Gothic"/>
              </a:rPr>
              <a:t>export,</a:t>
            </a:r>
            <a:r>
              <a:rPr sz="1300" spc="-5" dirty="0">
                <a:solidFill>
                  <a:srgbClr val="3A3535"/>
                </a:solidFill>
                <a:latin typeface="Century Gothic"/>
                <a:cs typeface="Century Gothic"/>
              </a:rPr>
              <a:t> </a:t>
            </a:r>
            <a:r>
              <a:rPr sz="1300" spc="-10" dirty="0">
                <a:solidFill>
                  <a:srgbClr val="3A3535"/>
                </a:solidFill>
                <a:latin typeface="Century Gothic"/>
                <a:cs typeface="Century Gothic"/>
              </a:rPr>
              <a:t>and </a:t>
            </a:r>
            <a:r>
              <a:rPr sz="1300" spc="65" dirty="0">
                <a:solidFill>
                  <a:srgbClr val="3A3535"/>
                </a:solidFill>
                <a:latin typeface="Century Gothic"/>
                <a:cs typeface="Century Gothic"/>
              </a:rPr>
              <a:t>voice-</a:t>
            </a:r>
            <a:r>
              <a:rPr sz="1300" dirty="0">
                <a:solidFill>
                  <a:srgbClr val="3A3535"/>
                </a:solidFill>
                <a:latin typeface="Century Gothic"/>
                <a:cs typeface="Century Gothic"/>
              </a:rPr>
              <a:t>record</a:t>
            </a:r>
            <a:r>
              <a:rPr sz="1300" spc="-10" dirty="0">
                <a:solidFill>
                  <a:srgbClr val="3A3535"/>
                </a:solidFill>
                <a:latin typeface="Century Gothic"/>
                <a:cs typeface="Century Gothic"/>
              </a:rPr>
              <a:t> </a:t>
            </a:r>
            <a:r>
              <a:rPr sz="1300" spc="75" dirty="0">
                <a:solidFill>
                  <a:srgbClr val="3A3535"/>
                </a:solidFill>
                <a:latin typeface="Century Gothic"/>
                <a:cs typeface="Century Gothic"/>
              </a:rPr>
              <a:t>responses</a:t>
            </a:r>
            <a:endParaRPr sz="1300">
              <a:latin typeface="Century Gothic"/>
              <a:cs typeface="Century Gothic"/>
            </a:endParaRPr>
          </a:p>
          <a:p>
            <a:pPr marL="283210" marR="120014">
              <a:lnSpc>
                <a:spcPct val="134600"/>
              </a:lnSpc>
              <a:spcBef>
                <a:spcPts val="525"/>
              </a:spcBef>
            </a:pPr>
            <a:r>
              <a:rPr sz="1300" spc="95" dirty="0">
                <a:solidFill>
                  <a:srgbClr val="3A3535"/>
                </a:solidFill>
                <a:latin typeface="Century Gothic"/>
                <a:cs typeface="Century Gothic"/>
              </a:rPr>
              <a:t>Stronger</a:t>
            </a:r>
            <a:r>
              <a:rPr sz="1300" spc="5" dirty="0">
                <a:solidFill>
                  <a:srgbClr val="3A3535"/>
                </a:solidFill>
                <a:latin typeface="Century Gothic"/>
                <a:cs typeface="Century Gothic"/>
              </a:rPr>
              <a:t> </a:t>
            </a:r>
            <a:r>
              <a:rPr sz="1300" spc="-40" dirty="0">
                <a:solidFill>
                  <a:srgbClr val="3A3535"/>
                </a:solidFill>
                <a:latin typeface="Century Gothic"/>
                <a:cs typeface="Century Gothic"/>
              </a:rPr>
              <a:t>data</a:t>
            </a:r>
            <a:r>
              <a:rPr sz="1300" spc="5" dirty="0">
                <a:solidFill>
                  <a:srgbClr val="3A3535"/>
                </a:solidFill>
                <a:latin typeface="Century Gothic"/>
                <a:cs typeface="Century Gothic"/>
              </a:rPr>
              <a:t> </a:t>
            </a:r>
            <a:r>
              <a:rPr sz="1300" dirty="0">
                <a:solidFill>
                  <a:srgbClr val="3A3535"/>
                </a:solidFill>
                <a:latin typeface="Century Gothic"/>
                <a:cs typeface="Century Gothic"/>
              </a:rPr>
              <a:t>quality</a:t>
            </a:r>
            <a:r>
              <a:rPr sz="1300" spc="5" dirty="0">
                <a:solidFill>
                  <a:srgbClr val="3A3535"/>
                </a:solidFill>
                <a:latin typeface="Century Gothic"/>
                <a:cs typeface="Century Gothic"/>
              </a:rPr>
              <a:t> </a:t>
            </a:r>
            <a:r>
              <a:rPr sz="1300" spc="85" dirty="0">
                <a:solidFill>
                  <a:srgbClr val="3A3535"/>
                </a:solidFill>
                <a:latin typeface="Century Gothic"/>
                <a:cs typeface="Century Gothic"/>
              </a:rPr>
              <a:t>for</a:t>
            </a:r>
            <a:r>
              <a:rPr sz="1300" spc="5" dirty="0">
                <a:solidFill>
                  <a:srgbClr val="3A3535"/>
                </a:solidFill>
                <a:latin typeface="Century Gothic"/>
                <a:cs typeface="Century Gothic"/>
              </a:rPr>
              <a:t> </a:t>
            </a:r>
            <a:r>
              <a:rPr sz="1300" dirty="0">
                <a:solidFill>
                  <a:srgbClr val="3A3535"/>
                </a:solidFill>
                <a:latin typeface="Century Gothic"/>
                <a:cs typeface="Century Gothic"/>
              </a:rPr>
              <a:t>repeated</a:t>
            </a:r>
            <a:r>
              <a:rPr sz="1300" spc="1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5" dirty="0">
                <a:solidFill>
                  <a:srgbClr val="3A3535"/>
                </a:solidFill>
                <a:latin typeface="Century Gothic"/>
                <a:cs typeface="Century Gothic"/>
              </a:rPr>
              <a:t> </a:t>
            </a:r>
            <a:r>
              <a:rPr sz="1300" spc="45" dirty="0">
                <a:solidFill>
                  <a:srgbClr val="3A3535"/>
                </a:solidFill>
                <a:latin typeface="Century Gothic"/>
                <a:cs typeface="Century Gothic"/>
              </a:rPr>
              <a:t>longitudinal </a:t>
            </a:r>
            <a:r>
              <a:rPr sz="1300" spc="65" dirty="0">
                <a:solidFill>
                  <a:srgbClr val="3A3535"/>
                </a:solidFill>
                <a:latin typeface="Century Gothic"/>
                <a:cs typeface="Century Gothic"/>
              </a:rPr>
              <a:t>assessment</a:t>
            </a:r>
            <a:endParaRPr sz="1300">
              <a:latin typeface="Century Gothic"/>
              <a:cs typeface="Century Gothic"/>
            </a:endParaRPr>
          </a:p>
        </p:txBody>
      </p:sp>
      <p:grpSp>
        <p:nvGrpSpPr>
          <p:cNvPr id="7" name="object 7"/>
          <p:cNvGrpSpPr/>
          <p:nvPr/>
        </p:nvGrpSpPr>
        <p:grpSpPr>
          <a:xfrm>
            <a:off x="5915025" y="1809749"/>
            <a:ext cx="4933950" cy="1095375"/>
            <a:chOff x="5915025" y="1809749"/>
            <a:chExt cx="4933950" cy="1095375"/>
          </a:xfrm>
        </p:grpSpPr>
        <p:sp>
          <p:nvSpPr>
            <p:cNvPr id="8" name="object 8"/>
            <p:cNvSpPr/>
            <p:nvPr/>
          </p:nvSpPr>
          <p:spPr>
            <a:xfrm>
              <a:off x="5934913" y="1809762"/>
              <a:ext cx="4914265" cy="1095375"/>
            </a:xfrm>
            <a:custGeom>
              <a:avLst/>
              <a:gdLst/>
              <a:ahLst/>
              <a:cxnLst/>
              <a:rect l="l" t="t" r="r" b="b"/>
              <a:pathLst>
                <a:path w="4914265" h="1095375">
                  <a:moveTo>
                    <a:pt x="4914023" y="51219"/>
                  </a:moveTo>
                  <a:lnTo>
                    <a:pt x="4912550" y="43827"/>
                  </a:lnTo>
                  <a:lnTo>
                    <a:pt x="4906530" y="29311"/>
                  </a:lnTo>
                  <a:lnTo>
                    <a:pt x="4902251" y="22910"/>
                  </a:lnTo>
                  <a:lnTo>
                    <a:pt x="4897171" y="17830"/>
                  </a:lnTo>
                  <a:lnTo>
                    <a:pt x="4896701" y="17348"/>
                  </a:lnTo>
                  <a:lnTo>
                    <a:pt x="4891138" y="11798"/>
                  </a:lnTo>
                  <a:lnTo>
                    <a:pt x="4884737" y="7518"/>
                  </a:lnTo>
                  <a:lnTo>
                    <a:pt x="4870310" y="1524"/>
                  </a:lnTo>
                  <a:lnTo>
                    <a:pt x="4862665" y="0"/>
                  </a:lnTo>
                  <a:lnTo>
                    <a:pt x="75349" y="0"/>
                  </a:lnTo>
                  <a:lnTo>
                    <a:pt x="67843" y="355"/>
                  </a:lnTo>
                  <a:lnTo>
                    <a:pt x="59931" y="1524"/>
                  </a:lnTo>
                  <a:lnTo>
                    <a:pt x="60159" y="1524"/>
                  </a:lnTo>
                  <a:lnTo>
                    <a:pt x="53263" y="3251"/>
                  </a:lnTo>
                  <a:lnTo>
                    <a:pt x="16421" y="27876"/>
                  </a:lnTo>
                  <a:lnTo>
                    <a:pt x="0" y="65430"/>
                  </a:lnTo>
                  <a:lnTo>
                    <a:pt x="1079" y="61328"/>
                  </a:lnTo>
                  <a:lnTo>
                    <a:pt x="8813" y="47332"/>
                  </a:lnTo>
                  <a:lnTo>
                    <a:pt x="46189" y="23406"/>
                  </a:lnTo>
                  <a:lnTo>
                    <a:pt x="75349" y="19050"/>
                  </a:lnTo>
                  <a:lnTo>
                    <a:pt x="4854803" y="19050"/>
                  </a:lnTo>
                  <a:lnTo>
                    <a:pt x="4892065" y="43827"/>
                  </a:lnTo>
                  <a:lnTo>
                    <a:pt x="4894999" y="59245"/>
                  </a:lnTo>
                  <a:lnTo>
                    <a:pt x="4894999" y="1036129"/>
                  </a:lnTo>
                  <a:lnTo>
                    <a:pt x="4894288" y="1043990"/>
                  </a:lnTo>
                  <a:lnTo>
                    <a:pt x="4894275" y="1044143"/>
                  </a:lnTo>
                  <a:lnTo>
                    <a:pt x="4862830" y="1075588"/>
                  </a:lnTo>
                  <a:lnTo>
                    <a:pt x="4854803" y="1076325"/>
                  </a:lnTo>
                  <a:lnTo>
                    <a:pt x="75349" y="1076325"/>
                  </a:lnTo>
                  <a:lnTo>
                    <a:pt x="33007" y="1066698"/>
                  </a:lnTo>
                  <a:lnTo>
                    <a:pt x="1079" y="1034046"/>
                  </a:lnTo>
                  <a:lnTo>
                    <a:pt x="0" y="1029944"/>
                  </a:lnTo>
                  <a:lnTo>
                    <a:pt x="609" y="1034046"/>
                  </a:lnTo>
                  <a:lnTo>
                    <a:pt x="2413" y="1041247"/>
                  </a:lnTo>
                  <a:lnTo>
                    <a:pt x="4851" y="1048042"/>
                  </a:lnTo>
                  <a:lnTo>
                    <a:pt x="4953" y="1048334"/>
                  </a:lnTo>
                  <a:lnTo>
                    <a:pt x="33007" y="1082535"/>
                  </a:lnTo>
                  <a:lnTo>
                    <a:pt x="75349" y="1095375"/>
                  </a:lnTo>
                  <a:lnTo>
                    <a:pt x="4862665" y="1095375"/>
                  </a:lnTo>
                  <a:lnTo>
                    <a:pt x="4869980" y="1093914"/>
                  </a:lnTo>
                  <a:lnTo>
                    <a:pt x="4870107" y="1093914"/>
                  </a:lnTo>
                  <a:lnTo>
                    <a:pt x="4884737" y="1087856"/>
                  </a:lnTo>
                  <a:lnTo>
                    <a:pt x="4891138" y="1083576"/>
                  </a:lnTo>
                  <a:lnTo>
                    <a:pt x="4896701" y="1078014"/>
                  </a:lnTo>
                  <a:lnTo>
                    <a:pt x="4897171" y="1077544"/>
                  </a:lnTo>
                  <a:lnTo>
                    <a:pt x="4902251" y="1072464"/>
                  </a:lnTo>
                  <a:lnTo>
                    <a:pt x="4906530" y="1066063"/>
                  </a:lnTo>
                  <a:lnTo>
                    <a:pt x="4912550" y="1051560"/>
                  </a:lnTo>
                  <a:lnTo>
                    <a:pt x="4914023" y="1044143"/>
                  </a:lnTo>
                  <a:lnTo>
                    <a:pt x="4914023" y="51219"/>
                  </a:lnTo>
                  <a:close/>
                </a:path>
              </a:pathLst>
            </a:custGeom>
            <a:solidFill>
              <a:srgbClr val="DFB7BB"/>
            </a:solidFill>
          </p:spPr>
          <p:txBody>
            <a:bodyPr wrap="square" lIns="0" tIns="0" rIns="0" bIns="0" rtlCol="0"/>
            <a:lstStyle/>
            <a:p>
              <a:endParaRPr/>
            </a:p>
          </p:txBody>
        </p:sp>
        <p:sp>
          <p:nvSpPr>
            <p:cNvPr id="9" name="object 9"/>
            <p:cNvSpPr/>
            <p:nvPr/>
          </p:nvSpPr>
          <p:spPr>
            <a:xfrm>
              <a:off x="5915025" y="1809749"/>
              <a:ext cx="76200" cy="1095375"/>
            </a:xfrm>
            <a:custGeom>
              <a:avLst/>
              <a:gdLst/>
              <a:ahLst/>
              <a:cxnLst/>
              <a:rect l="l" t="t" r="r" b="b"/>
              <a:pathLst>
                <a:path w="76200" h="1095375">
                  <a:moveTo>
                    <a:pt x="76200" y="0"/>
                  </a:moveTo>
                  <a:lnTo>
                    <a:pt x="55359" y="0"/>
                  </a:lnTo>
                  <a:lnTo>
                    <a:pt x="51498" y="381"/>
                  </a:lnTo>
                  <a:lnTo>
                    <a:pt x="14605" y="20104"/>
                  </a:lnTo>
                  <a:lnTo>
                    <a:pt x="0" y="55359"/>
                  </a:lnTo>
                  <a:lnTo>
                    <a:pt x="0" y="1036129"/>
                  </a:lnTo>
                  <a:lnTo>
                    <a:pt x="0" y="1040015"/>
                  </a:lnTo>
                  <a:lnTo>
                    <a:pt x="14605" y="1075270"/>
                  </a:lnTo>
                  <a:lnTo>
                    <a:pt x="51498" y="1094994"/>
                  </a:lnTo>
                  <a:lnTo>
                    <a:pt x="55359" y="1095375"/>
                  </a:lnTo>
                  <a:lnTo>
                    <a:pt x="76200" y="1095375"/>
                  </a:lnTo>
                  <a:lnTo>
                    <a:pt x="76200" y="0"/>
                  </a:lnTo>
                  <a:close/>
                </a:path>
              </a:pathLst>
            </a:custGeom>
            <a:solidFill>
              <a:srgbClr val="DA1B2D"/>
            </a:solidFill>
          </p:spPr>
          <p:txBody>
            <a:bodyPr wrap="square" lIns="0" tIns="0" rIns="0" bIns="0" rtlCol="0"/>
            <a:lstStyle/>
            <a:p>
              <a:endParaRPr/>
            </a:p>
          </p:txBody>
        </p:sp>
      </p:grpSp>
      <p:sp>
        <p:nvSpPr>
          <p:cNvPr id="10" name="object 10"/>
          <p:cNvSpPr txBox="1"/>
          <p:nvPr/>
        </p:nvSpPr>
        <p:spPr>
          <a:xfrm>
            <a:off x="6163665" y="1974405"/>
            <a:ext cx="3510915" cy="710565"/>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Create</a:t>
            </a:r>
            <a:endParaRPr sz="1750">
              <a:latin typeface="Verdana"/>
              <a:cs typeface="Verdana"/>
            </a:endParaRPr>
          </a:p>
          <a:p>
            <a:pPr marL="12700">
              <a:lnSpc>
                <a:spcPct val="100000"/>
              </a:lnSpc>
              <a:spcBef>
                <a:spcPts val="1725"/>
              </a:spcBef>
            </a:pPr>
            <a:r>
              <a:rPr sz="1300" spc="55" dirty="0">
                <a:solidFill>
                  <a:srgbClr val="3A3535"/>
                </a:solidFill>
                <a:latin typeface="Century Gothic"/>
                <a:cs typeface="Century Gothic"/>
              </a:rPr>
              <a:t>Versioned</a:t>
            </a:r>
            <a:r>
              <a:rPr sz="1300" spc="-40" dirty="0">
                <a:solidFill>
                  <a:srgbClr val="3A3535"/>
                </a:solidFill>
                <a:latin typeface="Century Gothic"/>
                <a:cs typeface="Century Gothic"/>
              </a:rPr>
              <a:t> </a:t>
            </a:r>
            <a:r>
              <a:rPr sz="1300" spc="55" dirty="0">
                <a:solidFill>
                  <a:srgbClr val="3A3535"/>
                </a:solidFill>
                <a:latin typeface="Century Gothic"/>
                <a:cs typeface="Century Gothic"/>
              </a:rPr>
              <a:t>survey</a:t>
            </a:r>
            <a:r>
              <a:rPr sz="1300" spc="-35" dirty="0">
                <a:solidFill>
                  <a:srgbClr val="3A3535"/>
                </a:solidFill>
                <a:latin typeface="Century Gothic"/>
                <a:cs typeface="Century Gothic"/>
              </a:rPr>
              <a:t> </a:t>
            </a:r>
            <a:r>
              <a:rPr sz="1300" spc="60" dirty="0">
                <a:solidFill>
                  <a:srgbClr val="3A3535"/>
                </a:solidFill>
                <a:latin typeface="Century Gothic"/>
                <a:cs typeface="Century Gothic"/>
              </a:rPr>
              <a:t>builder</a:t>
            </a:r>
            <a:r>
              <a:rPr sz="1300" spc="-40" dirty="0">
                <a:solidFill>
                  <a:srgbClr val="3A3535"/>
                </a:solidFill>
                <a:latin typeface="Century Gothic"/>
                <a:cs typeface="Century Gothic"/>
              </a:rPr>
              <a:t> </a:t>
            </a:r>
            <a:r>
              <a:rPr sz="1300" spc="80" dirty="0">
                <a:solidFill>
                  <a:srgbClr val="3A3535"/>
                </a:solidFill>
                <a:latin typeface="Century Gothic"/>
                <a:cs typeface="Century Gothic"/>
              </a:rPr>
              <a:t>with</a:t>
            </a:r>
            <a:r>
              <a:rPr sz="1300" spc="-35" dirty="0">
                <a:solidFill>
                  <a:srgbClr val="3A3535"/>
                </a:solidFill>
                <a:latin typeface="Century Gothic"/>
                <a:cs typeface="Century Gothic"/>
              </a:rPr>
              <a:t> </a:t>
            </a:r>
            <a:r>
              <a:rPr sz="1300" spc="40" dirty="0">
                <a:solidFill>
                  <a:srgbClr val="3A3535"/>
                </a:solidFill>
                <a:latin typeface="Century Gothic"/>
                <a:cs typeface="Century Gothic"/>
              </a:rPr>
              <a:t>scheduling</a:t>
            </a:r>
            <a:endParaRPr sz="1300">
              <a:latin typeface="Century Gothic"/>
              <a:cs typeface="Century Gothic"/>
            </a:endParaRPr>
          </a:p>
        </p:txBody>
      </p:sp>
      <p:grpSp>
        <p:nvGrpSpPr>
          <p:cNvPr id="11" name="object 11"/>
          <p:cNvGrpSpPr/>
          <p:nvPr/>
        </p:nvGrpSpPr>
        <p:grpSpPr>
          <a:xfrm>
            <a:off x="5915025" y="3076575"/>
            <a:ext cx="4933950" cy="1095375"/>
            <a:chOff x="5915025" y="3076575"/>
            <a:chExt cx="4933950" cy="1095375"/>
          </a:xfrm>
        </p:grpSpPr>
        <p:sp>
          <p:nvSpPr>
            <p:cNvPr id="12" name="object 12"/>
            <p:cNvSpPr/>
            <p:nvPr/>
          </p:nvSpPr>
          <p:spPr>
            <a:xfrm>
              <a:off x="5934913" y="3076587"/>
              <a:ext cx="4914265" cy="1095375"/>
            </a:xfrm>
            <a:custGeom>
              <a:avLst/>
              <a:gdLst/>
              <a:ahLst/>
              <a:cxnLst/>
              <a:rect l="l" t="t" r="r" b="b"/>
              <a:pathLst>
                <a:path w="4914265" h="1095375">
                  <a:moveTo>
                    <a:pt x="4914023" y="51219"/>
                  </a:moveTo>
                  <a:lnTo>
                    <a:pt x="4912550" y="43827"/>
                  </a:lnTo>
                  <a:lnTo>
                    <a:pt x="4906530" y="29311"/>
                  </a:lnTo>
                  <a:lnTo>
                    <a:pt x="4902251" y="22910"/>
                  </a:lnTo>
                  <a:lnTo>
                    <a:pt x="4897171" y="17830"/>
                  </a:lnTo>
                  <a:lnTo>
                    <a:pt x="4896701" y="17348"/>
                  </a:lnTo>
                  <a:lnTo>
                    <a:pt x="4891138" y="11798"/>
                  </a:lnTo>
                  <a:lnTo>
                    <a:pt x="4884737" y="7518"/>
                  </a:lnTo>
                  <a:lnTo>
                    <a:pt x="4870310" y="1524"/>
                  </a:lnTo>
                  <a:lnTo>
                    <a:pt x="4862665" y="0"/>
                  </a:lnTo>
                  <a:lnTo>
                    <a:pt x="75349" y="0"/>
                  </a:lnTo>
                  <a:lnTo>
                    <a:pt x="67843" y="355"/>
                  </a:lnTo>
                  <a:lnTo>
                    <a:pt x="59931" y="1524"/>
                  </a:lnTo>
                  <a:lnTo>
                    <a:pt x="60159" y="1524"/>
                  </a:lnTo>
                  <a:lnTo>
                    <a:pt x="53263" y="3251"/>
                  </a:lnTo>
                  <a:lnTo>
                    <a:pt x="16421" y="27876"/>
                  </a:lnTo>
                  <a:lnTo>
                    <a:pt x="0" y="65430"/>
                  </a:lnTo>
                  <a:lnTo>
                    <a:pt x="1079" y="61328"/>
                  </a:lnTo>
                  <a:lnTo>
                    <a:pt x="8813" y="47332"/>
                  </a:lnTo>
                  <a:lnTo>
                    <a:pt x="46189" y="23406"/>
                  </a:lnTo>
                  <a:lnTo>
                    <a:pt x="75349" y="19050"/>
                  </a:lnTo>
                  <a:lnTo>
                    <a:pt x="4854803" y="19050"/>
                  </a:lnTo>
                  <a:lnTo>
                    <a:pt x="4892065" y="43827"/>
                  </a:lnTo>
                  <a:lnTo>
                    <a:pt x="4894999" y="59245"/>
                  </a:lnTo>
                  <a:lnTo>
                    <a:pt x="4894999" y="1036129"/>
                  </a:lnTo>
                  <a:lnTo>
                    <a:pt x="4894288" y="1043990"/>
                  </a:lnTo>
                  <a:lnTo>
                    <a:pt x="4894275" y="1044143"/>
                  </a:lnTo>
                  <a:lnTo>
                    <a:pt x="4862830" y="1075588"/>
                  </a:lnTo>
                  <a:lnTo>
                    <a:pt x="4854803" y="1076325"/>
                  </a:lnTo>
                  <a:lnTo>
                    <a:pt x="75349" y="1076325"/>
                  </a:lnTo>
                  <a:lnTo>
                    <a:pt x="33007" y="1066698"/>
                  </a:lnTo>
                  <a:lnTo>
                    <a:pt x="1079" y="1034046"/>
                  </a:lnTo>
                  <a:lnTo>
                    <a:pt x="0" y="1029931"/>
                  </a:lnTo>
                  <a:lnTo>
                    <a:pt x="609" y="1034046"/>
                  </a:lnTo>
                  <a:lnTo>
                    <a:pt x="2413" y="1041260"/>
                  </a:lnTo>
                  <a:lnTo>
                    <a:pt x="4851" y="1048042"/>
                  </a:lnTo>
                  <a:lnTo>
                    <a:pt x="4953" y="1048334"/>
                  </a:lnTo>
                  <a:lnTo>
                    <a:pt x="33007" y="1082535"/>
                  </a:lnTo>
                  <a:lnTo>
                    <a:pt x="75349" y="1095375"/>
                  </a:lnTo>
                  <a:lnTo>
                    <a:pt x="4862665" y="1095375"/>
                  </a:lnTo>
                  <a:lnTo>
                    <a:pt x="4869980" y="1093914"/>
                  </a:lnTo>
                  <a:lnTo>
                    <a:pt x="4870107" y="1093914"/>
                  </a:lnTo>
                  <a:lnTo>
                    <a:pt x="4884737" y="1087856"/>
                  </a:lnTo>
                  <a:lnTo>
                    <a:pt x="4891138" y="1083576"/>
                  </a:lnTo>
                  <a:lnTo>
                    <a:pt x="4896701" y="1078014"/>
                  </a:lnTo>
                  <a:lnTo>
                    <a:pt x="4897171" y="1077544"/>
                  </a:lnTo>
                  <a:lnTo>
                    <a:pt x="4902251" y="1072464"/>
                  </a:lnTo>
                  <a:lnTo>
                    <a:pt x="4906530" y="1066063"/>
                  </a:lnTo>
                  <a:lnTo>
                    <a:pt x="4912550" y="1051560"/>
                  </a:lnTo>
                  <a:lnTo>
                    <a:pt x="4914023" y="1044143"/>
                  </a:lnTo>
                  <a:lnTo>
                    <a:pt x="4914023" y="51219"/>
                  </a:lnTo>
                  <a:close/>
                </a:path>
              </a:pathLst>
            </a:custGeom>
            <a:solidFill>
              <a:srgbClr val="DFB7BB"/>
            </a:solidFill>
          </p:spPr>
          <p:txBody>
            <a:bodyPr wrap="square" lIns="0" tIns="0" rIns="0" bIns="0" rtlCol="0"/>
            <a:lstStyle/>
            <a:p>
              <a:endParaRPr/>
            </a:p>
          </p:txBody>
        </p:sp>
        <p:sp>
          <p:nvSpPr>
            <p:cNvPr id="13" name="object 13"/>
            <p:cNvSpPr/>
            <p:nvPr/>
          </p:nvSpPr>
          <p:spPr>
            <a:xfrm>
              <a:off x="5915025" y="3076575"/>
              <a:ext cx="76200" cy="1095375"/>
            </a:xfrm>
            <a:custGeom>
              <a:avLst/>
              <a:gdLst/>
              <a:ahLst/>
              <a:cxnLst/>
              <a:rect l="l" t="t" r="r" b="b"/>
              <a:pathLst>
                <a:path w="76200" h="1095375">
                  <a:moveTo>
                    <a:pt x="76200" y="0"/>
                  </a:moveTo>
                  <a:lnTo>
                    <a:pt x="55359" y="0"/>
                  </a:lnTo>
                  <a:lnTo>
                    <a:pt x="51498" y="381"/>
                  </a:lnTo>
                  <a:lnTo>
                    <a:pt x="14605" y="20104"/>
                  </a:lnTo>
                  <a:lnTo>
                    <a:pt x="0" y="55359"/>
                  </a:lnTo>
                  <a:lnTo>
                    <a:pt x="0" y="1036129"/>
                  </a:lnTo>
                  <a:lnTo>
                    <a:pt x="0" y="1040015"/>
                  </a:lnTo>
                  <a:lnTo>
                    <a:pt x="14605" y="1075270"/>
                  </a:lnTo>
                  <a:lnTo>
                    <a:pt x="51498" y="1094994"/>
                  </a:lnTo>
                  <a:lnTo>
                    <a:pt x="55359" y="1095375"/>
                  </a:lnTo>
                  <a:lnTo>
                    <a:pt x="76200" y="1095375"/>
                  </a:lnTo>
                  <a:lnTo>
                    <a:pt x="76200" y="0"/>
                  </a:lnTo>
                  <a:close/>
                </a:path>
              </a:pathLst>
            </a:custGeom>
            <a:solidFill>
              <a:srgbClr val="DA1B2D"/>
            </a:solidFill>
          </p:spPr>
          <p:txBody>
            <a:bodyPr wrap="square" lIns="0" tIns="0" rIns="0" bIns="0" rtlCol="0"/>
            <a:lstStyle/>
            <a:p>
              <a:endParaRPr/>
            </a:p>
          </p:txBody>
        </p:sp>
      </p:grpSp>
      <p:sp>
        <p:nvSpPr>
          <p:cNvPr id="14" name="object 14"/>
          <p:cNvSpPr txBox="1"/>
          <p:nvPr/>
        </p:nvSpPr>
        <p:spPr>
          <a:xfrm>
            <a:off x="6163665" y="3241230"/>
            <a:ext cx="3206750" cy="710565"/>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Collect</a:t>
            </a:r>
            <a:endParaRPr sz="1750">
              <a:latin typeface="Verdana"/>
              <a:cs typeface="Verdana"/>
            </a:endParaRPr>
          </a:p>
          <a:p>
            <a:pPr marL="12700">
              <a:lnSpc>
                <a:spcPct val="100000"/>
              </a:lnSpc>
              <a:spcBef>
                <a:spcPts val="1725"/>
              </a:spcBef>
            </a:pPr>
            <a:r>
              <a:rPr sz="1300" spc="75" dirty="0">
                <a:solidFill>
                  <a:srgbClr val="3A3535"/>
                </a:solidFill>
                <a:latin typeface="Century Gothic"/>
                <a:cs typeface="Century Gothic"/>
              </a:rPr>
              <a:t>Files,</a:t>
            </a:r>
            <a:r>
              <a:rPr sz="1300" spc="-35" dirty="0">
                <a:solidFill>
                  <a:srgbClr val="3A3535"/>
                </a:solidFill>
                <a:latin typeface="Century Gothic"/>
                <a:cs typeface="Century Gothic"/>
              </a:rPr>
              <a:t> </a:t>
            </a:r>
            <a:r>
              <a:rPr sz="1300" dirty="0">
                <a:solidFill>
                  <a:srgbClr val="3A3535"/>
                </a:solidFill>
                <a:latin typeface="Century Gothic"/>
                <a:cs typeface="Century Gothic"/>
              </a:rPr>
              <a:t>voice,</a:t>
            </a:r>
            <a:r>
              <a:rPr sz="1300" spc="-3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30" dirty="0">
                <a:solidFill>
                  <a:srgbClr val="3A3535"/>
                </a:solidFill>
                <a:latin typeface="Century Gothic"/>
                <a:cs typeface="Century Gothic"/>
              </a:rPr>
              <a:t> </a:t>
            </a:r>
            <a:r>
              <a:rPr sz="1300" spc="70" dirty="0">
                <a:solidFill>
                  <a:srgbClr val="3A3535"/>
                </a:solidFill>
                <a:latin typeface="Century Gothic"/>
                <a:cs typeface="Century Gothic"/>
              </a:rPr>
              <a:t>structured</a:t>
            </a:r>
            <a:r>
              <a:rPr sz="1300" spc="-30" dirty="0">
                <a:solidFill>
                  <a:srgbClr val="3A3535"/>
                </a:solidFill>
                <a:latin typeface="Century Gothic"/>
                <a:cs typeface="Century Gothic"/>
              </a:rPr>
              <a:t> </a:t>
            </a:r>
            <a:r>
              <a:rPr sz="1300" spc="75" dirty="0">
                <a:solidFill>
                  <a:srgbClr val="3A3535"/>
                </a:solidFill>
                <a:latin typeface="Century Gothic"/>
                <a:cs typeface="Century Gothic"/>
              </a:rPr>
              <a:t>responses</a:t>
            </a:r>
            <a:endParaRPr sz="1300">
              <a:latin typeface="Century Gothic"/>
              <a:cs typeface="Century Gothic"/>
            </a:endParaRPr>
          </a:p>
        </p:txBody>
      </p:sp>
      <p:grpSp>
        <p:nvGrpSpPr>
          <p:cNvPr id="15" name="object 15"/>
          <p:cNvGrpSpPr/>
          <p:nvPr/>
        </p:nvGrpSpPr>
        <p:grpSpPr>
          <a:xfrm>
            <a:off x="5915025" y="4343400"/>
            <a:ext cx="4933950" cy="1095375"/>
            <a:chOff x="5915025" y="4343400"/>
            <a:chExt cx="4933950" cy="1095375"/>
          </a:xfrm>
        </p:grpSpPr>
        <p:sp>
          <p:nvSpPr>
            <p:cNvPr id="16" name="object 16"/>
            <p:cNvSpPr/>
            <p:nvPr/>
          </p:nvSpPr>
          <p:spPr>
            <a:xfrm>
              <a:off x="5934913" y="4343412"/>
              <a:ext cx="4914265" cy="1095375"/>
            </a:xfrm>
            <a:custGeom>
              <a:avLst/>
              <a:gdLst/>
              <a:ahLst/>
              <a:cxnLst/>
              <a:rect l="l" t="t" r="r" b="b"/>
              <a:pathLst>
                <a:path w="4914265" h="1095375">
                  <a:moveTo>
                    <a:pt x="4914023" y="51219"/>
                  </a:moveTo>
                  <a:lnTo>
                    <a:pt x="4912550" y="43827"/>
                  </a:lnTo>
                  <a:lnTo>
                    <a:pt x="4906530" y="29311"/>
                  </a:lnTo>
                  <a:lnTo>
                    <a:pt x="4902251" y="22910"/>
                  </a:lnTo>
                  <a:lnTo>
                    <a:pt x="4897171" y="17830"/>
                  </a:lnTo>
                  <a:lnTo>
                    <a:pt x="4896701" y="17348"/>
                  </a:lnTo>
                  <a:lnTo>
                    <a:pt x="4891138" y="11798"/>
                  </a:lnTo>
                  <a:lnTo>
                    <a:pt x="4884737" y="7518"/>
                  </a:lnTo>
                  <a:lnTo>
                    <a:pt x="4870310" y="1524"/>
                  </a:lnTo>
                  <a:lnTo>
                    <a:pt x="4862665" y="0"/>
                  </a:lnTo>
                  <a:lnTo>
                    <a:pt x="75349" y="0"/>
                  </a:lnTo>
                  <a:lnTo>
                    <a:pt x="67843" y="355"/>
                  </a:lnTo>
                  <a:lnTo>
                    <a:pt x="59931" y="1524"/>
                  </a:lnTo>
                  <a:lnTo>
                    <a:pt x="60159" y="1524"/>
                  </a:lnTo>
                  <a:lnTo>
                    <a:pt x="53263" y="3251"/>
                  </a:lnTo>
                  <a:lnTo>
                    <a:pt x="16421" y="27876"/>
                  </a:lnTo>
                  <a:lnTo>
                    <a:pt x="0" y="65430"/>
                  </a:lnTo>
                  <a:lnTo>
                    <a:pt x="1079" y="61328"/>
                  </a:lnTo>
                  <a:lnTo>
                    <a:pt x="8813" y="47332"/>
                  </a:lnTo>
                  <a:lnTo>
                    <a:pt x="46189" y="23393"/>
                  </a:lnTo>
                  <a:lnTo>
                    <a:pt x="75349" y="19050"/>
                  </a:lnTo>
                  <a:lnTo>
                    <a:pt x="4854803" y="19050"/>
                  </a:lnTo>
                  <a:lnTo>
                    <a:pt x="4892065" y="43827"/>
                  </a:lnTo>
                  <a:lnTo>
                    <a:pt x="4894999" y="59245"/>
                  </a:lnTo>
                  <a:lnTo>
                    <a:pt x="4894999" y="1036129"/>
                  </a:lnTo>
                  <a:lnTo>
                    <a:pt x="4894288" y="1043978"/>
                  </a:lnTo>
                  <a:lnTo>
                    <a:pt x="4894275" y="1044143"/>
                  </a:lnTo>
                  <a:lnTo>
                    <a:pt x="4892065" y="1051547"/>
                  </a:lnTo>
                  <a:lnTo>
                    <a:pt x="4888382" y="1058354"/>
                  </a:lnTo>
                  <a:lnTo>
                    <a:pt x="4883658" y="1064018"/>
                  </a:lnTo>
                  <a:lnTo>
                    <a:pt x="4883226" y="1064539"/>
                  </a:lnTo>
                  <a:lnTo>
                    <a:pt x="4877041" y="1069695"/>
                  </a:lnTo>
                  <a:lnTo>
                    <a:pt x="4870234" y="1073378"/>
                  </a:lnTo>
                  <a:lnTo>
                    <a:pt x="4862830" y="1075588"/>
                  </a:lnTo>
                  <a:lnTo>
                    <a:pt x="4854803" y="1076325"/>
                  </a:lnTo>
                  <a:lnTo>
                    <a:pt x="75349" y="1076325"/>
                  </a:lnTo>
                  <a:lnTo>
                    <a:pt x="33007" y="1066698"/>
                  </a:lnTo>
                  <a:lnTo>
                    <a:pt x="1079" y="1034034"/>
                  </a:lnTo>
                  <a:lnTo>
                    <a:pt x="0" y="1029931"/>
                  </a:lnTo>
                  <a:lnTo>
                    <a:pt x="609" y="1034034"/>
                  </a:lnTo>
                  <a:lnTo>
                    <a:pt x="2413" y="1041260"/>
                  </a:lnTo>
                  <a:lnTo>
                    <a:pt x="4851" y="1048042"/>
                  </a:lnTo>
                  <a:lnTo>
                    <a:pt x="4953" y="1048334"/>
                  </a:lnTo>
                  <a:lnTo>
                    <a:pt x="33007" y="1082535"/>
                  </a:lnTo>
                  <a:lnTo>
                    <a:pt x="75349" y="1095375"/>
                  </a:lnTo>
                  <a:lnTo>
                    <a:pt x="4862665" y="1095375"/>
                  </a:lnTo>
                  <a:lnTo>
                    <a:pt x="4869942" y="1093914"/>
                  </a:lnTo>
                  <a:lnTo>
                    <a:pt x="4870094" y="1093914"/>
                  </a:lnTo>
                  <a:lnTo>
                    <a:pt x="4884737" y="1087843"/>
                  </a:lnTo>
                  <a:lnTo>
                    <a:pt x="4891138" y="1083576"/>
                  </a:lnTo>
                  <a:lnTo>
                    <a:pt x="4896701" y="1078014"/>
                  </a:lnTo>
                  <a:lnTo>
                    <a:pt x="4897171" y="1077544"/>
                  </a:lnTo>
                  <a:lnTo>
                    <a:pt x="4902251" y="1072464"/>
                  </a:lnTo>
                  <a:lnTo>
                    <a:pt x="4906530" y="1066050"/>
                  </a:lnTo>
                  <a:lnTo>
                    <a:pt x="4912550" y="1051547"/>
                  </a:lnTo>
                  <a:lnTo>
                    <a:pt x="4914023" y="1044143"/>
                  </a:lnTo>
                  <a:lnTo>
                    <a:pt x="4914023" y="51219"/>
                  </a:lnTo>
                  <a:close/>
                </a:path>
              </a:pathLst>
            </a:custGeom>
            <a:solidFill>
              <a:srgbClr val="DFB7BB"/>
            </a:solidFill>
          </p:spPr>
          <p:txBody>
            <a:bodyPr wrap="square" lIns="0" tIns="0" rIns="0" bIns="0" rtlCol="0"/>
            <a:lstStyle/>
            <a:p>
              <a:endParaRPr/>
            </a:p>
          </p:txBody>
        </p:sp>
        <p:sp>
          <p:nvSpPr>
            <p:cNvPr id="17" name="object 17"/>
            <p:cNvSpPr/>
            <p:nvPr/>
          </p:nvSpPr>
          <p:spPr>
            <a:xfrm>
              <a:off x="5915025" y="4343400"/>
              <a:ext cx="76200" cy="1095375"/>
            </a:xfrm>
            <a:custGeom>
              <a:avLst/>
              <a:gdLst/>
              <a:ahLst/>
              <a:cxnLst/>
              <a:rect l="l" t="t" r="r" b="b"/>
              <a:pathLst>
                <a:path w="76200" h="1095375">
                  <a:moveTo>
                    <a:pt x="76200" y="0"/>
                  </a:moveTo>
                  <a:lnTo>
                    <a:pt x="55359" y="0"/>
                  </a:lnTo>
                  <a:lnTo>
                    <a:pt x="51498" y="381"/>
                  </a:lnTo>
                  <a:lnTo>
                    <a:pt x="14605" y="20104"/>
                  </a:lnTo>
                  <a:lnTo>
                    <a:pt x="0" y="55346"/>
                  </a:lnTo>
                  <a:lnTo>
                    <a:pt x="0" y="1036132"/>
                  </a:lnTo>
                  <a:lnTo>
                    <a:pt x="0" y="1040022"/>
                  </a:lnTo>
                  <a:lnTo>
                    <a:pt x="14605" y="1075269"/>
                  </a:lnTo>
                  <a:lnTo>
                    <a:pt x="51498" y="1094994"/>
                  </a:lnTo>
                  <a:lnTo>
                    <a:pt x="55359" y="1095376"/>
                  </a:lnTo>
                  <a:lnTo>
                    <a:pt x="76200" y="1095376"/>
                  </a:lnTo>
                  <a:lnTo>
                    <a:pt x="76200" y="0"/>
                  </a:lnTo>
                  <a:close/>
                </a:path>
              </a:pathLst>
            </a:custGeom>
            <a:solidFill>
              <a:srgbClr val="DA1B2D"/>
            </a:solidFill>
          </p:spPr>
          <p:txBody>
            <a:bodyPr wrap="square" lIns="0" tIns="0" rIns="0" bIns="0" rtlCol="0"/>
            <a:lstStyle/>
            <a:p>
              <a:endParaRPr/>
            </a:p>
          </p:txBody>
        </p:sp>
      </p:grpSp>
      <p:sp>
        <p:nvSpPr>
          <p:cNvPr id="18" name="object 18"/>
          <p:cNvSpPr txBox="1"/>
          <p:nvPr/>
        </p:nvSpPr>
        <p:spPr>
          <a:xfrm>
            <a:off x="6163665" y="4508055"/>
            <a:ext cx="2679065" cy="710565"/>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Analyze</a:t>
            </a:r>
            <a:endParaRPr sz="1750">
              <a:latin typeface="Verdana"/>
              <a:cs typeface="Verdana"/>
            </a:endParaRPr>
          </a:p>
          <a:p>
            <a:pPr marL="12700">
              <a:lnSpc>
                <a:spcPct val="100000"/>
              </a:lnSpc>
              <a:spcBef>
                <a:spcPts val="1725"/>
              </a:spcBef>
            </a:pPr>
            <a:r>
              <a:rPr sz="1300" spc="50" dirty="0">
                <a:solidFill>
                  <a:srgbClr val="3A3535"/>
                </a:solidFill>
                <a:latin typeface="Century Gothic"/>
                <a:cs typeface="Century Gothic"/>
              </a:rPr>
              <a:t>Dashboards</a:t>
            </a:r>
            <a:r>
              <a:rPr sz="1300" spc="-5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50" dirty="0">
                <a:solidFill>
                  <a:srgbClr val="3A3535"/>
                </a:solidFill>
                <a:latin typeface="Century Gothic"/>
                <a:cs typeface="Century Gothic"/>
              </a:rPr>
              <a:t> </a:t>
            </a:r>
            <a:r>
              <a:rPr sz="1300" spc="60" dirty="0">
                <a:solidFill>
                  <a:srgbClr val="3A3535"/>
                </a:solidFill>
                <a:latin typeface="Century Gothic"/>
                <a:cs typeface="Century Gothic"/>
              </a:rPr>
              <a:t>filtered</a:t>
            </a:r>
            <a:r>
              <a:rPr sz="1300" spc="-50" dirty="0">
                <a:solidFill>
                  <a:srgbClr val="3A3535"/>
                </a:solidFill>
                <a:latin typeface="Century Gothic"/>
                <a:cs typeface="Century Gothic"/>
              </a:rPr>
              <a:t> </a:t>
            </a:r>
            <a:r>
              <a:rPr sz="1300" spc="95" dirty="0">
                <a:solidFill>
                  <a:srgbClr val="3A3535"/>
                </a:solidFill>
                <a:latin typeface="Century Gothic"/>
                <a:cs typeface="Century Gothic"/>
              </a:rPr>
              <a:t>results</a:t>
            </a:r>
            <a:endParaRPr sz="1300">
              <a:latin typeface="Century Gothic"/>
              <a:cs typeface="Century Gothic"/>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579640" y="1589786"/>
            <a:ext cx="2985770" cy="560070"/>
          </a:xfrm>
          <a:prstGeom prst="rect">
            <a:avLst/>
          </a:prstGeom>
        </p:spPr>
        <p:txBody>
          <a:bodyPr vert="horz" wrap="square" lIns="0" tIns="13335" rIns="0" bIns="0" rtlCol="0">
            <a:spAutoFit/>
          </a:bodyPr>
          <a:lstStyle/>
          <a:p>
            <a:pPr marL="12700">
              <a:lnSpc>
                <a:spcPct val="100000"/>
              </a:lnSpc>
              <a:spcBef>
                <a:spcPts val="105"/>
              </a:spcBef>
            </a:pPr>
            <a:r>
              <a:rPr spc="-175" dirty="0"/>
              <a:t>Plugin</a:t>
            </a:r>
            <a:r>
              <a:rPr spc="-415" dirty="0"/>
              <a:t> </a:t>
            </a:r>
            <a:r>
              <a:rPr spc="-390" dirty="0"/>
              <a:t>2:</a:t>
            </a:r>
            <a:r>
              <a:rPr spc="-409" dirty="0"/>
              <a:t> </a:t>
            </a:r>
            <a:r>
              <a:rPr spc="-155" dirty="0"/>
              <a:t>LLM</a:t>
            </a:r>
          </a:p>
        </p:txBody>
      </p:sp>
      <p:sp>
        <p:nvSpPr>
          <p:cNvPr id="3" name="object 3"/>
          <p:cNvSpPr txBox="1"/>
          <p:nvPr/>
        </p:nvSpPr>
        <p:spPr>
          <a:xfrm>
            <a:off x="579635" y="2469075"/>
            <a:ext cx="10014585" cy="558800"/>
          </a:xfrm>
          <a:prstGeom prst="rect">
            <a:avLst/>
          </a:prstGeom>
        </p:spPr>
        <p:txBody>
          <a:bodyPr vert="horz" wrap="square" lIns="0" tIns="11430" rIns="0" bIns="0" rtlCol="0">
            <a:spAutoFit/>
          </a:bodyPr>
          <a:lstStyle/>
          <a:p>
            <a:pPr marL="12700" marR="5080">
              <a:lnSpc>
                <a:spcPct val="134600"/>
              </a:lnSpc>
              <a:spcBef>
                <a:spcPts val="90"/>
              </a:spcBef>
            </a:pPr>
            <a:r>
              <a:rPr sz="1300" spc="105" dirty="0">
                <a:solidFill>
                  <a:srgbClr val="3A3535"/>
                </a:solidFill>
                <a:latin typeface="Century Gothic"/>
                <a:cs typeface="Century Gothic"/>
              </a:rPr>
              <a:t>Not</a:t>
            </a:r>
            <a:r>
              <a:rPr sz="1300" spc="-15" dirty="0">
                <a:solidFill>
                  <a:srgbClr val="3A3535"/>
                </a:solidFill>
                <a:latin typeface="Century Gothic"/>
                <a:cs typeface="Century Gothic"/>
              </a:rPr>
              <a:t> </a:t>
            </a:r>
            <a:r>
              <a:rPr sz="1300" spc="125" dirty="0">
                <a:solidFill>
                  <a:srgbClr val="3A3535"/>
                </a:solidFill>
                <a:latin typeface="Century Gothic"/>
                <a:cs typeface="Century Gothic"/>
              </a:rPr>
              <a:t>just</a:t>
            </a:r>
            <a:r>
              <a:rPr sz="1300" dirty="0">
                <a:solidFill>
                  <a:srgbClr val="3A3535"/>
                </a:solidFill>
                <a:latin typeface="Century Gothic"/>
                <a:cs typeface="Century Gothic"/>
              </a:rPr>
              <a:t> </a:t>
            </a:r>
            <a:r>
              <a:rPr sz="1300" spc="-140" dirty="0">
                <a:solidFill>
                  <a:srgbClr val="3A3535"/>
                </a:solidFill>
                <a:latin typeface="Century Gothic"/>
                <a:cs typeface="Century Gothic"/>
              </a:rPr>
              <a:t>a</a:t>
            </a:r>
            <a:r>
              <a:rPr sz="1300" spc="-5" dirty="0">
                <a:solidFill>
                  <a:srgbClr val="3A3535"/>
                </a:solidFill>
                <a:latin typeface="Century Gothic"/>
                <a:cs typeface="Century Gothic"/>
              </a:rPr>
              <a:t> </a:t>
            </a:r>
            <a:r>
              <a:rPr sz="1300" dirty="0">
                <a:solidFill>
                  <a:srgbClr val="3A3535"/>
                </a:solidFill>
                <a:latin typeface="Century Gothic"/>
                <a:cs typeface="Century Gothic"/>
              </a:rPr>
              <a:t>chatbot</a:t>
            </a:r>
            <a:r>
              <a:rPr sz="1300" spc="-5" dirty="0">
                <a:solidFill>
                  <a:srgbClr val="3A3535"/>
                </a:solidFill>
                <a:latin typeface="Century Gothic"/>
                <a:cs typeface="Century Gothic"/>
              </a:rPr>
              <a:t> </a:t>
            </a:r>
            <a:r>
              <a:rPr sz="1300" spc="-125" dirty="0">
                <a:solidFill>
                  <a:srgbClr val="3A3535"/>
                </a:solidFill>
                <a:latin typeface="Century Gothic"/>
                <a:cs typeface="Century Gothic"/>
              </a:rPr>
              <a:t>—</a:t>
            </a:r>
            <a:r>
              <a:rPr sz="1300" spc="-5" dirty="0">
                <a:solidFill>
                  <a:srgbClr val="3A3535"/>
                </a:solidFill>
                <a:latin typeface="Century Gothic"/>
                <a:cs typeface="Century Gothic"/>
              </a:rPr>
              <a:t> </a:t>
            </a:r>
            <a:r>
              <a:rPr sz="1300" spc="-140" dirty="0">
                <a:solidFill>
                  <a:srgbClr val="3A3535"/>
                </a:solidFill>
                <a:latin typeface="Century Gothic"/>
                <a:cs typeface="Century Gothic"/>
              </a:rPr>
              <a:t>a</a:t>
            </a:r>
            <a:r>
              <a:rPr sz="1300" spc="-5" dirty="0">
                <a:solidFill>
                  <a:srgbClr val="3A3535"/>
                </a:solidFill>
                <a:latin typeface="Century Gothic"/>
                <a:cs typeface="Century Gothic"/>
              </a:rPr>
              <a:t> </a:t>
            </a:r>
            <a:r>
              <a:rPr sz="1300" b="1" spc="-35" dirty="0">
                <a:solidFill>
                  <a:srgbClr val="3A3535"/>
                </a:solidFill>
                <a:latin typeface="Verdana"/>
                <a:cs typeface="Verdana"/>
              </a:rPr>
              <a:t>controlled,</a:t>
            </a:r>
            <a:r>
              <a:rPr sz="1300" b="1" spc="-125" dirty="0">
                <a:solidFill>
                  <a:srgbClr val="3A3535"/>
                </a:solidFill>
                <a:latin typeface="Verdana"/>
                <a:cs typeface="Verdana"/>
              </a:rPr>
              <a:t> </a:t>
            </a:r>
            <a:r>
              <a:rPr sz="1300" b="1" spc="-35" dirty="0">
                <a:solidFill>
                  <a:srgbClr val="3A3535"/>
                </a:solidFill>
                <a:latin typeface="Verdana"/>
                <a:cs typeface="Verdana"/>
              </a:rPr>
              <a:t>testable</a:t>
            </a:r>
            <a:r>
              <a:rPr sz="1300" b="1" spc="-125" dirty="0">
                <a:solidFill>
                  <a:srgbClr val="3A3535"/>
                </a:solidFill>
                <a:latin typeface="Verdana"/>
                <a:cs typeface="Verdana"/>
              </a:rPr>
              <a:t> </a:t>
            </a:r>
            <a:r>
              <a:rPr sz="1300" b="1" spc="-130" dirty="0">
                <a:solidFill>
                  <a:srgbClr val="3A3535"/>
                </a:solidFill>
                <a:latin typeface="Verdana"/>
                <a:cs typeface="Verdana"/>
              </a:rPr>
              <a:t>AI</a:t>
            </a:r>
            <a:r>
              <a:rPr sz="1300" b="1" spc="-120" dirty="0">
                <a:solidFill>
                  <a:srgbClr val="3A3535"/>
                </a:solidFill>
                <a:latin typeface="Verdana"/>
                <a:cs typeface="Verdana"/>
              </a:rPr>
              <a:t> </a:t>
            </a:r>
            <a:r>
              <a:rPr sz="1300" b="1" spc="-25" dirty="0">
                <a:solidFill>
                  <a:srgbClr val="3A3535"/>
                </a:solidFill>
                <a:latin typeface="Verdana"/>
                <a:cs typeface="Verdana"/>
              </a:rPr>
              <a:t>component</a:t>
            </a:r>
            <a:r>
              <a:rPr sz="1300" b="1" spc="-90" dirty="0">
                <a:solidFill>
                  <a:srgbClr val="3A3535"/>
                </a:solidFill>
                <a:latin typeface="Verdana"/>
                <a:cs typeface="Verdana"/>
              </a:rPr>
              <a:t> </a:t>
            </a:r>
            <a:r>
              <a:rPr sz="1300" spc="-20" dirty="0">
                <a:solidFill>
                  <a:srgbClr val="3A3535"/>
                </a:solidFill>
                <a:latin typeface="Century Gothic"/>
                <a:cs typeface="Century Gothic"/>
              </a:rPr>
              <a:t>placed</a:t>
            </a:r>
            <a:r>
              <a:rPr sz="1300" spc="-5" dirty="0">
                <a:solidFill>
                  <a:srgbClr val="3A3535"/>
                </a:solidFill>
                <a:latin typeface="Century Gothic"/>
                <a:cs typeface="Century Gothic"/>
              </a:rPr>
              <a:t> </a:t>
            </a:r>
            <a:r>
              <a:rPr sz="1300" spc="80" dirty="0">
                <a:solidFill>
                  <a:srgbClr val="3A3535"/>
                </a:solidFill>
                <a:latin typeface="Century Gothic"/>
                <a:cs typeface="Century Gothic"/>
              </a:rPr>
              <a:t>inside</a:t>
            </a:r>
            <a:r>
              <a:rPr sz="1300" spc="-5" dirty="0">
                <a:solidFill>
                  <a:srgbClr val="3A3535"/>
                </a:solidFill>
                <a:latin typeface="Century Gothic"/>
                <a:cs typeface="Century Gothic"/>
              </a:rPr>
              <a:t> </a:t>
            </a:r>
            <a:r>
              <a:rPr sz="1300" spc="-140" dirty="0">
                <a:solidFill>
                  <a:srgbClr val="3A3535"/>
                </a:solidFill>
                <a:latin typeface="Century Gothic"/>
                <a:cs typeface="Century Gothic"/>
              </a:rPr>
              <a:t>a</a:t>
            </a:r>
            <a:r>
              <a:rPr sz="1300" spc="-5" dirty="0">
                <a:solidFill>
                  <a:srgbClr val="3A3535"/>
                </a:solidFill>
                <a:latin typeface="Century Gothic"/>
                <a:cs typeface="Century Gothic"/>
              </a:rPr>
              <a:t> </a:t>
            </a:r>
            <a:r>
              <a:rPr sz="1300" spc="-40" dirty="0">
                <a:solidFill>
                  <a:srgbClr val="3A3535"/>
                </a:solidFill>
                <a:latin typeface="Century Gothic"/>
                <a:cs typeface="Century Gothic"/>
              </a:rPr>
              <a:t>page</a:t>
            </a:r>
            <a:r>
              <a:rPr sz="1300" spc="-5" dirty="0">
                <a:solidFill>
                  <a:srgbClr val="3A3535"/>
                </a:solidFill>
                <a:latin typeface="Century Gothic"/>
                <a:cs typeface="Century Gothic"/>
              </a:rPr>
              <a:t> </a:t>
            </a:r>
            <a:r>
              <a:rPr sz="1300" spc="80" dirty="0">
                <a:solidFill>
                  <a:srgbClr val="3A3535"/>
                </a:solidFill>
                <a:latin typeface="Century Gothic"/>
                <a:cs typeface="Century Gothic"/>
              </a:rPr>
              <a:t>with</a:t>
            </a:r>
            <a:r>
              <a:rPr sz="1300" spc="-5" dirty="0">
                <a:solidFill>
                  <a:srgbClr val="3A3535"/>
                </a:solidFill>
                <a:latin typeface="Century Gothic"/>
                <a:cs typeface="Century Gothic"/>
              </a:rPr>
              <a:t> </a:t>
            </a:r>
            <a:r>
              <a:rPr sz="1300" spc="-140" dirty="0">
                <a:solidFill>
                  <a:srgbClr val="3A3535"/>
                </a:solidFill>
                <a:latin typeface="Century Gothic"/>
                <a:cs typeface="Century Gothic"/>
              </a:rPr>
              <a:t>a</a:t>
            </a:r>
            <a:r>
              <a:rPr sz="1300" spc="-5" dirty="0">
                <a:solidFill>
                  <a:srgbClr val="3A3535"/>
                </a:solidFill>
                <a:latin typeface="Century Gothic"/>
                <a:cs typeface="Century Gothic"/>
              </a:rPr>
              <a:t> </a:t>
            </a:r>
            <a:r>
              <a:rPr sz="1300" dirty="0">
                <a:solidFill>
                  <a:srgbClr val="3A3535"/>
                </a:solidFill>
                <a:latin typeface="Century Gothic"/>
                <a:cs typeface="Century Gothic"/>
              </a:rPr>
              <a:t>clear</a:t>
            </a:r>
            <a:r>
              <a:rPr sz="1300" spc="-5" dirty="0">
                <a:solidFill>
                  <a:srgbClr val="3A3535"/>
                </a:solidFill>
                <a:latin typeface="Century Gothic"/>
                <a:cs typeface="Century Gothic"/>
              </a:rPr>
              <a:t> </a:t>
            </a:r>
            <a:r>
              <a:rPr sz="1300" spc="55" dirty="0">
                <a:solidFill>
                  <a:srgbClr val="3A3535"/>
                </a:solidFill>
                <a:latin typeface="Century Gothic"/>
                <a:cs typeface="Century Gothic"/>
              </a:rPr>
              <a:t>role</a:t>
            </a:r>
            <a:r>
              <a:rPr sz="130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5" dirty="0">
                <a:solidFill>
                  <a:srgbClr val="3A3535"/>
                </a:solidFill>
                <a:latin typeface="Century Gothic"/>
                <a:cs typeface="Century Gothic"/>
              </a:rPr>
              <a:t> </a:t>
            </a:r>
            <a:r>
              <a:rPr sz="1300" dirty="0">
                <a:solidFill>
                  <a:srgbClr val="3A3535"/>
                </a:solidFill>
                <a:latin typeface="Century Gothic"/>
                <a:cs typeface="Century Gothic"/>
              </a:rPr>
              <a:t>context.</a:t>
            </a:r>
            <a:r>
              <a:rPr sz="1300" spc="-5" dirty="0">
                <a:solidFill>
                  <a:srgbClr val="3A3535"/>
                </a:solidFill>
                <a:latin typeface="Century Gothic"/>
                <a:cs typeface="Century Gothic"/>
              </a:rPr>
              <a:t> </a:t>
            </a:r>
            <a:r>
              <a:rPr sz="1300" spc="40" dirty="0">
                <a:solidFill>
                  <a:srgbClr val="3A3535"/>
                </a:solidFill>
                <a:latin typeface="Century Gothic"/>
                <a:cs typeface="Century Gothic"/>
              </a:rPr>
              <a:t>Currently </a:t>
            </a:r>
            <a:r>
              <a:rPr sz="1300" spc="90" dirty="0">
                <a:solidFill>
                  <a:srgbClr val="3A3535"/>
                </a:solidFill>
                <a:latin typeface="Century Gothic"/>
                <a:cs typeface="Century Gothic"/>
              </a:rPr>
              <a:t>using</a:t>
            </a:r>
            <a:r>
              <a:rPr sz="1300" spc="-5" dirty="0">
                <a:solidFill>
                  <a:srgbClr val="3A3535"/>
                </a:solidFill>
                <a:latin typeface="Century Gothic"/>
                <a:cs typeface="Century Gothic"/>
              </a:rPr>
              <a:t> </a:t>
            </a:r>
            <a:r>
              <a:rPr sz="1300" dirty="0">
                <a:solidFill>
                  <a:srgbClr val="3A3535"/>
                </a:solidFill>
                <a:latin typeface="Century Gothic"/>
                <a:cs typeface="Century Gothic"/>
              </a:rPr>
              <a:t>the</a:t>
            </a:r>
            <a:r>
              <a:rPr sz="1300" spc="-5" dirty="0">
                <a:solidFill>
                  <a:srgbClr val="3A3535"/>
                </a:solidFill>
                <a:latin typeface="Century Gothic"/>
                <a:cs typeface="Century Gothic"/>
              </a:rPr>
              <a:t> </a:t>
            </a:r>
            <a:r>
              <a:rPr sz="1300" spc="80" dirty="0">
                <a:solidFill>
                  <a:srgbClr val="3A3535"/>
                </a:solidFill>
                <a:latin typeface="Century Gothic"/>
                <a:cs typeface="Century Gothic"/>
              </a:rPr>
              <a:t>university's</a:t>
            </a:r>
            <a:r>
              <a:rPr sz="1300" spc="-5" dirty="0">
                <a:solidFill>
                  <a:srgbClr val="3A3535"/>
                </a:solidFill>
                <a:latin typeface="Century Gothic"/>
                <a:cs typeface="Century Gothic"/>
              </a:rPr>
              <a:t> </a:t>
            </a:r>
            <a:r>
              <a:rPr sz="1300" dirty="0">
                <a:solidFill>
                  <a:srgbClr val="3A3535"/>
                </a:solidFill>
                <a:latin typeface="Century Gothic"/>
                <a:cs typeface="Century Gothic"/>
              </a:rPr>
              <a:t>local</a:t>
            </a:r>
            <a:r>
              <a:rPr sz="1300" spc="-5" dirty="0">
                <a:solidFill>
                  <a:srgbClr val="3A3535"/>
                </a:solidFill>
                <a:latin typeface="Century Gothic"/>
                <a:cs typeface="Century Gothic"/>
              </a:rPr>
              <a:t> </a:t>
            </a:r>
            <a:r>
              <a:rPr sz="1300" spc="80" dirty="0">
                <a:solidFill>
                  <a:srgbClr val="3A3535"/>
                </a:solidFill>
                <a:latin typeface="Century Gothic"/>
                <a:cs typeface="Century Gothic"/>
              </a:rPr>
              <a:t>LLM</a:t>
            </a:r>
            <a:r>
              <a:rPr sz="1300" dirty="0">
                <a:solidFill>
                  <a:srgbClr val="3A3535"/>
                </a:solidFill>
                <a:latin typeface="Century Gothic"/>
                <a:cs typeface="Century Gothic"/>
              </a:rPr>
              <a:t> </a:t>
            </a:r>
            <a:r>
              <a:rPr sz="1300" spc="55" dirty="0">
                <a:solidFill>
                  <a:srgbClr val="3A3535"/>
                </a:solidFill>
                <a:latin typeface="Century Gothic"/>
                <a:cs typeface="Century Gothic"/>
              </a:rPr>
              <a:t>infrastructure.</a:t>
            </a:r>
            <a:endParaRPr sz="1300" dirty="0">
              <a:latin typeface="Century Gothic"/>
              <a:cs typeface="Century Gothic"/>
            </a:endParaRPr>
          </a:p>
        </p:txBody>
      </p:sp>
      <p:pic>
        <p:nvPicPr>
          <p:cNvPr id="4" name="object 4"/>
          <p:cNvPicPr/>
          <p:nvPr/>
        </p:nvPicPr>
        <p:blipFill>
          <a:blip r:embed="rId3" cstate="print"/>
          <a:stretch>
            <a:fillRect/>
          </a:stretch>
        </p:blipFill>
        <p:spPr>
          <a:xfrm>
            <a:off x="581181" y="3272007"/>
            <a:ext cx="441854" cy="394199"/>
          </a:xfrm>
          <a:prstGeom prst="rect">
            <a:avLst/>
          </a:prstGeom>
        </p:spPr>
      </p:pic>
      <p:sp>
        <p:nvSpPr>
          <p:cNvPr id="5" name="object 5"/>
          <p:cNvSpPr txBox="1"/>
          <p:nvPr/>
        </p:nvSpPr>
        <p:spPr>
          <a:xfrm>
            <a:off x="579640" y="3860355"/>
            <a:ext cx="3086735" cy="643890"/>
          </a:xfrm>
          <a:prstGeom prst="rect">
            <a:avLst/>
          </a:prstGeom>
        </p:spPr>
        <p:txBody>
          <a:bodyPr vert="horz" wrap="square" lIns="0" tIns="12700" rIns="0" bIns="0" rtlCol="0">
            <a:spAutoFit/>
          </a:bodyPr>
          <a:lstStyle/>
          <a:p>
            <a:pPr marL="12700">
              <a:lnSpc>
                <a:spcPct val="100000"/>
              </a:lnSpc>
              <a:spcBef>
                <a:spcPts val="100"/>
              </a:spcBef>
            </a:pPr>
            <a:r>
              <a:rPr sz="1750" b="1" spc="-85" dirty="0">
                <a:solidFill>
                  <a:srgbClr val="3A3535"/>
                </a:solidFill>
                <a:latin typeface="Verdana"/>
                <a:cs typeface="Verdana"/>
              </a:rPr>
              <a:t>Flexible</a:t>
            </a:r>
            <a:r>
              <a:rPr sz="1750" b="1" spc="-170" dirty="0">
                <a:solidFill>
                  <a:srgbClr val="3A3535"/>
                </a:solidFill>
                <a:latin typeface="Verdana"/>
                <a:cs typeface="Verdana"/>
              </a:rPr>
              <a:t> </a:t>
            </a:r>
            <a:r>
              <a:rPr sz="1750" b="1" spc="-10" dirty="0">
                <a:solidFill>
                  <a:srgbClr val="3A3535"/>
                </a:solidFill>
                <a:latin typeface="Verdana"/>
                <a:cs typeface="Verdana"/>
              </a:rPr>
              <a:t>Input</a:t>
            </a:r>
            <a:endParaRPr sz="1750" dirty="0">
              <a:latin typeface="Verdana"/>
              <a:cs typeface="Verdana"/>
            </a:endParaRPr>
          </a:p>
          <a:p>
            <a:pPr marL="12700">
              <a:lnSpc>
                <a:spcPct val="100000"/>
              </a:lnSpc>
              <a:spcBef>
                <a:spcPts val="1200"/>
              </a:spcBef>
            </a:pPr>
            <a:r>
              <a:rPr sz="1300" spc="55" dirty="0">
                <a:solidFill>
                  <a:srgbClr val="3A3535"/>
                </a:solidFill>
                <a:latin typeface="Century Gothic"/>
                <a:cs typeface="Century Gothic"/>
              </a:rPr>
              <a:t>Text,</a:t>
            </a:r>
            <a:r>
              <a:rPr sz="1300" spc="15" dirty="0">
                <a:solidFill>
                  <a:srgbClr val="3A3535"/>
                </a:solidFill>
                <a:latin typeface="Century Gothic"/>
                <a:cs typeface="Century Gothic"/>
              </a:rPr>
              <a:t> </a:t>
            </a:r>
            <a:r>
              <a:rPr sz="1300" dirty="0">
                <a:solidFill>
                  <a:srgbClr val="3A3535"/>
                </a:solidFill>
                <a:latin typeface="Century Gothic"/>
                <a:cs typeface="Century Gothic"/>
              </a:rPr>
              <a:t>file,</a:t>
            </a:r>
            <a:r>
              <a:rPr sz="1300" spc="15" dirty="0">
                <a:solidFill>
                  <a:srgbClr val="3A3535"/>
                </a:solidFill>
                <a:latin typeface="Century Gothic"/>
                <a:cs typeface="Century Gothic"/>
              </a:rPr>
              <a:t> </a:t>
            </a:r>
            <a:r>
              <a:rPr sz="1300" dirty="0">
                <a:solidFill>
                  <a:srgbClr val="3A3535"/>
                </a:solidFill>
                <a:latin typeface="Century Gothic"/>
                <a:cs typeface="Century Gothic"/>
              </a:rPr>
              <a:t>image,</a:t>
            </a:r>
            <a:r>
              <a:rPr sz="1300" spc="1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15" dirty="0">
                <a:solidFill>
                  <a:srgbClr val="3A3535"/>
                </a:solidFill>
                <a:latin typeface="Century Gothic"/>
                <a:cs typeface="Century Gothic"/>
              </a:rPr>
              <a:t> </a:t>
            </a:r>
            <a:r>
              <a:rPr sz="1300" spc="65" dirty="0">
                <a:solidFill>
                  <a:srgbClr val="3A3535"/>
                </a:solidFill>
                <a:latin typeface="Century Gothic"/>
                <a:cs typeface="Century Gothic"/>
              </a:rPr>
              <a:t>speech-</a:t>
            </a:r>
            <a:r>
              <a:rPr sz="1300" spc="100" dirty="0">
                <a:solidFill>
                  <a:srgbClr val="3A3535"/>
                </a:solidFill>
                <a:latin typeface="Century Gothic"/>
                <a:cs typeface="Century Gothic"/>
              </a:rPr>
              <a:t>to-</a:t>
            </a:r>
            <a:r>
              <a:rPr sz="1300" spc="40" dirty="0">
                <a:solidFill>
                  <a:srgbClr val="3A3535"/>
                </a:solidFill>
                <a:latin typeface="Century Gothic"/>
                <a:cs typeface="Century Gothic"/>
              </a:rPr>
              <a:t>text</a:t>
            </a:r>
            <a:endParaRPr sz="1300" dirty="0">
              <a:latin typeface="Century Gothic"/>
              <a:cs typeface="Century Gothic"/>
            </a:endParaRPr>
          </a:p>
        </p:txBody>
      </p:sp>
      <p:grpSp>
        <p:nvGrpSpPr>
          <p:cNvPr id="6" name="object 6"/>
          <p:cNvGrpSpPr/>
          <p:nvPr/>
        </p:nvGrpSpPr>
        <p:grpSpPr>
          <a:xfrm>
            <a:off x="4067327" y="3250322"/>
            <a:ext cx="441959" cy="438150"/>
            <a:chOff x="4067327" y="3250322"/>
            <a:chExt cx="441959" cy="438150"/>
          </a:xfrm>
        </p:grpSpPr>
        <p:sp>
          <p:nvSpPr>
            <p:cNvPr id="7" name="object 7"/>
            <p:cNvSpPr/>
            <p:nvPr/>
          </p:nvSpPr>
          <p:spPr>
            <a:xfrm>
              <a:off x="4076699" y="3288461"/>
              <a:ext cx="300990" cy="390525"/>
            </a:xfrm>
            <a:custGeom>
              <a:avLst/>
              <a:gdLst/>
              <a:ahLst/>
              <a:cxnLst/>
              <a:rect l="l" t="t" r="r" b="b"/>
              <a:pathLst>
                <a:path w="300989" h="390525">
                  <a:moveTo>
                    <a:pt x="103047" y="0"/>
                  </a:moveTo>
                  <a:lnTo>
                    <a:pt x="71882" y="22364"/>
                  </a:lnTo>
                  <a:lnTo>
                    <a:pt x="41657" y="55133"/>
                  </a:lnTo>
                  <a:lnTo>
                    <a:pt x="20948" y="88813"/>
                  </a:lnTo>
                  <a:lnTo>
                    <a:pt x="6112" y="129952"/>
                  </a:lnTo>
                  <a:lnTo>
                    <a:pt x="206" y="173550"/>
                  </a:lnTo>
                  <a:lnTo>
                    <a:pt x="0" y="180657"/>
                  </a:lnTo>
                  <a:lnTo>
                    <a:pt x="311" y="188182"/>
                  </a:lnTo>
                  <a:lnTo>
                    <a:pt x="5641" y="227703"/>
                  </a:lnTo>
                  <a:lnTo>
                    <a:pt x="19507" y="268274"/>
                  </a:lnTo>
                  <a:lnTo>
                    <a:pt x="39865" y="302615"/>
                  </a:lnTo>
                  <a:lnTo>
                    <a:pt x="65263" y="331483"/>
                  </a:lnTo>
                  <a:lnTo>
                    <a:pt x="98026" y="356923"/>
                  </a:lnTo>
                  <a:lnTo>
                    <a:pt x="137380" y="376861"/>
                  </a:lnTo>
                  <a:lnTo>
                    <a:pt x="179908" y="387934"/>
                  </a:lnTo>
                  <a:lnTo>
                    <a:pt x="209435" y="390093"/>
                  </a:lnTo>
                  <a:lnTo>
                    <a:pt x="219031" y="389649"/>
                  </a:lnTo>
                  <a:lnTo>
                    <a:pt x="259377" y="384365"/>
                  </a:lnTo>
                  <a:lnTo>
                    <a:pt x="294208" y="373405"/>
                  </a:lnTo>
                  <a:lnTo>
                    <a:pt x="300710" y="370674"/>
                  </a:lnTo>
                </a:path>
              </a:pathLst>
            </a:custGeom>
            <a:ln w="18745">
              <a:solidFill>
                <a:srgbClr val="DA1B2D"/>
              </a:solidFill>
            </a:ln>
          </p:spPr>
          <p:txBody>
            <a:bodyPr wrap="square" lIns="0" tIns="0" rIns="0" bIns="0" rtlCol="0"/>
            <a:lstStyle/>
            <a:p>
              <a:endParaRPr/>
            </a:p>
          </p:txBody>
        </p:sp>
        <p:sp>
          <p:nvSpPr>
            <p:cNvPr id="8" name="object 8"/>
            <p:cNvSpPr/>
            <p:nvPr/>
          </p:nvSpPr>
          <p:spPr>
            <a:xfrm>
              <a:off x="4179747" y="3259694"/>
              <a:ext cx="120014" cy="29209"/>
            </a:xfrm>
            <a:custGeom>
              <a:avLst/>
              <a:gdLst/>
              <a:ahLst/>
              <a:cxnLst/>
              <a:rect l="l" t="t" r="r" b="b"/>
              <a:pathLst>
                <a:path w="120014" h="29210">
                  <a:moveTo>
                    <a:pt x="119811" y="39"/>
                  </a:moveTo>
                  <a:lnTo>
                    <a:pt x="71907" y="2541"/>
                  </a:lnTo>
                  <a:lnTo>
                    <a:pt x="28041" y="14961"/>
                  </a:lnTo>
                  <a:lnTo>
                    <a:pt x="6938" y="25116"/>
                  </a:lnTo>
                  <a:lnTo>
                    <a:pt x="0" y="28766"/>
                  </a:lnTo>
                </a:path>
              </a:pathLst>
            </a:custGeom>
            <a:ln w="18745">
              <a:solidFill>
                <a:srgbClr val="DA1B2D"/>
              </a:solidFill>
            </a:ln>
          </p:spPr>
          <p:txBody>
            <a:bodyPr wrap="square" lIns="0" tIns="0" rIns="0" bIns="0" rtlCol="0"/>
            <a:lstStyle/>
            <a:p>
              <a:endParaRPr/>
            </a:p>
          </p:txBody>
        </p:sp>
        <p:sp>
          <p:nvSpPr>
            <p:cNvPr id="9" name="object 9"/>
            <p:cNvSpPr/>
            <p:nvPr/>
          </p:nvSpPr>
          <p:spPr>
            <a:xfrm>
              <a:off x="4342358" y="3382124"/>
              <a:ext cx="85090" cy="85725"/>
            </a:xfrm>
            <a:custGeom>
              <a:avLst/>
              <a:gdLst/>
              <a:ahLst/>
              <a:cxnLst/>
              <a:rect l="l" t="t" r="r" b="b"/>
              <a:pathLst>
                <a:path w="85089" h="85725">
                  <a:moveTo>
                    <a:pt x="0" y="0"/>
                  </a:moveTo>
                  <a:lnTo>
                    <a:pt x="84543" y="85636"/>
                  </a:lnTo>
                </a:path>
              </a:pathLst>
            </a:custGeom>
            <a:ln w="18745">
              <a:solidFill>
                <a:srgbClr val="DA1B2D"/>
              </a:solidFill>
            </a:ln>
          </p:spPr>
          <p:txBody>
            <a:bodyPr wrap="square" lIns="0" tIns="0" rIns="0" bIns="0" rtlCol="0"/>
            <a:lstStyle/>
            <a:p>
              <a:endParaRPr/>
            </a:p>
          </p:txBody>
        </p:sp>
        <p:sp>
          <p:nvSpPr>
            <p:cNvPr id="10" name="object 10"/>
            <p:cNvSpPr/>
            <p:nvPr/>
          </p:nvSpPr>
          <p:spPr>
            <a:xfrm>
              <a:off x="4342396" y="3467760"/>
              <a:ext cx="85090" cy="83820"/>
            </a:xfrm>
            <a:custGeom>
              <a:avLst/>
              <a:gdLst/>
              <a:ahLst/>
              <a:cxnLst/>
              <a:rect l="l" t="t" r="r" b="b"/>
              <a:pathLst>
                <a:path w="85089" h="83820">
                  <a:moveTo>
                    <a:pt x="0" y="83693"/>
                  </a:moveTo>
                  <a:lnTo>
                    <a:pt x="84505" y="0"/>
                  </a:lnTo>
                </a:path>
              </a:pathLst>
            </a:custGeom>
            <a:ln w="18745">
              <a:solidFill>
                <a:srgbClr val="DA1B2D"/>
              </a:solidFill>
            </a:ln>
          </p:spPr>
          <p:txBody>
            <a:bodyPr wrap="square" lIns="0" tIns="0" rIns="0" bIns="0" rtlCol="0"/>
            <a:lstStyle/>
            <a:p>
              <a:endParaRPr/>
            </a:p>
          </p:txBody>
        </p:sp>
        <p:sp>
          <p:nvSpPr>
            <p:cNvPr id="11" name="object 11"/>
            <p:cNvSpPr/>
            <p:nvPr/>
          </p:nvSpPr>
          <p:spPr>
            <a:xfrm>
              <a:off x="4150207" y="3382708"/>
              <a:ext cx="85090" cy="168275"/>
            </a:xfrm>
            <a:custGeom>
              <a:avLst/>
              <a:gdLst/>
              <a:ahLst/>
              <a:cxnLst/>
              <a:rect l="l" t="t" r="r" b="b"/>
              <a:pathLst>
                <a:path w="85089" h="168275">
                  <a:moveTo>
                    <a:pt x="84759" y="0"/>
                  </a:moveTo>
                  <a:lnTo>
                    <a:pt x="0" y="84785"/>
                  </a:lnTo>
                  <a:lnTo>
                    <a:pt x="83756" y="167830"/>
                  </a:lnTo>
                </a:path>
              </a:pathLst>
            </a:custGeom>
            <a:ln w="18745">
              <a:solidFill>
                <a:srgbClr val="DA1B2D"/>
              </a:solidFill>
            </a:ln>
          </p:spPr>
          <p:txBody>
            <a:bodyPr wrap="square" lIns="0" tIns="0" rIns="0" bIns="0" rtlCol="0"/>
            <a:lstStyle/>
            <a:p>
              <a:endParaRPr/>
            </a:p>
          </p:txBody>
        </p:sp>
        <p:sp>
          <p:nvSpPr>
            <p:cNvPr id="12" name="object 12"/>
            <p:cNvSpPr/>
            <p:nvPr/>
          </p:nvSpPr>
          <p:spPr>
            <a:xfrm>
              <a:off x="4377410" y="3459848"/>
              <a:ext cx="122555" cy="199390"/>
            </a:xfrm>
            <a:custGeom>
              <a:avLst/>
              <a:gdLst/>
              <a:ahLst/>
              <a:cxnLst/>
              <a:rect l="l" t="t" r="r" b="b"/>
              <a:pathLst>
                <a:path w="122554" h="199389">
                  <a:moveTo>
                    <a:pt x="0" y="199301"/>
                  </a:moveTo>
                  <a:lnTo>
                    <a:pt x="33667" y="180140"/>
                  </a:lnTo>
                  <a:lnTo>
                    <a:pt x="63198" y="155084"/>
                  </a:lnTo>
                  <a:lnTo>
                    <a:pt x="87562" y="124984"/>
                  </a:lnTo>
                  <a:lnTo>
                    <a:pt x="105930" y="90881"/>
                  </a:lnTo>
                  <a:lnTo>
                    <a:pt x="117654" y="53960"/>
                  </a:lnTo>
                  <a:lnTo>
                    <a:pt x="122329" y="15519"/>
                  </a:lnTo>
                  <a:lnTo>
                    <a:pt x="122398" y="7765"/>
                  </a:lnTo>
                  <a:lnTo>
                    <a:pt x="122174" y="0"/>
                  </a:lnTo>
                </a:path>
              </a:pathLst>
            </a:custGeom>
            <a:ln w="18745">
              <a:solidFill>
                <a:srgbClr val="DA1B2D"/>
              </a:solidFill>
            </a:ln>
          </p:spPr>
          <p:txBody>
            <a:bodyPr wrap="square" lIns="0" tIns="0" rIns="0" bIns="0" rtlCol="0"/>
            <a:lstStyle/>
            <a:p>
              <a:endParaRPr/>
            </a:p>
          </p:txBody>
        </p:sp>
        <p:sp>
          <p:nvSpPr>
            <p:cNvPr id="13" name="object 13"/>
            <p:cNvSpPr/>
            <p:nvPr/>
          </p:nvSpPr>
          <p:spPr>
            <a:xfrm>
              <a:off x="4492561" y="3412655"/>
              <a:ext cx="7620" cy="47625"/>
            </a:xfrm>
            <a:custGeom>
              <a:avLst/>
              <a:gdLst/>
              <a:ahLst/>
              <a:cxnLst/>
              <a:rect l="l" t="t" r="r" b="b"/>
              <a:pathLst>
                <a:path w="7620" h="47625">
                  <a:moveTo>
                    <a:pt x="7213" y="47193"/>
                  </a:moveTo>
                  <a:lnTo>
                    <a:pt x="0" y="0"/>
                  </a:lnTo>
                </a:path>
              </a:pathLst>
            </a:custGeom>
            <a:ln w="18745">
              <a:solidFill>
                <a:srgbClr val="DA1B2D"/>
              </a:solidFill>
            </a:ln>
          </p:spPr>
          <p:txBody>
            <a:bodyPr wrap="square" lIns="0" tIns="0" rIns="0" bIns="0" rtlCol="0"/>
            <a:lstStyle/>
            <a:p>
              <a:endParaRPr/>
            </a:p>
          </p:txBody>
        </p:sp>
        <p:sp>
          <p:nvSpPr>
            <p:cNvPr id="14" name="object 14"/>
            <p:cNvSpPr/>
            <p:nvPr/>
          </p:nvSpPr>
          <p:spPr>
            <a:xfrm>
              <a:off x="4299546" y="3259950"/>
              <a:ext cx="193675" cy="153035"/>
            </a:xfrm>
            <a:custGeom>
              <a:avLst/>
              <a:gdLst/>
              <a:ahLst/>
              <a:cxnLst/>
              <a:rect l="l" t="t" r="r" b="b"/>
              <a:pathLst>
                <a:path w="193675" h="153035">
                  <a:moveTo>
                    <a:pt x="193128" y="152679"/>
                  </a:moveTo>
                  <a:lnTo>
                    <a:pt x="178080" y="114516"/>
                  </a:lnTo>
                  <a:lnTo>
                    <a:pt x="155929" y="80002"/>
                  </a:lnTo>
                  <a:lnTo>
                    <a:pt x="127519" y="50434"/>
                  </a:lnTo>
                  <a:lnTo>
                    <a:pt x="93903" y="26924"/>
                  </a:lnTo>
                  <a:lnTo>
                    <a:pt x="56382" y="10359"/>
                  </a:lnTo>
                  <a:lnTo>
                    <a:pt x="16375" y="1385"/>
                  </a:lnTo>
                  <a:lnTo>
                    <a:pt x="8208" y="536"/>
                  </a:lnTo>
                  <a:lnTo>
                    <a:pt x="0" y="0"/>
                  </a:lnTo>
                </a:path>
              </a:pathLst>
            </a:custGeom>
            <a:ln w="18745">
              <a:solidFill>
                <a:srgbClr val="DA1B2D"/>
              </a:solidFill>
            </a:ln>
          </p:spPr>
          <p:txBody>
            <a:bodyPr wrap="square" lIns="0" tIns="0" rIns="0" bIns="0" rtlCol="0"/>
            <a:lstStyle/>
            <a:p>
              <a:endParaRPr/>
            </a:p>
          </p:txBody>
        </p:sp>
      </p:grpSp>
      <p:sp>
        <p:nvSpPr>
          <p:cNvPr id="15" name="object 15"/>
          <p:cNvSpPr txBox="1"/>
          <p:nvPr/>
        </p:nvSpPr>
        <p:spPr>
          <a:xfrm>
            <a:off x="4065193" y="3860355"/>
            <a:ext cx="2828290" cy="920115"/>
          </a:xfrm>
          <a:prstGeom prst="rect">
            <a:avLst/>
          </a:prstGeom>
        </p:spPr>
        <p:txBody>
          <a:bodyPr vert="horz" wrap="square" lIns="0" tIns="12700" rIns="0" bIns="0" rtlCol="0">
            <a:spAutoFit/>
          </a:bodyPr>
          <a:lstStyle/>
          <a:p>
            <a:pPr marL="12700">
              <a:lnSpc>
                <a:spcPct val="100000"/>
              </a:lnSpc>
              <a:spcBef>
                <a:spcPts val="100"/>
              </a:spcBef>
            </a:pPr>
            <a:r>
              <a:rPr sz="1750" b="1" spc="-85" dirty="0">
                <a:solidFill>
                  <a:srgbClr val="3A3535"/>
                </a:solidFill>
                <a:latin typeface="Verdana"/>
                <a:cs typeface="Verdana"/>
              </a:rPr>
              <a:t>Structured</a:t>
            </a:r>
            <a:r>
              <a:rPr sz="1750" b="1" spc="-125" dirty="0">
                <a:solidFill>
                  <a:srgbClr val="3A3535"/>
                </a:solidFill>
                <a:latin typeface="Verdana"/>
                <a:cs typeface="Verdana"/>
              </a:rPr>
              <a:t> </a:t>
            </a:r>
            <a:r>
              <a:rPr sz="1750" b="1" spc="-10" dirty="0">
                <a:solidFill>
                  <a:srgbClr val="3A3535"/>
                </a:solidFill>
                <a:latin typeface="Verdana"/>
                <a:cs typeface="Verdana"/>
              </a:rPr>
              <a:t>Output</a:t>
            </a:r>
            <a:endParaRPr sz="1750">
              <a:latin typeface="Verdana"/>
              <a:cs typeface="Verdana"/>
            </a:endParaRPr>
          </a:p>
          <a:p>
            <a:pPr marL="12700" marR="5080">
              <a:lnSpc>
                <a:spcPct val="139400"/>
              </a:lnSpc>
              <a:spcBef>
                <a:spcPts val="585"/>
              </a:spcBef>
            </a:pPr>
            <a:r>
              <a:rPr sz="1300" spc="50" dirty="0">
                <a:solidFill>
                  <a:srgbClr val="3A3535"/>
                </a:solidFill>
                <a:latin typeface="Century Gothic"/>
                <a:cs typeface="Century Gothic"/>
              </a:rPr>
              <a:t>Conversation</a:t>
            </a:r>
            <a:r>
              <a:rPr sz="1300" spc="-45" dirty="0">
                <a:solidFill>
                  <a:srgbClr val="3A3535"/>
                </a:solidFill>
                <a:latin typeface="Century Gothic"/>
                <a:cs typeface="Century Gothic"/>
              </a:rPr>
              <a:t> </a:t>
            </a:r>
            <a:r>
              <a:rPr sz="1300" spc="90" dirty="0">
                <a:solidFill>
                  <a:srgbClr val="3A3535"/>
                </a:solidFill>
                <a:latin typeface="Century Gothic"/>
                <a:cs typeface="Century Gothic"/>
              </a:rPr>
              <a:t>or</a:t>
            </a:r>
            <a:r>
              <a:rPr sz="1300" spc="-40" dirty="0">
                <a:solidFill>
                  <a:srgbClr val="3A3535"/>
                </a:solidFill>
                <a:latin typeface="Century Gothic"/>
                <a:cs typeface="Century Gothic"/>
              </a:rPr>
              <a:t> </a:t>
            </a:r>
            <a:r>
              <a:rPr sz="1300" spc="130" dirty="0">
                <a:solidFill>
                  <a:srgbClr val="3A3535"/>
                </a:solidFill>
                <a:latin typeface="Century Gothic"/>
                <a:cs typeface="Century Gothic"/>
              </a:rPr>
              <a:t>JSON,</a:t>
            </a:r>
            <a:r>
              <a:rPr sz="1300" spc="-40" dirty="0">
                <a:solidFill>
                  <a:srgbClr val="3A3535"/>
                </a:solidFill>
                <a:latin typeface="Century Gothic"/>
                <a:cs typeface="Century Gothic"/>
              </a:rPr>
              <a:t> </a:t>
            </a:r>
            <a:r>
              <a:rPr sz="1300" spc="45" dirty="0">
                <a:solidFill>
                  <a:srgbClr val="3A3535"/>
                </a:solidFill>
                <a:latin typeface="Century Gothic"/>
                <a:cs typeface="Century Gothic"/>
              </a:rPr>
              <a:t>including </a:t>
            </a:r>
            <a:r>
              <a:rPr sz="1300" spc="75" dirty="0">
                <a:solidFill>
                  <a:srgbClr val="3A3535"/>
                </a:solidFill>
                <a:latin typeface="Century Gothic"/>
                <a:cs typeface="Century Gothic"/>
              </a:rPr>
              <a:t>OpenAI-</a:t>
            </a:r>
            <a:r>
              <a:rPr sz="1300" spc="55" dirty="0">
                <a:solidFill>
                  <a:srgbClr val="3A3535"/>
                </a:solidFill>
                <a:latin typeface="Century Gothic"/>
                <a:cs typeface="Century Gothic"/>
              </a:rPr>
              <a:t>style</a:t>
            </a:r>
            <a:r>
              <a:rPr sz="1300" spc="-50" dirty="0">
                <a:solidFill>
                  <a:srgbClr val="3A3535"/>
                </a:solidFill>
                <a:latin typeface="Century Gothic"/>
                <a:cs typeface="Century Gothic"/>
              </a:rPr>
              <a:t> </a:t>
            </a:r>
            <a:r>
              <a:rPr sz="1300" spc="60" dirty="0">
                <a:solidFill>
                  <a:srgbClr val="3A3535"/>
                </a:solidFill>
                <a:latin typeface="Century Gothic"/>
                <a:cs typeface="Century Gothic"/>
              </a:rPr>
              <a:t>formats</a:t>
            </a:r>
            <a:endParaRPr sz="1300">
              <a:latin typeface="Century Gothic"/>
              <a:cs typeface="Century Gothic"/>
            </a:endParaRPr>
          </a:p>
        </p:txBody>
      </p:sp>
      <p:grpSp>
        <p:nvGrpSpPr>
          <p:cNvPr id="16" name="object 16"/>
          <p:cNvGrpSpPr/>
          <p:nvPr/>
        </p:nvGrpSpPr>
        <p:grpSpPr>
          <a:xfrm>
            <a:off x="7577672" y="3248178"/>
            <a:ext cx="393700" cy="441959"/>
            <a:chOff x="7577672" y="3248178"/>
            <a:chExt cx="393700" cy="441959"/>
          </a:xfrm>
        </p:grpSpPr>
        <p:sp>
          <p:nvSpPr>
            <p:cNvPr id="17" name="object 17"/>
            <p:cNvSpPr/>
            <p:nvPr/>
          </p:nvSpPr>
          <p:spPr>
            <a:xfrm>
              <a:off x="7656715" y="3488664"/>
              <a:ext cx="236220" cy="31750"/>
            </a:xfrm>
            <a:custGeom>
              <a:avLst/>
              <a:gdLst/>
              <a:ahLst/>
              <a:cxnLst/>
              <a:rect l="l" t="t" r="r" b="b"/>
              <a:pathLst>
                <a:path w="236220" h="31750">
                  <a:moveTo>
                    <a:pt x="235737" y="11747"/>
                  </a:moveTo>
                  <a:lnTo>
                    <a:pt x="196045" y="28254"/>
                  </a:lnTo>
                  <a:lnTo>
                    <a:pt x="168935" y="31711"/>
                  </a:lnTo>
                  <a:lnTo>
                    <a:pt x="160629" y="31457"/>
                  </a:lnTo>
                  <a:lnTo>
                    <a:pt x="117790" y="16610"/>
                  </a:lnTo>
                  <a:lnTo>
                    <a:pt x="108265" y="11267"/>
                  </a:lnTo>
                  <a:lnTo>
                    <a:pt x="69172" y="175"/>
                  </a:lnTo>
                  <a:lnTo>
                    <a:pt x="62812" y="0"/>
                  </a:lnTo>
                  <a:lnTo>
                    <a:pt x="56211" y="53"/>
                  </a:lnTo>
                  <a:lnTo>
                    <a:pt x="49250" y="342"/>
                  </a:lnTo>
                  <a:lnTo>
                    <a:pt x="40553" y="1648"/>
                  </a:lnTo>
                  <a:lnTo>
                    <a:pt x="29802" y="3865"/>
                  </a:lnTo>
                  <a:lnTo>
                    <a:pt x="16462" y="7270"/>
                  </a:lnTo>
                  <a:lnTo>
                    <a:pt x="0" y="12141"/>
                  </a:lnTo>
                </a:path>
              </a:pathLst>
            </a:custGeom>
            <a:ln w="18742">
              <a:solidFill>
                <a:srgbClr val="DA1B2D"/>
              </a:solidFill>
            </a:ln>
          </p:spPr>
          <p:txBody>
            <a:bodyPr wrap="square" lIns="0" tIns="0" rIns="0" bIns="0" rtlCol="0"/>
            <a:lstStyle/>
            <a:p>
              <a:endParaRPr/>
            </a:p>
          </p:txBody>
        </p:sp>
        <p:pic>
          <p:nvPicPr>
            <p:cNvPr id="18" name="object 18"/>
            <p:cNvPicPr/>
            <p:nvPr/>
          </p:nvPicPr>
          <p:blipFill>
            <a:blip r:embed="rId4" cstate="print"/>
            <a:stretch>
              <a:fillRect/>
            </a:stretch>
          </p:blipFill>
          <p:spPr>
            <a:xfrm>
              <a:off x="7577672" y="3248178"/>
              <a:ext cx="393532" cy="441855"/>
            </a:xfrm>
            <a:prstGeom prst="rect">
              <a:avLst/>
            </a:prstGeom>
          </p:spPr>
        </p:pic>
      </p:grpSp>
      <p:sp>
        <p:nvSpPr>
          <p:cNvPr id="19" name="object 19"/>
          <p:cNvSpPr txBox="1"/>
          <p:nvPr/>
        </p:nvSpPr>
        <p:spPr>
          <a:xfrm>
            <a:off x="7550746" y="3860355"/>
            <a:ext cx="2836545" cy="920115"/>
          </a:xfrm>
          <a:prstGeom prst="rect">
            <a:avLst/>
          </a:prstGeom>
        </p:spPr>
        <p:txBody>
          <a:bodyPr vert="horz" wrap="square" lIns="0" tIns="12700" rIns="0" bIns="0" rtlCol="0">
            <a:spAutoFit/>
          </a:bodyPr>
          <a:lstStyle/>
          <a:p>
            <a:pPr marL="12700">
              <a:lnSpc>
                <a:spcPct val="100000"/>
              </a:lnSpc>
              <a:spcBef>
                <a:spcPts val="100"/>
              </a:spcBef>
            </a:pPr>
            <a:r>
              <a:rPr sz="1750" b="1" spc="-90" dirty="0">
                <a:solidFill>
                  <a:srgbClr val="3A3535"/>
                </a:solidFill>
                <a:latin typeface="Verdana"/>
                <a:cs typeface="Verdana"/>
              </a:rPr>
              <a:t>Prompt</a:t>
            </a:r>
            <a:r>
              <a:rPr sz="1750" b="1" spc="-180" dirty="0">
                <a:solidFill>
                  <a:srgbClr val="3A3535"/>
                </a:solidFill>
                <a:latin typeface="Verdana"/>
                <a:cs typeface="Verdana"/>
              </a:rPr>
              <a:t> </a:t>
            </a:r>
            <a:r>
              <a:rPr sz="1750" b="1" spc="-25" dirty="0">
                <a:solidFill>
                  <a:srgbClr val="3A3535"/>
                </a:solidFill>
                <a:latin typeface="Verdana"/>
                <a:cs typeface="Verdana"/>
              </a:rPr>
              <a:t>Lab</a:t>
            </a:r>
            <a:endParaRPr sz="1750">
              <a:latin typeface="Verdana"/>
              <a:cs typeface="Verdana"/>
            </a:endParaRPr>
          </a:p>
          <a:p>
            <a:pPr marL="12700" marR="5080">
              <a:lnSpc>
                <a:spcPct val="139400"/>
              </a:lnSpc>
              <a:spcBef>
                <a:spcPts val="585"/>
              </a:spcBef>
            </a:pPr>
            <a:r>
              <a:rPr sz="1300" spc="60" dirty="0">
                <a:solidFill>
                  <a:srgbClr val="3A3535"/>
                </a:solidFill>
                <a:latin typeface="Century Gothic"/>
                <a:cs typeface="Century Gothic"/>
              </a:rPr>
              <a:t>Version,</a:t>
            </a:r>
            <a:r>
              <a:rPr sz="1300" spc="-50" dirty="0">
                <a:solidFill>
                  <a:srgbClr val="3A3535"/>
                </a:solidFill>
                <a:latin typeface="Century Gothic"/>
                <a:cs typeface="Century Gothic"/>
              </a:rPr>
              <a:t> </a:t>
            </a:r>
            <a:r>
              <a:rPr sz="1300" spc="70" dirty="0">
                <a:solidFill>
                  <a:srgbClr val="3A3535"/>
                </a:solidFill>
                <a:latin typeface="Century Gothic"/>
                <a:cs typeface="Century Gothic"/>
              </a:rPr>
              <a:t>test,</a:t>
            </a:r>
            <a:r>
              <a:rPr sz="1300" spc="-45" dirty="0">
                <a:solidFill>
                  <a:srgbClr val="3A3535"/>
                </a:solidFill>
                <a:latin typeface="Century Gothic"/>
                <a:cs typeface="Century Gothic"/>
              </a:rPr>
              <a:t> </a:t>
            </a:r>
            <a:r>
              <a:rPr sz="1300" dirty="0">
                <a:solidFill>
                  <a:srgbClr val="3A3535"/>
                </a:solidFill>
                <a:latin typeface="Century Gothic"/>
                <a:cs typeface="Century Gothic"/>
              </a:rPr>
              <a:t>replay,</a:t>
            </a:r>
            <a:r>
              <a:rPr sz="1300" spc="-5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45" dirty="0">
                <a:solidFill>
                  <a:srgbClr val="3A3535"/>
                </a:solidFill>
                <a:latin typeface="Century Gothic"/>
                <a:cs typeface="Century Gothic"/>
              </a:rPr>
              <a:t> </a:t>
            </a:r>
            <a:r>
              <a:rPr sz="1300" spc="-10" dirty="0">
                <a:solidFill>
                  <a:srgbClr val="3A3535"/>
                </a:solidFill>
                <a:latin typeface="Century Gothic"/>
                <a:cs typeface="Century Gothic"/>
              </a:rPr>
              <a:t>evaluate </a:t>
            </a:r>
            <a:r>
              <a:rPr sz="1300" dirty="0">
                <a:solidFill>
                  <a:srgbClr val="3A3535"/>
                </a:solidFill>
                <a:latin typeface="Century Gothic"/>
                <a:cs typeface="Century Gothic"/>
              </a:rPr>
              <a:t>before</a:t>
            </a:r>
            <a:r>
              <a:rPr sz="1300" spc="135" dirty="0">
                <a:solidFill>
                  <a:srgbClr val="3A3535"/>
                </a:solidFill>
                <a:latin typeface="Century Gothic"/>
                <a:cs typeface="Century Gothic"/>
              </a:rPr>
              <a:t> </a:t>
            </a:r>
            <a:r>
              <a:rPr sz="1300" spc="70" dirty="0">
                <a:solidFill>
                  <a:srgbClr val="3A3535"/>
                </a:solidFill>
                <a:latin typeface="Century Gothic"/>
                <a:cs typeface="Century Gothic"/>
              </a:rPr>
              <a:t>rollout</a:t>
            </a:r>
            <a:endParaRPr sz="1300">
              <a:latin typeface="Century Gothic"/>
              <a:cs typeface="Century Gothic"/>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579640" y="1723135"/>
            <a:ext cx="6115050" cy="560070"/>
          </a:xfrm>
          <a:prstGeom prst="rect">
            <a:avLst/>
          </a:prstGeom>
        </p:spPr>
        <p:txBody>
          <a:bodyPr vert="horz" wrap="square" lIns="0" tIns="13335" rIns="0" bIns="0" rtlCol="0">
            <a:spAutoFit/>
          </a:bodyPr>
          <a:lstStyle/>
          <a:p>
            <a:pPr marL="12700">
              <a:lnSpc>
                <a:spcPct val="100000"/>
              </a:lnSpc>
              <a:spcBef>
                <a:spcPts val="105"/>
              </a:spcBef>
            </a:pPr>
            <a:r>
              <a:rPr spc="-175" dirty="0"/>
              <a:t>Plugin</a:t>
            </a:r>
            <a:r>
              <a:rPr spc="-409" dirty="0"/>
              <a:t> </a:t>
            </a:r>
            <a:r>
              <a:rPr spc="-390" dirty="0"/>
              <a:t>3:</a:t>
            </a:r>
            <a:r>
              <a:rPr spc="-405" dirty="0"/>
              <a:t> </a:t>
            </a:r>
            <a:r>
              <a:rPr spc="-190" dirty="0"/>
              <a:t>LLM</a:t>
            </a:r>
            <a:r>
              <a:rPr spc="-405" dirty="0"/>
              <a:t> </a:t>
            </a:r>
            <a:r>
              <a:rPr spc="-229" dirty="0"/>
              <a:t>Therapy</a:t>
            </a:r>
            <a:r>
              <a:rPr spc="-405" dirty="0"/>
              <a:t> </a:t>
            </a:r>
            <a:r>
              <a:rPr spc="-50" dirty="0"/>
              <a:t>Chat</a:t>
            </a:r>
          </a:p>
        </p:txBody>
      </p:sp>
      <p:sp>
        <p:nvSpPr>
          <p:cNvPr id="3" name="object 3"/>
          <p:cNvSpPr txBox="1"/>
          <p:nvPr/>
        </p:nvSpPr>
        <p:spPr>
          <a:xfrm>
            <a:off x="579635" y="2592900"/>
            <a:ext cx="9813290" cy="577850"/>
          </a:xfrm>
          <a:prstGeom prst="rect">
            <a:avLst/>
          </a:prstGeom>
        </p:spPr>
        <p:txBody>
          <a:bodyPr vert="horz" wrap="square" lIns="0" tIns="11430" rIns="0" bIns="0" rtlCol="0">
            <a:spAutoFit/>
          </a:bodyPr>
          <a:lstStyle/>
          <a:p>
            <a:pPr marL="12700" marR="5080">
              <a:lnSpc>
                <a:spcPct val="139400"/>
              </a:lnSpc>
              <a:spcBef>
                <a:spcPts val="90"/>
              </a:spcBef>
            </a:pPr>
            <a:r>
              <a:rPr sz="1300" spc="75" dirty="0">
                <a:solidFill>
                  <a:srgbClr val="3A3535"/>
                </a:solidFill>
                <a:latin typeface="Century Gothic"/>
                <a:cs typeface="Century Gothic"/>
              </a:rPr>
              <a:t>Supervised</a:t>
            </a:r>
            <a:r>
              <a:rPr sz="1300" spc="25" dirty="0">
                <a:solidFill>
                  <a:srgbClr val="3A3535"/>
                </a:solidFill>
                <a:latin typeface="Century Gothic"/>
                <a:cs typeface="Century Gothic"/>
              </a:rPr>
              <a:t> </a:t>
            </a:r>
            <a:r>
              <a:rPr sz="1300" dirty="0">
                <a:solidFill>
                  <a:srgbClr val="3A3535"/>
                </a:solidFill>
                <a:latin typeface="Century Gothic"/>
                <a:cs typeface="Century Gothic"/>
              </a:rPr>
              <a:t>communication</a:t>
            </a:r>
            <a:r>
              <a:rPr sz="1300" spc="30" dirty="0">
                <a:solidFill>
                  <a:srgbClr val="3A3535"/>
                </a:solidFill>
                <a:latin typeface="Century Gothic"/>
                <a:cs typeface="Century Gothic"/>
              </a:rPr>
              <a:t> </a:t>
            </a:r>
            <a:r>
              <a:rPr sz="1300" spc="-125" dirty="0">
                <a:solidFill>
                  <a:srgbClr val="3A3535"/>
                </a:solidFill>
                <a:latin typeface="Century Gothic"/>
                <a:cs typeface="Century Gothic"/>
              </a:rPr>
              <a:t>—</a:t>
            </a:r>
            <a:r>
              <a:rPr sz="1300" spc="30" dirty="0">
                <a:solidFill>
                  <a:srgbClr val="3A3535"/>
                </a:solidFill>
                <a:latin typeface="Century Gothic"/>
                <a:cs typeface="Century Gothic"/>
              </a:rPr>
              <a:t> </a:t>
            </a:r>
            <a:r>
              <a:rPr sz="1300" spc="65" dirty="0">
                <a:solidFill>
                  <a:srgbClr val="3A3535"/>
                </a:solidFill>
                <a:latin typeface="Century Gothic"/>
                <a:cs typeface="Century Gothic"/>
              </a:rPr>
              <a:t>AI</a:t>
            </a:r>
            <a:r>
              <a:rPr sz="1300" spc="3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25" dirty="0">
                <a:solidFill>
                  <a:srgbClr val="3A3535"/>
                </a:solidFill>
                <a:latin typeface="Century Gothic"/>
                <a:cs typeface="Century Gothic"/>
              </a:rPr>
              <a:t> </a:t>
            </a:r>
            <a:r>
              <a:rPr sz="1300" dirty="0">
                <a:solidFill>
                  <a:srgbClr val="3A3535"/>
                </a:solidFill>
                <a:latin typeface="Century Gothic"/>
                <a:cs typeface="Century Gothic"/>
              </a:rPr>
              <a:t>human</a:t>
            </a:r>
            <a:r>
              <a:rPr sz="1300" spc="30" dirty="0">
                <a:solidFill>
                  <a:srgbClr val="3A3535"/>
                </a:solidFill>
                <a:latin typeface="Century Gothic"/>
                <a:cs typeface="Century Gothic"/>
              </a:rPr>
              <a:t> </a:t>
            </a:r>
            <a:r>
              <a:rPr sz="1300" spc="90" dirty="0">
                <a:solidFill>
                  <a:srgbClr val="3A3535"/>
                </a:solidFill>
                <a:latin typeface="Century Gothic"/>
                <a:cs typeface="Century Gothic"/>
              </a:rPr>
              <a:t>in</a:t>
            </a:r>
            <a:r>
              <a:rPr sz="1300" spc="30" dirty="0">
                <a:solidFill>
                  <a:srgbClr val="3A3535"/>
                </a:solidFill>
                <a:latin typeface="Century Gothic"/>
                <a:cs typeface="Century Gothic"/>
              </a:rPr>
              <a:t> </a:t>
            </a:r>
            <a:r>
              <a:rPr sz="1300" dirty="0">
                <a:solidFill>
                  <a:srgbClr val="3A3535"/>
                </a:solidFill>
                <a:latin typeface="Century Gothic"/>
                <a:cs typeface="Century Gothic"/>
              </a:rPr>
              <a:t>the</a:t>
            </a:r>
            <a:r>
              <a:rPr sz="1300" spc="30" dirty="0">
                <a:solidFill>
                  <a:srgbClr val="3A3535"/>
                </a:solidFill>
                <a:latin typeface="Century Gothic"/>
                <a:cs typeface="Century Gothic"/>
              </a:rPr>
              <a:t> </a:t>
            </a:r>
            <a:r>
              <a:rPr sz="1300" dirty="0">
                <a:solidFill>
                  <a:srgbClr val="3A3535"/>
                </a:solidFill>
                <a:latin typeface="Century Gothic"/>
                <a:cs typeface="Century Gothic"/>
              </a:rPr>
              <a:t>same</a:t>
            </a:r>
            <a:r>
              <a:rPr sz="1300" spc="15" dirty="0">
                <a:solidFill>
                  <a:srgbClr val="3A3535"/>
                </a:solidFill>
                <a:latin typeface="Century Gothic"/>
                <a:cs typeface="Century Gothic"/>
              </a:rPr>
              <a:t> </a:t>
            </a:r>
            <a:r>
              <a:rPr sz="1300" dirty="0">
                <a:solidFill>
                  <a:srgbClr val="3A3535"/>
                </a:solidFill>
                <a:latin typeface="Century Gothic"/>
                <a:cs typeface="Century Gothic"/>
              </a:rPr>
              <a:t>framework.</a:t>
            </a:r>
            <a:r>
              <a:rPr sz="1300" spc="30" dirty="0">
                <a:solidFill>
                  <a:srgbClr val="3A3535"/>
                </a:solidFill>
                <a:latin typeface="Century Gothic"/>
                <a:cs typeface="Century Gothic"/>
              </a:rPr>
              <a:t> </a:t>
            </a:r>
            <a:r>
              <a:rPr sz="1300" spc="95" dirty="0">
                <a:solidFill>
                  <a:srgbClr val="3A3535"/>
                </a:solidFill>
                <a:latin typeface="Century Gothic"/>
                <a:cs typeface="Century Gothic"/>
              </a:rPr>
              <a:t>Useful</a:t>
            </a:r>
            <a:r>
              <a:rPr sz="1300" spc="30" dirty="0">
                <a:solidFill>
                  <a:srgbClr val="3A3535"/>
                </a:solidFill>
                <a:latin typeface="Century Gothic"/>
                <a:cs typeface="Century Gothic"/>
              </a:rPr>
              <a:t> </a:t>
            </a:r>
            <a:r>
              <a:rPr sz="1300" spc="85" dirty="0">
                <a:solidFill>
                  <a:srgbClr val="3A3535"/>
                </a:solidFill>
                <a:latin typeface="Century Gothic"/>
                <a:cs typeface="Century Gothic"/>
              </a:rPr>
              <a:t>for</a:t>
            </a:r>
            <a:r>
              <a:rPr sz="1300" spc="30" dirty="0">
                <a:solidFill>
                  <a:srgbClr val="3A3535"/>
                </a:solidFill>
                <a:latin typeface="Century Gothic"/>
                <a:cs typeface="Century Gothic"/>
              </a:rPr>
              <a:t> </a:t>
            </a:r>
            <a:r>
              <a:rPr sz="1300" spc="55" dirty="0">
                <a:solidFill>
                  <a:srgbClr val="3A3535"/>
                </a:solidFill>
                <a:latin typeface="Century Gothic"/>
                <a:cs typeface="Century Gothic"/>
              </a:rPr>
              <a:t>both</a:t>
            </a:r>
            <a:r>
              <a:rPr sz="1300" spc="25" dirty="0">
                <a:solidFill>
                  <a:srgbClr val="3A3535"/>
                </a:solidFill>
                <a:latin typeface="Century Gothic"/>
                <a:cs typeface="Century Gothic"/>
              </a:rPr>
              <a:t> </a:t>
            </a:r>
            <a:r>
              <a:rPr sz="1300" b="1" spc="-35" dirty="0">
                <a:solidFill>
                  <a:srgbClr val="3A3535"/>
                </a:solidFill>
                <a:latin typeface="Verdana"/>
                <a:cs typeface="Verdana"/>
              </a:rPr>
              <a:t>service</a:t>
            </a:r>
            <a:r>
              <a:rPr sz="1300" b="1" spc="-90" dirty="0">
                <a:solidFill>
                  <a:srgbClr val="3A3535"/>
                </a:solidFill>
                <a:latin typeface="Verdana"/>
                <a:cs typeface="Verdana"/>
              </a:rPr>
              <a:t> </a:t>
            </a:r>
            <a:r>
              <a:rPr sz="1300" b="1" spc="-50" dirty="0">
                <a:solidFill>
                  <a:srgbClr val="3A3535"/>
                </a:solidFill>
                <a:latin typeface="Verdana"/>
                <a:cs typeface="Verdana"/>
              </a:rPr>
              <a:t>delivery</a:t>
            </a:r>
            <a:r>
              <a:rPr sz="1300" b="1" spc="-55" dirty="0">
                <a:solidFill>
                  <a:srgbClr val="3A3535"/>
                </a:solidFill>
                <a:latin typeface="Verdana"/>
                <a:cs typeface="Verdana"/>
              </a:rPr>
              <a:t> </a:t>
            </a:r>
            <a:r>
              <a:rPr sz="1300" spc="-10" dirty="0">
                <a:solidFill>
                  <a:srgbClr val="3A3535"/>
                </a:solidFill>
                <a:latin typeface="Century Gothic"/>
                <a:cs typeface="Century Gothic"/>
              </a:rPr>
              <a:t>and</a:t>
            </a:r>
            <a:r>
              <a:rPr sz="1300" spc="25" dirty="0">
                <a:solidFill>
                  <a:srgbClr val="3A3535"/>
                </a:solidFill>
                <a:latin typeface="Century Gothic"/>
                <a:cs typeface="Century Gothic"/>
              </a:rPr>
              <a:t> </a:t>
            </a:r>
            <a:r>
              <a:rPr sz="1300" b="1" spc="-10" dirty="0">
                <a:solidFill>
                  <a:srgbClr val="3A3535"/>
                </a:solidFill>
                <a:latin typeface="Verdana"/>
                <a:cs typeface="Verdana"/>
              </a:rPr>
              <a:t>controlled </a:t>
            </a:r>
            <a:r>
              <a:rPr sz="1300" b="1" spc="-35" dirty="0">
                <a:solidFill>
                  <a:srgbClr val="3A3535"/>
                </a:solidFill>
                <a:latin typeface="Verdana"/>
                <a:cs typeface="Verdana"/>
              </a:rPr>
              <a:t>comparison</a:t>
            </a:r>
            <a:r>
              <a:rPr sz="1300" b="1" spc="-70" dirty="0">
                <a:solidFill>
                  <a:srgbClr val="3A3535"/>
                </a:solidFill>
                <a:latin typeface="Verdana"/>
                <a:cs typeface="Verdana"/>
              </a:rPr>
              <a:t> </a:t>
            </a:r>
            <a:r>
              <a:rPr sz="1300" b="1" spc="-10" dirty="0">
                <a:solidFill>
                  <a:srgbClr val="3A3535"/>
                </a:solidFill>
                <a:latin typeface="Verdana"/>
                <a:cs typeface="Verdana"/>
              </a:rPr>
              <a:t>studies</a:t>
            </a:r>
            <a:r>
              <a:rPr sz="1300" spc="-10" dirty="0">
                <a:solidFill>
                  <a:srgbClr val="3A3535"/>
                </a:solidFill>
                <a:latin typeface="Century Gothic"/>
                <a:cs typeface="Century Gothic"/>
              </a:rPr>
              <a:t>.</a:t>
            </a:r>
            <a:endParaRPr sz="1300">
              <a:latin typeface="Century Gothic"/>
              <a:cs typeface="Century Gothic"/>
            </a:endParaRPr>
          </a:p>
        </p:txBody>
      </p:sp>
      <p:grpSp>
        <p:nvGrpSpPr>
          <p:cNvPr id="4" name="object 4"/>
          <p:cNvGrpSpPr/>
          <p:nvPr/>
        </p:nvGrpSpPr>
        <p:grpSpPr>
          <a:xfrm>
            <a:off x="590550" y="3390900"/>
            <a:ext cx="3305175" cy="1285875"/>
            <a:chOff x="590550" y="3390900"/>
            <a:chExt cx="3305175" cy="1285875"/>
          </a:xfrm>
        </p:grpSpPr>
        <p:sp>
          <p:nvSpPr>
            <p:cNvPr id="5" name="object 5"/>
            <p:cNvSpPr/>
            <p:nvPr/>
          </p:nvSpPr>
          <p:spPr>
            <a:xfrm>
              <a:off x="595312" y="3395662"/>
              <a:ext cx="3295650" cy="1276350"/>
            </a:xfrm>
            <a:custGeom>
              <a:avLst/>
              <a:gdLst/>
              <a:ahLst/>
              <a:cxnLst/>
              <a:rect l="l" t="t" r="r" b="b"/>
              <a:pathLst>
                <a:path w="3295650" h="1276350">
                  <a:moveTo>
                    <a:pt x="3244748" y="0"/>
                  </a:moveTo>
                  <a:lnTo>
                    <a:pt x="50904" y="0"/>
                  </a:lnTo>
                  <a:lnTo>
                    <a:pt x="47362" y="342"/>
                  </a:lnTo>
                  <a:lnTo>
                    <a:pt x="13428" y="18491"/>
                  </a:lnTo>
                  <a:lnTo>
                    <a:pt x="0" y="50901"/>
                  </a:lnTo>
                  <a:lnTo>
                    <a:pt x="0" y="1221867"/>
                  </a:lnTo>
                  <a:lnTo>
                    <a:pt x="0" y="1225448"/>
                  </a:lnTo>
                  <a:lnTo>
                    <a:pt x="18484" y="1262926"/>
                  </a:lnTo>
                  <a:lnTo>
                    <a:pt x="50904" y="1276350"/>
                  </a:lnTo>
                  <a:lnTo>
                    <a:pt x="3244748" y="1276350"/>
                  </a:lnTo>
                  <a:lnTo>
                    <a:pt x="3282226" y="1257858"/>
                  </a:lnTo>
                  <a:lnTo>
                    <a:pt x="3295650" y="1225448"/>
                  </a:lnTo>
                  <a:lnTo>
                    <a:pt x="3295650" y="50901"/>
                  </a:lnTo>
                  <a:lnTo>
                    <a:pt x="3277158" y="13423"/>
                  </a:lnTo>
                  <a:lnTo>
                    <a:pt x="3248291" y="342"/>
                  </a:lnTo>
                  <a:lnTo>
                    <a:pt x="3244748" y="0"/>
                  </a:lnTo>
                  <a:close/>
                </a:path>
              </a:pathLst>
            </a:custGeom>
            <a:solidFill>
              <a:srgbClr val="F9D2D6"/>
            </a:solidFill>
          </p:spPr>
          <p:txBody>
            <a:bodyPr wrap="square" lIns="0" tIns="0" rIns="0" bIns="0" rtlCol="0"/>
            <a:lstStyle/>
            <a:p>
              <a:endParaRPr/>
            </a:p>
          </p:txBody>
        </p:sp>
        <p:sp>
          <p:nvSpPr>
            <p:cNvPr id="6" name="object 6"/>
            <p:cNvSpPr/>
            <p:nvPr/>
          </p:nvSpPr>
          <p:spPr>
            <a:xfrm>
              <a:off x="595312" y="3395662"/>
              <a:ext cx="3295650" cy="1276350"/>
            </a:xfrm>
            <a:custGeom>
              <a:avLst/>
              <a:gdLst/>
              <a:ahLst/>
              <a:cxnLst/>
              <a:rect l="l" t="t" r="r" b="b"/>
              <a:pathLst>
                <a:path w="3295650" h="1276350">
                  <a:moveTo>
                    <a:pt x="0" y="1221867"/>
                  </a:moveTo>
                  <a:lnTo>
                    <a:pt x="0" y="54483"/>
                  </a:lnTo>
                  <a:lnTo>
                    <a:pt x="0" y="50901"/>
                  </a:lnTo>
                  <a:lnTo>
                    <a:pt x="346" y="47358"/>
                  </a:lnTo>
                  <a:lnTo>
                    <a:pt x="18484" y="13423"/>
                  </a:lnTo>
                  <a:lnTo>
                    <a:pt x="24213" y="9182"/>
                  </a:lnTo>
                  <a:lnTo>
                    <a:pt x="27185" y="7188"/>
                  </a:lnTo>
                  <a:lnTo>
                    <a:pt x="30326" y="5511"/>
                  </a:lnTo>
                  <a:lnTo>
                    <a:pt x="33629" y="4152"/>
                  </a:lnTo>
                  <a:lnTo>
                    <a:pt x="36939" y="2781"/>
                  </a:lnTo>
                  <a:lnTo>
                    <a:pt x="40342" y="1739"/>
                  </a:lnTo>
                  <a:lnTo>
                    <a:pt x="43854" y="1041"/>
                  </a:lnTo>
                  <a:lnTo>
                    <a:pt x="47362" y="342"/>
                  </a:lnTo>
                  <a:lnTo>
                    <a:pt x="50904" y="0"/>
                  </a:lnTo>
                  <a:lnTo>
                    <a:pt x="54480" y="0"/>
                  </a:lnTo>
                  <a:lnTo>
                    <a:pt x="3241167" y="0"/>
                  </a:lnTo>
                  <a:lnTo>
                    <a:pt x="3244748" y="0"/>
                  </a:lnTo>
                  <a:lnTo>
                    <a:pt x="3248291" y="342"/>
                  </a:lnTo>
                  <a:lnTo>
                    <a:pt x="3251796" y="1041"/>
                  </a:lnTo>
                  <a:lnTo>
                    <a:pt x="3255302" y="1739"/>
                  </a:lnTo>
                  <a:lnTo>
                    <a:pt x="3258705" y="2781"/>
                  </a:lnTo>
                  <a:lnTo>
                    <a:pt x="3262020" y="4152"/>
                  </a:lnTo>
                  <a:lnTo>
                    <a:pt x="3265322" y="5511"/>
                  </a:lnTo>
                  <a:lnTo>
                    <a:pt x="3268459" y="7188"/>
                  </a:lnTo>
                  <a:lnTo>
                    <a:pt x="3271431" y="9182"/>
                  </a:lnTo>
                  <a:lnTo>
                    <a:pt x="3274415" y="11163"/>
                  </a:lnTo>
                  <a:lnTo>
                    <a:pt x="3277158" y="13423"/>
                  </a:lnTo>
                  <a:lnTo>
                    <a:pt x="3279686" y="15951"/>
                  </a:lnTo>
                  <a:lnTo>
                    <a:pt x="3282226" y="18491"/>
                  </a:lnTo>
                  <a:lnTo>
                    <a:pt x="3284486" y="21234"/>
                  </a:lnTo>
                  <a:lnTo>
                    <a:pt x="3286467" y="24206"/>
                  </a:lnTo>
                  <a:lnTo>
                    <a:pt x="3288461" y="27190"/>
                  </a:lnTo>
                  <a:lnTo>
                    <a:pt x="3290138" y="30327"/>
                  </a:lnTo>
                  <a:lnTo>
                    <a:pt x="3291497" y="33629"/>
                  </a:lnTo>
                  <a:lnTo>
                    <a:pt x="3292868" y="36931"/>
                  </a:lnTo>
                  <a:lnTo>
                    <a:pt x="3293910" y="40347"/>
                  </a:lnTo>
                  <a:lnTo>
                    <a:pt x="3294608" y="43853"/>
                  </a:lnTo>
                  <a:lnTo>
                    <a:pt x="3295307" y="47358"/>
                  </a:lnTo>
                  <a:lnTo>
                    <a:pt x="3295650" y="50901"/>
                  </a:lnTo>
                  <a:lnTo>
                    <a:pt x="3295650" y="54483"/>
                  </a:lnTo>
                  <a:lnTo>
                    <a:pt x="3295650" y="1221867"/>
                  </a:lnTo>
                  <a:lnTo>
                    <a:pt x="3295650" y="1225448"/>
                  </a:lnTo>
                  <a:lnTo>
                    <a:pt x="3295307" y="1228991"/>
                  </a:lnTo>
                  <a:lnTo>
                    <a:pt x="3294608" y="1232496"/>
                  </a:lnTo>
                  <a:lnTo>
                    <a:pt x="3293910" y="1236002"/>
                  </a:lnTo>
                  <a:lnTo>
                    <a:pt x="3292868" y="1239405"/>
                  </a:lnTo>
                  <a:lnTo>
                    <a:pt x="3291497" y="1242720"/>
                  </a:lnTo>
                  <a:lnTo>
                    <a:pt x="3290138" y="1246022"/>
                  </a:lnTo>
                  <a:lnTo>
                    <a:pt x="3288461" y="1249159"/>
                  </a:lnTo>
                  <a:lnTo>
                    <a:pt x="3286467" y="1252131"/>
                  </a:lnTo>
                  <a:lnTo>
                    <a:pt x="3284486" y="1255102"/>
                  </a:lnTo>
                  <a:lnTo>
                    <a:pt x="3282226" y="1257858"/>
                  </a:lnTo>
                  <a:lnTo>
                    <a:pt x="3279686" y="1260386"/>
                  </a:lnTo>
                  <a:lnTo>
                    <a:pt x="3277158" y="1262926"/>
                  </a:lnTo>
                  <a:lnTo>
                    <a:pt x="3244748" y="1276350"/>
                  </a:lnTo>
                  <a:lnTo>
                    <a:pt x="3241167" y="1276350"/>
                  </a:lnTo>
                  <a:lnTo>
                    <a:pt x="54480" y="1276350"/>
                  </a:lnTo>
                  <a:lnTo>
                    <a:pt x="50904" y="1276350"/>
                  </a:lnTo>
                  <a:lnTo>
                    <a:pt x="47362" y="1275994"/>
                  </a:lnTo>
                  <a:lnTo>
                    <a:pt x="15958" y="1260386"/>
                  </a:lnTo>
                  <a:lnTo>
                    <a:pt x="13428" y="1257858"/>
                  </a:lnTo>
                  <a:lnTo>
                    <a:pt x="11167" y="1255102"/>
                  </a:lnTo>
                  <a:lnTo>
                    <a:pt x="9182" y="1252131"/>
                  </a:lnTo>
                  <a:lnTo>
                    <a:pt x="7193" y="1249159"/>
                  </a:lnTo>
                  <a:lnTo>
                    <a:pt x="1046" y="1232496"/>
                  </a:lnTo>
                  <a:lnTo>
                    <a:pt x="346" y="1228991"/>
                  </a:lnTo>
                  <a:lnTo>
                    <a:pt x="0" y="1225448"/>
                  </a:lnTo>
                  <a:lnTo>
                    <a:pt x="0" y="1221867"/>
                  </a:lnTo>
                  <a:close/>
                </a:path>
              </a:pathLst>
            </a:custGeom>
            <a:ln w="9525">
              <a:solidFill>
                <a:srgbClr val="DFB7BB"/>
              </a:solidFill>
            </a:ln>
          </p:spPr>
          <p:txBody>
            <a:bodyPr wrap="square" lIns="0" tIns="0" rIns="0" bIns="0" rtlCol="0"/>
            <a:lstStyle/>
            <a:p>
              <a:endParaRPr/>
            </a:p>
          </p:txBody>
        </p:sp>
      </p:grpSp>
      <p:sp>
        <p:nvSpPr>
          <p:cNvPr id="7" name="object 7"/>
          <p:cNvSpPr txBox="1"/>
          <p:nvPr/>
        </p:nvSpPr>
        <p:spPr>
          <a:xfrm>
            <a:off x="758377" y="3546030"/>
            <a:ext cx="2616835" cy="910590"/>
          </a:xfrm>
          <a:prstGeom prst="rect">
            <a:avLst/>
          </a:prstGeom>
        </p:spPr>
        <p:txBody>
          <a:bodyPr vert="horz" wrap="square" lIns="0" tIns="12700" rIns="0" bIns="0" rtlCol="0">
            <a:spAutoFit/>
          </a:bodyPr>
          <a:lstStyle/>
          <a:p>
            <a:pPr marL="12700">
              <a:lnSpc>
                <a:spcPct val="100000"/>
              </a:lnSpc>
              <a:spcBef>
                <a:spcPts val="100"/>
              </a:spcBef>
            </a:pPr>
            <a:r>
              <a:rPr sz="1750" b="1" spc="-90" dirty="0">
                <a:solidFill>
                  <a:srgbClr val="3A3535"/>
                </a:solidFill>
                <a:latin typeface="Verdana"/>
                <a:cs typeface="Verdana"/>
              </a:rPr>
              <a:t>User</a:t>
            </a:r>
            <a:r>
              <a:rPr sz="1750" b="1" spc="-220" dirty="0">
                <a:solidFill>
                  <a:srgbClr val="3A3535"/>
                </a:solidFill>
                <a:latin typeface="Verdana"/>
                <a:cs typeface="Verdana"/>
              </a:rPr>
              <a:t> </a:t>
            </a:r>
            <a:r>
              <a:rPr sz="1750" b="1" spc="-20" dirty="0">
                <a:solidFill>
                  <a:srgbClr val="3A3535"/>
                </a:solidFill>
                <a:latin typeface="Verdana"/>
                <a:cs typeface="Verdana"/>
              </a:rPr>
              <a:t>Side</a:t>
            </a:r>
            <a:endParaRPr sz="1750">
              <a:latin typeface="Verdana"/>
              <a:cs typeface="Verdana"/>
            </a:endParaRPr>
          </a:p>
          <a:p>
            <a:pPr marL="12700" marR="5080">
              <a:lnSpc>
                <a:spcPct val="134600"/>
              </a:lnSpc>
              <a:spcBef>
                <a:spcPts val="660"/>
              </a:spcBef>
            </a:pPr>
            <a:r>
              <a:rPr sz="1300" spc="55" dirty="0">
                <a:solidFill>
                  <a:srgbClr val="3A3535"/>
                </a:solidFill>
                <a:latin typeface="Century Gothic"/>
                <a:cs typeface="Century Gothic"/>
              </a:rPr>
              <a:t>Interacts</a:t>
            </a:r>
            <a:r>
              <a:rPr sz="1300" spc="-40" dirty="0">
                <a:solidFill>
                  <a:srgbClr val="3A3535"/>
                </a:solidFill>
                <a:latin typeface="Century Gothic"/>
                <a:cs typeface="Century Gothic"/>
              </a:rPr>
              <a:t> </a:t>
            </a:r>
            <a:r>
              <a:rPr sz="1300" spc="80" dirty="0">
                <a:solidFill>
                  <a:srgbClr val="3A3535"/>
                </a:solidFill>
                <a:latin typeface="Century Gothic"/>
                <a:cs typeface="Century Gothic"/>
              </a:rPr>
              <a:t>with</a:t>
            </a:r>
            <a:r>
              <a:rPr sz="1300" spc="-40" dirty="0">
                <a:solidFill>
                  <a:srgbClr val="3A3535"/>
                </a:solidFill>
                <a:latin typeface="Century Gothic"/>
                <a:cs typeface="Century Gothic"/>
              </a:rPr>
              <a:t> </a:t>
            </a:r>
            <a:r>
              <a:rPr sz="1300" spc="65" dirty="0">
                <a:solidFill>
                  <a:srgbClr val="3A3535"/>
                </a:solidFill>
                <a:latin typeface="Century Gothic"/>
                <a:cs typeface="Century Gothic"/>
              </a:rPr>
              <a:t>AI</a:t>
            </a:r>
            <a:r>
              <a:rPr sz="1300" spc="-40" dirty="0">
                <a:solidFill>
                  <a:srgbClr val="3A3535"/>
                </a:solidFill>
                <a:latin typeface="Century Gothic"/>
                <a:cs typeface="Century Gothic"/>
              </a:rPr>
              <a:t> </a:t>
            </a:r>
            <a:r>
              <a:rPr sz="1300" spc="90" dirty="0">
                <a:solidFill>
                  <a:srgbClr val="3A3535"/>
                </a:solidFill>
                <a:latin typeface="Century Gothic"/>
                <a:cs typeface="Century Gothic"/>
              </a:rPr>
              <a:t>or</a:t>
            </a:r>
            <a:r>
              <a:rPr sz="1300" spc="-40" dirty="0">
                <a:solidFill>
                  <a:srgbClr val="3A3535"/>
                </a:solidFill>
                <a:latin typeface="Century Gothic"/>
                <a:cs typeface="Century Gothic"/>
              </a:rPr>
              <a:t> </a:t>
            </a:r>
            <a:r>
              <a:rPr sz="1300" spc="-10" dirty="0">
                <a:solidFill>
                  <a:srgbClr val="3A3535"/>
                </a:solidFill>
                <a:latin typeface="Century Gothic"/>
                <a:cs typeface="Century Gothic"/>
              </a:rPr>
              <a:t>human </a:t>
            </a:r>
            <a:r>
              <a:rPr sz="1300" spc="60" dirty="0">
                <a:solidFill>
                  <a:srgbClr val="3A3535"/>
                </a:solidFill>
                <a:latin typeface="Century Gothic"/>
                <a:cs typeface="Century Gothic"/>
              </a:rPr>
              <a:t>through</a:t>
            </a:r>
            <a:r>
              <a:rPr sz="1300" spc="-40" dirty="0">
                <a:solidFill>
                  <a:srgbClr val="3A3535"/>
                </a:solidFill>
                <a:latin typeface="Century Gothic"/>
                <a:cs typeface="Century Gothic"/>
              </a:rPr>
              <a:t> </a:t>
            </a:r>
            <a:r>
              <a:rPr sz="1300" spc="-140" dirty="0">
                <a:solidFill>
                  <a:srgbClr val="3A3535"/>
                </a:solidFill>
                <a:latin typeface="Century Gothic"/>
                <a:cs typeface="Century Gothic"/>
              </a:rPr>
              <a:t>a</a:t>
            </a:r>
            <a:r>
              <a:rPr sz="1300" spc="-40" dirty="0">
                <a:solidFill>
                  <a:srgbClr val="3A3535"/>
                </a:solidFill>
                <a:latin typeface="Century Gothic"/>
                <a:cs typeface="Century Gothic"/>
              </a:rPr>
              <a:t> </a:t>
            </a:r>
            <a:r>
              <a:rPr sz="1300" spc="75" dirty="0">
                <a:solidFill>
                  <a:srgbClr val="3A3535"/>
                </a:solidFill>
                <a:latin typeface="Century Gothic"/>
                <a:cs typeface="Century Gothic"/>
              </a:rPr>
              <a:t>single</a:t>
            </a:r>
            <a:r>
              <a:rPr sz="1300" spc="-40" dirty="0">
                <a:solidFill>
                  <a:srgbClr val="3A3535"/>
                </a:solidFill>
                <a:latin typeface="Century Gothic"/>
                <a:cs typeface="Century Gothic"/>
              </a:rPr>
              <a:t> </a:t>
            </a:r>
            <a:r>
              <a:rPr sz="1300" dirty="0">
                <a:solidFill>
                  <a:srgbClr val="3A3535"/>
                </a:solidFill>
                <a:latin typeface="Century Gothic"/>
                <a:cs typeface="Century Gothic"/>
              </a:rPr>
              <a:t>chat</a:t>
            </a:r>
            <a:r>
              <a:rPr sz="1300" spc="-40" dirty="0">
                <a:solidFill>
                  <a:srgbClr val="3A3535"/>
                </a:solidFill>
                <a:latin typeface="Century Gothic"/>
                <a:cs typeface="Century Gothic"/>
              </a:rPr>
              <a:t> </a:t>
            </a:r>
            <a:r>
              <a:rPr sz="1300" spc="-10" dirty="0">
                <a:solidFill>
                  <a:srgbClr val="3A3535"/>
                </a:solidFill>
                <a:latin typeface="Century Gothic"/>
                <a:cs typeface="Century Gothic"/>
              </a:rPr>
              <a:t>interface</a:t>
            </a:r>
            <a:endParaRPr sz="1300">
              <a:latin typeface="Century Gothic"/>
              <a:cs typeface="Century Gothic"/>
            </a:endParaRPr>
          </a:p>
        </p:txBody>
      </p:sp>
      <p:grpSp>
        <p:nvGrpSpPr>
          <p:cNvPr id="8" name="object 8"/>
          <p:cNvGrpSpPr/>
          <p:nvPr/>
        </p:nvGrpSpPr>
        <p:grpSpPr>
          <a:xfrm>
            <a:off x="4067175" y="3390900"/>
            <a:ext cx="3295650" cy="1285875"/>
            <a:chOff x="4067175" y="3390900"/>
            <a:chExt cx="3295650" cy="1285875"/>
          </a:xfrm>
        </p:grpSpPr>
        <p:sp>
          <p:nvSpPr>
            <p:cNvPr id="9" name="object 9"/>
            <p:cNvSpPr/>
            <p:nvPr/>
          </p:nvSpPr>
          <p:spPr>
            <a:xfrm>
              <a:off x="4071937" y="3395662"/>
              <a:ext cx="3286125" cy="1276350"/>
            </a:xfrm>
            <a:custGeom>
              <a:avLst/>
              <a:gdLst/>
              <a:ahLst/>
              <a:cxnLst/>
              <a:rect l="l" t="t" r="r" b="b"/>
              <a:pathLst>
                <a:path w="3286125" h="1276350">
                  <a:moveTo>
                    <a:pt x="3235223" y="0"/>
                  </a:moveTo>
                  <a:lnTo>
                    <a:pt x="50901" y="0"/>
                  </a:lnTo>
                  <a:lnTo>
                    <a:pt x="47358" y="342"/>
                  </a:lnTo>
                  <a:lnTo>
                    <a:pt x="13423" y="18491"/>
                  </a:lnTo>
                  <a:lnTo>
                    <a:pt x="0" y="50901"/>
                  </a:lnTo>
                  <a:lnTo>
                    <a:pt x="0" y="1221867"/>
                  </a:lnTo>
                  <a:lnTo>
                    <a:pt x="0" y="1225448"/>
                  </a:lnTo>
                  <a:lnTo>
                    <a:pt x="15963" y="1260386"/>
                  </a:lnTo>
                  <a:lnTo>
                    <a:pt x="18478" y="1262926"/>
                  </a:lnTo>
                  <a:lnTo>
                    <a:pt x="50901" y="1276350"/>
                  </a:lnTo>
                  <a:lnTo>
                    <a:pt x="3235223" y="1276350"/>
                  </a:lnTo>
                  <a:lnTo>
                    <a:pt x="3272701" y="1257858"/>
                  </a:lnTo>
                  <a:lnTo>
                    <a:pt x="3286125" y="1225448"/>
                  </a:lnTo>
                  <a:lnTo>
                    <a:pt x="3286125" y="50901"/>
                  </a:lnTo>
                  <a:lnTo>
                    <a:pt x="3267633" y="13423"/>
                  </a:lnTo>
                  <a:lnTo>
                    <a:pt x="3238766" y="342"/>
                  </a:lnTo>
                  <a:lnTo>
                    <a:pt x="3235223" y="0"/>
                  </a:lnTo>
                  <a:close/>
                </a:path>
              </a:pathLst>
            </a:custGeom>
            <a:solidFill>
              <a:srgbClr val="F9D2D6"/>
            </a:solidFill>
          </p:spPr>
          <p:txBody>
            <a:bodyPr wrap="square" lIns="0" tIns="0" rIns="0" bIns="0" rtlCol="0"/>
            <a:lstStyle/>
            <a:p>
              <a:endParaRPr/>
            </a:p>
          </p:txBody>
        </p:sp>
        <p:sp>
          <p:nvSpPr>
            <p:cNvPr id="10" name="object 10"/>
            <p:cNvSpPr/>
            <p:nvPr/>
          </p:nvSpPr>
          <p:spPr>
            <a:xfrm>
              <a:off x="4071937" y="3395662"/>
              <a:ext cx="3286125" cy="1276350"/>
            </a:xfrm>
            <a:custGeom>
              <a:avLst/>
              <a:gdLst/>
              <a:ahLst/>
              <a:cxnLst/>
              <a:rect l="l" t="t" r="r" b="b"/>
              <a:pathLst>
                <a:path w="3286125" h="1276350">
                  <a:moveTo>
                    <a:pt x="0" y="1221867"/>
                  </a:moveTo>
                  <a:lnTo>
                    <a:pt x="0" y="54483"/>
                  </a:lnTo>
                  <a:lnTo>
                    <a:pt x="0" y="50901"/>
                  </a:lnTo>
                  <a:lnTo>
                    <a:pt x="342" y="47358"/>
                  </a:lnTo>
                  <a:lnTo>
                    <a:pt x="1041" y="43853"/>
                  </a:lnTo>
                  <a:lnTo>
                    <a:pt x="1752" y="40347"/>
                  </a:lnTo>
                  <a:lnTo>
                    <a:pt x="2781" y="36931"/>
                  </a:lnTo>
                  <a:lnTo>
                    <a:pt x="4152" y="33629"/>
                  </a:lnTo>
                  <a:lnTo>
                    <a:pt x="5511" y="30327"/>
                  </a:lnTo>
                  <a:lnTo>
                    <a:pt x="7188" y="27190"/>
                  </a:lnTo>
                  <a:lnTo>
                    <a:pt x="9182" y="24206"/>
                  </a:lnTo>
                  <a:lnTo>
                    <a:pt x="11163" y="21234"/>
                  </a:lnTo>
                  <a:lnTo>
                    <a:pt x="13423" y="18491"/>
                  </a:lnTo>
                  <a:lnTo>
                    <a:pt x="15963" y="15951"/>
                  </a:lnTo>
                  <a:lnTo>
                    <a:pt x="18478" y="13423"/>
                  </a:lnTo>
                  <a:lnTo>
                    <a:pt x="21234" y="11163"/>
                  </a:lnTo>
                  <a:lnTo>
                    <a:pt x="24218" y="9182"/>
                  </a:lnTo>
                  <a:lnTo>
                    <a:pt x="27190" y="7188"/>
                  </a:lnTo>
                  <a:lnTo>
                    <a:pt x="30327" y="5511"/>
                  </a:lnTo>
                  <a:lnTo>
                    <a:pt x="33629" y="4152"/>
                  </a:lnTo>
                  <a:lnTo>
                    <a:pt x="36931" y="2781"/>
                  </a:lnTo>
                  <a:lnTo>
                    <a:pt x="40347" y="1739"/>
                  </a:lnTo>
                  <a:lnTo>
                    <a:pt x="43853" y="1041"/>
                  </a:lnTo>
                  <a:lnTo>
                    <a:pt x="47358" y="342"/>
                  </a:lnTo>
                  <a:lnTo>
                    <a:pt x="50901" y="0"/>
                  </a:lnTo>
                  <a:lnTo>
                    <a:pt x="54483" y="0"/>
                  </a:lnTo>
                  <a:lnTo>
                    <a:pt x="3231642" y="0"/>
                  </a:lnTo>
                  <a:lnTo>
                    <a:pt x="3235223" y="0"/>
                  </a:lnTo>
                  <a:lnTo>
                    <a:pt x="3238766" y="342"/>
                  </a:lnTo>
                  <a:lnTo>
                    <a:pt x="3242271" y="1041"/>
                  </a:lnTo>
                  <a:lnTo>
                    <a:pt x="3245777" y="1739"/>
                  </a:lnTo>
                  <a:lnTo>
                    <a:pt x="3249180" y="2781"/>
                  </a:lnTo>
                  <a:lnTo>
                    <a:pt x="3252495" y="4152"/>
                  </a:lnTo>
                  <a:lnTo>
                    <a:pt x="3255797" y="5511"/>
                  </a:lnTo>
                  <a:lnTo>
                    <a:pt x="3258934" y="7188"/>
                  </a:lnTo>
                  <a:lnTo>
                    <a:pt x="3261906" y="9182"/>
                  </a:lnTo>
                  <a:lnTo>
                    <a:pt x="3264890" y="11163"/>
                  </a:lnTo>
                  <a:lnTo>
                    <a:pt x="3267633" y="13423"/>
                  </a:lnTo>
                  <a:lnTo>
                    <a:pt x="3270161" y="15951"/>
                  </a:lnTo>
                  <a:lnTo>
                    <a:pt x="3272701" y="18491"/>
                  </a:lnTo>
                  <a:lnTo>
                    <a:pt x="3281972" y="33629"/>
                  </a:lnTo>
                  <a:lnTo>
                    <a:pt x="3283343" y="36931"/>
                  </a:lnTo>
                  <a:lnTo>
                    <a:pt x="3284385" y="40347"/>
                  </a:lnTo>
                  <a:lnTo>
                    <a:pt x="3285083" y="43853"/>
                  </a:lnTo>
                  <a:lnTo>
                    <a:pt x="3285782" y="47358"/>
                  </a:lnTo>
                  <a:lnTo>
                    <a:pt x="3286125" y="50901"/>
                  </a:lnTo>
                  <a:lnTo>
                    <a:pt x="3286125" y="54483"/>
                  </a:lnTo>
                  <a:lnTo>
                    <a:pt x="3286125" y="1221867"/>
                  </a:lnTo>
                  <a:lnTo>
                    <a:pt x="3286125" y="1225448"/>
                  </a:lnTo>
                  <a:lnTo>
                    <a:pt x="3285782" y="1228991"/>
                  </a:lnTo>
                  <a:lnTo>
                    <a:pt x="3285083" y="1232496"/>
                  </a:lnTo>
                  <a:lnTo>
                    <a:pt x="3284385" y="1236002"/>
                  </a:lnTo>
                  <a:lnTo>
                    <a:pt x="3283343" y="1239405"/>
                  </a:lnTo>
                  <a:lnTo>
                    <a:pt x="3281972" y="1242720"/>
                  </a:lnTo>
                  <a:lnTo>
                    <a:pt x="3280613" y="1246022"/>
                  </a:lnTo>
                  <a:lnTo>
                    <a:pt x="3278936" y="1249159"/>
                  </a:lnTo>
                  <a:lnTo>
                    <a:pt x="3276942" y="1252131"/>
                  </a:lnTo>
                  <a:lnTo>
                    <a:pt x="3274949" y="1255102"/>
                  </a:lnTo>
                  <a:lnTo>
                    <a:pt x="3272701" y="1257858"/>
                  </a:lnTo>
                  <a:lnTo>
                    <a:pt x="3270161" y="1260386"/>
                  </a:lnTo>
                  <a:lnTo>
                    <a:pt x="3267633" y="1262926"/>
                  </a:lnTo>
                  <a:lnTo>
                    <a:pt x="3235223" y="1276350"/>
                  </a:lnTo>
                  <a:lnTo>
                    <a:pt x="3231642" y="1276350"/>
                  </a:lnTo>
                  <a:lnTo>
                    <a:pt x="54483" y="1276350"/>
                  </a:lnTo>
                  <a:lnTo>
                    <a:pt x="50901" y="1276350"/>
                  </a:lnTo>
                  <a:lnTo>
                    <a:pt x="47358" y="1275994"/>
                  </a:lnTo>
                  <a:lnTo>
                    <a:pt x="15963" y="1260386"/>
                  </a:lnTo>
                  <a:lnTo>
                    <a:pt x="13423" y="1257858"/>
                  </a:lnTo>
                  <a:lnTo>
                    <a:pt x="11163" y="1255102"/>
                  </a:lnTo>
                  <a:lnTo>
                    <a:pt x="9182" y="1252131"/>
                  </a:lnTo>
                  <a:lnTo>
                    <a:pt x="7188" y="1249159"/>
                  </a:lnTo>
                  <a:lnTo>
                    <a:pt x="5511" y="1246022"/>
                  </a:lnTo>
                  <a:lnTo>
                    <a:pt x="4152" y="1242720"/>
                  </a:lnTo>
                  <a:lnTo>
                    <a:pt x="2781" y="1239405"/>
                  </a:lnTo>
                  <a:lnTo>
                    <a:pt x="1752" y="1236002"/>
                  </a:lnTo>
                  <a:lnTo>
                    <a:pt x="1041" y="1232496"/>
                  </a:lnTo>
                  <a:lnTo>
                    <a:pt x="342" y="1228991"/>
                  </a:lnTo>
                  <a:lnTo>
                    <a:pt x="0" y="1225448"/>
                  </a:lnTo>
                  <a:lnTo>
                    <a:pt x="0" y="1221867"/>
                  </a:lnTo>
                  <a:close/>
                </a:path>
              </a:pathLst>
            </a:custGeom>
            <a:ln w="9525">
              <a:solidFill>
                <a:srgbClr val="DFB7BB"/>
              </a:solidFill>
            </a:ln>
          </p:spPr>
          <p:txBody>
            <a:bodyPr wrap="square" lIns="0" tIns="0" rIns="0" bIns="0" rtlCol="0"/>
            <a:lstStyle/>
            <a:p>
              <a:endParaRPr/>
            </a:p>
          </p:txBody>
        </p:sp>
      </p:grpSp>
      <p:sp>
        <p:nvSpPr>
          <p:cNvPr id="11" name="object 11"/>
          <p:cNvSpPr txBox="1"/>
          <p:nvPr/>
        </p:nvSpPr>
        <p:spPr>
          <a:xfrm>
            <a:off x="4229798" y="3546030"/>
            <a:ext cx="2733675" cy="910590"/>
          </a:xfrm>
          <a:prstGeom prst="rect">
            <a:avLst/>
          </a:prstGeom>
        </p:spPr>
        <p:txBody>
          <a:bodyPr vert="horz" wrap="square" lIns="0" tIns="12700" rIns="0" bIns="0" rtlCol="0">
            <a:spAutoFit/>
          </a:bodyPr>
          <a:lstStyle/>
          <a:p>
            <a:pPr marL="12700">
              <a:lnSpc>
                <a:spcPct val="100000"/>
              </a:lnSpc>
              <a:spcBef>
                <a:spcPts val="100"/>
              </a:spcBef>
            </a:pPr>
            <a:r>
              <a:rPr sz="1750" b="1" spc="-100" dirty="0">
                <a:solidFill>
                  <a:srgbClr val="3A3535"/>
                </a:solidFill>
                <a:latin typeface="Verdana"/>
                <a:cs typeface="Verdana"/>
              </a:rPr>
              <a:t>Therapist</a:t>
            </a:r>
            <a:r>
              <a:rPr sz="1750" b="1" spc="-165" dirty="0">
                <a:solidFill>
                  <a:srgbClr val="3A3535"/>
                </a:solidFill>
                <a:latin typeface="Verdana"/>
                <a:cs typeface="Verdana"/>
              </a:rPr>
              <a:t> </a:t>
            </a:r>
            <a:r>
              <a:rPr sz="1750" b="1" spc="-10" dirty="0">
                <a:solidFill>
                  <a:srgbClr val="3A3535"/>
                </a:solidFill>
                <a:latin typeface="Verdana"/>
                <a:cs typeface="Verdana"/>
              </a:rPr>
              <a:t>Dashboard</a:t>
            </a:r>
            <a:endParaRPr sz="1750">
              <a:latin typeface="Verdana"/>
              <a:cs typeface="Verdana"/>
            </a:endParaRPr>
          </a:p>
          <a:p>
            <a:pPr marL="12700" marR="5080">
              <a:lnSpc>
                <a:spcPct val="134600"/>
              </a:lnSpc>
              <a:spcBef>
                <a:spcPts val="660"/>
              </a:spcBef>
            </a:pPr>
            <a:r>
              <a:rPr sz="1300" spc="70" dirty="0">
                <a:solidFill>
                  <a:srgbClr val="3A3535"/>
                </a:solidFill>
                <a:latin typeface="Century Gothic"/>
                <a:cs typeface="Century Gothic"/>
              </a:rPr>
              <a:t>Alerts,</a:t>
            </a:r>
            <a:r>
              <a:rPr sz="1300" spc="-25" dirty="0">
                <a:solidFill>
                  <a:srgbClr val="3A3535"/>
                </a:solidFill>
                <a:latin typeface="Century Gothic"/>
                <a:cs typeface="Century Gothic"/>
              </a:rPr>
              <a:t> </a:t>
            </a:r>
            <a:r>
              <a:rPr sz="1300" spc="50" dirty="0">
                <a:solidFill>
                  <a:srgbClr val="3A3535"/>
                </a:solidFill>
                <a:latin typeface="Century Gothic"/>
                <a:cs typeface="Century Gothic"/>
              </a:rPr>
              <a:t>notes,</a:t>
            </a:r>
            <a:r>
              <a:rPr sz="1300" spc="-25" dirty="0">
                <a:solidFill>
                  <a:srgbClr val="3A3535"/>
                </a:solidFill>
                <a:latin typeface="Century Gothic"/>
                <a:cs typeface="Century Gothic"/>
              </a:rPr>
              <a:t> </a:t>
            </a:r>
            <a:r>
              <a:rPr sz="1300" spc="60" dirty="0">
                <a:solidFill>
                  <a:srgbClr val="3A3535"/>
                </a:solidFill>
                <a:latin typeface="Century Gothic"/>
                <a:cs typeface="Century Gothic"/>
              </a:rPr>
              <a:t>summaries,</a:t>
            </a:r>
            <a:r>
              <a:rPr sz="1300" spc="-25" dirty="0">
                <a:solidFill>
                  <a:srgbClr val="3A3535"/>
                </a:solidFill>
                <a:latin typeface="Century Gothic"/>
                <a:cs typeface="Century Gothic"/>
              </a:rPr>
              <a:t> </a:t>
            </a:r>
            <a:r>
              <a:rPr sz="1300" spc="45" dirty="0">
                <a:solidFill>
                  <a:srgbClr val="3A3535"/>
                </a:solidFill>
                <a:latin typeface="Century Gothic"/>
                <a:cs typeface="Century Gothic"/>
              </a:rPr>
              <a:t>drafts, </a:t>
            </a:r>
            <a:r>
              <a:rPr sz="1300" spc="-10" dirty="0">
                <a:solidFill>
                  <a:srgbClr val="3A3535"/>
                </a:solidFill>
                <a:latin typeface="Century Gothic"/>
                <a:cs typeface="Century Gothic"/>
              </a:rPr>
              <a:t>and</a:t>
            </a:r>
            <a:r>
              <a:rPr sz="1300" spc="-60" dirty="0">
                <a:solidFill>
                  <a:srgbClr val="3A3535"/>
                </a:solidFill>
                <a:latin typeface="Century Gothic"/>
                <a:cs typeface="Century Gothic"/>
              </a:rPr>
              <a:t> </a:t>
            </a:r>
            <a:r>
              <a:rPr sz="1300" spc="55" dirty="0">
                <a:solidFill>
                  <a:srgbClr val="3A3535"/>
                </a:solidFill>
                <a:latin typeface="Century Gothic"/>
                <a:cs typeface="Century Gothic"/>
              </a:rPr>
              <a:t>direct</a:t>
            </a:r>
            <a:r>
              <a:rPr sz="1300" spc="-55" dirty="0">
                <a:solidFill>
                  <a:srgbClr val="3A3535"/>
                </a:solidFill>
                <a:latin typeface="Century Gothic"/>
                <a:cs typeface="Century Gothic"/>
              </a:rPr>
              <a:t> </a:t>
            </a:r>
            <a:r>
              <a:rPr sz="1300" spc="-10" dirty="0">
                <a:solidFill>
                  <a:srgbClr val="3A3535"/>
                </a:solidFill>
                <a:latin typeface="Century Gothic"/>
                <a:cs typeface="Century Gothic"/>
              </a:rPr>
              <a:t>escalation</a:t>
            </a:r>
            <a:endParaRPr sz="1300">
              <a:latin typeface="Century Gothic"/>
              <a:cs typeface="Century Gothic"/>
            </a:endParaRPr>
          </a:p>
        </p:txBody>
      </p:sp>
      <p:grpSp>
        <p:nvGrpSpPr>
          <p:cNvPr id="12" name="object 12"/>
          <p:cNvGrpSpPr/>
          <p:nvPr/>
        </p:nvGrpSpPr>
        <p:grpSpPr>
          <a:xfrm>
            <a:off x="7534275" y="3390900"/>
            <a:ext cx="3305175" cy="1285875"/>
            <a:chOff x="7534275" y="3390900"/>
            <a:chExt cx="3305175" cy="1285875"/>
          </a:xfrm>
        </p:grpSpPr>
        <p:sp>
          <p:nvSpPr>
            <p:cNvPr id="13" name="object 13"/>
            <p:cNvSpPr/>
            <p:nvPr/>
          </p:nvSpPr>
          <p:spPr>
            <a:xfrm>
              <a:off x="7539037" y="3395662"/>
              <a:ext cx="3295650" cy="1276350"/>
            </a:xfrm>
            <a:custGeom>
              <a:avLst/>
              <a:gdLst/>
              <a:ahLst/>
              <a:cxnLst/>
              <a:rect l="l" t="t" r="r" b="b"/>
              <a:pathLst>
                <a:path w="3295650" h="1276350">
                  <a:moveTo>
                    <a:pt x="3244748" y="0"/>
                  </a:moveTo>
                  <a:lnTo>
                    <a:pt x="50901" y="0"/>
                  </a:lnTo>
                  <a:lnTo>
                    <a:pt x="47358" y="342"/>
                  </a:lnTo>
                  <a:lnTo>
                    <a:pt x="13423" y="18491"/>
                  </a:lnTo>
                  <a:lnTo>
                    <a:pt x="0" y="50901"/>
                  </a:lnTo>
                  <a:lnTo>
                    <a:pt x="0" y="1221867"/>
                  </a:lnTo>
                  <a:lnTo>
                    <a:pt x="0" y="1225448"/>
                  </a:lnTo>
                  <a:lnTo>
                    <a:pt x="18478" y="1262926"/>
                  </a:lnTo>
                  <a:lnTo>
                    <a:pt x="50901" y="1276350"/>
                  </a:lnTo>
                  <a:lnTo>
                    <a:pt x="3244748" y="1276350"/>
                  </a:lnTo>
                  <a:lnTo>
                    <a:pt x="3282226" y="1257858"/>
                  </a:lnTo>
                  <a:lnTo>
                    <a:pt x="3295650" y="1225448"/>
                  </a:lnTo>
                  <a:lnTo>
                    <a:pt x="3295650" y="50901"/>
                  </a:lnTo>
                  <a:lnTo>
                    <a:pt x="3277158" y="13423"/>
                  </a:lnTo>
                  <a:lnTo>
                    <a:pt x="3248291" y="342"/>
                  </a:lnTo>
                  <a:lnTo>
                    <a:pt x="3244748" y="0"/>
                  </a:lnTo>
                  <a:close/>
                </a:path>
              </a:pathLst>
            </a:custGeom>
            <a:solidFill>
              <a:srgbClr val="F9D2D6"/>
            </a:solidFill>
          </p:spPr>
          <p:txBody>
            <a:bodyPr wrap="square" lIns="0" tIns="0" rIns="0" bIns="0" rtlCol="0"/>
            <a:lstStyle/>
            <a:p>
              <a:endParaRPr/>
            </a:p>
          </p:txBody>
        </p:sp>
        <p:sp>
          <p:nvSpPr>
            <p:cNvPr id="14" name="object 14"/>
            <p:cNvSpPr/>
            <p:nvPr/>
          </p:nvSpPr>
          <p:spPr>
            <a:xfrm>
              <a:off x="7539037" y="3395662"/>
              <a:ext cx="3295650" cy="1276350"/>
            </a:xfrm>
            <a:custGeom>
              <a:avLst/>
              <a:gdLst/>
              <a:ahLst/>
              <a:cxnLst/>
              <a:rect l="l" t="t" r="r" b="b"/>
              <a:pathLst>
                <a:path w="3295650" h="1276350">
                  <a:moveTo>
                    <a:pt x="0" y="1221867"/>
                  </a:moveTo>
                  <a:lnTo>
                    <a:pt x="0" y="54483"/>
                  </a:lnTo>
                  <a:lnTo>
                    <a:pt x="0" y="50901"/>
                  </a:lnTo>
                  <a:lnTo>
                    <a:pt x="342" y="47358"/>
                  </a:lnTo>
                  <a:lnTo>
                    <a:pt x="1041" y="43853"/>
                  </a:lnTo>
                  <a:lnTo>
                    <a:pt x="1752" y="40347"/>
                  </a:lnTo>
                  <a:lnTo>
                    <a:pt x="2781" y="36931"/>
                  </a:lnTo>
                  <a:lnTo>
                    <a:pt x="4152" y="33629"/>
                  </a:lnTo>
                  <a:lnTo>
                    <a:pt x="5511" y="30327"/>
                  </a:lnTo>
                  <a:lnTo>
                    <a:pt x="7188" y="27190"/>
                  </a:lnTo>
                  <a:lnTo>
                    <a:pt x="9182" y="24206"/>
                  </a:lnTo>
                  <a:lnTo>
                    <a:pt x="11163" y="21234"/>
                  </a:lnTo>
                  <a:lnTo>
                    <a:pt x="24206" y="9182"/>
                  </a:lnTo>
                  <a:lnTo>
                    <a:pt x="27190" y="7188"/>
                  </a:lnTo>
                  <a:lnTo>
                    <a:pt x="30327" y="5511"/>
                  </a:lnTo>
                  <a:lnTo>
                    <a:pt x="33629" y="4152"/>
                  </a:lnTo>
                  <a:lnTo>
                    <a:pt x="36931" y="2781"/>
                  </a:lnTo>
                  <a:lnTo>
                    <a:pt x="40347" y="1739"/>
                  </a:lnTo>
                  <a:lnTo>
                    <a:pt x="43853" y="1041"/>
                  </a:lnTo>
                  <a:lnTo>
                    <a:pt x="47358" y="342"/>
                  </a:lnTo>
                  <a:lnTo>
                    <a:pt x="50901" y="0"/>
                  </a:lnTo>
                  <a:lnTo>
                    <a:pt x="54483" y="0"/>
                  </a:lnTo>
                  <a:lnTo>
                    <a:pt x="3241167" y="0"/>
                  </a:lnTo>
                  <a:lnTo>
                    <a:pt x="3244748" y="0"/>
                  </a:lnTo>
                  <a:lnTo>
                    <a:pt x="3248291" y="342"/>
                  </a:lnTo>
                  <a:lnTo>
                    <a:pt x="3251796" y="1041"/>
                  </a:lnTo>
                  <a:lnTo>
                    <a:pt x="3255302" y="1739"/>
                  </a:lnTo>
                  <a:lnTo>
                    <a:pt x="3258705" y="2781"/>
                  </a:lnTo>
                  <a:lnTo>
                    <a:pt x="3262020" y="4152"/>
                  </a:lnTo>
                  <a:lnTo>
                    <a:pt x="3265322" y="5511"/>
                  </a:lnTo>
                  <a:lnTo>
                    <a:pt x="3268459" y="7188"/>
                  </a:lnTo>
                  <a:lnTo>
                    <a:pt x="3271431" y="9182"/>
                  </a:lnTo>
                  <a:lnTo>
                    <a:pt x="3274415" y="11163"/>
                  </a:lnTo>
                  <a:lnTo>
                    <a:pt x="3277158" y="13423"/>
                  </a:lnTo>
                  <a:lnTo>
                    <a:pt x="3279686" y="15951"/>
                  </a:lnTo>
                  <a:lnTo>
                    <a:pt x="3282226" y="18491"/>
                  </a:lnTo>
                  <a:lnTo>
                    <a:pt x="3291497" y="33629"/>
                  </a:lnTo>
                  <a:lnTo>
                    <a:pt x="3292868" y="36931"/>
                  </a:lnTo>
                  <a:lnTo>
                    <a:pt x="3293910" y="40347"/>
                  </a:lnTo>
                  <a:lnTo>
                    <a:pt x="3294608" y="43853"/>
                  </a:lnTo>
                  <a:lnTo>
                    <a:pt x="3295307" y="47358"/>
                  </a:lnTo>
                  <a:lnTo>
                    <a:pt x="3295650" y="50901"/>
                  </a:lnTo>
                  <a:lnTo>
                    <a:pt x="3295650" y="54483"/>
                  </a:lnTo>
                  <a:lnTo>
                    <a:pt x="3295650" y="1221867"/>
                  </a:lnTo>
                  <a:lnTo>
                    <a:pt x="3295650" y="1225448"/>
                  </a:lnTo>
                  <a:lnTo>
                    <a:pt x="3295307" y="1228991"/>
                  </a:lnTo>
                  <a:lnTo>
                    <a:pt x="3294608" y="1232496"/>
                  </a:lnTo>
                  <a:lnTo>
                    <a:pt x="3293910" y="1236002"/>
                  </a:lnTo>
                  <a:lnTo>
                    <a:pt x="3292868" y="1239405"/>
                  </a:lnTo>
                  <a:lnTo>
                    <a:pt x="3291497" y="1242720"/>
                  </a:lnTo>
                  <a:lnTo>
                    <a:pt x="3290138" y="1246022"/>
                  </a:lnTo>
                  <a:lnTo>
                    <a:pt x="3288461" y="1249159"/>
                  </a:lnTo>
                  <a:lnTo>
                    <a:pt x="3286467" y="1252131"/>
                  </a:lnTo>
                  <a:lnTo>
                    <a:pt x="3284486" y="1255102"/>
                  </a:lnTo>
                  <a:lnTo>
                    <a:pt x="3282226" y="1257858"/>
                  </a:lnTo>
                  <a:lnTo>
                    <a:pt x="3279686" y="1260386"/>
                  </a:lnTo>
                  <a:lnTo>
                    <a:pt x="3277158" y="1262926"/>
                  </a:lnTo>
                  <a:lnTo>
                    <a:pt x="3244748" y="1276350"/>
                  </a:lnTo>
                  <a:lnTo>
                    <a:pt x="3241167" y="1276350"/>
                  </a:lnTo>
                  <a:lnTo>
                    <a:pt x="54483" y="1276350"/>
                  </a:lnTo>
                  <a:lnTo>
                    <a:pt x="50901" y="1276350"/>
                  </a:lnTo>
                  <a:lnTo>
                    <a:pt x="47358" y="1275994"/>
                  </a:lnTo>
                  <a:lnTo>
                    <a:pt x="15951" y="1260386"/>
                  </a:lnTo>
                  <a:lnTo>
                    <a:pt x="13423" y="1257858"/>
                  </a:lnTo>
                  <a:lnTo>
                    <a:pt x="11163" y="1255102"/>
                  </a:lnTo>
                  <a:lnTo>
                    <a:pt x="9182" y="1252131"/>
                  </a:lnTo>
                  <a:lnTo>
                    <a:pt x="7188" y="1249159"/>
                  </a:lnTo>
                  <a:lnTo>
                    <a:pt x="5511" y="1246022"/>
                  </a:lnTo>
                  <a:lnTo>
                    <a:pt x="4152" y="1242720"/>
                  </a:lnTo>
                  <a:lnTo>
                    <a:pt x="2781" y="1239405"/>
                  </a:lnTo>
                  <a:lnTo>
                    <a:pt x="1752" y="1236002"/>
                  </a:lnTo>
                  <a:lnTo>
                    <a:pt x="1041" y="1232496"/>
                  </a:lnTo>
                  <a:lnTo>
                    <a:pt x="342" y="1228991"/>
                  </a:lnTo>
                  <a:lnTo>
                    <a:pt x="0" y="1225448"/>
                  </a:lnTo>
                  <a:lnTo>
                    <a:pt x="0" y="1221867"/>
                  </a:lnTo>
                  <a:close/>
                </a:path>
              </a:pathLst>
            </a:custGeom>
            <a:ln w="9525">
              <a:solidFill>
                <a:srgbClr val="DFB7BB"/>
              </a:solidFill>
            </a:ln>
          </p:spPr>
          <p:txBody>
            <a:bodyPr wrap="square" lIns="0" tIns="0" rIns="0" bIns="0" rtlCol="0"/>
            <a:lstStyle/>
            <a:p>
              <a:endParaRPr/>
            </a:p>
          </p:txBody>
        </p:sp>
      </p:grpSp>
      <p:sp>
        <p:nvSpPr>
          <p:cNvPr id="15" name="object 15"/>
          <p:cNvSpPr txBox="1"/>
          <p:nvPr/>
        </p:nvSpPr>
        <p:spPr>
          <a:xfrm>
            <a:off x="7701356" y="3546030"/>
            <a:ext cx="2966720" cy="910590"/>
          </a:xfrm>
          <a:prstGeom prst="rect">
            <a:avLst/>
          </a:prstGeom>
        </p:spPr>
        <p:txBody>
          <a:bodyPr vert="horz" wrap="square" lIns="0" tIns="12700" rIns="0" bIns="0" rtlCol="0">
            <a:spAutoFit/>
          </a:bodyPr>
          <a:lstStyle/>
          <a:p>
            <a:pPr marL="12700">
              <a:lnSpc>
                <a:spcPct val="100000"/>
              </a:lnSpc>
              <a:spcBef>
                <a:spcPts val="100"/>
              </a:spcBef>
            </a:pPr>
            <a:r>
              <a:rPr sz="1750" b="1" spc="-100" dirty="0">
                <a:solidFill>
                  <a:srgbClr val="3A3535"/>
                </a:solidFill>
                <a:latin typeface="Verdana"/>
                <a:cs typeface="Verdana"/>
              </a:rPr>
              <a:t>Human-</a:t>
            </a:r>
            <a:r>
              <a:rPr sz="1750" b="1" spc="-85" dirty="0">
                <a:solidFill>
                  <a:srgbClr val="3A3535"/>
                </a:solidFill>
                <a:latin typeface="Verdana"/>
                <a:cs typeface="Verdana"/>
              </a:rPr>
              <a:t>Only</a:t>
            </a:r>
            <a:r>
              <a:rPr sz="1750" b="1" spc="-155" dirty="0">
                <a:solidFill>
                  <a:srgbClr val="3A3535"/>
                </a:solidFill>
                <a:latin typeface="Verdana"/>
                <a:cs typeface="Verdana"/>
              </a:rPr>
              <a:t> </a:t>
            </a:r>
            <a:r>
              <a:rPr sz="1750" b="1" spc="-20" dirty="0">
                <a:solidFill>
                  <a:srgbClr val="3A3535"/>
                </a:solidFill>
                <a:latin typeface="Verdana"/>
                <a:cs typeface="Verdana"/>
              </a:rPr>
              <a:t>Mode</a:t>
            </a:r>
            <a:endParaRPr sz="1750">
              <a:latin typeface="Verdana"/>
              <a:cs typeface="Verdana"/>
            </a:endParaRPr>
          </a:p>
          <a:p>
            <a:pPr marL="12700" marR="5080">
              <a:lnSpc>
                <a:spcPct val="134600"/>
              </a:lnSpc>
              <a:spcBef>
                <a:spcPts val="660"/>
              </a:spcBef>
            </a:pPr>
            <a:r>
              <a:rPr sz="1300" spc="10" dirty="0">
                <a:solidFill>
                  <a:srgbClr val="3A3535"/>
                </a:solidFill>
                <a:latin typeface="Century Gothic"/>
                <a:cs typeface="Century Gothic"/>
              </a:rPr>
              <a:t>Same</a:t>
            </a:r>
            <a:r>
              <a:rPr sz="1300" spc="30" dirty="0">
                <a:solidFill>
                  <a:srgbClr val="3A3535"/>
                </a:solidFill>
                <a:latin typeface="Century Gothic"/>
                <a:cs typeface="Century Gothic"/>
              </a:rPr>
              <a:t> </a:t>
            </a:r>
            <a:r>
              <a:rPr sz="1300" spc="10" dirty="0">
                <a:solidFill>
                  <a:srgbClr val="3A3535"/>
                </a:solidFill>
                <a:latin typeface="Century Gothic"/>
                <a:cs typeface="Century Gothic"/>
              </a:rPr>
              <a:t>framework</a:t>
            </a:r>
            <a:r>
              <a:rPr sz="1300" spc="35" dirty="0">
                <a:solidFill>
                  <a:srgbClr val="3A3535"/>
                </a:solidFill>
                <a:latin typeface="Century Gothic"/>
                <a:cs typeface="Century Gothic"/>
              </a:rPr>
              <a:t> </a:t>
            </a:r>
            <a:r>
              <a:rPr sz="1300" spc="110" dirty="0">
                <a:solidFill>
                  <a:srgbClr val="3A3535"/>
                </a:solidFill>
                <a:latin typeface="Century Gothic"/>
                <a:cs typeface="Century Gothic"/>
              </a:rPr>
              <a:t>runs</a:t>
            </a:r>
            <a:r>
              <a:rPr sz="1300" spc="30" dirty="0">
                <a:solidFill>
                  <a:srgbClr val="3A3535"/>
                </a:solidFill>
                <a:latin typeface="Century Gothic"/>
                <a:cs typeface="Century Gothic"/>
              </a:rPr>
              <a:t> </a:t>
            </a:r>
            <a:r>
              <a:rPr sz="1300" spc="70" dirty="0">
                <a:solidFill>
                  <a:srgbClr val="3A3535"/>
                </a:solidFill>
                <a:latin typeface="Century Gothic"/>
                <a:cs typeface="Century Gothic"/>
              </a:rPr>
              <a:t>without</a:t>
            </a:r>
            <a:r>
              <a:rPr sz="1300" spc="35" dirty="0">
                <a:solidFill>
                  <a:srgbClr val="3A3535"/>
                </a:solidFill>
                <a:latin typeface="Century Gothic"/>
                <a:cs typeface="Century Gothic"/>
              </a:rPr>
              <a:t> </a:t>
            </a:r>
            <a:r>
              <a:rPr sz="1300" spc="65" dirty="0">
                <a:solidFill>
                  <a:srgbClr val="3A3535"/>
                </a:solidFill>
                <a:latin typeface="Century Gothic"/>
                <a:cs typeface="Century Gothic"/>
              </a:rPr>
              <a:t>AI</a:t>
            </a:r>
            <a:r>
              <a:rPr sz="1300" spc="30" dirty="0">
                <a:solidFill>
                  <a:srgbClr val="3A3535"/>
                </a:solidFill>
                <a:latin typeface="Century Gothic"/>
                <a:cs typeface="Century Gothic"/>
              </a:rPr>
              <a:t> </a:t>
            </a:r>
            <a:r>
              <a:rPr sz="1300" spc="-50" dirty="0">
                <a:solidFill>
                  <a:srgbClr val="3A3535"/>
                </a:solidFill>
                <a:latin typeface="Century Gothic"/>
                <a:cs typeface="Century Gothic"/>
              </a:rPr>
              <a:t>— </a:t>
            </a:r>
            <a:r>
              <a:rPr sz="1300" dirty="0">
                <a:solidFill>
                  <a:srgbClr val="3A3535"/>
                </a:solidFill>
                <a:latin typeface="Century Gothic"/>
                <a:cs typeface="Century Gothic"/>
              </a:rPr>
              <a:t>enabling</a:t>
            </a:r>
            <a:r>
              <a:rPr sz="1300" spc="80" dirty="0">
                <a:solidFill>
                  <a:srgbClr val="3A3535"/>
                </a:solidFill>
                <a:latin typeface="Century Gothic"/>
                <a:cs typeface="Century Gothic"/>
              </a:rPr>
              <a:t> </a:t>
            </a:r>
            <a:r>
              <a:rPr sz="1300" spc="50" dirty="0">
                <a:solidFill>
                  <a:srgbClr val="3A3535"/>
                </a:solidFill>
                <a:latin typeface="Century Gothic"/>
                <a:cs typeface="Century Gothic"/>
              </a:rPr>
              <a:t>controlled</a:t>
            </a:r>
            <a:r>
              <a:rPr sz="1300" spc="80" dirty="0">
                <a:solidFill>
                  <a:srgbClr val="3A3535"/>
                </a:solidFill>
                <a:latin typeface="Century Gothic"/>
                <a:cs typeface="Century Gothic"/>
              </a:rPr>
              <a:t> </a:t>
            </a:r>
            <a:r>
              <a:rPr sz="1300" spc="55" dirty="0">
                <a:solidFill>
                  <a:srgbClr val="3A3535"/>
                </a:solidFill>
                <a:latin typeface="Century Gothic"/>
                <a:cs typeface="Century Gothic"/>
              </a:rPr>
              <a:t>comparisons</a:t>
            </a:r>
            <a:endParaRPr sz="1300">
              <a:latin typeface="Century Gothic"/>
              <a:cs typeface="Century Gothic"/>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299085" rIns="0" bIns="0" rtlCol="0">
            <a:spAutoFit/>
          </a:bodyPr>
          <a:lstStyle/>
          <a:p>
            <a:pPr marL="12700">
              <a:lnSpc>
                <a:spcPct val="100000"/>
              </a:lnSpc>
              <a:spcBef>
                <a:spcPts val="105"/>
              </a:spcBef>
            </a:pPr>
            <a:r>
              <a:rPr spc="-70" dirty="0"/>
              <a:t>Mobile</a:t>
            </a:r>
            <a:r>
              <a:rPr spc="-409" dirty="0"/>
              <a:t> </a:t>
            </a:r>
            <a:r>
              <a:rPr spc="-25" dirty="0"/>
              <a:t>App</a:t>
            </a:r>
          </a:p>
        </p:txBody>
      </p:sp>
      <p:sp>
        <p:nvSpPr>
          <p:cNvPr id="3" name="object 3"/>
          <p:cNvSpPr txBox="1"/>
          <p:nvPr/>
        </p:nvSpPr>
        <p:spPr>
          <a:xfrm>
            <a:off x="579635" y="1716600"/>
            <a:ext cx="4663440" cy="577850"/>
          </a:xfrm>
          <a:prstGeom prst="rect">
            <a:avLst/>
          </a:prstGeom>
        </p:spPr>
        <p:txBody>
          <a:bodyPr vert="horz" wrap="square" lIns="0" tIns="11430" rIns="0" bIns="0" rtlCol="0">
            <a:spAutoFit/>
          </a:bodyPr>
          <a:lstStyle/>
          <a:p>
            <a:pPr marL="12700" marR="5080">
              <a:lnSpc>
                <a:spcPct val="139400"/>
              </a:lnSpc>
              <a:spcBef>
                <a:spcPts val="90"/>
              </a:spcBef>
            </a:pPr>
            <a:r>
              <a:rPr sz="1300" spc="80" dirty="0">
                <a:solidFill>
                  <a:srgbClr val="3A3535"/>
                </a:solidFill>
                <a:latin typeface="Century Gothic"/>
                <a:cs typeface="Century Gothic"/>
              </a:rPr>
              <a:t>The</a:t>
            </a:r>
            <a:r>
              <a:rPr sz="1300" spc="85" dirty="0">
                <a:solidFill>
                  <a:srgbClr val="3A3535"/>
                </a:solidFill>
                <a:latin typeface="Century Gothic"/>
                <a:cs typeface="Century Gothic"/>
              </a:rPr>
              <a:t> </a:t>
            </a:r>
            <a:r>
              <a:rPr sz="1300" dirty="0">
                <a:solidFill>
                  <a:srgbClr val="3A3535"/>
                </a:solidFill>
                <a:latin typeface="Century Gothic"/>
                <a:cs typeface="Century Gothic"/>
              </a:rPr>
              <a:t>same</a:t>
            </a:r>
            <a:r>
              <a:rPr sz="1300" spc="85" dirty="0">
                <a:solidFill>
                  <a:srgbClr val="3A3535"/>
                </a:solidFill>
                <a:latin typeface="Century Gothic"/>
                <a:cs typeface="Century Gothic"/>
              </a:rPr>
              <a:t> </a:t>
            </a:r>
            <a:r>
              <a:rPr sz="1300" dirty="0">
                <a:solidFill>
                  <a:srgbClr val="3A3535"/>
                </a:solidFill>
                <a:latin typeface="Century Gothic"/>
                <a:cs typeface="Century Gothic"/>
              </a:rPr>
              <a:t>program</a:t>
            </a:r>
            <a:r>
              <a:rPr sz="1300" spc="85" dirty="0">
                <a:solidFill>
                  <a:srgbClr val="3A3535"/>
                </a:solidFill>
                <a:latin typeface="Century Gothic"/>
                <a:cs typeface="Century Gothic"/>
              </a:rPr>
              <a:t> </a:t>
            </a:r>
            <a:r>
              <a:rPr sz="1300" dirty="0">
                <a:solidFill>
                  <a:srgbClr val="3A3535"/>
                </a:solidFill>
                <a:latin typeface="Century Gothic"/>
                <a:cs typeface="Century Gothic"/>
              </a:rPr>
              <a:t>logic</a:t>
            </a:r>
            <a:r>
              <a:rPr sz="1300" spc="85" dirty="0">
                <a:solidFill>
                  <a:srgbClr val="3A3535"/>
                </a:solidFill>
                <a:latin typeface="Century Gothic"/>
                <a:cs typeface="Century Gothic"/>
              </a:rPr>
              <a:t> </a:t>
            </a:r>
            <a:r>
              <a:rPr sz="1300" spc="60" dirty="0">
                <a:solidFill>
                  <a:srgbClr val="3A3535"/>
                </a:solidFill>
                <a:latin typeface="Century Gothic"/>
                <a:cs typeface="Century Gothic"/>
              </a:rPr>
              <a:t>continues</a:t>
            </a:r>
            <a:r>
              <a:rPr sz="1300" spc="90" dirty="0">
                <a:solidFill>
                  <a:srgbClr val="3A3535"/>
                </a:solidFill>
                <a:latin typeface="Century Gothic"/>
                <a:cs typeface="Century Gothic"/>
              </a:rPr>
              <a:t> </a:t>
            </a:r>
            <a:r>
              <a:rPr sz="1300" dirty="0">
                <a:solidFill>
                  <a:srgbClr val="3A3535"/>
                </a:solidFill>
                <a:latin typeface="Century Gothic"/>
                <a:cs typeface="Century Gothic"/>
              </a:rPr>
              <a:t>on</a:t>
            </a:r>
            <a:r>
              <a:rPr sz="1300" spc="85" dirty="0">
                <a:solidFill>
                  <a:srgbClr val="3A3535"/>
                </a:solidFill>
                <a:latin typeface="Century Gothic"/>
                <a:cs typeface="Century Gothic"/>
              </a:rPr>
              <a:t> </a:t>
            </a:r>
            <a:r>
              <a:rPr sz="1300" dirty="0">
                <a:solidFill>
                  <a:srgbClr val="3A3535"/>
                </a:solidFill>
                <a:latin typeface="Century Gothic"/>
                <a:cs typeface="Century Gothic"/>
              </a:rPr>
              <a:t>mobile.</a:t>
            </a:r>
            <a:r>
              <a:rPr sz="1300" spc="85" dirty="0">
                <a:solidFill>
                  <a:srgbClr val="3A3535"/>
                </a:solidFill>
                <a:latin typeface="Century Gothic"/>
                <a:cs typeface="Century Gothic"/>
              </a:rPr>
              <a:t> </a:t>
            </a:r>
            <a:r>
              <a:rPr sz="1300" spc="60" dirty="0">
                <a:solidFill>
                  <a:srgbClr val="3A3535"/>
                </a:solidFill>
                <a:latin typeface="Century Gothic"/>
                <a:cs typeface="Century Gothic"/>
              </a:rPr>
              <a:t>SelfHelp </a:t>
            </a:r>
            <a:r>
              <a:rPr sz="1300" dirty="0">
                <a:solidFill>
                  <a:srgbClr val="3A3535"/>
                </a:solidFill>
                <a:latin typeface="Century Gothic"/>
                <a:cs typeface="Century Gothic"/>
              </a:rPr>
              <a:t>becomes</a:t>
            </a:r>
            <a:r>
              <a:rPr sz="1300" spc="10" dirty="0">
                <a:solidFill>
                  <a:srgbClr val="3A3535"/>
                </a:solidFill>
                <a:latin typeface="Century Gothic"/>
                <a:cs typeface="Century Gothic"/>
              </a:rPr>
              <a:t> </a:t>
            </a:r>
            <a:r>
              <a:rPr sz="1300" dirty="0">
                <a:solidFill>
                  <a:srgbClr val="3A3535"/>
                </a:solidFill>
                <a:latin typeface="Century Gothic"/>
                <a:cs typeface="Century Gothic"/>
              </a:rPr>
              <a:t>part</a:t>
            </a:r>
            <a:r>
              <a:rPr sz="1300" spc="10" dirty="0">
                <a:solidFill>
                  <a:srgbClr val="3A3535"/>
                </a:solidFill>
                <a:latin typeface="Century Gothic"/>
                <a:cs typeface="Century Gothic"/>
              </a:rPr>
              <a:t> </a:t>
            </a:r>
            <a:r>
              <a:rPr sz="1300" spc="60" dirty="0">
                <a:solidFill>
                  <a:srgbClr val="3A3535"/>
                </a:solidFill>
                <a:latin typeface="Century Gothic"/>
                <a:cs typeface="Century Gothic"/>
              </a:rPr>
              <a:t>of</a:t>
            </a:r>
            <a:r>
              <a:rPr sz="1300" spc="10" dirty="0">
                <a:solidFill>
                  <a:srgbClr val="3A3535"/>
                </a:solidFill>
                <a:latin typeface="Century Gothic"/>
                <a:cs typeface="Century Gothic"/>
              </a:rPr>
              <a:t> </a:t>
            </a:r>
            <a:r>
              <a:rPr sz="1300" b="1" spc="-45" dirty="0">
                <a:solidFill>
                  <a:srgbClr val="3A3535"/>
                </a:solidFill>
                <a:latin typeface="Verdana"/>
                <a:cs typeface="Verdana"/>
              </a:rPr>
              <a:t>daily</a:t>
            </a:r>
            <a:r>
              <a:rPr sz="1300" b="1" spc="-110" dirty="0">
                <a:solidFill>
                  <a:srgbClr val="3A3535"/>
                </a:solidFill>
                <a:latin typeface="Verdana"/>
                <a:cs typeface="Verdana"/>
              </a:rPr>
              <a:t> </a:t>
            </a:r>
            <a:r>
              <a:rPr sz="1300" b="1" spc="-50" dirty="0">
                <a:solidFill>
                  <a:srgbClr val="3A3535"/>
                </a:solidFill>
                <a:latin typeface="Verdana"/>
                <a:cs typeface="Verdana"/>
              </a:rPr>
              <a:t>use</a:t>
            </a:r>
            <a:r>
              <a:rPr sz="1300" spc="-50" dirty="0">
                <a:solidFill>
                  <a:srgbClr val="3A3535"/>
                </a:solidFill>
                <a:latin typeface="Century Gothic"/>
                <a:cs typeface="Century Gothic"/>
              </a:rPr>
              <a:t>,</a:t>
            </a:r>
            <a:r>
              <a:rPr sz="1300" spc="10" dirty="0">
                <a:solidFill>
                  <a:srgbClr val="3A3535"/>
                </a:solidFill>
                <a:latin typeface="Century Gothic"/>
                <a:cs typeface="Century Gothic"/>
              </a:rPr>
              <a:t> </a:t>
            </a:r>
            <a:r>
              <a:rPr sz="1300" spc="65" dirty="0">
                <a:solidFill>
                  <a:srgbClr val="3A3535"/>
                </a:solidFill>
                <a:latin typeface="Century Gothic"/>
                <a:cs typeface="Century Gothic"/>
              </a:rPr>
              <a:t>not</a:t>
            </a:r>
            <a:r>
              <a:rPr sz="1300" spc="10" dirty="0">
                <a:solidFill>
                  <a:srgbClr val="3A3535"/>
                </a:solidFill>
                <a:latin typeface="Century Gothic"/>
                <a:cs typeface="Century Gothic"/>
              </a:rPr>
              <a:t> </a:t>
            </a:r>
            <a:r>
              <a:rPr sz="1300" spc="50" dirty="0">
                <a:solidFill>
                  <a:srgbClr val="3A3535"/>
                </a:solidFill>
                <a:latin typeface="Century Gothic"/>
                <a:cs typeface="Century Gothic"/>
              </a:rPr>
              <a:t>only</a:t>
            </a:r>
            <a:r>
              <a:rPr sz="1300" spc="10" dirty="0">
                <a:solidFill>
                  <a:srgbClr val="3A3535"/>
                </a:solidFill>
                <a:latin typeface="Century Gothic"/>
                <a:cs typeface="Century Gothic"/>
              </a:rPr>
              <a:t> </a:t>
            </a:r>
            <a:r>
              <a:rPr sz="1300" spc="55" dirty="0">
                <a:solidFill>
                  <a:srgbClr val="3A3535"/>
                </a:solidFill>
                <a:latin typeface="Century Gothic"/>
                <a:cs typeface="Century Gothic"/>
              </a:rPr>
              <a:t>desktop</a:t>
            </a:r>
            <a:r>
              <a:rPr sz="1300" spc="10" dirty="0">
                <a:solidFill>
                  <a:srgbClr val="3A3535"/>
                </a:solidFill>
                <a:latin typeface="Century Gothic"/>
                <a:cs typeface="Century Gothic"/>
              </a:rPr>
              <a:t> </a:t>
            </a:r>
            <a:r>
              <a:rPr sz="1300" spc="-20" dirty="0">
                <a:solidFill>
                  <a:srgbClr val="3A3535"/>
                </a:solidFill>
                <a:latin typeface="Century Gothic"/>
                <a:cs typeface="Century Gothic"/>
              </a:rPr>
              <a:t>use.</a:t>
            </a:r>
            <a:endParaRPr sz="1300">
              <a:latin typeface="Century Gothic"/>
              <a:cs typeface="Century Gothic"/>
            </a:endParaRPr>
          </a:p>
        </p:txBody>
      </p:sp>
      <p:sp>
        <p:nvSpPr>
          <p:cNvPr id="4" name="object 4"/>
          <p:cNvSpPr txBox="1"/>
          <p:nvPr/>
        </p:nvSpPr>
        <p:spPr>
          <a:xfrm>
            <a:off x="579622" y="2485047"/>
            <a:ext cx="2543175" cy="228600"/>
          </a:xfrm>
          <a:prstGeom prst="rect">
            <a:avLst/>
          </a:prstGeom>
        </p:spPr>
        <p:txBody>
          <a:bodyPr vert="horz" wrap="square" lIns="0" tIns="16510" rIns="0" bIns="0" rtlCol="0">
            <a:spAutoFit/>
          </a:bodyPr>
          <a:lstStyle/>
          <a:p>
            <a:pPr marL="12700">
              <a:lnSpc>
                <a:spcPct val="100000"/>
              </a:lnSpc>
              <a:spcBef>
                <a:spcPts val="130"/>
              </a:spcBef>
            </a:pPr>
            <a:r>
              <a:rPr sz="1300" dirty="0">
                <a:solidFill>
                  <a:srgbClr val="3A3535"/>
                </a:solidFill>
                <a:latin typeface="Century Gothic"/>
                <a:cs typeface="Century Gothic"/>
              </a:rPr>
              <a:t>Already</a:t>
            </a:r>
            <a:r>
              <a:rPr sz="1300" spc="35" dirty="0">
                <a:solidFill>
                  <a:srgbClr val="3A3535"/>
                </a:solidFill>
                <a:latin typeface="Century Gothic"/>
                <a:cs typeface="Century Gothic"/>
              </a:rPr>
              <a:t> </a:t>
            </a:r>
            <a:r>
              <a:rPr sz="1300" spc="60" dirty="0">
                <a:solidFill>
                  <a:srgbClr val="3A3535"/>
                </a:solidFill>
                <a:latin typeface="Century Gothic"/>
                <a:cs typeface="Century Gothic"/>
              </a:rPr>
              <a:t>supported</a:t>
            </a:r>
            <a:r>
              <a:rPr sz="1300" spc="35" dirty="0">
                <a:solidFill>
                  <a:srgbClr val="3A3535"/>
                </a:solidFill>
                <a:latin typeface="Century Gothic"/>
                <a:cs typeface="Century Gothic"/>
              </a:rPr>
              <a:t> </a:t>
            </a:r>
            <a:r>
              <a:rPr sz="1300" dirty="0">
                <a:solidFill>
                  <a:srgbClr val="3A3535"/>
                </a:solidFill>
                <a:latin typeface="Century Gothic"/>
                <a:cs typeface="Century Gothic"/>
              </a:rPr>
              <a:t>on</a:t>
            </a:r>
            <a:r>
              <a:rPr sz="1300" spc="35" dirty="0">
                <a:solidFill>
                  <a:srgbClr val="3A3535"/>
                </a:solidFill>
                <a:latin typeface="Century Gothic"/>
                <a:cs typeface="Century Gothic"/>
              </a:rPr>
              <a:t> </a:t>
            </a:r>
            <a:r>
              <a:rPr sz="1300" spc="-10" dirty="0">
                <a:solidFill>
                  <a:srgbClr val="3A3535"/>
                </a:solidFill>
                <a:latin typeface="Century Gothic"/>
                <a:cs typeface="Century Gothic"/>
              </a:rPr>
              <a:t>mobile:</a:t>
            </a:r>
            <a:endParaRPr sz="1300">
              <a:latin typeface="Century Gothic"/>
              <a:cs typeface="Century Gothic"/>
            </a:endParaRPr>
          </a:p>
        </p:txBody>
      </p:sp>
      <p:sp>
        <p:nvSpPr>
          <p:cNvPr id="5" name="object 5"/>
          <p:cNvSpPr/>
          <p:nvPr/>
        </p:nvSpPr>
        <p:spPr>
          <a:xfrm>
            <a:off x="628650" y="3009900"/>
            <a:ext cx="57150" cy="57150"/>
          </a:xfrm>
          <a:custGeom>
            <a:avLst/>
            <a:gdLst/>
            <a:ahLst/>
            <a:cxnLst/>
            <a:rect l="l" t="t" r="r" b="b"/>
            <a:pathLst>
              <a:path w="57150" h="57150">
                <a:moveTo>
                  <a:pt x="32364" y="0"/>
                </a:moveTo>
                <a:lnTo>
                  <a:pt x="24785" y="0"/>
                </a:lnTo>
                <a:lnTo>
                  <a:pt x="21139" y="723"/>
                </a:lnTo>
                <a:lnTo>
                  <a:pt x="0" y="24790"/>
                </a:lnTo>
                <a:lnTo>
                  <a:pt x="0" y="32359"/>
                </a:lnTo>
                <a:lnTo>
                  <a:pt x="24785" y="57150"/>
                </a:lnTo>
                <a:lnTo>
                  <a:pt x="32364" y="57150"/>
                </a:lnTo>
                <a:lnTo>
                  <a:pt x="57150" y="32359"/>
                </a:lnTo>
                <a:lnTo>
                  <a:pt x="57150" y="28575"/>
                </a:lnTo>
                <a:lnTo>
                  <a:pt x="57150" y="24790"/>
                </a:lnTo>
                <a:lnTo>
                  <a:pt x="36010" y="723"/>
                </a:lnTo>
                <a:lnTo>
                  <a:pt x="32364" y="0"/>
                </a:lnTo>
                <a:close/>
              </a:path>
            </a:pathLst>
          </a:custGeom>
          <a:solidFill>
            <a:srgbClr val="3A3535"/>
          </a:solidFill>
        </p:spPr>
        <p:txBody>
          <a:bodyPr wrap="square" lIns="0" tIns="0" rIns="0" bIns="0" rtlCol="0"/>
          <a:lstStyle/>
          <a:p>
            <a:endParaRPr/>
          </a:p>
        </p:txBody>
      </p:sp>
      <p:sp>
        <p:nvSpPr>
          <p:cNvPr id="6" name="object 6"/>
          <p:cNvSpPr txBox="1"/>
          <p:nvPr/>
        </p:nvSpPr>
        <p:spPr>
          <a:xfrm>
            <a:off x="850201" y="2904147"/>
            <a:ext cx="2617470" cy="895350"/>
          </a:xfrm>
          <a:prstGeom prst="rect">
            <a:avLst/>
          </a:prstGeom>
        </p:spPr>
        <p:txBody>
          <a:bodyPr vert="horz" wrap="square" lIns="0" tIns="16510" rIns="0" bIns="0" rtlCol="0">
            <a:spAutoFit/>
          </a:bodyPr>
          <a:lstStyle/>
          <a:p>
            <a:pPr marL="12700">
              <a:lnSpc>
                <a:spcPct val="100000"/>
              </a:lnSpc>
              <a:spcBef>
                <a:spcPts val="130"/>
              </a:spcBef>
            </a:pPr>
            <a:r>
              <a:rPr sz="1300" spc="70" dirty="0">
                <a:solidFill>
                  <a:srgbClr val="3A3535"/>
                </a:solidFill>
                <a:latin typeface="Century Gothic"/>
                <a:cs typeface="Century Gothic"/>
              </a:rPr>
              <a:t>Surveys,</a:t>
            </a:r>
            <a:r>
              <a:rPr sz="1300" spc="-10" dirty="0">
                <a:solidFill>
                  <a:srgbClr val="3A3535"/>
                </a:solidFill>
                <a:latin typeface="Century Gothic"/>
                <a:cs typeface="Century Gothic"/>
              </a:rPr>
              <a:t> </a:t>
            </a:r>
            <a:r>
              <a:rPr sz="1300" spc="65" dirty="0">
                <a:solidFill>
                  <a:srgbClr val="3A3535"/>
                </a:solidFill>
                <a:latin typeface="Century Gothic"/>
                <a:cs typeface="Century Gothic"/>
              </a:rPr>
              <a:t>AI</a:t>
            </a:r>
            <a:r>
              <a:rPr sz="1300" spc="-5" dirty="0">
                <a:solidFill>
                  <a:srgbClr val="3A3535"/>
                </a:solidFill>
                <a:latin typeface="Century Gothic"/>
                <a:cs typeface="Century Gothic"/>
              </a:rPr>
              <a:t> </a:t>
            </a:r>
            <a:r>
              <a:rPr sz="1300" dirty="0">
                <a:solidFill>
                  <a:srgbClr val="3A3535"/>
                </a:solidFill>
                <a:latin typeface="Century Gothic"/>
                <a:cs typeface="Century Gothic"/>
              </a:rPr>
              <a:t>chat,</a:t>
            </a:r>
            <a:r>
              <a:rPr sz="1300" spc="-5" dirty="0">
                <a:solidFill>
                  <a:srgbClr val="3A3535"/>
                </a:solidFill>
                <a:latin typeface="Century Gothic"/>
                <a:cs typeface="Century Gothic"/>
              </a:rPr>
              <a:t> </a:t>
            </a:r>
            <a:r>
              <a:rPr sz="1300" dirty="0">
                <a:solidFill>
                  <a:srgbClr val="3A3535"/>
                </a:solidFill>
                <a:latin typeface="Century Gothic"/>
                <a:cs typeface="Century Gothic"/>
              </a:rPr>
              <a:t>therapy</a:t>
            </a:r>
            <a:r>
              <a:rPr sz="1300" spc="-5" dirty="0">
                <a:solidFill>
                  <a:srgbClr val="3A3535"/>
                </a:solidFill>
                <a:latin typeface="Century Gothic"/>
                <a:cs typeface="Century Gothic"/>
              </a:rPr>
              <a:t> </a:t>
            </a:r>
            <a:r>
              <a:rPr sz="1300" spc="-20" dirty="0">
                <a:solidFill>
                  <a:srgbClr val="3A3535"/>
                </a:solidFill>
                <a:latin typeface="Century Gothic"/>
                <a:cs typeface="Century Gothic"/>
              </a:rPr>
              <a:t>chat</a:t>
            </a:r>
            <a:endParaRPr sz="1300">
              <a:latin typeface="Century Gothic"/>
              <a:cs typeface="Century Gothic"/>
            </a:endParaRPr>
          </a:p>
          <a:p>
            <a:pPr marL="12700">
              <a:lnSpc>
                <a:spcPct val="100000"/>
              </a:lnSpc>
              <a:spcBef>
                <a:spcPts val="1065"/>
              </a:spcBef>
            </a:pPr>
            <a:r>
              <a:rPr sz="1300" spc="85" dirty="0">
                <a:solidFill>
                  <a:srgbClr val="3A3535"/>
                </a:solidFill>
                <a:latin typeface="Century Gothic"/>
                <a:cs typeface="Century Gothic"/>
              </a:rPr>
              <a:t>Push</a:t>
            </a:r>
            <a:r>
              <a:rPr sz="1300" spc="-50" dirty="0">
                <a:solidFill>
                  <a:srgbClr val="3A3535"/>
                </a:solidFill>
                <a:latin typeface="Century Gothic"/>
                <a:cs typeface="Century Gothic"/>
              </a:rPr>
              <a:t> </a:t>
            </a:r>
            <a:r>
              <a:rPr sz="1300" spc="60" dirty="0">
                <a:solidFill>
                  <a:srgbClr val="3A3535"/>
                </a:solidFill>
                <a:latin typeface="Century Gothic"/>
                <a:cs typeface="Century Gothic"/>
              </a:rPr>
              <a:t>notifications</a:t>
            </a:r>
            <a:endParaRPr sz="1300">
              <a:latin typeface="Century Gothic"/>
              <a:cs typeface="Century Gothic"/>
            </a:endParaRPr>
          </a:p>
          <a:p>
            <a:pPr marL="12700">
              <a:lnSpc>
                <a:spcPct val="100000"/>
              </a:lnSpc>
              <a:spcBef>
                <a:spcPts val="1065"/>
              </a:spcBef>
            </a:pPr>
            <a:r>
              <a:rPr sz="1300" spc="-25" dirty="0">
                <a:solidFill>
                  <a:srgbClr val="3A3535"/>
                </a:solidFill>
                <a:latin typeface="Century Gothic"/>
                <a:cs typeface="Century Gothic"/>
              </a:rPr>
              <a:t>Camera</a:t>
            </a:r>
            <a:r>
              <a:rPr sz="1300" spc="9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95" dirty="0">
                <a:solidFill>
                  <a:srgbClr val="3A3535"/>
                </a:solidFill>
                <a:latin typeface="Century Gothic"/>
                <a:cs typeface="Century Gothic"/>
              </a:rPr>
              <a:t> </a:t>
            </a:r>
            <a:r>
              <a:rPr sz="1300" dirty="0">
                <a:solidFill>
                  <a:srgbClr val="3A3535"/>
                </a:solidFill>
                <a:latin typeface="Century Gothic"/>
                <a:cs typeface="Century Gothic"/>
              </a:rPr>
              <a:t>microphone</a:t>
            </a:r>
            <a:r>
              <a:rPr sz="1300" spc="90" dirty="0">
                <a:solidFill>
                  <a:srgbClr val="3A3535"/>
                </a:solidFill>
                <a:latin typeface="Century Gothic"/>
                <a:cs typeface="Century Gothic"/>
              </a:rPr>
              <a:t> </a:t>
            </a:r>
            <a:r>
              <a:rPr sz="1300" spc="65" dirty="0">
                <a:solidFill>
                  <a:srgbClr val="3A3535"/>
                </a:solidFill>
                <a:latin typeface="Century Gothic"/>
                <a:cs typeface="Century Gothic"/>
              </a:rPr>
              <a:t>input</a:t>
            </a:r>
            <a:endParaRPr sz="1300">
              <a:latin typeface="Century Gothic"/>
              <a:cs typeface="Century Gothic"/>
            </a:endParaRPr>
          </a:p>
        </p:txBody>
      </p:sp>
      <p:sp>
        <p:nvSpPr>
          <p:cNvPr id="7" name="object 7"/>
          <p:cNvSpPr/>
          <p:nvPr/>
        </p:nvSpPr>
        <p:spPr>
          <a:xfrm>
            <a:off x="628650" y="3343275"/>
            <a:ext cx="57150" cy="57150"/>
          </a:xfrm>
          <a:custGeom>
            <a:avLst/>
            <a:gdLst/>
            <a:ahLst/>
            <a:cxnLst/>
            <a:rect l="l" t="t" r="r" b="b"/>
            <a:pathLst>
              <a:path w="57150" h="57150">
                <a:moveTo>
                  <a:pt x="32364" y="0"/>
                </a:moveTo>
                <a:lnTo>
                  <a:pt x="24785" y="0"/>
                </a:lnTo>
                <a:lnTo>
                  <a:pt x="21139" y="723"/>
                </a:lnTo>
                <a:lnTo>
                  <a:pt x="0" y="24790"/>
                </a:lnTo>
                <a:lnTo>
                  <a:pt x="0" y="32359"/>
                </a:lnTo>
                <a:lnTo>
                  <a:pt x="24785" y="57150"/>
                </a:lnTo>
                <a:lnTo>
                  <a:pt x="32364" y="57150"/>
                </a:lnTo>
                <a:lnTo>
                  <a:pt x="57150" y="32359"/>
                </a:lnTo>
                <a:lnTo>
                  <a:pt x="57150" y="28575"/>
                </a:lnTo>
                <a:lnTo>
                  <a:pt x="57150" y="24790"/>
                </a:lnTo>
                <a:lnTo>
                  <a:pt x="36010" y="723"/>
                </a:lnTo>
                <a:lnTo>
                  <a:pt x="32364" y="0"/>
                </a:lnTo>
                <a:close/>
              </a:path>
            </a:pathLst>
          </a:custGeom>
          <a:solidFill>
            <a:srgbClr val="3A3535"/>
          </a:solidFill>
        </p:spPr>
        <p:txBody>
          <a:bodyPr wrap="square" lIns="0" tIns="0" rIns="0" bIns="0" rtlCol="0"/>
          <a:lstStyle/>
          <a:p>
            <a:endParaRPr/>
          </a:p>
        </p:txBody>
      </p:sp>
      <p:sp>
        <p:nvSpPr>
          <p:cNvPr id="8" name="object 8"/>
          <p:cNvSpPr/>
          <p:nvPr/>
        </p:nvSpPr>
        <p:spPr>
          <a:xfrm>
            <a:off x="628650" y="3676650"/>
            <a:ext cx="57150" cy="57150"/>
          </a:xfrm>
          <a:custGeom>
            <a:avLst/>
            <a:gdLst/>
            <a:ahLst/>
            <a:cxnLst/>
            <a:rect l="l" t="t" r="r" b="b"/>
            <a:pathLst>
              <a:path w="57150" h="57150">
                <a:moveTo>
                  <a:pt x="32364" y="0"/>
                </a:moveTo>
                <a:lnTo>
                  <a:pt x="24785" y="0"/>
                </a:lnTo>
                <a:lnTo>
                  <a:pt x="21139" y="723"/>
                </a:lnTo>
                <a:lnTo>
                  <a:pt x="0" y="24790"/>
                </a:lnTo>
                <a:lnTo>
                  <a:pt x="0" y="32359"/>
                </a:lnTo>
                <a:lnTo>
                  <a:pt x="24785" y="57150"/>
                </a:lnTo>
                <a:lnTo>
                  <a:pt x="32364" y="57150"/>
                </a:lnTo>
                <a:lnTo>
                  <a:pt x="57150" y="32359"/>
                </a:lnTo>
                <a:lnTo>
                  <a:pt x="57150" y="28575"/>
                </a:lnTo>
                <a:lnTo>
                  <a:pt x="57150" y="24790"/>
                </a:lnTo>
                <a:lnTo>
                  <a:pt x="36010" y="723"/>
                </a:lnTo>
                <a:lnTo>
                  <a:pt x="32364" y="0"/>
                </a:lnTo>
                <a:close/>
              </a:path>
            </a:pathLst>
          </a:custGeom>
          <a:solidFill>
            <a:srgbClr val="3A3535"/>
          </a:solidFill>
        </p:spPr>
        <p:txBody>
          <a:bodyPr wrap="square" lIns="0" tIns="0" rIns="0" bIns="0" rtlCol="0"/>
          <a:lstStyle/>
          <a:p>
            <a:endParaRPr/>
          </a:p>
        </p:txBody>
      </p:sp>
      <p:grpSp>
        <p:nvGrpSpPr>
          <p:cNvPr id="9" name="object 9"/>
          <p:cNvGrpSpPr/>
          <p:nvPr/>
        </p:nvGrpSpPr>
        <p:grpSpPr>
          <a:xfrm>
            <a:off x="5934074" y="1819275"/>
            <a:ext cx="2371725" cy="1857375"/>
            <a:chOff x="5934074" y="1819275"/>
            <a:chExt cx="2371725" cy="1857375"/>
          </a:xfrm>
        </p:grpSpPr>
        <p:sp>
          <p:nvSpPr>
            <p:cNvPr id="10" name="object 10"/>
            <p:cNvSpPr/>
            <p:nvPr/>
          </p:nvSpPr>
          <p:spPr>
            <a:xfrm>
              <a:off x="5934062" y="2077300"/>
              <a:ext cx="2371725" cy="1599565"/>
            </a:xfrm>
            <a:custGeom>
              <a:avLst/>
              <a:gdLst/>
              <a:ahLst/>
              <a:cxnLst/>
              <a:rect l="l" t="t" r="r" b="b"/>
              <a:pathLst>
                <a:path w="2371725" h="1599564">
                  <a:moveTo>
                    <a:pt x="2371725" y="75361"/>
                  </a:moveTo>
                  <a:lnTo>
                    <a:pt x="2358898" y="33020"/>
                  </a:lnTo>
                  <a:lnTo>
                    <a:pt x="2324684" y="4965"/>
                  </a:lnTo>
                  <a:lnTo>
                    <a:pt x="2306282" y="0"/>
                  </a:lnTo>
                  <a:lnTo>
                    <a:pt x="2310396" y="1092"/>
                  </a:lnTo>
                  <a:lnTo>
                    <a:pt x="2324392" y="8826"/>
                  </a:lnTo>
                  <a:lnTo>
                    <a:pt x="2348319" y="46202"/>
                  </a:lnTo>
                  <a:lnTo>
                    <a:pt x="2352675" y="75361"/>
                  </a:lnTo>
                  <a:lnTo>
                    <a:pt x="2352675" y="1540116"/>
                  </a:lnTo>
                  <a:lnTo>
                    <a:pt x="2351963" y="1547977"/>
                  </a:lnTo>
                  <a:lnTo>
                    <a:pt x="2351951" y="1548130"/>
                  </a:lnTo>
                  <a:lnTo>
                    <a:pt x="2320506" y="1579575"/>
                  </a:lnTo>
                  <a:lnTo>
                    <a:pt x="2312479" y="1580311"/>
                  </a:lnTo>
                  <a:lnTo>
                    <a:pt x="59245" y="1580311"/>
                  </a:lnTo>
                  <a:lnTo>
                    <a:pt x="51231" y="1579575"/>
                  </a:lnTo>
                  <a:lnTo>
                    <a:pt x="43815" y="1577365"/>
                  </a:lnTo>
                  <a:lnTo>
                    <a:pt x="37020" y="1573682"/>
                  </a:lnTo>
                  <a:lnTo>
                    <a:pt x="31330" y="1568983"/>
                  </a:lnTo>
                  <a:lnTo>
                    <a:pt x="30822" y="1568538"/>
                  </a:lnTo>
                  <a:lnTo>
                    <a:pt x="25679" y="1562341"/>
                  </a:lnTo>
                  <a:lnTo>
                    <a:pt x="21996" y="1555546"/>
                  </a:lnTo>
                  <a:lnTo>
                    <a:pt x="19786" y="1548130"/>
                  </a:lnTo>
                  <a:lnTo>
                    <a:pt x="19050" y="1540116"/>
                  </a:lnTo>
                  <a:lnTo>
                    <a:pt x="19050" y="75361"/>
                  </a:lnTo>
                  <a:lnTo>
                    <a:pt x="28676" y="33020"/>
                  </a:lnTo>
                  <a:lnTo>
                    <a:pt x="61328" y="1092"/>
                  </a:lnTo>
                  <a:lnTo>
                    <a:pt x="65443" y="0"/>
                  </a:lnTo>
                  <a:lnTo>
                    <a:pt x="61341" y="609"/>
                  </a:lnTo>
                  <a:lnTo>
                    <a:pt x="22313" y="21475"/>
                  </a:lnTo>
                  <a:lnTo>
                    <a:pt x="1460" y="60490"/>
                  </a:lnTo>
                  <a:lnTo>
                    <a:pt x="0" y="75361"/>
                  </a:lnTo>
                  <a:lnTo>
                    <a:pt x="0" y="1547977"/>
                  </a:lnTo>
                  <a:lnTo>
                    <a:pt x="1498" y="1555534"/>
                  </a:lnTo>
                  <a:lnTo>
                    <a:pt x="7518" y="1570050"/>
                  </a:lnTo>
                  <a:lnTo>
                    <a:pt x="11798" y="1576451"/>
                  </a:lnTo>
                  <a:lnTo>
                    <a:pt x="17830" y="1582483"/>
                  </a:lnTo>
                  <a:lnTo>
                    <a:pt x="22910" y="1587563"/>
                  </a:lnTo>
                  <a:lnTo>
                    <a:pt x="29311" y="1591843"/>
                  </a:lnTo>
                  <a:lnTo>
                    <a:pt x="43827" y="1597863"/>
                  </a:lnTo>
                  <a:lnTo>
                    <a:pt x="51384" y="1599361"/>
                  </a:lnTo>
                  <a:lnTo>
                    <a:pt x="2320340" y="1599361"/>
                  </a:lnTo>
                  <a:lnTo>
                    <a:pt x="2327897" y="1597863"/>
                  </a:lnTo>
                  <a:lnTo>
                    <a:pt x="2342413" y="1591843"/>
                  </a:lnTo>
                  <a:lnTo>
                    <a:pt x="2348814" y="1587563"/>
                  </a:lnTo>
                  <a:lnTo>
                    <a:pt x="2353894" y="1582483"/>
                  </a:lnTo>
                  <a:lnTo>
                    <a:pt x="2354376" y="1582000"/>
                  </a:lnTo>
                  <a:lnTo>
                    <a:pt x="2359926" y="1576451"/>
                  </a:lnTo>
                  <a:lnTo>
                    <a:pt x="2364206" y="1570050"/>
                  </a:lnTo>
                  <a:lnTo>
                    <a:pt x="2370226" y="1555546"/>
                  </a:lnTo>
                  <a:lnTo>
                    <a:pt x="2371699" y="1548130"/>
                  </a:lnTo>
                  <a:lnTo>
                    <a:pt x="2371725" y="75361"/>
                  </a:lnTo>
                  <a:close/>
                </a:path>
              </a:pathLst>
            </a:custGeom>
            <a:solidFill>
              <a:srgbClr val="DFB7BB"/>
            </a:solidFill>
          </p:spPr>
          <p:txBody>
            <a:bodyPr wrap="square" lIns="0" tIns="0" rIns="0" bIns="0" rtlCol="0"/>
            <a:lstStyle/>
            <a:p>
              <a:endParaRPr/>
            </a:p>
          </p:txBody>
        </p:sp>
        <p:sp>
          <p:nvSpPr>
            <p:cNvPr id="11" name="object 11"/>
            <p:cNvSpPr/>
            <p:nvPr/>
          </p:nvSpPr>
          <p:spPr>
            <a:xfrm>
              <a:off x="5934075" y="1819274"/>
              <a:ext cx="2371725" cy="514350"/>
            </a:xfrm>
            <a:custGeom>
              <a:avLst/>
              <a:gdLst/>
              <a:ahLst/>
              <a:cxnLst/>
              <a:rect l="l" t="t" r="r" b="b"/>
              <a:pathLst>
                <a:path w="2371725" h="514350">
                  <a:moveTo>
                    <a:pt x="2371725" y="293484"/>
                  </a:moveTo>
                  <a:lnTo>
                    <a:pt x="2357120" y="258229"/>
                  </a:lnTo>
                  <a:lnTo>
                    <a:pt x="2320226" y="238506"/>
                  </a:lnTo>
                  <a:lnTo>
                    <a:pt x="2316365" y="238125"/>
                  </a:lnTo>
                  <a:lnTo>
                    <a:pt x="1440903" y="238125"/>
                  </a:lnTo>
                  <a:lnTo>
                    <a:pt x="1439481" y="223583"/>
                  </a:lnTo>
                  <a:lnTo>
                    <a:pt x="1428026" y="174459"/>
                  </a:lnTo>
                  <a:lnTo>
                    <a:pt x="1407210" y="128511"/>
                  </a:lnTo>
                  <a:lnTo>
                    <a:pt x="1377835" y="87515"/>
                  </a:lnTo>
                  <a:lnTo>
                    <a:pt x="1341005" y="53035"/>
                  </a:lnTo>
                  <a:lnTo>
                    <a:pt x="1298181" y="26403"/>
                  </a:lnTo>
                  <a:lnTo>
                    <a:pt x="1250975" y="8623"/>
                  </a:lnTo>
                  <a:lnTo>
                    <a:pt x="1201191" y="406"/>
                  </a:lnTo>
                  <a:lnTo>
                    <a:pt x="1192796" y="0"/>
                  </a:lnTo>
                  <a:lnTo>
                    <a:pt x="1175956" y="0"/>
                  </a:lnTo>
                  <a:lnTo>
                    <a:pt x="1125943" y="6578"/>
                  </a:lnTo>
                  <a:lnTo>
                    <a:pt x="1078179" y="22796"/>
                  </a:lnTo>
                  <a:lnTo>
                    <a:pt x="1034491" y="48018"/>
                  </a:lnTo>
                  <a:lnTo>
                    <a:pt x="996569" y="81280"/>
                  </a:lnTo>
                  <a:lnTo>
                    <a:pt x="965860" y="121297"/>
                  </a:lnTo>
                  <a:lnTo>
                    <a:pt x="943546" y="166535"/>
                  </a:lnTo>
                  <a:lnTo>
                    <a:pt x="930503" y="215265"/>
                  </a:lnTo>
                  <a:lnTo>
                    <a:pt x="927823" y="238125"/>
                  </a:lnTo>
                  <a:lnTo>
                    <a:pt x="55359" y="238125"/>
                  </a:lnTo>
                  <a:lnTo>
                    <a:pt x="20104" y="252730"/>
                  </a:lnTo>
                  <a:lnTo>
                    <a:pt x="381" y="289623"/>
                  </a:lnTo>
                  <a:lnTo>
                    <a:pt x="0" y="293484"/>
                  </a:lnTo>
                  <a:lnTo>
                    <a:pt x="0" y="314325"/>
                  </a:lnTo>
                  <a:lnTo>
                    <a:pt x="933513" y="314325"/>
                  </a:lnTo>
                  <a:lnTo>
                    <a:pt x="933780" y="315607"/>
                  </a:lnTo>
                  <a:lnTo>
                    <a:pt x="949998" y="363372"/>
                  </a:lnTo>
                  <a:lnTo>
                    <a:pt x="975220" y="407060"/>
                  </a:lnTo>
                  <a:lnTo>
                    <a:pt x="1008481" y="444982"/>
                  </a:lnTo>
                  <a:lnTo>
                    <a:pt x="1048499" y="475691"/>
                  </a:lnTo>
                  <a:lnTo>
                    <a:pt x="1093736" y="497992"/>
                  </a:lnTo>
                  <a:lnTo>
                    <a:pt x="1142466" y="511048"/>
                  </a:lnTo>
                  <a:lnTo>
                    <a:pt x="1175956" y="514350"/>
                  </a:lnTo>
                  <a:lnTo>
                    <a:pt x="1192796" y="514350"/>
                  </a:lnTo>
                  <a:lnTo>
                    <a:pt x="1242809" y="507758"/>
                  </a:lnTo>
                  <a:lnTo>
                    <a:pt x="1290574" y="491553"/>
                  </a:lnTo>
                  <a:lnTo>
                    <a:pt x="1334249" y="466331"/>
                  </a:lnTo>
                  <a:lnTo>
                    <a:pt x="1372184" y="433070"/>
                  </a:lnTo>
                  <a:lnTo>
                    <a:pt x="1402892" y="393052"/>
                  </a:lnTo>
                  <a:lnTo>
                    <a:pt x="1425194" y="347802"/>
                  </a:lnTo>
                  <a:lnTo>
                    <a:pt x="1435214" y="314325"/>
                  </a:lnTo>
                  <a:lnTo>
                    <a:pt x="2371725" y="314325"/>
                  </a:lnTo>
                  <a:lnTo>
                    <a:pt x="2371725" y="293484"/>
                  </a:lnTo>
                  <a:close/>
                </a:path>
              </a:pathLst>
            </a:custGeom>
            <a:solidFill>
              <a:srgbClr val="DA1B2D"/>
            </a:solidFill>
          </p:spPr>
          <p:txBody>
            <a:bodyPr wrap="square" lIns="0" tIns="0" rIns="0" bIns="0" rtlCol="0"/>
            <a:lstStyle/>
            <a:p>
              <a:endParaRPr/>
            </a:p>
          </p:txBody>
        </p:sp>
      </p:grpSp>
      <p:sp>
        <p:nvSpPr>
          <p:cNvPr id="12" name="object 12"/>
          <p:cNvSpPr txBox="1"/>
          <p:nvPr/>
        </p:nvSpPr>
        <p:spPr>
          <a:xfrm>
            <a:off x="7061848" y="1927351"/>
            <a:ext cx="111760" cy="269240"/>
          </a:xfrm>
          <a:prstGeom prst="rect">
            <a:avLst/>
          </a:prstGeom>
        </p:spPr>
        <p:txBody>
          <a:bodyPr vert="horz" wrap="square" lIns="0" tIns="12700" rIns="0" bIns="0" rtlCol="0">
            <a:spAutoFit/>
          </a:bodyPr>
          <a:lstStyle/>
          <a:p>
            <a:pPr marL="12700">
              <a:lnSpc>
                <a:spcPct val="100000"/>
              </a:lnSpc>
              <a:spcBef>
                <a:spcPts val="100"/>
              </a:spcBef>
            </a:pPr>
            <a:r>
              <a:rPr sz="1600" b="1" spc="-520" dirty="0">
                <a:solidFill>
                  <a:srgbClr val="FFFFFF"/>
                </a:solidFill>
                <a:latin typeface="Verdana"/>
                <a:cs typeface="Verdana"/>
              </a:rPr>
              <a:t>1</a:t>
            </a:r>
            <a:endParaRPr sz="1600">
              <a:latin typeface="Verdana"/>
              <a:cs typeface="Verdana"/>
            </a:endParaRPr>
          </a:p>
        </p:txBody>
      </p:sp>
      <p:sp>
        <p:nvSpPr>
          <p:cNvPr id="13" name="object 13"/>
          <p:cNvSpPr txBox="1"/>
          <p:nvPr/>
        </p:nvSpPr>
        <p:spPr>
          <a:xfrm>
            <a:off x="6106515" y="2469705"/>
            <a:ext cx="1620520" cy="986790"/>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Respond</a:t>
            </a:r>
            <a:endParaRPr sz="1750">
              <a:latin typeface="Verdana"/>
              <a:cs typeface="Verdana"/>
            </a:endParaRPr>
          </a:p>
          <a:p>
            <a:pPr marL="12700" marR="5080">
              <a:lnSpc>
                <a:spcPct val="139400"/>
              </a:lnSpc>
              <a:spcBef>
                <a:spcPts val="1110"/>
              </a:spcBef>
            </a:pPr>
            <a:r>
              <a:rPr sz="1300" dirty="0">
                <a:solidFill>
                  <a:srgbClr val="3A3535"/>
                </a:solidFill>
                <a:latin typeface="Century Gothic"/>
                <a:cs typeface="Century Gothic"/>
              </a:rPr>
              <a:t>Complete</a:t>
            </a:r>
            <a:r>
              <a:rPr sz="1300" spc="150" dirty="0">
                <a:solidFill>
                  <a:srgbClr val="3A3535"/>
                </a:solidFill>
                <a:latin typeface="Century Gothic"/>
                <a:cs typeface="Century Gothic"/>
              </a:rPr>
              <a:t> </a:t>
            </a:r>
            <a:r>
              <a:rPr sz="1300" spc="65" dirty="0">
                <a:solidFill>
                  <a:srgbClr val="3A3535"/>
                </a:solidFill>
                <a:latin typeface="Century Gothic"/>
                <a:cs typeface="Century Gothic"/>
              </a:rPr>
              <a:t>surveys </a:t>
            </a:r>
            <a:r>
              <a:rPr sz="1300" dirty="0">
                <a:solidFill>
                  <a:srgbClr val="3A3535"/>
                </a:solidFill>
                <a:latin typeface="Century Gothic"/>
                <a:cs typeface="Century Gothic"/>
              </a:rPr>
              <a:t>when</a:t>
            </a:r>
            <a:r>
              <a:rPr sz="1300" spc="10" dirty="0">
                <a:solidFill>
                  <a:srgbClr val="3A3535"/>
                </a:solidFill>
                <a:latin typeface="Century Gothic"/>
                <a:cs typeface="Century Gothic"/>
              </a:rPr>
              <a:t> </a:t>
            </a:r>
            <a:r>
              <a:rPr sz="1300" spc="125" dirty="0">
                <a:solidFill>
                  <a:srgbClr val="3A3535"/>
                </a:solidFill>
                <a:latin typeface="Century Gothic"/>
                <a:cs typeface="Century Gothic"/>
              </a:rPr>
              <a:t>it</a:t>
            </a:r>
            <a:r>
              <a:rPr sz="1300" spc="10" dirty="0">
                <a:solidFill>
                  <a:srgbClr val="3A3535"/>
                </a:solidFill>
                <a:latin typeface="Century Gothic"/>
                <a:cs typeface="Century Gothic"/>
              </a:rPr>
              <a:t> </a:t>
            </a:r>
            <a:r>
              <a:rPr sz="1300" spc="130" dirty="0">
                <a:solidFill>
                  <a:srgbClr val="3A3535"/>
                </a:solidFill>
                <a:latin typeface="Century Gothic"/>
                <a:cs typeface="Century Gothic"/>
              </a:rPr>
              <a:t>fits</a:t>
            </a:r>
            <a:r>
              <a:rPr sz="1300" spc="15" dirty="0">
                <a:solidFill>
                  <a:srgbClr val="3A3535"/>
                </a:solidFill>
                <a:latin typeface="Century Gothic"/>
                <a:cs typeface="Century Gothic"/>
              </a:rPr>
              <a:t> </a:t>
            </a:r>
            <a:r>
              <a:rPr sz="1300" dirty="0">
                <a:solidFill>
                  <a:srgbClr val="3A3535"/>
                </a:solidFill>
                <a:latin typeface="Century Gothic"/>
                <a:cs typeface="Century Gothic"/>
              </a:rPr>
              <a:t>the</a:t>
            </a:r>
            <a:r>
              <a:rPr sz="1300" spc="10" dirty="0">
                <a:solidFill>
                  <a:srgbClr val="3A3535"/>
                </a:solidFill>
                <a:latin typeface="Century Gothic"/>
                <a:cs typeface="Century Gothic"/>
              </a:rPr>
              <a:t> </a:t>
            </a:r>
            <a:r>
              <a:rPr sz="1300" spc="-45" dirty="0">
                <a:solidFill>
                  <a:srgbClr val="3A3535"/>
                </a:solidFill>
                <a:latin typeface="Century Gothic"/>
                <a:cs typeface="Century Gothic"/>
              </a:rPr>
              <a:t>day</a:t>
            </a:r>
            <a:endParaRPr sz="1300">
              <a:latin typeface="Century Gothic"/>
              <a:cs typeface="Century Gothic"/>
            </a:endParaRPr>
          </a:p>
        </p:txBody>
      </p:sp>
      <p:grpSp>
        <p:nvGrpSpPr>
          <p:cNvPr id="14" name="object 14"/>
          <p:cNvGrpSpPr/>
          <p:nvPr/>
        </p:nvGrpSpPr>
        <p:grpSpPr>
          <a:xfrm>
            <a:off x="8477249" y="1819275"/>
            <a:ext cx="2371725" cy="1857375"/>
            <a:chOff x="8477249" y="1819275"/>
            <a:chExt cx="2371725" cy="1857375"/>
          </a:xfrm>
        </p:grpSpPr>
        <p:sp>
          <p:nvSpPr>
            <p:cNvPr id="15" name="object 15"/>
            <p:cNvSpPr/>
            <p:nvPr/>
          </p:nvSpPr>
          <p:spPr>
            <a:xfrm>
              <a:off x="8477237" y="2077300"/>
              <a:ext cx="2371725" cy="1599565"/>
            </a:xfrm>
            <a:custGeom>
              <a:avLst/>
              <a:gdLst/>
              <a:ahLst/>
              <a:cxnLst/>
              <a:rect l="l" t="t" r="r" b="b"/>
              <a:pathLst>
                <a:path w="2371725" h="1599564">
                  <a:moveTo>
                    <a:pt x="2371725" y="75361"/>
                  </a:moveTo>
                  <a:lnTo>
                    <a:pt x="2358898" y="33020"/>
                  </a:lnTo>
                  <a:lnTo>
                    <a:pt x="2324684" y="4965"/>
                  </a:lnTo>
                  <a:lnTo>
                    <a:pt x="2306282" y="0"/>
                  </a:lnTo>
                  <a:lnTo>
                    <a:pt x="2310396" y="1092"/>
                  </a:lnTo>
                  <a:lnTo>
                    <a:pt x="2324392" y="8826"/>
                  </a:lnTo>
                  <a:lnTo>
                    <a:pt x="2348319" y="46202"/>
                  </a:lnTo>
                  <a:lnTo>
                    <a:pt x="2352675" y="75361"/>
                  </a:lnTo>
                  <a:lnTo>
                    <a:pt x="2352675" y="1540116"/>
                  </a:lnTo>
                  <a:lnTo>
                    <a:pt x="2351963" y="1547977"/>
                  </a:lnTo>
                  <a:lnTo>
                    <a:pt x="2351951" y="1548130"/>
                  </a:lnTo>
                  <a:lnTo>
                    <a:pt x="2320506" y="1579575"/>
                  </a:lnTo>
                  <a:lnTo>
                    <a:pt x="2312479" y="1580311"/>
                  </a:lnTo>
                  <a:lnTo>
                    <a:pt x="59245" y="1580311"/>
                  </a:lnTo>
                  <a:lnTo>
                    <a:pt x="51231" y="1579575"/>
                  </a:lnTo>
                  <a:lnTo>
                    <a:pt x="43815" y="1577365"/>
                  </a:lnTo>
                  <a:lnTo>
                    <a:pt x="37020" y="1573682"/>
                  </a:lnTo>
                  <a:lnTo>
                    <a:pt x="31330" y="1568983"/>
                  </a:lnTo>
                  <a:lnTo>
                    <a:pt x="30822" y="1568538"/>
                  </a:lnTo>
                  <a:lnTo>
                    <a:pt x="25679" y="1562341"/>
                  </a:lnTo>
                  <a:lnTo>
                    <a:pt x="21996" y="1555546"/>
                  </a:lnTo>
                  <a:lnTo>
                    <a:pt x="19786" y="1548130"/>
                  </a:lnTo>
                  <a:lnTo>
                    <a:pt x="19050" y="1540116"/>
                  </a:lnTo>
                  <a:lnTo>
                    <a:pt x="19050" y="75361"/>
                  </a:lnTo>
                  <a:lnTo>
                    <a:pt x="28676" y="33020"/>
                  </a:lnTo>
                  <a:lnTo>
                    <a:pt x="61328" y="1092"/>
                  </a:lnTo>
                  <a:lnTo>
                    <a:pt x="65443" y="0"/>
                  </a:lnTo>
                  <a:lnTo>
                    <a:pt x="61341" y="609"/>
                  </a:lnTo>
                  <a:lnTo>
                    <a:pt x="22313" y="21475"/>
                  </a:lnTo>
                  <a:lnTo>
                    <a:pt x="1460" y="60490"/>
                  </a:lnTo>
                  <a:lnTo>
                    <a:pt x="0" y="75361"/>
                  </a:lnTo>
                  <a:lnTo>
                    <a:pt x="0" y="1547977"/>
                  </a:lnTo>
                  <a:lnTo>
                    <a:pt x="1498" y="1555534"/>
                  </a:lnTo>
                  <a:lnTo>
                    <a:pt x="7518" y="1570050"/>
                  </a:lnTo>
                  <a:lnTo>
                    <a:pt x="11798" y="1576451"/>
                  </a:lnTo>
                  <a:lnTo>
                    <a:pt x="17830" y="1582483"/>
                  </a:lnTo>
                  <a:lnTo>
                    <a:pt x="22910" y="1587563"/>
                  </a:lnTo>
                  <a:lnTo>
                    <a:pt x="29311" y="1591843"/>
                  </a:lnTo>
                  <a:lnTo>
                    <a:pt x="43827" y="1597863"/>
                  </a:lnTo>
                  <a:lnTo>
                    <a:pt x="51384" y="1599361"/>
                  </a:lnTo>
                  <a:lnTo>
                    <a:pt x="2320340" y="1599361"/>
                  </a:lnTo>
                  <a:lnTo>
                    <a:pt x="2327897" y="1597863"/>
                  </a:lnTo>
                  <a:lnTo>
                    <a:pt x="2342413" y="1591843"/>
                  </a:lnTo>
                  <a:lnTo>
                    <a:pt x="2348814" y="1587563"/>
                  </a:lnTo>
                  <a:lnTo>
                    <a:pt x="2353894" y="1582483"/>
                  </a:lnTo>
                  <a:lnTo>
                    <a:pt x="2354376" y="1582000"/>
                  </a:lnTo>
                  <a:lnTo>
                    <a:pt x="2359926" y="1576451"/>
                  </a:lnTo>
                  <a:lnTo>
                    <a:pt x="2364206" y="1570050"/>
                  </a:lnTo>
                  <a:lnTo>
                    <a:pt x="2370226" y="1555546"/>
                  </a:lnTo>
                  <a:lnTo>
                    <a:pt x="2371699" y="1548130"/>
                  </a:lnTo>
                  <a:lnTo>
                    <a:pt x="2371725" y="75361"/>
                  </a:lnTo>
                  <a:close/>
                </a:path>
              </a:pathLst>
            </a:custGeom>
            <a:solidFill>
              <a:srgbClr val="DFB7BB"/>
            </a:solidFill>
          </p:spPr>
          <p:txBody>
            <a:bodyPr wrap="square" lIns="0" tIns="0" rIns="0" bIns="0" rtlCol="0"/>
            <a:lstStyle/>
            <a:p>
              <a:endParaRPr/>
            </a:p>
          </p:txBody>
        </p:sp>
        <p:sp>
          <p:nvSpPr>
            <p:cNvPr id="16" name="object 16"/>
            <p:cNvSpPr/>
            <p:nvPr/>
          </p:nvSpPr>
          <p:spPr>
            <a:xfrm>
              <a:off x="8477250" y="1819274"/>
              <a:ext cx="2371725" cy="514350"/>
            </a:xfrm>
            <a:custGeom>
              <a:avLst/>
              <a:gdLst/>
              <a:ahLst/>
              <a:cxnLst/>
              <a:rect l="l" t="t" r="r" b="b"/>
              <a:pathLst>
                <a:path w="2371725" h="514350">
                  <a:moveTo>
                    <a:pt x="2371725" y="293484"/>
                  </a:moveTo>
                  <a:lnTo>
                    <a:pt x="2357120" y="258229"/>
                  </a:lnTo>
                  <a:lnTo>
                    <a:pt x="2320226" y="238506"/>
                  </a:lnTo>
                  <a:lnTo>
                    <a:pt x="2316365" y="238125"/>
                  </a:lnTo>
                  <a:lnTo>
                    <a:pt x="1440903" y="238125"/>
                  </a:lnTo>
                  <a:lnTo>
                    <a:pt x="1439481" y="223583"/>
                  </a:lnTo>
                  <a:lnTo>
                    <a:pt x="1428026" y="174459"/>
                  </a:lnTo>
                  <a:lnTo>
                    <a:pt x="1407210" y="128511"/>
                  </a:lnTo>
                  <a:lnTo>
                    <a:pt x="1377835" y="87515"/>
                  </a:lnTo>
                  <a:lnTo>
                    <a:pt x="1341005" y="53035"/>
                  </a:lnTo>
                  <a:lnTo>
                    <a:pt x="1298181" y="26403"/>
                  </a:lnTo>
                  <a:lnTo>
                    <a:pt x="1250975" y="8623"/>
                  </a:lnTo>
                  <a:lnTo>
                    <a:pt x="1201191" y="406"/>
                  </a:lnTo>
                  <a:lnTo>
                    <a:pt x="1192796" y="0"/>
                  </a:lnTo>
                  <a:lnTo>
                    <a:pt x="1175956" y="0"/>
                  </a:lnTo>
                  <a:lnTo>
                    <a:pt x="1125943" y="6578"/>
                  </a:lnTo>
                  <a:lnTo>
                    <a:pt x="1078179" y="22796"/>
                  </a:lnTo>
                  <a:lnTo>
                    <a:pt x="1034491" y="48018"/>
                  </a:lnTo>
                  <a:lnTo>
                    <a:pt x="996569" y="81280"/>
                  </a:lnTo>
                  <a:lnTo>
                    <a:pt x="965860" y="121297"/>
                  </a:lnTo>
                  <a:lnTo>
                    <a:pt x="943546" y="166535"/>
                  </a:lnTo>
                  <a:lnTo>
                    <a:pt x="930503" y="215265"/>
                  </a:lnTo>
                  <a:lnTo>
                    <a:pt x="927823" y="238125"/>
                  </a:lnTo>
                  <a:lnTo>
                    <a:pt x="55359" y="238125"/>
                  </a:lnTo>
                  <a:lnTo>
                    <a:pt x="20104" y="252730"/>
                  </a:lnTo>
                  <a:lnTo>
                    <a:pt x="381" y="289623"/>
                  </a:lnTo>
                  <a:lnTo>
                    <a:pt x="0" y="293484"/>
                  </a:lnTo>
                  <a:lnTo>
                    <a:pt x="0" y="314325"/>
                  </a:lnTo>
                  <a:lnTo>
                    <a:pt x="933513" y="314325"/>
                  </a:lnTo>
                  <a:lnTo>
                    <a:pt x="933780" y="315607"/>
                  </a:lnTo>
                  <a:lnTo>
                    <a:pt x="949998" y="363372"/>
                  </a:lnTo>
                  <a:lnTo>
                    <a:pt x="975220" y="407060"/>
                  </a:lnTo>
                  <a:lnTo>
                    <a:pt x="1008481" y="444982"/>
                  </a:lnTo>
                  <a:lnTo>
                    <a:pt x="1048499" y="475691"/>
                  </a:lnTo>
                  <a:lnTo>
                    <a:pt x="1093736" y="497992"/>
                  </a:lnTo>
                  <a:lnTo>
                    <a:pt x="1142466" y="511048"/>
                  </a:lnTo>
                  <a:lnTo>
                    <a:pt x="1175956" y="514350"/>
                  </a:lnTo>
                  <a:lnTo>
                    <a:pt x="1192796" y="514350"/>
                  </a:lnTo>
                  <a:lnTo>
                    <a:pt x="1242809" y="507758"/>
                  </a:lnTo>
                  <a:lnTo>
                    <a:pt x="1290574" y="491553"/>
                  </a:lnTo>
                  <a:lnTo>
                    <a:pt x="1334249" y="466331"/>
                  </a:lnTo>
                  <a:lnTo>
                    <a:pt x="1372184" y="433070"/>
                  </a:lnTo>
                  <a:lnTo>
                    <a:pt x="1402892" y="393052"/>
                  </a:lnTo>
                  <a:lnTo>
                    <a:pt x="1425194" y="347802"/>
                  </a:lnTo>
                  <a:lnTo>
                    <a:pt x="1435214" y="314325"/>
                  </a:lnTo>
                  <a:lnTo>
                    <a:pt x="2371725" y="314325"/>
                  </a:lnTo>
                  <a:lnTo>
                    <a:pt x="2371725" y="293484"/>
                  </a:lnTo>
                  <a:close/>
                </a:path>
              </a:pathLst>
            </a:custGeom>
            <a:solidFill>
              <a:srgbClr val="DA1B2D"/>
            </a:solidFill>
          </p:spPr>
          <p:txBody>
            <a:bodyPr wrap="square" lIns="0" tIns="0" rIns="0" bIns="0" rtlCol="0"/>
            <a:lstStyle/>
            <a:p>
              <a:endParaRPr/>
            </a:p>
          </p:txBody>
        </p:sp>
      </p:grpSp>
      <p:sp>
        <p:nvSpPr>
          <p:cNvPr id="17" name="object 17"/>
          <p:cNvSpPr txBox="1"/>
          <p:nvPr/>
        </p:nvSpPr>
        <p:spPr>
          <a:xfrm>
            <a:off x="9584029" y="1927351"/>
            <a:ext cx="153035" cy="269240"/>
          </a:xfrm>
          <a:prstGeom prst="rect">
            <a:avLst/>
          </a:prstGeom>
        </p:spPr>
        <p:txBody>
          <a:bodyPr vert="horz" wrap="square" lIns="0" tIns="12700" rIns="0" bIns="0" rtlCol="0">
            <a:spAutoFit/>
          </a:bodyPr>
          <a:lstStyle/>
          <a:p>
            <a:pPr marL="12700">
              <a:lnSpc>
                <a:spcPct val="100000"/>
              </a:lnSpc>
              <a:spcBef>
                <a:spcPts val="100"/>
              </a:spcBef>
            </a:pPr>
            <a:r>
              <a:rPr sz="1600" b="1" spc="-90" dirty="0">
                <a:solidFill>
                  <a:srgbClr val="FFFFFF"/>
                </a:solidFill>
                <a:latin typeface="Verdana"/>
                <a:cs typeface="Verdana"/>
              </a:rPr>
              <a:t>2</a:t>
            </a:r>
            <a:endParaRPr sz="1600">
              <a:latin typeface="Verdana"/>
              <a:cs typeface="Verdana"/>
            </a:endParaRPr>
          </a:p>
        </p:txBody>
      </p:sp>
      <p:sp>
        <p:nvSpPr>
          <p:cNvPr id="18" name="object 18"/>
          <p:cNvSpPr txBox="1"/>
          <p:nvPr/>
        </p:nvSpPr>
        <p:spPr>
          <a:xfrm>
            <a:off x="8649246" y="2469705"/>
            <a:ext cx="1792605" cy="986790"/>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Interact</a:t>
            </a:r>
            <a:endParaRPr sz="1750">
              <a:latin typeface="Verdana"/>
              <a:cs typeface="Verdana"/>
            </a:endParaRPr>
          </a:p>
          <a:p>
            <a:pPr marL="12700" marR="5080">
              <a:lnSpc>
                <a:spcPct val="139400"/>
              </a:lnSpc>
              <a:spcBef>
                <a:spcPts val="1110"/>
              </a:spcBef>
            </a:pPr>
            <a:r>
              <a:rPr sz="1300" spc="65" dirty="0">
                <a:solidFill>
                  <a:srgbClr val="3A3535"/>
                </a:solidFill>
                <a:latin typeface="Century Gothic"/>
                <a:cs typeface="Century Gothic"/>
              </a:rPr>
              <a:t>AI</a:t>
            </a:r>
            <a:r>
              <a:rPr sz="1300" spc="-15" dirty="0">
                <a:solidFill>
                  <a:srgbClr val="3A3535"/>
                </a:solidFill>
                <a:latin typeface="Century Gothic"/>
                <a:cs typeface="Century Gothic"/>
              </a:rPr>
              <a:t> </a:t>
            </a:r>
            <a:r>
              <a:rPr sz="1300" spc="90" dirty="0">
                <a:solidFill>
                  <a:srgbClr val="3A3535"/>
                </a:solidFill>
                <a:latin typeface="Century Gothic"/>
                <a:cs typeface="Century Gothic"/>
              </a:rPr>
              <a:t>or</a:t>
            </a:r>
            <a:r>
              <a:rPr sz="1300" spc="-10" dirty="0">
                <a:solidFill>
                  <a:srgbClr val="3A3535"/>
                </a:solidFill>
                <a:latin typeface="Century Gothic"/>
                <a:cs typeface="Century Gothic"/>
              </a:rPr>
              <a:t> </a:t>
            </a:r>
            <a:r>
              <a:rPr sz="1300" dirty="0">
                <a:solidFill>
                  <a:srgbClr val="3A3535"/>
                </a:solidFill>
                <a:latin typeface="Century Gothic"/>
                <a:cs typeface="Century Gothic"/>
              </a:rPr>
              <a:t>therapy</a:t>
            </a:r>
            <a:r>
              <a:rPr sz="1300" spc="-10" dirty="0">
                <a:solidFill>
                  <a:srgbClr val="3A3535"/>
                </a:solidFill>
                <a:latin typeface="Century Gothic"/>
                <a:cs typeface="Century Gothic"/>
              </a:rPr>
              <a:t> </a:t>
            </a:r>
            <a:r>
              <a:rPr sz="1300" dirty="0">
                <a:solidFill>
                  <a:srgbClr val="3A3535"/>
                </a:solidFill>
                <a:latin typeface="Century Gothic"/>
                <a:cs typeface="Century Gothic"/>
              </a:rPr>
              <a:t>chat</a:t>
            </a:r>
            <a:r>
              <a:rPr sz="1300" spc="-10" dirty="0">
                <a:solidFill>
                  <a:srgbClr val="3A3535"/>
                </a:solidFill>
                <a:latin typeface="Century Gothic"/>
                <a:cs typeface="Century Gothic"/>
              </a:rPr>
              <a:t> </a:t>
            </a:r>
            <a:r>
              <a:rPr sz="1300" spc="-25" dirty="0">
                <a:solidFill>
                  <a:srgbClr val="3A3535"/>
                </a:solidFill>
                <a:latin typeface="Century Gothic"/>
                <a:cs typeface="Century Gothic"/>
              </a:rPr>
              <a:t>on </a:t>
            </a:r>
            <a:r>
              <a:rPr sz="1300" dirty="0">
                <a:solidFill>
                  <a:srgbClr val="3A3535"/>
                </a:solidFill>
                <a:latin typeface="Century Gothic"/>
                <a:cs typeface="Century Gothic"/>
              </a:rPr>
              <a:t>the</a:t>
            </a:r>
            <a:r>
              <a:rPr sz="1300" spc="70" dirty="0">
                <a:solidFill>
                  <a:srgbClr val="3A3535"/>
                </a:solidFill>
                <a:latin typeface="Century Gothic"/>
                <a:cs typeface="Century Gothic"/>
              </a:rPr>
              <a:t> </a:t>
            </a:r>
            <a:r>
              <a:rPr sz="1300" spc="-25" dirty="0">
                <a:solidFill>
                  <a:srgbClr val="3A3535"/>
                </a:solidFill>
                <a:latin typeface="Century Gothic"/>
                <a:cs typeface="Century Gothic"/>
              </a:rPr>
              <a:t>go</a:t>
            </a:r>
            <a:endParaRPr sz="1300">
              <a:latin typeface="Century Gothic"/>
              <a:cs typeface="Century Gothic"/>
            </a:endParaRPr>
          </a:p>
        </p:txBody>
      </p:sp>
      <p:grpSp>
        <p:nvGrpSpPr>
          <p:cNvPr id="19" name="object 19"/>
          <p:cNvGrpSpPr/>
          <p:nvPr/>
        </p:nvGrpSpPr>
        <p:grpSpPr>
          <a:xfrm>
            <a:off x="5934074" y="3848100"/>
            <a:ext cx="4914900" cy="1581150"/>
            <a:chOff x="5934074" y="3848100"/>
            <a:chExt cx="4914900" cy="1581150"/>
          </a:xfrm>
        </p:grpSpPr>
        <p:sp>
          <p:nvSpPr>
            <p:cNvPr id="20" name="object 20"/>
            <p:cNvSpPr/>
            <p:nvPr/>
          </p:nvSpPr>
          <p:spPr>
            <a:xfrm>
              <a:off x="5934062" y="4096600"/>
              <a:ext cx="4914900" cy="1332865"/>
            </a:xfrm>
            <a:custGeom>
              <a:avLst/>
              <a:gdLst/>
              <a:ahLst/>
              <a:cxnLst/>
              <a:rect l="l" t="t" r="r" b="b"/>
              <a:pathLst>
                <a:path w="4914900" h="1332864">
                  <a:moveTo>
                    <a:pt x="4914900" y="75361"/>
                  </a:moveTo>
                  <a:lnTo>
                    <a:pt x="4902073" y="33020"/>
                  </a:lnTo>
                  <a:lnTo>
                    <a:pt x="4867859" y="4965"/>
                  </a:lnTo>
                  <a:lnTo>
                    <a:pt x="4849457" y="0"/>
                  </a:lnTo>
                  <a:lnTo>
                    <a:pt x="4853571" y="1092"/>
                  </a:lnTo>
                  <a:lnTo>
                    <a:pt x="4867567" y="8826"/>
                  </a:lnTo>
                  <a:lnTo>
                    <a:pt x="4891494" y="46202"/>
                  </a:lnTo>
                  <a:lnTo>
                    <a:pt x="4895850" y="75361"/>
                  </a:lnTo>
                  <a:lnTo>
                    <a:pt x="4895850" y="1273416"/>
                  </a:lnTo>
                  <a:lnTo>
                    <a:pt x="4895139" y="1281264"/>
                  </a:lnTo>
                  <a:lnTo>
                    <a:pt x="4895126" y="1281430"/>
                  </a:lnTo>
                  <a:lnTo>
                    <a:pt x="4892916" y="1288834"/>
                  </a:lnTo>
                  <a:lnTo>
                    <a:pt x="4889233" y="1295641"/>
                  </a:lnTo>
                  <a:lnTo>
                    <a:pt x="4884077" y="1301826"/>
                  </a:lnTo>
                  <a:lnTo>
                    <a:pt x="4883556" y="1302258"/>
                  </a:lnTo>
                  <a:lnTo>
                    <a:pt x="4877892" y="1306982"/>
                  </a:lnTo>
                  <a:lnTo>
                    <a:pt x="4871085" y="1310665"/>
                  </a:lnTo>
                  <a:lnTo>
                    <a:pt x="4863681" y="1312875"/>
                  </a:lnTo>
                  <a:lnTo>
                    <a:pt x="4855654" y="1313611"/>
                  </a:lnTo>
                  <a:lnTo>
                    <a:pt x="59245" y="1313611"/>
                  </a:lnTo>
                  <a:lnTo>
                    <a:pt x="51231" y="1312875"/>
                  </a:lnTo>
                  <a:lnTo>
                    <a:pt x="43815" y="1310665"/>
                  </a:lnTo>
                  <a:lnTo>
                    <a:pt x="37020" y="1306982"/>
                  </a:lnTo>
                  <a:lnTo>
                    <a:pt x="31343" y="1302270"/>
                  </a:lnTo>
                  <a:lnTo>
                    <a:pt x="30835" y="1301826"/>
                  </a:lnTo>
                  <a:lnTo>
                    <a:pt x="25679" y="1295641"/>
                  </a:lnTo>
                  <a:lnTo>
                    <a:pt x="21996" y="1288834"/>
                  </a:lnTo>
                  <a:lnTo>
                    <a:pt x="19786" y="1281430"/>
                  </a:lnTo>
                  <a:lnTo>
                    <a:pt x="19050" y="1273416"/>
                  </a:lnTo>
                  <a:lnTo>
                    <a:pt x="19050" y="75361"/>
                  </a:lnTo>
                  <a:lnTo>
                    <a:pt x="28676" y="33020"/>
                  </a:lnTo>
                  <a:lnTo>
                    <a:pt x="61328" y="1092"/>
                  </a:lnTo>
                  <a:lnTo>
                    <a:pt x="65443" y="0"/>
                  </a:lnTo>
                  <a:lnTo>
                    <a:pt x="61341" y="609"/>
                  </a:lnTo>
                  <a:lnTo>
                    <a:pt x="22313" y="21475"/>
                  </a:lnTo>
                  <a:lnTo>
                    <a:pt x="1460" y="60490"/>
                  </a:lnTo>
                  <a:lnTo>
                    <a:pt x="0" y="75361"/>
                  </a:lnTo>
                  <a:lnTo>
                    <a:pt x="0" y="1281264"/>
                  </a:lnTo>
                  <a:lnTo>
                    <a:pt x="1498" y="1288821"/>
                  </a:lnTo>
                  <a:lnTo>
                    <a:pt x="7518" y="1303337"/>
                  </a:lnTo>
                  <a:lnTo>
                    <a:pt x="11798" y="1309751"/>
                  </a:lnTo>
                  <a:lnTo>
                    <a:pt x="17830" y="1315783"/>
                  </a:lnTo>
                  <a:lnTo>
                    <a:pt x="22910" y="1320863"/>
                  </a:lnTo>
                  <a:lnTo>
                    <a:pt x="29311" y="1325130"/>
                  </a:lnTo>
                  <a:lnTo>
                    <a:pt x="43827" y="1331150"/>
                  </a:lnTo>
                  <a:lnTo>
                    <a:pt x="51384" y="1332661"/>
                  </a:lnTo>
                  <a:lnTo>
                    <a:pt x="4863516" y="1332661"/>
                  </a:lnTo>
                  <a:lnTo>
                    <a:pt x="4871072" y="1331150"/>
                  </a:lnTo>
                  <a:lnTo>
                    <a:pt x="4885588" y="1325130"/>
                  </a:lnTo>
                  <a:lnTo>
                    <a:pt x="4891989" y="1320863"/>
                  </a:lnTo>
                  <a:lnTo>
                    <a:pt x="4897069" y="1315783"/>
                  </a:lnTo>
                  <a:lnTo>
                    <a:pt x="4897552" y="1315300"/>
                  </a:lnTo>
                  <a:lnTo>
                    <a:pt x="4903101" y="1309751"/>
                  </a:lnTo>
                  <a:lnTo>
                    <a:pt x="4907381" y="1303337"/>
                  </a:lnTo>
                  <a:lnTo>
                    <a:pt x="4913401" y="1288834"/>
                  </a:lnTo>
                  <a:lnTo>
                    <a:pt x="4914874" y="1281430"/>
                  </a:lnTo>
                  <a:lnTo>
                    <a:pt x="4914900" y="75361"/>
                  </a:lnTo>
                  <a:close/>
                </a:path>
              </a:pathLst>
            </a:custGeom>
            <a:solidFill>
              <a:srgbClr val="DFB7BB"/>
            </a:solidFill>
          </p:spPr>
          <p:txBody>
            <a:bodyPr wrap="square" lIns="0" tIns="0" rIns="0" bIns="0" rtlCol="0"/>
            <a:lstStyle/>
            <a:p>
              <a:endParaRPr/>
            </a:p>
          </p:txBody>
        </p:sp>
        <p:sp>
          <p:nvSpPr>
            <p:cNvPr id="21" name="object 21"/>
            <p:cNvSpPr/>
            <p:nvPr/>
          </p:nvSpPr>
          <p:spPr>
            <a:xfrm>
              <a:off x="5934075" y="3848099"/>
              <a:ext cx="4914900" cy="504825"/>
            </a:xfrm>
            <a:custGeom>
              <a:avLst/>
              <a:gdLst/>
              <a:ahLst/>
              <a:cxnLst/>
              <a:rect l="l" t="t" r="r" b="b"/>
              <a:pathLst>
                <a:path w="4914900" h="504825">
                  <a:moveTo>
                    <a:pt x="4914900" y="283946"/>
                  </a:moveTo>
                  <a:lnTo>
                    <a:pt x="4900295" y="248704"/>
                  </a:lnTo>
                  <a:lnTo>
                    <a:pt x="4863401" y="228981"/>
                  </a:lnTo>
                  <a:lnTo>
                    <a:pt x="4859540" y="228600"/>
                  </a:lnTo>
                  <a:lnTo>
                    <a:pt x="2707246" y="228600"/>
                  </a:lnTo>
                  <a:lnTo>
                    <a:pt x="2706344" y="219443"/>
                  </a:lnTo>
                  <a:lnTo>
                    <a:pt x="2695105" y="171221"/>
                  </a:lnTo>
                  <a:lnTo>
                    <a:pt x="2674670" y="126136"/>
                  </a:lnTo>
                  <a:lnTo>
                    <a:pt x="2645841" y="85890"/>
                  </a:lnTo>
                  <a:lnTo>
                    <a:pt x="2609697" y="52057"/>
                  </a:lnTo>
                  <a:lnTo>
                    <a:pt x="2567660" y="25908"/>
                  </a:lnTo>
                  <a:lnTo>
                    <a:pt x="2521318" y="8470"/>
                  </a:lnTo>
                  <a:lnTo>
                    <a:pt x="2472474" y="406"/>
                  </a:lnTo>
                  <a:lnTo>
                    <a:pt x="2464231" y="0"/>
                  </a:lnTo>
                  <a:lnTo>
                    <a:pt x="2447696" y="0"/>
                  </a:lnTo>
                  <a:lnTo>
                    <a:pt x="2398611" y="6464"/>
                  </a:lnTo>
                  <a:lnTo>
                    <a:pt x="2351722" y="22377"/>
                  </a:lnTo>
                  <a:lnTo>
                    <a:pt x="2308860" y="47129"/>
                  </a:lnTo>
                  <a:lnTo>
                    <a:pt x="2271636" y="79768"/>
                  </a:lnTo>
                  <a:lnTo>
                    <a:pt x="2241499" y="119049"/>
                  </a:lnTo>
                  <a:lnTo>
                    <a:pt x="2219591" y="163449"/>
                  </a:lnTo>
                  <a:lnTo>
                    <a:pt x="2206790" y="211277"/>
                  </a:lnTo>
                  <a:lnTo>
                    <a:pt x="2204669" y="228600"/>
                  </a:lnTo>
                  <a:lnTo>
                    <a:pt x="55359" y="228600"/>
                  </a:lnTo>
                  <a:lnTo>
                    <a:pt x="20104" y="243205"/>
                  </a:lnTo>
                  <a:lnTo>
                    <a:pt x="381" y="280098"/>
                  </a:lnTo>
                  <a:lnTo>
                    <a:pt x="0" y="283946"/>
                  </a:lnTo>
                  <a:lnTo>
                    <a:pt x="0" y="304800"/>
                  </a:lnTo>
                  <a:lnTo>
                    <a:pt x="2209025" y="304800"/>
                  </a:lnTo>
                  <a:lnTo>
                    <a:pt x="2210016" y="309765"/>
                  </a:lnTo>
                  <a:lnTo>
                    <a:pt x="2225929" y="356641"/>
                  </a:lnTo>
                  <a:lnTo>
                    <a:pt x="2250681" y="399516"/>
                  </a:lnTo>
                  <a:lnTo>
                    <a:pt x="2283320" y="436740"/>
                  </a:lnTo>
                  <a:lnTo>
                    <a:pt x="2322601" y="466877"/>
                  </a:lnTo>
                  <a:lnTo>
                    <a:pt x="2367013" y="488772"/>
                  </a:lnTo>
                  <a:lnTo>
                    <a:pt x="2414828" y="501586"/>
                  </a:lnTo>
                  <a:lnTo>
                    <a:pt x="2447696" y="504825"/>
                  </a:lnTo>
                  <a:lnTo>
                    <a:pt x="2464231" y="504825"/>
                  </a:lnTo>
                  <a:lnTo>
                    <a:pt x="2513304" y="498360"/>
                  </a:lnTo>
                  <a:lnTo>
                    <a:pt x="2560193" y="482447"/>
                  </a:lnTo>
                  <a:lnTo>
                    <a:pt x="2603068" y="457695"/>
                  </a:lnTo>
                  <a:lnTo>
                    <a:pt x="2640292" y="425043"/>
                  </a:lnTo>
                  <a:lnTo>
                    <a:pt x="2670429" y="385775"/>
                  </a:lnTo>
                  <a:lnTo>
                    <a:pt x="2692323" y="341363"/>
                  </a:lnTo>
                  <a:lnTo>
                    <a:pt x="2702890" y="304800"/>
                  </a:lnTo>
                  <a:lnTo>
                    <a:pt x="4914900" y="304800"/>
                  </a:lnTo>
                  <a:lnTo>
                    <a:pt x="4914900" y="283946"/>
                  </a:lnTo>
                  <a:close/>
                </a:path>
              </a:pathLst>
            </a:custGeom>
            <a:solidFill>
              <a:srgbClr val="DA1B2D"/>
            </a:solidFill>
          </p:spPr>
          <p:txBody>
            <a:bodyPr wrap="square" lIns="0" tIns="0" rIns="0" bIns="0" rtlCol="0"/>
            <a:lstStyle/>
            <a:p>
              <a:endParaRPr/>
            </a:p>
          </p:txBody>
        </p:sp>
      </p:grpSp>
      <p:sp>
        <p:nvSpPr>
          <p:cNvPr id="22" name="object 22"/>
          <p:cNvSpPr txBox="1"/>
          <p:nvPr/>
        </p:nvSpPr>
        <p:spPr>
          <a:xfrm>
            <a:off x="8312746" y="3946652"/>
            <a:ext cx="153035" cy="269240"/>
          </a:xfrm>
          <a:prstGeom prst="rect">
            <a:avLst/>
          </a:prstGeom>
        </p:spPr>
        <p:txBody>
          <a:bodyPr vert="horz" wrap="square" lIns="0" tIns="12700" rIns="0" bIns="0" rtlCol="0">
            <a:spAutoFit/>
          </a:bodyPr>
          <a:lstStyle/>
          <a:p>
            <a:pPr marL="12700">
              <a:lnSpc>
                <a:spcPct val="100000"/>
              </a:lnSpc>
              <a:spcBef>
                <a:spcPts val="100"/>
              </a:spcBef>
            </a:pPr>
            <a:r>
              <a:rPr sz="1600" b="1" spc="-90" dirty="0">
                <a:solidFill>
                  <a:srgbClr val="FFFFFF"/>
                </a:solidFill>
                <a:latin typeface="Verdana"/>
                <a:cs typeface="Verdana"/>
              </a:rPr>
              <a:t>3</a:t>
            </a:r>
            <a:endParaRPr sz="1600">
              <a:latin typeface="Verdana"/>
              <a:cs typeface="Verdana"/>
            </a:endParaRPr>
          </a:p>
        </p:txBody>
      </p:sp>
      <p:sp>
        <p:nvSpPr>
          <p:cNvPr id="23" name="object 23"/>
          <p:cNvSpPr txBox="1"/>
          <p:nvPr/>
        </p:nvSpPr>
        <p:spPr>
          <a:xfrm>
            <a:off x="6106515" y="4498530"/>
            <a:ext cx="3392804" cy="710565"/>
          </a:xfrm>
          <a:prstGeom prst="rect">
            <a:avLst/>
          </a:prstGeom>
        </p:spPr>
        <p:txBody>
          <a:bodyPr vert="horz" wrap="square" lIns="0" tIns="12700" rIns="0" bIns="0" rtlCol="0">
            <a:spAutoFit/>
          </a:bodyPr>
          <a:lstStyle/>
          <a:p>
            <a:pPr marL="12700">
              <a:lnSpc>
                <a:spcPct val="100000"/>
              </a:lnSpc>
              <a:spcBef>
                <a:spcPts val="100"/>
              </a:spcBef>
            </a:pPr>
            <a:r>
              <a:rPr sz="1750" b="1" spc="-114" dirty="0">
                <a:solidFill>
                  <a:srgbClr val="3A3535"/>
                </a:solidFill>
                <a:latin typeface="Verdana"/>
                <a:cs typeface="Verdana"/>
              </a:rPr>
              <a:t>Stay</a:t>
            </a:r>
            <a:r>
              <a:rPr sz="1750" b="1" spc="-195" dirty="0">
                <a:solidFill>
                  <a:srgbClr val="3A3535"/>
                </a:solidFill>
                <a:latin typeface="Verdana"/>
                <a:cs typeface="Verdana"/>
              </a:rPr>
              <a:t> </a:t>
            </a:r>
            <a:r>
              <a:rPr sz="1750" b="1" spc="-10" dirty="0">
                <a:solidFill>
                  <a:srgbClr val="3A3535"/>
                </a:solidFill>
                <a:latin typeface="Verdana"/>
                <a:cs typeface="Verdana"/>
              </a:rPr>
              <a:t>Connected</a:t>
            </a:r>
            <a:endParaRPr sz="1750">
              <a:latin typeface="Verdana"/>
              <a:cs typeface="Verdana"/>
            </a:endParaRPr>
          </a:p>
          <a:p>
            <a:pPr marL="12700">
              <a:lnSpc>
                <a:spcPct val="100000"/>
              </a:lnSpc>
              <a:spcBef>
                <a:spcPts val="1725"/>
              </a:spcBef>
            </a:pPr>
            <a:r>
              <a:rPr sz="1300" spc="80" dirty="0">
                <a:solidFill>
                  <a:srgbClr val="3A3535"/>
                </a:solidFill>
                <a:latin typeface="Century Gothic"/>
                <a:cs typeface="Century Gothic"/>
              </a:rPr>
              <a:t>Notifications</a:t>
            </a:r>
            <a:r>
              <a:rPr sz="1300" spc="40" dirty="0">
                <a:solidFill>
                  <a:srgbClr val="3A3535"/>
                </a:solidFill>
                <a:latin typeface="Century Gothic"/>
                <a:cs typeface="Century Gothic"/>
              </a:rPr>
              <a:t> </a:t>
            </a:r>
            <a:r>
              <a:rPr sz="1300" dirty="0">
                <a:solidFill>
                  <a:srgbClr val="3A3535"/>
                </a:solidFill>
                <a:latin typeface="Century Gothic"/>
                <a:cs typeface="Century Gothic"/>
              </a:rPr>
              <a:t>keep</a:t>
            </a:r>
            <a:r>
              <a:rPr sz="1300" spc="40" dirty="0">
                <a:solidFill>
                  <a:srgbClr val="3A3535"/>
                </a:solidFill>
                <a:latin typeface="Century Gothic"/>
                <a:cs typeface="Century Gothic"/>
              </a:rPr>
              <a:t> </a:t>
            </a:r>
            <a:r>
              <a:rPr sz="1300" dirty="0">
                <a:solidFill>
                  <a:srgbClr val="3A3535"/>
                </a:solidFill>
                <a:latin typeface="Century Gothic"/>
                <a:cs typeface="Century Gothic"/>
              </a:rPr>
              <a:t>the</a:t>
            </a:r>
            <a:r>
              <a:rPr sz="1300" spc="45" dirty="0">
                <a:solidFill>
                  <a:srgbClr val="3A3535"/>
                </a:solidFill>
                <a:latin typeface="Century Gothic"/>
                <a:cs typeface="Century Gothic"/>
              </a:rPr>
              <a:t> </a:t>
            </a:r>
            <a:r>
              <a:rPr sz="1300" dirty="0">
                <a:solidFill>
                  <a:srgbClr val="3A3535"/>
                </a:solidFill>
                <a:latin typeface="Century Gothic"/>
                <a:cs typeface="Century Gothic"/>
              </a:rPr>
              <a:t>program</a:t>
            </a:r>
            <a:r>
              <a:rPr sz="1300" spc="40" dirty="0">
                <a:solidFill>
                  <a:srgbClr val="3A3535"/>
                </a:solidFill>
                <a:latin typeface="Century Gothic"/>
                <a:cs typeface="Century Gothic"/>
              </a:rPr>
              <a:t> </a:t>
            </a:r>
            <a:r>
              <a:rPr sz="1300" spc="55" dirty="0">
                <a:solidFill>
                  <a:srgbClr val="3A3535"/>
                </a:solidFill>
                <a:latin typeface="Century Gothic"/>
                <a:cs typeface="Century Gothic"/>
              </a:rPr>
              <a:t>present</a:t>
            </a:r>
            <a:endParaRPr sz="1300">
              <a:latin typeface="Century Gothic"/>
              <a:cs typeface="Century Gothic"/>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289560" rIns="0" bIns="0" rtlCol="0">
            <a:spAutoFit/>
          </a:bodyPr>
          <a:lstStyle/>
          <a:p>
            <a:pPr marL="12700">
              <a:lnSpc>
                <a:spcPct val="100000"/>
              </a:lnSpc>
              <a:spcBef>
                <a:spcPts val="105"/>
              </a:spcBef>
            </a:pPr>
            <a:r>
              <a:rPr spc="-180" dirty="0"/>
              <a:t>How</a:t>
            </a:r>
            <a:r>
              <a:rPr spc="-400" dirty="0"/>
              <a:t> </a:t>
            </a:r>
            <a:r>
              <a:rPr spc="-130" dirty="0"/>
              <a:t>SelfHelp</a:t>
            </a:r>
            <a:r>
              <a:rPr spc="-400" dirty="0"/>
              <a:t> </a:t>
            </a:r>
            <a:r>
              <a:rPr spc="-100" dirty="0"/>
              <a:t>Compares</a:t>
            </a:r>
          </a:p>
        </p:txBody>
      </p:sp>
      <p:sp>
        <p:nvSpPr>
          <p:cNvPr id="3" name="object 3"/>
          <p:cNvSpPr txBox="1"/>
          <p:nvPr/>
        </p:nvSpPr>
        <p:spPr>
          <a:xfrm>
            <a:off x="579640" y="1713522"/>
            <a:ext cx="8136255" cy="228600"/>
          </a:xfrm>
          <a:prstGeom prst="rect">
            <a:avLst/>
          </a:prstGeom>
        </p:spPr>
        <p:txBody>
          <a:bodyPr vert="horz" wrap="square" lIns="0" tIns="16510" rIns="0" bIns="0" rtlCol="0">
            <a:spAutoFit/>
          </a:bodyPr>
          <a:lstStyle/>
          <a:p>
            <a:pPr marL="12700">
              <a:lnSpc>
                <a:spcPct val="100000"/>
              </a:lnSpc>
              <a:spcBef>
                <a:spcPts val="130"/>
              </a:spcBef>
            </a:pPr>
            <a:r>
              <a:rPr sz="1300" spc="80" dirty="0">
                <a:solidFill>
                  <a:srgbClr val="3A3535"/>
                </a:solidFill>
                <a:latin typeface="Century Gothic"/>
                <a:cs typeface="Century Gothic"/>
              </a:rPr>
              <a:t>SelfHelp</a:t>
            </a:r>
            <a:r>
              <a:rPr sz="1300" dirty="0">
                <a:solidFill>
                  <a:srgbClr val="3A3535"/>
                </a:solidFill>
                <a:latin typeface="Century Gothic"/>
                <a:cs typeface="Century Gothic"/>
              </a:rPr>
              <a:t> </a:t>
            </a:r>
            <a:r>
              <a:rPr sz="1300" spc="165" dirty="0">
                <a:solidFill>
                  <a:srgbClr val="3A3535"/>
                </a:solidFill>
                <a:latin typeface="Century Gothic"/>
                <a:cs typeface="Century Gothic"/>
              </a:rPr>
              <a:t>is</a:t>
            </a:r>
            <a:r>
              <a:rPr sz="1300" dirty="0">
                <a:solidFill>
                  <a:srgbClr val="3A3535"/>
                </a:solidFill>
                <a:latin typeface="Century Gothic"/>
                <a:cs typeface="Century Gothic"/>
              </a:rPr>
              <a:t> </a:t>
            </a:r>
            <a:r>
              <a:rPr sz="1300" spc="90" dirty="0">
                <a:solidFill>
                  <a:srgbClr val="3A3535"/>
                </a:solidFill>
                <a:latin typeface="Century Gothic"/>
                <a:cs typeface="Century Gothic"/>
              </a:rPr>
              <a:t>strongest</a:t>
            </a:r>
            <a:r>
              <a:rPr sz="1300" dirty="0">
                <a:solidFill>
                  <a:srgbClr val="3A3535"/>
                </a:solidFill>
                <a:latin typeface="Century Gothic"/>
                <a:cs typeface="Century Gothic"/>
              </a:rPr>
              <a:t> </a:t>
            </a:r>
            <a:r>
              <a:rPr sz="1300" spc="20" dirty="0">
                <a:solidFill>
                  <a:srgbClr val="3A3535"/>
                </a:solidFill>
                <a:latin typeface="Century Gothic"/>
                <a:cs typeface="Century Gothic"/>
              </a:rPr>
              <a:t>when</a:t>
            </a:r>
            <a:r>
              <a:rPr sz="1300" dirty="0">
                <a:solidFill>
                  <a:srgbClr val="3A3535"/>
                </a:solidFill>
                <a:latin typeface="Century Gothic"/>
                <a:cs typeface="Century Gothic"/>
              </a:rPr>
              <a:t> </a:t>
            </a:r>
            <a:r>
              <a:rPr sz="1300" spc="20" dirty="0">
                <a:solidFill>
                  <a:srgbClr val="3A3535"/>
                </a:solidFill>
                <a:latin typeface="Century Gothic"/>
                <a:cs typeface="Century Gothic"/>
              </a:rPr>
              <a:t>everything</a:t>
            </a:r>
            <a:r>
              <a:rPr sz="1300" dirty="0">
                <a:solidFill>
                  <a:srgbClr val="3A3535"/>
                </a:solidFill>
                <a:latin typeface="Century Gothic"/>
                <a:cs typeface="Century Gothic"/>
              </a:rPr>
              <a:t> </a:t>
            </a:r>
            <a:r>
              <a:rPr sz="1300" spc="20" dirty="0">
                <a:solidFill>
                  <a:srgbClr val="3A3535"/>
                </a:solidFill>
                <a:latin typeface="Century Gothic"/>
                <a:cs typeface="Century Gothic"/>
              </a:rPr>
              <a:t>needs</a:t>
            </a:r>
            <a:r>
              <a:rPr sz="1300" dirty="0">
                <a:solidFill>
                  <a:srgbClr val="3A3535"/>
                </a:solidFill>
                <a:latin typeface="Century Gothic"/>
                <a:cs typeface="Century Gothic"/>
              </a:rPr>
              <a:t> </a:t>
            </a:r>
            <a:r>
              <a:rPr sz="1300" spc="70" dirty="0">
                <a:solidFill>
                  <a:srgbClr val="3A3535"/>
                </a:solidFill>
                <a:latin typeface="Century Gothic"/>
                <a:cs typeface="Century Gothic"/>
              </a:rPr>
              <a:t>to</a:t>
            </a:r>
            <a:r>
              <a:rPr sz="1300" dirty="0">
                <a:solidFill>
                  <a:srgbClr val="3A3535"/>
                </a:solidFill>
                <a:latin typeface="Century Gothic"/>
                <a:cs typeface="Century Gothic"/>
              </a:rPr>
              <a:t> </a:t>
            </a:r>
            <a:r>
              <a:rPr sz="1300" spc="20" dirty="0">
                <a:solidFill>
                  <a:srgbClr val="3A3535"/>
                </a:solidFill>
                <a:latin typeface="Century Gothic"/>
                <a:cs typeface="Century Gothic"/>
              </a:rPr>
              <a:t>stay</a:t>
            </a:r>
            <a:r>
              <a:rPr sz="1300" spc="-10" dirty="0">
                <a:solidFill>
                  <a:srgbClr val="3A3535"/>
                </a:solidFill>
                <a:latin typeface="Century Gothic"/>
                <a:cs typeface="Century Gothic"/>
              </a:rPr>
              <a:t> </a:t>
            </a:r>
            <a:r>
              <a:rPr sz="1300" spc="10" dirty="0">
                <a:solidFill>
                  <a:srgbClr val="3A3535"/>
                </a:solidFill>
                <a:latin typeface="Century Gothic"/>
                <a:cs typeface="Century Gothic"/>
              </a:rPr>
              <a:t>connected</a:t>
            </a:r>
            <a:r>
              <a:rPr sz="1300" dirty="0">
                <a:solidFill>
                  <a:srgbClr val="3A3535"/>
                </a:solidFill>
                <a:latin typeface="Century Gothic"/>
                <a:cs typeface="Century Gothic"/>
              </a:rPr>
              <a:t> </a:t>
            </a:r>
            <a:r>
              <a:rPr sz="1300" spc="90" dirty="0">
                <a:solidFill>
                  <a:srgbClr val="3A3535"/>
                </a:solidFill>
                <a:latin typeface="Century Gothic"/>
                <a:cs typeface="Century Gothic"/>
              </a:rPr>
              <a:t>in</a:t>
            </a:r>
            <a:r>
              <a:rPr sz="1300" dirty="0">
                <a:solidFill>
                  <a:srgbClr val="3A3535"/>
                </a:solidFill>
                <a:latin typeface="Century Gothic"/>
                <a:cs typeface="Century Gothic"/>
              </a:rPr>
              <a:t> </a:t>
            </a:r>
            <a:r>
              <a:rPr sz="1300" spc="20" dirty="0">
                <a:solidFill>
                  <a:srgbClr val="3A3535"/>
                </a:solidFill>
                <a:latin typeface="Century Gothic"/>
                <a:cs typeface="Century Gothic"/>
              </a:rPr>
              <a:t>one</a:t>
            </a:r>
            <a:r>
              <a:rPr sz="1300" dirty="0">
                <a:solidFill>
                  <a:srgbClr val="3A3535"/>
                </a:solidFill>
                <a:latin typeface="Century Gothic"/>
                <a:cs typeface="Century Gothic"/>
              </a:rPr>
              <a:t> </a:t>
            </a:r>
            <a:r>
              <a:rPr sz="1300" spc="20" dirty="0">
                <a:solidFill>
                  <a:srgbClr val="3A3535"/>
                </a:solidFill>
                <a:latin typeface="Century Gothic"/>
                <a:cs typeface="Century Gothic"/>
              </a:rPr>
              <a:t>locally</a:t>
            </a:r>
            <a:r>
              <a:rPr sz="1300" dirty="0">
                <a:solidFill>
                  <a:srgbClr val="3A3535"/>
                </a:solidFill>
                <a:latin typeface="Century Gothic"/>
                <a:cs typeface="Century Gothic"/>
              </a:rPr>
              <a:t> </a:t>
            </a:r>
            <a:r>
              <a:rPr sz="1300" spc="50" dirty="0">
                <a:solidFill>
                  <a:srgbClr val="3A3535"/>
                </a:solidFill>
                <a:latin typeface="Century Gothic"/>
                <a:cs typeface="Century Gothic"/>
              </a:rPr>
              <a:t>controlled</a:t>
            </a:r>
            <a:r>
              <a:rPr sz="1300" dirty="0">
                <a:solidFill>
                  <a:srgbClr val="3A3535"/>
                </a:solidFill>
                <a:latin typeface="Century Gothic"/>
                <a:cs typeface="Century Gothic"/>
              </a:rPr>
              <a:t> </a:t>
            </a:r>
            <a:r>
              <a:rPr sz="1300" spc="60" dirty="0">
                <a:solidFill>
                  <a:srgbClr val="3A3535"/>
                </a:solidFill>
                <a:latin typeface="Century Gothic"/>
                <a:cs typeface="Century Gothic"/>
              </a:rPr>
              <a:t>system.</a:t>
            </a:r>
            <a:endParaRPr sz="1300">
              <a:latin typeface="Century Gothic"/>
              <a:cs typeface="Century Gothic"/>
            </a:endParaRPr>
          </a:p>
        </p:txBody>
      </p:sp>
      <p:grpSp>
        <p:nvGrpSpPr>
          <p:cNvPr id="4" name="object 4"/>
          <p:cNvGrpSpPr/>
          <p:nvPr/>
        </p:nvGrpSpPr>
        <p:grpSpPr>
          <a:xfrm>
            <a:off x="590550" y="2162174"/>
            <a:ext cx="10248900" cy="3467100"/>
            <a:chOff x="590550" y="2162174"/>
            <a:chExt cx="10248900" cy="3467100"/>
          </a:xfrm>
        </p:grpSpPr>
        <p:sp>
          <p:nvSpPr>
            <p:cNvPr id="5" name="object 5"/>
            <p:cNvSpPr/>
            <p:nvPr/>
          </p:nvSpPr>
          <p:spPr>
            <a:xfrm>
              <a:off x="595312" y="2166937"/>
              <a:ext cx="10239375" cy="3457575"/>
            </a:xfrm>
            <a:custGeom>
              <a:avLst/>
              <a:gdLst/>
              <a:ahLst/>
              <a:cxnLst/>
              <a:rect l="l" t="t" r="r" b="b"/>
              <a:pathLst>
                <a:path w="10239375" h="3457575">
                  <a:moveTo>
                    <a:pt x="0" y="3403094"/>
                  </a:moveTo>
                  <a:lnTo>
                    <a:pt x="0" y="54483"/>
                  </a:lnTo>
                  <a:lnTo>
                    <a:pt x="0" y="50901"/>
                  </a:lnTo>
                  <a:lnTo>
                    <a:pt x="346" y="47358"/>
                  </a:lnTo>
                  <a:lnTo>
                    <a:pt x="1046" y="43853"/>
                  </a:lnTo>
                  <a:lnTo>
                    <a:pt x="1746" y="40347"/>
                  </a:lnTo>
                  <a:lnTo>
                    <a:pt x="2778" y="36931"/>
                  </a:lnTo>
                  <a:lnTo>
                    <a:pt x="4147" y="33629"/>
                  </a:lnTo>
                  <a:lnTo>
                    <a:pt x="5516" y="30327"/>
                  </a:lnTo>
                  <a:lnTo>
                    <a:pt x="24213" y="9182"/>
                  </a:lnTo>
                  <a:lnTo>
                    <a:pt x="27185" y="7188"/>
                  </a:lnTo>
                  <a:lnTo>
                    <a:pt x="30326" y="5511"/>
                  </a:lnTo>
                  <a:lnTo>
                    <a:pt x="33629" y="4152"/>
                  </a:lnTo>
                  <a:lnTo>
                    <a:pt x="36939" y="2781"/>
                  </a:lnTo>
                  <a:lnTo>
                    <a:pt x="40342" y="1739"/>
                  </a:lnTo>
                  <a:lnTo>
                    <a:pt x="43854" y="1041"/>
                  </a:lnTo>
                  <a:lnTo>
                    <a:pt x="47362" y="342"/>
                  </a:lnTo>
                  <a:lnTo>
                    <a:pt x="50904" y="0"/>
                  </a:lnTo>
                  <a:lnTo>
                    <a:pt x="54480" y="0"/>
                  </a:lnTo>
                  <a:lnTo>
                    <a:pt x="10184892" y="0"/>
                  </a:lnTo>
                  <a:lnTo>
                    <a:pt x="10188473" y="0"/>
                  </a:lnTo>
                  <a:lnTo>
                    <a:pt x="10192016" y="342"/>
                  </a:lnTo>
                  <a:lnTo>
                    <a:pt x="10195522" y="1041"/>
                  </a:lnTo>
                  <a:lnTo>
                    <a:pt x="10199027" y="1739"/>
                  </a:lnTo>
                  <a:lnTo>
                    <a:pt x="10202430" y="2781"/>
                  </a:lnTo>
                  <a:lnTo>
                    <a:pt x="10205745" y="4152"/>
                  </a:lnTo>
                  <a:lnTo>
                    <a:pt x="10209047" y="5511"/>
                  </a:lnTo>
                  <a:lnTo>
                    <a:pt x="10212184" y="7188"/>
                  </a:lnTo>
                  <a:lnTo>
                    <a:pt x="10215156" y="9182"/>
                  </a:lnTo>
                  <a:lnTo>
                    <a:pt x="10218140" y="11163"/>
                  </a:lnTo>
                  <a:lnTo>
                    <a:pt x="10220883" y="13423"/>
                  </a:lnTo>
                  <a:lnTo>
                    <a:pt x="10223411" y="15951"/>
                  </a:lnTo>
                  <a:lnTo>
                    <a:pt x="10225951" y="18491"/>
                  </a:lnTo>
                  <a:lnTo>
                    <a:pt x="10235222" y="33629"/>
                  </a:lnTo>
                  <a:lnTo>
                    <a:pt x="10236593" y="36931"/>
                  </a:lnTo>
                  <a:lnTo>
                    <a:pt x="10237635" y="40347"/>
                  </a:lnTo>
                  <a:lnTo>
                    <a:pt x="10238333" y="43853"/>
                  </a:lnTo>
                  <a:lnTo>
                    <a:pt x="10239032" y="47358"/>
                  </a:lnTo>
                  <a:lnTo>
                    <a:pt x="10239375" y="50901"/>
                  </a:lnTo>
                  <a:lnTo>
                    <a:pt x="10239375" y="54483"/>
                  </a:lnTo>
                  <a:lnTo>
                    <a:pt x="10239375" y="3403094"/>
                  </a:lnTo>
                  <a:lnTo>
                    <a:pt x="10239375" y="3406672"/>
                  </a:lnTo>
                  <a:lnTo>
                    <a:pt x="10239032" y="3410214"/>
                  </a:lnTo>
                  <a:lnTo>
                    <a:pt x="10238333" y="3413721"/>
                  </a:lnTo>
                  <a:lnTo>
                    <a:pt x="10237635" y="3417228"/>
                  </a:lnTo>
                  <a:lnTo>
                    <a:pt x="10236593" y="3420637"/>
                  </a:lnTo>
                  <a:lnTo>
                    <a:pt x="10235222" y="3423940"/>
                  </a:lnTo>
                  <a:lnTo>
                    <a:pt x="10233863" y="3427244"/>
                  </a:lnTo>
                  <a:lnTo>
                    <a:pt x="10232186" y="3430385"/>
                  </a:lnTo>
                  <a:lnTo>
                    <a:pt x="10230193" y="3433361"/>
                  </a:lnTo>
                  <a:lnTo>
                    <a:pt x="10228211" y="3436333"/>
                  </a:lnTo>
                  <a:lnTo>
                    <a:pt x="10225951" y="3439086"/>
                  </a:lnTo>
                  <a:lnTo>
                    <a:pt x="10223411" y="3441616"/>
                  </a:lnTo>
                  <a:lnTo>
                    <a:pt x="10220883" y="3444147"/>
                  </a:lnTo>
                  <a:lnTo>
                    <a:pt x="10218140" y="3446404"/>
                  </a:lnTo>
                  <a:lnTo>
                    <a:pt x="10215156" y="3448392"/>
                  </a:lnTo>
                  <a:lnTo>
                    <a:pt x="10212184" y="3450377"/>
                  </a:lnTo>
                  <a:lnTo>
                    <a:pt x="10195522" y="3456524"/>
                  </a:lnTo>
                  <a:lnTo>
                    <a:pt x="10192016" y="3457223"/>
                  </a:lnTo>
                  <a:lnTo>
                    <a:pt x="10188473" y="3457571"/>
                  </a:lnTo>
                  <a:lnTo>
                    <a:pt x="10184892" y="3457576"/>
                  </a:lnTo>
                  <a:lnTo>
                    <a:pt x="54480" y="3457576"/>
                  </a:lnTo>
                  <a:lnTo>
                    <a:pt x="50904" y="3457571"/>
                  </a:lnTo>
                  <a:lnTo>
                    <a:pt x="47362" y="3457223"/>
                  </a:lnTo>
                  <a:lnTo>
                    <a:pt x="43854" y="3456524"/>
                  </a:lnTo>
                  <a:lnTo>
                    <a:pt x="40342" y="3455830"/>
                  </a:lnTo>
                  <a:lnTo>
                    <a:pt x="36939" y="3454792"/>
                  </a:lnTo>
                  <a:lnTo>
                    <a:pt x="33629" y="3453423"/>
                  </a:lnTo>
                  <a:lnTo>
                    <a:pt x="30326" y="3452059"/>
                  </a:lnTo>
                  <a:lnTo>
                    <a:pt x="15958" y="3441616"/>
                  </a:lnTo>
                  <a:lnTo>
                    <a:pt x="13428" y="3439086"/>
                  </a:lnTo>
                  <a:lnTo>
                    <a:pt x="11167" y="3436333"/>
                  </a:lnTo>
                  <a:lnTo>
                    <a:pt x="9182" y="3433361"/>
                  </a:lnTo>
                  <a:lnTo>
                    <a:pt x="7193" y="3430385"/>
                  </a:lnTo>
                  <a:lnTo>
                    <a:pt x="5516" y="3427244"/>
                  </a:lnTo>
                  <a:lnTo>
                    <a:pt x="4147" y="3423940"/>
                  </a:lnTo>
                  <a:lnTo>
                    <a:pt x="2778" y="3420637"/>
                  </a:lnTo>
                  <a:lnTo>
                    <a:pt x="1746" y="3417228"/>
                  </a:lnTo>
                  <a:lnTo>
                    <a:pt x="1046" y="3413721"/>
                  </a:lnTo>
                  <a:lnTo>
                    <a:pt x="346" y="3410214"/>
                  </a:lnTo>
                  <a:lnTo>
                    <a:pt x="0" y="3406672"/>
                  </a:lnTo>
                  <a:lnTo>
                    <a:pt x="0" y="3403094"/>
                  </a:lnTo>
                  <a:close/>
                </a:path>
              </a:pathLst>
            </a:custGeom>
            <a:ln w="9525">
              <a:solidFill>
                <a:srgbClr val="000000"/>
              </a:solidFill>
            </a:ln>
          </p:spPr>
          <p:txBody>
            <a:bodyPr wrap="square" lIns="0" tIns="0" rIns="0" bIns="0" rtlCol="0"/>
            <a:lstStyle/>
            <a:p>
              <a:endParaRPr/>
            </a:p>
          </p:txBody>
        </p:sp>
        <p:sp>
          <p:nvSpPr>
            <p:cNvPr id="6" name="object 6"/>
            <p:cNvSpPr/>
            <p:nvPr/>
          </p:nvSpPr>
          <p:spPr>
            <a:xfrm>
              <a:off x="600062" y="2171699"/>
              <a:ext cx="10229850" cy="495934"/>
            </a:xfrm>
            <a:custGeom>
              <a:avLst/>
              <a:gdLst/>
              <a:ahLst/>
              <a:cxnLst/>
              <a:rect l="l" t="t" r="r" b="b"/>
              <a:pathLst>
                <a:path w="10229850" h="495935">
                  <a:moveTo>
                    <a:pt x="2857500" y="12"/>
                  </a:moveTo>
                  <a:lnTo>
                    <a:pt x="51396" y="12"/>
                  </a:lnTo>
                  <a:lnTo>
                    <a:pt x="43840" y="1511"/>
                  </a:lnTo>
                  <a:lnTo>
                    <a:pt x="11798" y="22923"/>
                  </a:lnTo>
                  <a:lnTo>
                    <a:pt x="0" y="51396"/>
                  </a:lnTo>
                  <a:lnTo>
                    <a:pt x="0" y="495312"/>
                  </a:lnTo>
                  <a:lnTo>
                    <a:pt x="2857500" y="495312"/>
                  </a:lnTo>
                  <a:lnTo>
                    <a:pt x="2857500" y="12"/>
                  </a:lnTo>
                  <a:close/>
                </a:path>
                <a:path w="10229850" h="495935">
                  <a:moveTo>
                    <a:pt x="4705362" y="0"/>
                  </a:moveTo>
                  <a:lnTo>
                    <a:pt x="2867037" y="0"/>
                  </a:lnTo>
                  <a:lnTo>
                    <a:pt x="2867037" y="495300"/>
                  </a:lnTo>
                  <a:lnTo>
                    <a:pt x="4705362" y="495300"/>
                  </a:lnTo>
                  <a:lnTo>
                    <a:pt x="4705362" y="0"/>
                  </a:lnTo>
                  <a:close/>
                </a:path>
                <a:path w="10229850" h="495935">
                  <a:moveTo>
                    <a:pt x="6543675" y="12"/>
                  </a:moveTo>
                  <a:lnTo>
                    <a:pt x="4714875" y="12"/>
                  </a:lnTo>
                  <a:lnTo>
                    <a:pt x="4714875" y="495312"/>
                  </a:lnTo>
                  <a:lnTo>
                    <a:pt x="6543675" y="495312"/>
                  </a:lnTo>
                  <a:lnTo>
                    <a:pt x="6543675" y="12"/>
                  </a:lnTo>
                  <a:close/>
                </a:path>
                <a:path w="10229850" h="495935">
                  <a:moveTo>
                    <a:pt x="8382000" y="12"/>
                  </a:moveTo>
                  <a:lnTo>
                    <a:pt x="6553200" y="12"/>
                  </a:lnTo>
                  <a:lnTo>
                    <a:pt x="6553200" y="495312"/>
                  </a:lnTo>
                  <a:lnTo>
                    <a:pt x="8382000" y="495312"/>
                  </a:lnTo>
                  <a:lnTo>
                    <a:pt x="8382000" y="12"/>
                  </a:lnTo>
                  <a:close/>
                </a:path>
                <a:path w="10229850" h="495935">
                  <a:moveTo>
                    <a:pt x="10229850" y="51396"/>
                  </a:moveTo>
                  <a:lnTo>
                    <a:pt x="10206939" y="11811"/>
                  </a:lnTo>
                  <a:lnTo>
                    <a:pt x="10178466" y="12"/>
                  </a:lnTo>
                  <a:lnTo>
                    <a:pt x="8391525" y="12"/>
                  </a:lnTo>
                  <a:lnTo>
                    <a:pt x="8391525" y="495312"/>
                  </a:lnTo>
                  <a:lnTo>
                    <a:pt x="10229850" y="495312"/>
                  </a:lnTo>
                  <a:lnTo>
                    <a:pt x="10229850" y="51396"/>
                  </a:lnTo>
                  <a:close/>
                </a:path>
              </a:pathLst>
            </a:custGeom>
            <a:solidFill>
              <a:srgbClr val="FFFFFF">
                <a:alpha val="3919"/>
              </a:srgbClr>
            </a:solidFill>
          </p:spPr>
          <p:txBody>
            <a:bodyPr wrap="square" lIns="0" tIns="0" rIns="0" bIns="0" rtlCol="0"/>
            <a:lstStyle/>
            <a:p>
              <a:endParaRPr/>
            </a:p>
          </p:txBody>
        </p:sp>
        <p:sp>
          <p:nvSpPr>
            <p:cNvPr id="7" name="object 7"/>
            <p:cNvSpPr/>
            <p:nvPr/>
          </p:nvSpPr>
          <p:spPr>
            <a:xfrm>
              <a:off x="600062" y="2666999"/>
              <a:ext cx="10230485" cy="495934"/>
            </a:xfrm>
            <a:custGeom>
              <a:avLst/>
              <a:gdLst/>
              <a:ahLst/>
              <a:cxnLst/>
              <a:rect l="l" t="t" r="r" b="b"/>
              <a:pathLst>
                <a:path w="10230485" h="495935">
                  <a:moveTo>
                    <a:pt x="2857500" y="12"/>
                  </a:moveTo>
                  <a:lnTo>
                    <a:pt x="0" y="12"/>
                  </a:lnTo>
                  <a:lnTo>
                    <a:pt x="0" y="495312"/>
                  </a:lnTo>
                  <a:lnTo>
                    <a:pt x="2857500" y="495312"/>
                  </a:lnTo>
                  <a:lnTo>
                    <a:pt x="2857500" y="12"/>
                  </a:lnTo>
                  <a:close/>
                </a:path>
                <a:path w="10230485" h="495935">
                  <a:moveTo>
                    <a:pt x="4705362" y="0"/>
                  </a:moveTo>
                  <a:lnTo>
                    <a:pt x="2867037" y="0"/>
                  </a:lnTo>
                  <a:lnTo>
                    <a:pt x="2867037" y="495312"/>
                  </a:lnTo>
                  <a:lnTo>
                    <a:pt x="4705362" y="495312"/>
                  </a:lnTo>
                  <a:lnTo>
                    <a:pt x="4705362" y="0"/>
                  </a:lnTo>
                  <a:close/>
                </a:path>
                <a:path w="10230485" h="495935">
                  <a:moveTo>
                    <a:pt x="6543675" y="12"/>
                  </a:moveTo>
                  <a:lnTo>
                    <a:pt x="4714875" y="12"/>
                  </a:lnTo>
                  <a:lnTo>
                    <a:pt x="4714875" y="495312"/>
                  </a:lnTo>
                  <a:lnTo>
                    <a:pt x="6543675" y="495312"/>
                  </a:lnTo>
                  <a:lnTo>
                    <a:pt x="6543675" y="12"/>
                  </a:lnTo>
                  <a:close/>
                </a:path>
                <a:path w="10230485" h="495935">
                  <a:moveTo>
                    <a:pt x="8382000" y="12"/>
                  </a:moveTo>
                  <a:lnTo>
                    <a:pt x="6553200" y="12"/>
                  </a:lnTo>
                  <a:lnTo>
                    <a:pt x="6553200" y="495312"/>
                  </a:lnTo>
                  <a:lnTo>
                    <a:pt x="8382000" y="495312"/>
                  </a:lnTo>
                  <a:lnTo>
                    <a:pt x="8382000" y="12"/>
                  </a:lnTo>
                  <a:close/>
                </a:path>
                <a:path w="10230485" h="495935">
                  <a:moveTo>
                    <a:pt x="10229863" y="0"/>
                  </a:moveTo>
                  <a:lnTo>
                    <a:pt x="8391538" y="0"/>
                  </a:lnTo>
                  <a:lnTo>
                    <a:pt x="8391538" y="495312"/>
                  </a:lnTo>
                  <a:lnTo>
                    <a:pt x="10229863" y="495312"/>
                  </a:lnTo>
                  <a:lnTo>
                    <a:pt x="10229863" y="0"/>
                  </a:lnTo>
                  <a:close/>
                </a:path>
              </a:pathLst>
            </a:custGeom>
            <a:solidFill>
              <a:srgbClr val="000000">
                <a:alpha val="3919"/>
              </a:srgbClr>
            </a:solidFill>
          </p:spPr>
          <p:txBody>
            <a:bodyPr wrap="square" lIns="0" tIns="0" rIns="0" bIns="0" rtlCol="0"/>
            <a:lstStyle/>
            <a:p>
              <a:endParaRPr/>
            </a:p>
          </p:txBody>
        </p:sp>
        <p:sp>
          <p:nvSpPr>
            <p:cNvPr id="8" name="object 8"/>
            <p:cNvSpPr/>
            <p:nvPr/>
          </p:nvSpPr>
          <p:spPr>
            <a:xfrm>
              <a:off x="600062" y="3162312"/>
              <a:ext cx="10230485" cy="485775"/>
            </a:xfrm>
            <a:custGeom>
              <a:avLst/>
              <a:gdLst/>
              <a:ahLst/>
              <a:cxnLst/>
              <a:rect l="l" t="t" r="r" b="b"/>
              <a:pathLst>
                <a:path w="10230485" h="485775">
                  <a:moveTo>
                    <a:pt x="2857500" y="0"/>
                  </a:moveTo>
                  <a:lnTo>
                    <a:pt x="0" y="0"/>
                  </a:lnTo>
                  <a:lnTo>
                    <a:pt x="0" y="485775"/>
                  </a:lnTo>
                  <a:lnTo>
                    <a:pt x="2857500" y="485775"/>
                  </a:lnTo>
                  <a:lnTo>
                    <a:pt x="2857500" y="0"/>
                  </a:lnTo>
                  <a:close/>
                </a:path>
                <a:path w="10230485" h="485775">
                  <a:moveTo>
                    <a:pt x="4705362" y="0"/>
                  </a:moveTo>
                  <a:lnTo>
                    <a:pt x="2867037" y="0"/>
                  </a:lnTo>
                  <a:lnTo>
                    <a:pt x="2867037" y="485775"/>
                  </a:lnTo>
                  <a:lnTo>
                    <a:pt x="4705362" y="485775"/>
                  </a:lnTo>
                  <a:lnTo>
                    <a:pt x="4705362" y="0"/>
                  </a:lnTo>
                  <a:close/>
                </a:path>
                <a:path w="10230485" h="485775">
                  <a:moveTo>
                    <a:pt x="6543675" y="0"/>
                  </a:moveTo>
                  <a:lnTo>
                    <a:pt x="4714875" y="0"/>
                  </a:lnTo>
                  <a:lnTo>
                    <a:pt x="4714875" y="485775"/>
                  </a:lnTo>
                  <a:lnTo>
                    <a:pt x="6543675" y="485775"/>
                  </a:lnTo>
                  <a:lnTo>
                    <a:pt x="6543675" y="0"/>
                  </a:lnTo>
                  <a:close/>
                </a:path>
                <a:path w="10230485" h="485775">
                  <a:moveTo>
                    <a:pt x="8382000" y="0"/>
                  </a:moveTo>
                  <a:lnTo>
                    <a:pt x="6553200" y="0"/>
                  </a:lnTo>
                  <a:lnTo>
                    <a:pt x="6553200" y="485775"/>
                  </a:lnTo>
                  <a:lnTo>
                    <a:pt x="8382000" y="485775"/>
                  </a:lnTo>
                  <a:lnTo>
                    <a:pt x="8382000" y="0"/>
                  </a:lnTo>
                  <a:close/>
                </a:path>
                <a:path w="10230485" h="485775">
                  <a:moveTo>
                    <a:pt x="10229863" y="0"/>
                  </a:moveTo>
                  <a:lnTo>
                    <a:pt x="8391538" y="0"/>
                  </a:lnTo>
                  <a:lnTo>
                    <a:pt x="8391538" y="485775"/>
                  </a:lnTo>
                  <a:lnTo>
                    <a:pt x="10229863" y="485775"/>
                  </a:lnTo>
                  <a:lnTo>
                    <a:pt x="10229863" y="0"/>
                  </a:lnTo>
                  <a:close/>
                </a:path>
              </a:pathLst>
            </a:custGeom>
            <a:solidFill>
              <a:srgbClr val="FFFFFF">
                <a:alpha val="3919"/>
              </a:srgbClr>
            </a:solidFill>
          </p:spPr>
          <p:txBody>
            <a:bodyPr wrap="square" lIns="0" tIns="0" rIns="0" bIns="0" rtlCol="0"/>
            <a:lstStyle/>
            <a:p>
              <a:endParaRPr/>
            </a:p>
          </p:txBody>
        </p:sp>
        <p:sp>
          <p:nvSpPr>
            <p:cNvPr id="9" name="object 9"/>
            <p:cNvSpPr/>
            <p:nvPr/>
          </p:nvSpPr>
          <p:spPr>
            <a:xfrm>
              <a:off x="600062" y="3648087"/>
              <a:ext cx="10230485" cy="495300"/>
            </a:xfrm>
            <a:custGeom>
              <a:avLst/>
              <a:gdLst/>
              <a:ahLst/>
              <a:cxnLst/>
              <a:rect l="l" t="t" r="r" b="b"/>
              <a:pathLst>
                <a:path w="10230485" h="495300">
                  <a:moveTo>
                    <a:pt x="2857500" y="0"/>
                  </a:moveTo>
                  <a:lnTo>
                    <a:pt x="0" y="0"/>
                  </a:lnTo>
                  <a:lnTo>
                    <a:pt x="0" y="495300"/>
                  </a:lnTo>
                  <a:lnTo>
                    <a:pt x="2857500" y="495300"/>
                  </a:lnTo>
                  <a:lnTo>
                    <a:pt x="2857500" y="0"/>
                  </a:lnTo>
                  <a:close/>
                </a:path>
                <a:path w="10230485" h="495300">
                  <a:moveTo>
                    <a:pt x="4705362" y="0"/>
                  </a:moveTo>
                  <a:lnTo>
                    <a:pt x="2867037" y="0"/>
                  </a:lnTo>
                  <a:lnTo>
                    <a:pt x="2867037" y="495287"/>
                  </a:lnTo>
                  <a:lnTo>
                    <a:pt x="4705362" y="495287"/>
                  </a:lnTo>
                  <a:lnTo>
                    <a:pt x="4705362" y="0"/>
                  </a:lnTo>
                  <a:close/>
                </a:path>
                <a:path w="10230485" h="495300">
                  <a:moveTo>
                    <a:pt x="6543675" y="0"/>
                  </a:moveTo>
                  <a:lnTo>
                    <a:pt x="4714875" y="0"/>
                  </a:lnTo>
                  <a:lnTo>
                    <a:pt x="4714875" y="495300"/>
                  </a:lnTo>
                  <a:lnTo>
                    <a:pt x="6543675" y="495300"/>
                  </a:lnTo>
                  <a:lnTo>
                    <a:pt x="6543675" y="0"/>
                  </a:lnTo>
                  <a:close/>
                </a:path>
                <a:path w="10230485" h="495300">
                  <a:moveTo>
                    <a:pt x="8382000" y="0"/>
                  </a:moveTo>
                  <a:lnTo>
                    <a:pt x="6553200" y="0"/>
                  </a:lnTo>
                  <a:lnTo>
                    <a:pt x="6553200" y="495300"/>
                  </a:lnTo>
                  <a:lnTo>
                    <a:pt x="8382000" y="495300"/>
                  </a:lnTo>
                  <a:lnTo>
                    <a:pt x="8382000" y="0"/>
                  </a:lnTo>
                  <a:close/>
                </a:path>
                <a:path w="10230485" h="495300">
                  <a:moveTo>
                    <a:pt x="10229863" y="0"/>
                  </a:moveTo>
                  <a:lnTo>
                    <a:pt x="8391538" y="0"/>
                  </a:lnTo>
                  <a:lnTo>
                    <a:pt x="8391538" y="495287"/>
                  </a:lnTo>
                  <a:lnTo>
                    <a:pt x="10229863" y="495287"/>
                  </a:lnTo>
                  <a:lnTo>
                    <a:pt x="10229863" y="0"/>
                  </a:lnTo>
                  <a:close/>
                </a:path>
              </a:pathLst>
            </a:custGeom>
            <a:solidFill>
              <a:srgbClr val="000000">
                <a:alpha val="3919"/>
              </a:srgbClr>
            </a:solidFill>
          </p:spPr>
          <p:txBody>
            <a:bodyPr wrap="square" lIns="0" tIns="0" rIns="0" bIns="0" rtlCol="0"/>
            <a:lstStyle/>
            <a:p>
              <a:endParaRPr/>
            </a:p>
          </p:txBody>
        </p:sp>
        <p:sp>
          <p:nvSpPr>
            <p:cNvPr id="10" name="object 10"/>
            <p:cNvSpPr/>
            <p:nvPr/>
          </p:nvSpPr>
          <p:spPr>
            <a:xfrm>
              <a:off x="600062" y="4143374"/>
              <a:ext cx="10230485" cy="495934"/>
            </a:xfrm>
            <a:custGeom>
              <a:avLst/>
              <a:gdLst/>
              <a:ahLst/>
              <a:cxnLst/>
              <a:rect l="l" t="t" r="r" b="b"/>
              <a:pathLst>
                <a:path w="10230485" h="495935">
                  <a:moveTo>
                    <a:pt x="2857500" y="12"/>
                  </a:moveTo>
                  <a:lnTo>
                    <a:pt x="0" y="12"/>
                  </a:lnTo>
                  <a:lnTo>
                    <a:pt x="0" y="495312"/>
                  </a:lnTo>
                  <a:lnTo>
                    <a:pt x="2857500" y="495312"/>
                  </a:lnTo>
                  <a:lnTo>
                    <a:pt x="2857500" y="12"/>
                  </a:lnTo>
                  <a:close/>
                </a:path>
                <a:path w="10230485" h="495935">
                  <a:moveTo>
                    <a:pt x="4705362" y="0"/>
                  </a:moveTo>
                  <a:lnTo>
                    <a:pt x="2867037" y="0"/>
                  </a:lnTo>
                  <a:lnTo>
                    <a:pt x="2867037" y="495300"/>
                  </a:lnTo>
                  <a:lnTo>
                    <a:pt x="4705362" y="495300"/>
                  </a:lnTo>
                  <a:lnTo>
                    <a:pt x="4705362" y="0"/>
                  </a:lnTo>
                  <a:close/>
                </a:path>
                <a:path w="10230485" h="495935">
                  <a:moveTo>
                    <a:pt x="6543675" y="12"/>
                  </a:moveTo>
                  <a:lnTo>
                    <a:pt x="4714875" y="12"/>
                  </a:lnTo>
                  <a:lnTo>
                    <a:pt x="4714875" y="495312"/>
                  </a:lnTo>
                  <a:lnTo>
                    <a:pt x="6543675" y="495312"/>
                  </a:lnTo>
                  <a:lnTo>
                    <a:pt x="6543675" y="12"/>
                  </a:lnTo>
                  <a:close/>
                </a:path>
                <a:path w="10230485" h="495935">
                  <a:moveTo>
                    <a:pt x="8382000" y="12"/>
                  </a:moveTo>
                  <a:lnTo>
                    <a:pt x="6553200" y="12"/>
                  </a:lnTo>
                  <a:lnTo>
                    <a:pt x="6553200" y="495312"/>
                  </a:lnTo>
                  <a:lnTo>
                    <a:pt x="8382000" y="495312"/>
                  </a:lnTo>
                  <a:lnTo>
                    <a:pt x="8382000" y="12"/>
                  </a:lnTo>
                  <a:close/>
                </a:path>
                <a:path w="10230485" h="495935">
                  <a:moveTo>
                    <a:pt x="10229863" y="0"/>
                  </a:moveTo>
                  <a:lnTo>
                    <a:pt x="8391538" y="0"/>
                  </a:lnTo>
                  <a:lnTo>
                    <a:pt x="8391538" y="495300"/>
                  </a:lnTo>
                  <a:lnTo>
                    <a:pt x="10229863" y="495300"/>
                  </a:lnTo>
                  <a:lnTo>
                    <a:pt x="10229863" y="0"/>
                  </a:lnTo>
                  <a:close/>
                </a:path>
              </a:pathLst>
            </a:custGeom>
            <a:solidFill>
              <a:srgbClr val="FFFFFF">
                <a:alpha val="3919"/>
              </a:srgbClr>
            </a:solidFill>
          </p:spPr>
          <p:txBody>
            <a:bodyPr wrap="square" lIns="0" tIns="0" rIns="0" bIns="0" rtlCol="0"/>
            <a:lstStyle/>
            <a:p>
              <a:endParaRPr/>
            </a:p>
          </p:txBody>
        </p:sp>
        <p:sp>
          <p:nvSpPr>
            <p:cNvPr id="11" name="object 11"/>
            <p:cNvSpPr/>
            <p:nvPr/>
          </p:nvSpPr>
          <p:spPr>
            <a:xfrm>
              <a:off x="600062" y="4638674"/>
              <a:ext cx="10230485" cy="495934"/>
            </a:xfrm>
            <a:custGeom>
              <a:avLst/>
              <a:gdLst/>
              <a:ahLst/>
              <a:cxnLst/>
              <a:rect l="l" t="t" r="r" b="b"/>
              <a:pathLst>
                <a:path w="10230485" h="495935">
                  <a:moveTo>
                    <a:pt x="2857500" y="12"/>
                  </a:moveTo>
                  <a:lnTo>
                    <a:pt x="0" y="12"/>
                  </a:lnTo>
                  <a:lnTo>
                    <a:pt x="0" y="495312"/>
                  </a:lnTo>
                  <a:lnTo>
                    <a:pt x="2857500" y="495312"/>
                  </a:lnTo>
                  <a:lnTo>
                    <a:pt x="2857500" y="12"/>
                  </a:lnTo>
                  <a:close/>
                </a:path>
                <a:path w="10230485" h="495935">
                  <a:moveTo>
                    <a:pt x="4705362" y="0"/>
                  </a:moveTo>
                  <a:lnTo>
                    <a:pt x="2867037" y="0"/>
                  </a:lnTo>
                  <a:lnTo>
                    <a:pt x="2867037" y="495300"/>
                  </a:lnTo>
                  <a:lnTo>
                    <a:pt x="4705362" y="495300"/>
                  </a:lnTo>
                  <a:lnTo>
                    <a:pt x="4705362" y="0"/>
                  </a:lnTo>
                  <a:close/>
                </a:path>
                <a:path w="10230485" h="495935">
                  <a:moveTo>
                    <a:pt x="6543675" y="12"/>
                  </a:moveTo>
                  <a:lnTo>
                    <a:pt x="4714875" y="12"/>
                  </a:lnTo>
                  <a:lnTo>
                    <a:pt x="4714875" y="495312"/>
                  </a:lnTo>
                  <a:lnTo>
                    <a:pt x="6543675" y="495312"/>
                  </a:lnTo>
                  <a:lnTo>
                    <a:pt x="6543675" y="12"/>
                  </a:lnTo>
                  <a:close/>
                </a:path>
                <a:path w="10230485" h="495935">
                  <a:moveTo>
                    <a:pt x="8382000" y="12"/>
                  </a:moveTo>
                  <a:lnTo>
                    <a:pt x="6553200" y="12"/>
                  </a:lnTo>
                  <a:lnTo>
                    <a:pt x="6553200" y="495312"/>
                  </a:lnTo>
                  <a:lnTo>
                    <a:pt x="8382000" y="495312"/>
                  </a:lnTo>
                  <a:lnTo>
                    <a:pt x="8382000" y="12"/>
                  </a:lnTo>
                  <a:close/>
                </a:path>
                <a:path w="10230485" h="495935">
                  <a:moveTo>
                    <a:pt x="10229863" y="0"/>
                  </a:moveTo>
                  <a:lnTo>
                    <a:pt x="8391538" y="0"/>
                  </a:lnTo>
                  <a:lnTo>
                    <a:pt x="8391538" y="495300"/>
                  </a:lnTo>
                  <a:lnTo>
                    <a:pt x="10229863" y="495300"/>
                  </a:lnTo>
                  <a:lnTo>
                    <a:pt x="10229863" y="0"/>
                  </a:lnTo>
                  <a:close/>
                </a:path>
              </a:pathLst>
            </a:custGeom>
            <a:solidFill>
              <a:srgbClr val="000000">
                <a:alpha val="3919"/>
              </a:srgbClr>
            </a:solidFill>
          </p:spPr>
          <p:txBody>
            <a:bodyPr wrap="square" lIns="0" tIns="0" rIns="0" bIns="0" rtlCol="0"/>
            <a:lstStyle/>
            <a:p>
              <a:endParaRPr/>
            </a:p>
          </p:txBody>
        </p:sp>
        <p:sp>
          <p:nvSpPr>
            <p:cNvPr id="12" name="object 12"/>
            <p:cNvSpPr/>
            <p:nvPr/>
          </p:nvSpPr>
          <p:spPr>
            <a:xfrm>
              <a:off x="600062" y="5133987"/>
              <a:ext cx="10229850" cy="485775"/>
            </a:xfrm>
            <a:custGeom>
              <a:avLst/>
              <a:gdLst/>
              <a:ahLst/>
              <a:cxnLst/>
              <a:rect l="l" t="t" r="r" b="b"/>
              <a:pathLst>
                <a:path w="10229850" h="485775">
                  <a:moveTo>
                    <a:pt x="2857500" y="0"/>
                  </a:moveTo>
                  <a:lnTo>
                    <a:pt x="0" y="0"/>
                  </a:lnTo>
                  <a:lnTo>
                    <a:pt x="0" y="434378"/>
                  </a:lnTo>
                  <a:lnTo>
                    <a:pt x="22910" y="473976"/>
                  </a:lnTo>
                  <a:lnTo>
                    <a:pt x="51396" y="485775"/>
                  </a:lnTo>
                  <a:lnTo>
                    <a:pt x="2857500" y="485775"/>
                  </a:lnTo>
                  <a:lnTo>
                    <a:pt x="2857500" y="0"/>
                  </a:lnTo>
                  <a:close/>
                </a:path>
                <a:path w="10229850" h="485775">
                  <a:moveTo>
                    <a:pt x="4705362" y="0"/>
                  </a:moveTo>
                  <a:lnTo>
                    <a:pt x="2867037" y="0"/>
                  </a:lnTo>
                  <a:lnTo>
                    <a:pt x="2867037" y="485775"/>
                  </a:lnTo>
                  <a:lnTo>
                    <a:pt x="4705362" y="485775"/>
                  </a:lnTo>
                  <a:lnTo>
                    <a:pt x="4705362" y="0"/>
                  </a:lnTo>
                  <a:close/>
                </a:path>
                <a:path w="10229850" h="485775">
                  <a:moveTo>
                    <a:pt x="6543675" y="0"/>
                  </a:moveTo>
                  <a:lnTo>
                    <a:pt x="4714875" y="0"/>
                  </a:lnTo>
                  <a:lnTo>
                    <a:pt x="4714875" y="485775"/>
                  </a:lnTo>
                  <a:lnTo>
                    <a:pt x="6543675" y="485775"/>
                  </a:lnTo>
                  <a:lnTo>
                    <a:pt x="6543675" y="0"/>
                  </a:lnTo>
                  <a:close/>
                </a:path>
                <a:path w="10229850" h="485775">
                  <a:moveTo>
                    <a:pt x="8382000" y="0"/>
                  </a:moveTo>
                  <a:lnTo>
                    <a:pt x="6553200" y="0"/>
                  </a:lnTo>
                  <a:lnTo>
                    <a:pt x="6553200" y="485775"/>
                  </a:lnTo>
                  <a:lnTo>
                    <a:pt x="8382000" y="485775"/>
                  </a:lnTo>
                  <a:lnTo>
                    <a:pt x="8382000" y="0"/>
                  </a:lnTo>
                  <a:close/>
                </a:path>
                <a:path w="10229850" h="485775">
                  <a:moveTo>
                    <a:pt x="10229850" y="0"/>
                  </a:moveTo>
                  <a:lnTo>
                    <a:pt x="8391525" y="0"/>
                  </a:lnTo>
                  <a:lnTo>
                    <a:pt x="8391525" y="485775"/>
                  </a:lnTo>
                  <a:lnTo>
                    <a:pt x="10178466" y="485775"/>
                  </a:lnTo>
                  <a:lnTo>
                    <a:pt x="10186022" y="484263"/>
                  </a:lnTo>
                  <a:lnTo>
                    <a:pt x="10218052" y="462864"/>
                  </a:lnTo>
                  <a:lnTo>
                    <a:pt x="10229850" y="434378"/>
                  </a:lnTo>
                  <a:lnTo>
                    <a:pt x="10229850" y="0"/>
                  </a:lnTo>
                  <a:close/>
                </a:path>
              </a:pathLst>
            </a:custGeom>
            <a:solidFill>
              <a:srgbClr val="FFFFFF">
                <a:alpha val="3919"/>
              </a:srgbClr>
            </a:solidFill>
          </p:spPr>
          <p:txBody>
            <a:bodyPr wrap="square" lIns="0" tIns="0" rIns="0" bIns="0" rtlCol="0"/>
            <a:lstStyle/>
            <a:p>
              <a:endParaRPr/>
            </a:p>
          </p:txBody>
        </p:sp>
      </p:grpSp>
      <p:sp>
        <p:nvSpPr>
          <p:cNvPr id="13" name="object 13"/>
          <p:cNvSpPr txBox="1"/>
          <p:nvPr/>
        </p:nvSpPr>
        <p:spPr>
          <a:xfrm>
            <a:off x="3626599" y="2294547"/>
            <a:ext cx="1044575" cy="228600"/>
          </a:xfrm>
          <a:prstGeom prst="rect">
            <a:avLst/>
          </a:prstGeom>
        </p:spPr>
        <p:txBody>
          <a:bodyPr vert="horz" wrap="square" lIns="0" tIns="16510" rIns="0" bIns="0" rtlCol="0">
            <a:spAutoFit/>
          </a:bodyPr>
          <a:lstStyle/>
          <a:p>
            <a:pPr marL="12700">
              <a:lnSpc>
                <a:spcPct val="100000"/>
              </a:lnSpc>
              <a:spcBef>
                <a:spcPts val="130"/>
              </a:spcBef>
            </a:pPr>
            <a:r>
              <a:rPr sz="1300" b="1" spc="-50" dirty="0">
                <a:solidFill>
                  <a:srgbClr val="3A3535"/>
                </a:solidFill>
                <a:latin typeface="Verdana"/>
                <a:cs typeface="Verdana"/>
              </a:rPr>
              <a:t>LimeSurvey</a:t>
            </a:r>
            <a:endParaRPr sz="1300">
              <a:latin typeface="Verdana"/>
              <a:cs typeface="Verdana"/>
            </a:endParaRPr>
          </a:p>
        </p:txBody>
      </p:sp>
      <p:sp>
        <p:nvSpPr>
          <p:cNvPr id="14" name="object 14"/>
          <p:cNvSpPr txBox="1"/>
          <p:nvPr/>
        </p:nvSpPr>
        <p:spPr>
          <a:xfrm>
            <a:off x="5467400" y="2294547"/>
            <a:ext cx="1239520" cy="228600"/>
          </a:xfrm>
          <a:prstGeom prst="rect">
            <a:avLst/>
          </a:prstGeom>
        </p:spPr>
        <p:txBody>
          <a:bodyPr vert="horz" wrap="square" lIns="0" tIns="16510" rIns="0" bIns="0" rtlCol="0">
            <a:spAutoFit/>
          </a:bodyPr>
          <a:lstStyle/>
          <a:p>
            <a:pPr marL="12700">
              <a:lnSpc>
                <a:spcPct val="100000"/>
              </a:lnSpc>
              <a:spcBef>
                <a:spcPts val="130"/>
              </a:spcBef>
            </a:pPr>
            <a:r>
              <a:rPr sz="1300" b="1" spc="-25" dirty="0">
                <a:solidFill>
                  <a:srgbClr val="3A3535"/>
                </a:solidFill>
                <a:latin typeface="Verdana"/>
                <a:cs typeface="Verdana"/>
              </a:rPr>
              <a:t>JATOS</a:t>
            </a:r>
            <a:r>
              <a:rPr sz="1300" b="1" spc="-145" dirty="0">
                <a:solidFill>
                  <a:srgbClr val="3A3535"/>
                </a:solidFill>
                <a:latin typeface="Verdana"/>
                <a:cs typeface="Verdana"/>
              </a:rPr>
              <a:t> </a:t>
            </a:r>
            <a:r>
              <a:rPr sz="1300" b="1" spc="-360" dirty="0">
                <a:solidFill>
                  <a:srgbClr val="3A3535"/>
                </a:solidFill>
                <a:latin typeface="Verdana"/>
                <a:cs typeface="Verdana"/>
              </a:rPr>
              <a:t>/</a:t>
            </a:r>
            <a:r>
              <a:rPr sz="1300" b="1" spc="-140" dirty="0">
                <a:solidFill>
                  <a:srgbClr val="3A3535"/>
                </a:solidFill>
                <a:latin typeface="Verdana"/>
                <a:cs typeface="Verdana"/>
              </a:rPr>
              <a:t> </a:t>
            </a:r>
            <a:r>
              <a:rPr sz="1300" b="1" spc="-45" dirty="0">
                <a:solidFill>
                  <a:srgbClr val="3A3535"/>
                </a:solidFill>
                <a:latin typeface="Verdana"/>
                <a:cs typeface="Verdana"/>
              </a:rPr>
              <a:t>formr</a:t>
            </a:r>
            <a:endParaRPr sz="1300">
              <a:latin typeface="Verdana"/>
              <a:cs typeface="Verdana"/>
            </a:endParaRPr>
          </a:p>
        </p:txBody>
      </p:sp>
      <p:sp>
        <p:nvSpPr>
          <p:cNvPr id="15" name="object 15"/>
          <p:cNvSpPr txBox="1"/>
          <p:nvPr/>
        </p:nvSpPr>
        <p:spPr>
          <a:xfrm>
            <a:off x="7308184" y="2294547"/>
            <a:ext cx="698500" cy="228600"/>
          </a:xfrm>
          <a:prstGeom prst="rect">
            <a:avLst/>
          </a:prstGeom>
        </p:spPr>
        <p:txBody>
          <a:bodyPr vert="horz" wrap="square" lIns="0" tIns="16510" rIns="0" bIns="0" rtlCol="0">
            <a:spAutoFit/>
          </a:bodyPr>
          <a:lstStyle/>
          <a:p>
            <a:pPr marL="12700">
              <a:lnSpc>
                <a:spcPct val="100000"/>
              </a:lnSpc>
              <a:spcBef>
                <a:spcPts val="130"/>
              </a:spcBef>
            </a:pPr>
            <a:r>
              <a:rPr sz="1300" b="1" spc="-10" dirty="0">
                <a:solidFill>
                  <a:srgbClr val="3A3535"/>
                </a:solidFill>
                <a:latin typeface="Verdana"/>
                <a:cs typeface="Verdana"/>
              </a:rPr>
              <a:t>Moodle</a:t>
            </a:r>
            <a:endParaRPr sz="1300">
              <a:latin typeface="Verdana"/>
              <a:cs typeface="Verdana"/>
            </a:endParaRPr>
          </a:p>
        </p:txBody>
      </p:sp>
      <p:sp>
        <p:nvSpPr>
          <p:cNvPr id="16" name="object 16"/>
          <p:cNvSpPr txBox="1"/>
          <p:nvPr/>
        </p:nvSpPr>
        <p:spPr>
          <a:xfrm>
            <a:off x="9148711" y="2294547"/>
            <a:ext cx="775335" cy="228600"/>
          </a:xfrm>
          <a:prstGeom prst="rect">
            <a:avLst/>
          </a:prstGeom>
        </p:spPr>
        <p:txBody>
          <a:bodyPr vert="horz" wrap="square" lIns="0" tIns="16510" rIns="0" bIns="0" rtlCol="0">
            <a:spAutoFit/>
          </a:bodyPr>
          <a:lstStyle/>
          <a:p>
            <a:pPr marL="12700">
              <a:lnSpc>
                <a:spcPct val="100000"/>
              </a:lnSpc>
              <a:spcBef>
                <a:spcPts val="130"/>
              </a:spcBef>
            </a:pPr>
            <a:r>
              <a:rPr sz="1300" b="1" spc="-25" dirty="0">
                <a:solidFill>
                  <a:srgbClr val="3A3535"/>
                </a:solidFill>
                <a:latin typeface="Verdana"/>
                <a:cs typeface="Verdana"/>
              </a:rPr>
              <a:t>SelfHelp</a:t>
            </a:r>
            <a:endParaRPr sz="1300">
              <a:latin typeface="Verdana"/>
              <a:cs typeface="Verdana"/>
            </a:endParaRPr>
          </a:p>
        </p:txBody>
      </p:sp>
      <p:sp>
        <p:nvSpPr>
          <p:cNvPr id="17" name="object 17"/>
          <p:cNvSpPr txBox="1"/>
          <p:nvPr/>
        </p:nvSpPr>
        <p:spPr>
          <a:xfrm>
            <a:off x="758532" y="2789847"/>
            <a:ext cx="692785" cy="228600"/>
          </a:xfrm>
          <a:prstGeom prst="rect">
            <a:avLst/>
          </a:prstGeom>
        </p:spPr>
        <p:txBody>
          <a:bodyPr vert="horz" wrap="square" lIns="0" tIns="16510" rIns="0" bIns="0" rtlCol="0">
            <a:spAutoFit/>
          </a:bodyPr>
          <a:lstStyle/>
          <a:p>
            <a:pPr marL="12700">
              <a:lnSpc>
                <a:spcPct val="100000"/>
              </a:lnSpc>
              <a:spcBef>
                <a:spcPts val="130"/>
              </a:spcBef>
            </a:pPr>
            <a:r>
              <a:rPr sz="1300" spc="75" dirty="0">
                <a:solidFill>
                  <a:srgbClr val="3A3535"/>
                </a:solidFill>
                <a:latin typeface="Century Gothic"/>
                <a:cs typeface="Century Gothic"/>
              </a:rPr>
              <a:t>Surveys</a:t>
            </a:r>
            <a:endParaRPr sz="1300">
              <a:latin typeface="Century Gothic"/>
              <a:cs typeface="Century Gothic"/>
            </a:endParaRPr>
          </a:p>
        </p:txBody>
      </p:sp>
      <p:sp>
        <p:nvSpPr>
          <p:cNvPr id="18" name="object 18"/>
          <p:cNvSpPr txBox="1"/>
          <p:nvPr/>
        </p:nvSpPr>
        <p:spPr>
          <a:xfrm>
            <a:off x="3626599" y="2773049"/>
            <a:ext cx="86614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95" dirty="0">
                <a:solidFill>
                  <a:srgbClr val="3A3535"/>
                </a:solidFill>
                <a:latin typeface="Century Gothic"/>
                <a:cs typeface="Century Gothic"/>
              </a:rPr>
              <a:t>Strong</a:t>
            </a:r>
            <a:endParaRPr sz="1300">
              <a:latin typeface="Century Gothic"/>
              <a:cs typeface="Century Gothic"/>
            </a:endParaRPr>
          </a:p>
        </p:txBody>
      </p:sp>
      <p:sp>
        <p:nvSpPr>
          <p:cNvPr id="19" name="object 19"/>
          <p:cNvSpPr txBox="1"/>
          <p:nvPr/>
        </p:nvSpPr>
        <p:spPr>
          <a:xfrm>
            <a:off x="5467299" y="2773049"/>
            <a:ext cx="86614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95" dirty="0">
                <a:solidFill>
                  <a:srgbClr val="3A3535"/>
                </a:solidFill>
                <a:latin typeface="Century Gothic"/>
                <a:cs typeface="Century Gothic"/>
              </a:rPr>
              <a:t>Strong</a:t>
            </a:r>
            <a:endParaRPr sz="1300">
              <a:latin typeface="Century Gothic"/>
              <a:cs typeface="Century Gothic"/>
            </a:endParaRPr>
          </a:p>
        </p:txBody>
      </p:sp>
      <p:sp>
        <p:nvSpPr>
          <p:cNvPr id="20" name="object 20"/>
          <p:cNvSpPr txBox="1"/>
          <p:nvPr/>
        </p:nvSpPr>
        <p:spPr>
          <a:xfrm>
            <a:off x="7308012" y="2789847"/>
            <a:ext cx="561975" cy="228600"/>
          </a:xfrm>
          <a:prstGeom prst="rect">
            <a:avLst/>
          </a:prstGeom>
        </p:spPr>
        <p:txBody>
          <a:bodyPr vert="horz" wrap="square" lIns="0" tIns="16510" rIns="0" bIns="0" rtlCol="0">
            <a:spAutoFit/>
          </a:bodyPr>
          <a:lstStyle/>
          <a:p>
            <a:pPr marL="12700">
              <a:lnSpc>
                <a:spcPct val="100000"/>
              </a:lnSpc>
              <a:spcBef>
                <a:spcPts val="130"/>
              </a:spcBef>
            </a:pPr>
            <a:r>
              <a:rPr sz="1300" spc="-10" dirty="0">
                <a:solidFill>
                  <a:srgbClr val="3A3535"/>
                </a:solidFill>
                <a:latin typeface="Century Gothic"/>
                <a:cs typeface="Century Gothic"/>
              </a:rPr>
              <a:t>Partial</a:t>
            </a:r>
            <a:endParaRPr sz="1300">
              <a:latin typeface="Century Gothic"/>
              <a:cs typeface="Century Gothic"/>
            </a:endParaRPr>
          </a:p>
        </p:txBody>
      </p:sp>
      <p:sp>
        <p:nvSpPr>
          <p:cNvPr id="21" name="object 21"/>
          <p:cNvSpPr txBox="1"/>
          <p:nvPr/>
        </p:nvSpPr>
        <p:spPr>
          <a:xfrm>
            <a:off x="9148711" y="2773049"/>
            <a:ext cx="56896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30" dirty="0">
                <a:solidFill>
                  <a:srgbClr val="3A3535"/>
                </a:solidFill>
                <a:latin typeface="Century Gothic"/>
                <a:cs typeface="Century Gothic"/>
              </a:rPr>
              <a:t>Yes</a:t>
            </a:r>
            <a:endParaRPr sz="1300">
              <a:latin typeface="Century Gothic"/>
              <a:cs typeface="Century Gothic"/>
            </a:endParaRPr>
          </a:p>
        </p:txBody>
      </p:sp>
      <p:sp>
        <p:nvSpPr>
          <p:cNvPr id="22" name="object 22"/>
          <p:cNvSpPr txBox="1"/>
          <p:nvPr/>
        </p:nvSpPr>
        <p:spPr>
          <a:xfrm>
            <a:off x="758532" y="3275622"/>
            <a:ext cx="1280160" cy="228600"/>
          </a:xfrm>
          <a:prstGeom prst="rect">
            <a:avLst/>
          </a:prstGeom>
        </p:spPr>
        <p:txBody>
          <a:bodyPr vert="horz" wrap="square" lIns="0" tIns="16510" rIns="0" bIns="0" rtlCol="0">
            <a:spAutoFit/>
          </a:bodyPr>
          <a:lstStyle/>
          <a:p>
            <a:pPr marL="12700">
              <a:lnSpc>
                <a:spcPct val="100000"/>
              </a:lnSpc>
              <a:spcBef>
                <a:spcPts val="130"/>
              </a:spcBef>
            </a:pPr>
            <a:r>
              <a:rPr sz="1300" spc="50" dirty="0">
                <a:solidFill>
                  <a:srgbClr val="3A3535"/>
                </a:solidFill>
                <a:latin typeface="Century Gothic"/>
                <a:cs typeface="Century Gothic"/>
              </a:rPr>
              <a:t>Online</a:t>
            </a:r>
            <a:r>
              <a:rPr sz="1300" spc="-40" dirty="0">
                <a:solidFill>
                  <a:srgbClr val="3A3535"/>
                </a:solidFill>
                <a:latin typeface="Century Gothic"/>
                <a:cs typeface="Century Gothic"/>
              </a:rPr>
              <a:t> </a:t>
            </a:r>
            <a:r>
              <a:rPr sz="1300" spc="95" dirty="0">
                <a:solidFill>
                  <a:srgbClr val="3A3535"/>
                </a:solidFill>
                <a:latin typeface="Century Gothic"/>
                <a:cs typeface="Century Gothic"/>
              </a:rPr>
              <a:t>Studies</a:t>
            </a:r>
            <a:endParaRPr sz="1300">
              <a:latin typeface="Century Gothic"/>
              <a:cs typeface="Century Gothic"/>
            </a:endParaRPr>
          </a:p>
        </p:txBody>
      </p:sp>
      <p:sp>
        <p:nvSpPr>
          <p:cNvPr id="23" name="object 23"/>
          <p:cNvSpPr txBox="1"/>
          <p:nvPr/>
        </p:nvSpPr>
        <p:spPr>
          <a:xfrm>
            <a:off x="3626599" y="3275622"/>
            <a:ext cx="561975" cy="228600"/>
          </a:xfrm>
          <a:prstGeom prst="rect">
            <a:avLst/>
          </a:prstGeom>
        </p:spPr>
        <p:txBody>
          <a:bodyPr vert="horz" wrap="square" lIns="0" tIns="16510" rIns="0" bIns="0" rtlCol="0">
            <a:spAutoFit/>
          </a:bodyPr>
          <a:lstStyle/>
          <a:p>
            <a:pPr marL="12700">
              <a:lnSpc>
                <a:spcPct val="100000"/>
              </a:lnSpc>
              <a:spcBef>
                <a:spcPts val="130"/>
              </a:spcBef>
            </a:pPr>
            <a:r>
              <a:rPr sz="1300" spc="-10" dirty="0">
                <a:solidFill>
                  <a:srgbClr val="3A3535"/>
                </a:solidFill>
                <a:latin typeface="Century Gothic"/>
                <a:cs typeface="Century Gothic"/>
              </a:rPr>
              <a:t>Partial</a:t>
            </a:r>
            <a:endParaRPr sz="1300">
              <a:latin typeface="Century Gothic"/>
              <a:cs typeface="Century Gothic"/>
            </a:endParaRPr>
          </a:p>
        </p:txBody>
      </p:sp>
      <p:sp>
        <p:nvSpPr>
          <p:cNvPr id="24" name="object 24"/>
          <p:cNvSpPr txBox="1"/>
          <p:nvPr/>
        </p:nvSpPr>
        <p:spPr>
          <a:xfrm>
            <a:off x="5467299" y="3258824"/>
            <a:ext cx="86614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95" dirty="0">
                <a:solidFill>
                  <a:srgbClr val="3A3535"/>
                </a:solidFill>
                <a:latin typeface="Century Gothic"/>
                <a:cs typeface="Century Gothic"/>
              </a:rPr>
              <a:t>Strong</a:t>
            </a:r>
            <a:endParaRPr sz="1300">
              <a:latin typeface="Century Gothic"/>
              <a:cs typeface="Century Gothic"/>
            </a:endParaRPr>
          </a:p>
        </p:txBody>
      </p:sp>
      <p:sp>
        <p:nvSpPr>
          <p:cNvPr id="25" name="object 25"/>
          <p:cNvSpPr txBox="1"/>
          <p:nvPr/>
        </p:nvSpPr>
        <p:spPr>
          <a:xfrm>
            <a:off x="7308012" y="3275622"/>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26" name="object 26"/>
          <p:cNvSpPr txBox="1"/>
          <p:nvPr/>
        </p:nvSpPr>
        <p:spPr>
          <a:xfrm>
            <a:off x="9148711" y="3258824"/>
            <a:ext cx="56896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30" dirty="0">
                <a:solidFill>
                  <a:srgbClr val="3A3535"/>
                </a:solidFill>
                <a:latin typeface="Century Gothic"/>
                <a:cs typeface="Century Gothic"/>
              </a:rPr>
              <a:t>Yes</a:t>
            </a:r>
            <a:endParaRPr sz="1300">
              <a:latin typeface="Century Gothic"/>
              <a:cs typeface="Century Gothic"/>
            </a:endParaRPr>
          </a:p>
        </p:txBody>
      </p:sp>
      <p:sp>
        <p:nvSpPr>
          <p:cNvPr id="27" name="object 27"/>
          <p:cNvSpPr txBox="1"/>
          <p:nvPr/>
        </p:nvSpPr>
        <p:spPr>
          <a:xfrm>
            <a:off x="758532" y="3770922"/>
            <a:ext cx="922655" cy="228600"/>
          </a:xfrm>
          <a:prstGeom prst="rect">
            <a:avLst/>
          </a:prstGeom>
        </p:spPr>
        <p:txBody>
          <a:bodyPr vert="horz" wrap="square" lIns="0" tIns="16510" rIns="0" bIns="0" rtlCol="0">
            <a:spAutoFit/>
          </a:bodyPr>
          <a:lstStyle/>
          <a:p>
            <a:pPr marL="12700">
              <a:lnSpc>
                <a:spcPct val="100000"/>
              </a:lnSpc>
              <a:spcBef>
                <a:spcPts val="130"/>
              </a:spcBef>
            </a:pPr>
            <a:r>
              <a:rPr sz="1300" spc="75" dirty="0">
                <a:solidFill>
                  <a:srgbClr val="3A3535"/>
                </a:solidFill>
                <a:latin typeface="Century Gothic"/>
                <a:cs typeface="Century Gothic"/>
              </a:rPr>
              <a:t>Workflows</a:t>
            </a:r>
            <a:endParaRPr sz="1300">
              <a:latin typeface="Century Gothic"/>
              <a:cs typeface="Century Gothic"/>
            </a:endParaRPr>
          </a:p>
        </p:txBody>
      </p:sp>
      <p:sp>
        <p:nvSpPr>
          <p:cNvPr id="28" name="object 28"/>
          <p:cNvSpPr txBox="1"/>
          <p:nvPr/>
        </p:nvSpPr>
        <p:spPr>
          <a:xfrm>
            <a:off x="3626599" y="3770922"/>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29" name="object 29"/>
          <p:cNvSpPr txBox="1"/>
          <p:nvPr/>
        </p:nvSpPr>
        <p:spPr>
          <a:xfrm>
            <a:off x="5467299" y="3770922"/>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30" name="object 30"/>
          <p:cNvSpPr txBox="1"/>
          <p:nvPr/>
        </p:nvSpPr>
        <p:spPr>
          <a:xfrm>
            <a:off x="7307998" y="3770922"/>
            <a:ext cx="561975" cy="228600"/>
          </a:xfrm>
          <a:prstGeom prst="rect">
            <a:avLst/>
          </a:prstGeom>
        </p:spPr>
        <p:txBody>
          <a:bodyPr vert="horz" wrap="square" lIns="0" tIns="16510" rIns="0" bIns="0" rtlCol="0">
            <a:spAutoFit/>
          </a:bodyPr>
          <a:lstStyle/>
          <a:p>
            <a:pPr marL="12700">
              <a:lnSpc>
                <a:spcPct val="100000"/>
              </a:lnSpc>
              <a:spcBef>
                <a:spcPts val="130"/>
              </a:spcBef>
            </a:pPr>
            <a:r>
              <a:rPr sz="1300" spc="-10" dirty="0">
                <a:solidFill>
                  <a:srgbClr val="3A3535"/>
                </a:solidFill>
                <a:latin typeface="Century Gothic"/>
                <a:cs typeface="Century Gothic"/>
              </a:rPr>
              <a:t>Partial</a:t>
            </a:r>
            <a:endParaRPr sz="1300">
              <a:latin typeface="Century Gothic"/>
              <a:cs typeface="Century Gothic"/>
            </a:endParaRPr>
          </a:p>
        </p:txBody>
      </p:sp>
      <p:sp>
        <p:nvSpPr>
          <p:cNvPr id="31" name="object 31"/>
          <p:cNvSpPr txBox="1"/>
          <p:nvPr/>
        </p:nvSpPr>
        <p:spPr>
          <a:xfrm>
            <a:off x="9148698" y="3754124"/>
            <a:ext cx="86614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95" dirty="0">
                <a:solidFill>
                  <a:srgbClr val="3A3535"/>
                </a:solidFill>
                <a:latin typeface="Century Gothic"/>
                <a:cs typeface="Century Gothic"/>
              </a:rPr>
              <a:t>Strong</a:t>
            </a:r>
            <a:endParaRPr sz="1300">
              <a:latin typeface="Century Gothic"/>
              <a:cs typeface="Century Gothic"/>
            </a:endParaRPr>
          </a:p>
        </p:txBody>
      </p:sp>
      <p:sp>
        <p:nvSpPr>
          <p:cNvPr id="32" name="object 32"/>
          <p:cNvSpPr txBox="1"/>
          <p:nvPr/>
        </p:nvSpPr>
        <p:spPr>
          <a:xfrm>
            <a:off x="758520" y="4266222"/>
            <a:ext cx="1548765" cy="228600"/>
          </a:xfrm>
          <a:prstGeom prst="rect">
            <a:avLst/>
          </a:prstGeom>
        </p:spPr>
        <p:txBody>
          <a:bodyPr vert="horz" wrap="square" lIns="0" tIns="16510" rIns="0" bIns="0" rtlCol="0">
            <a:spAutoFit/>
          </a:bodyPr>
          <a:lstStyle/>
          <a:p>
            <a:pPr marL="12700">
              <a:lnSpc>
                <a:spcPct val="100000"/>
              </a:lnSpc>
              <a:spcBef>
                <a:spcPts val="130"/>
              </a:spcBef>
            </a:pPr>
            <a:r>
              <a:rPr sz="1300" dirty="0">
                <a:solidFill>
                  <a:srgbClr val="3A3535"/>
                </a:solidFill>
                <a:latin typeface="Century Gothic"/>
                <a:cs typeface="Century Gothic"/>
              </a:rPr>
              <a:t>Mobile</a:t>
            </a:r>
            <a:r>
              <a:rPr sz="1300" spc="190" dirty="0">
                <a:solidFill>
                  <a:srgbClr val="3A3535"/>
                </a:solidFill>
                <a:latin typeface="Century Gothic"/>
                <a:cs typeface="Century Gothic"/>
              </a:rPr>
              <a:t> </a:t>
            </a:r>
            <a:r>
              <a:rPr sz="1300" spc="60" dirty="0">
                <a:solidFill>
                  <a:srgbClr val="3A3535"/>
                </a:solidFill>
                <a:latin typeface="Century Gothic"/>
                <a:cs typeface="Century Gothic"/>
              </a:rPr>
              <a:t>Continuity</a:t>
            </a:r>
            <a:endParaRPr sz="1300">
              <a:latin typeface="Century Gothic"/>
              <a:cs typeface="Century Gothic"/>
            </a:endParaRPr>
          </a:p>
        </p:txBody>
      </p:sp>
      <p:sp>
        <p:nvSpPr>
          <p:cNvPr id="33" name="object 33"/>
          <p:cNvSpPr txBox="1"/>
          <p:nvPr/>
        </p:nvSpPr>
        <p:spPr>
          <a:xfrm>
            <a:off x="3626599" y="4266222"/>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34" name="object 34"/>
          <p:cNvSpPr txBox="1"/>
          <p:nvPr/>
        </p:nvSpPr>
        <p:spPr>
          <a:xfrm>
            <a:off x="5467299" y="4266222"/>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35" name="object 35"/>
          <p:cNvSpPr txBox="1"/>
          <p:nvPr/>
        </p:nvSpPr>
        <p:spPr>
          <a:xfrm>
            <a:off x="7307998" y="4266222"/>
            <a:ext cx="561975" cy="228600"/>
          </a:xfrm>
          <a:prstGeom prst="rect">
            <a:avLst/>
          </a:prstGeom>
        </p:spPr>
        <p:txBody>
          <a:bodyPr vert="horz" wrap="square" lIns="0" tIns="16510" rIns="0" bIns="0" rtlCol="0">
            <a:spAutoFit/>
          </a:bodyPr>
          <a:lstStyle/>
          <a:p>
            <a:pPr marL="12700">
              <a:lnSpc>
                <a:spcPct val="100000"/>
              </a:lnSpc>
              <a:spcBef>
                <a:spcPts val="130"/>
              </a:spcBef>
            </a:pPr>
            <a:r>
              <a:rPr sz="1300" spc="-10" dirty="0">
                <a:solidFill>
                  <a:srgbClr val="3A3535"/>
                </a:solidFill>
                <a:latin typeface="Century Gothic"/>
                <a:cs typeface="Century Gothic"/>
              </a:rPr>
              <a:t>Partial</a:t>
            </a:r>
            <a:endParaRPr sz="1300">
              <a:latin typeface="Century Gothic"/>
              <a:cs typeface="Century Gothic"/>
            </a:endParaRPr>
          </a:p>
        </p:txBody>
      </p:sp>
      <p:sp>
        <p:nvSpPr>
          <p:cNvPr id="36" name="object 36"/>
          <p:cNvSpPr txBox="1"/>
          <p:nvPr/>
        </p:nvSpPr>
        <p:spPr>
          <a:xfrm>
            <a:off x="9148698" y="4249424"/>
            <a:ext cx="86614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95" dirty="0">
                <a:solidFill>
                  <a:srgbClr val="3A3535"/>
                </a:solidFill>
                <a:latin typeface="Century Gothic"/>
                <a:cs typeface="Century Gothic"/>
              </a:rPr>
              <a:t>Strong</a:t>
            </a:r>
            <a:endParaRPr sz="1300">
              <a:latin typeface="Century Gothic"/>
              <a:cs typeface="Century Gothic"/>
            </a:endParaRPr>
          </a:p>
        </p:txBody>
      </p:sp>
      <p:sp>
        <p:nvSpPr>
          <p:cNvPr id="37" name="object 37"/>
          <p:cNvSpPr txBox="1"/>
          <p:nvPr/>
        </p:nvSpPr>
        <p:spPr>
          <a:xfrm>
            <a:off x="758520" y="4751997"/>
            <a:ext cx="1197610" cy="228600"/>
          </a:xfrm>
          <a:prstGeom prst="rect">
            <a:avLst/>
          </a:prstGeom>
        </p:spPr>
        <p:txBody>
          <a:bodyPr vert="horz" wrap="square" lIns="0" tIns="16510" rIns="0" bIns="0" rtlCol="0">
            <a:spAutoFit/>
          </a:bodyPr>
          <a:lstStyle/>
          <a:p>
            <a:pPr marL="12700">
              <a:lnSpc>
                <a:spcPct val="100000"/>
              </a:lnSpc>
              <a:spcBef>
                <a:spcPts val="130"/>
              </a:spcBef>
            </a:pPr>
            <a:r>
              <a:rPr sz="1300" spc="65" dirty="0">
                <a:solidFill>
                  <a:srgbClr val="3A3535"/>
                </a:solidFill>
                <a:latin typeface="Century Gothic"/>
                <a:cs typeface="Century Gothic"/>
              </a:rPr>
              <a:t>AI</a:t>
            </a:r>
            <a:r>
              <a:rPr sz="1300" spc="-50" dirty="0">
                <a:solidFill>
                  <a:srgbClr val="3A3535"/>
                </a:solidFill>
                <a:latin typeface="Century Gothic"/>
                <a:cs typeface="Century Gothic"/>
              </a:rPr>
              <a:t> </a:t>
            </a:r>
            <a:r>
              <a:rPr sz="1300" spc="45" dirty="0">
                <a:solidFill>
                  <a:srgbClr val="3A3535"/>
                </a:solidFill>
                <a:latin typeface="Century Gothic"/>
                <a:cs typeface="Century Gothic"/>
              </a:rPr>
              <a:t>Integration</a:t>
            </a:r>
            <a:endParaRPr sz="1300">
              <a:latin typeface="Century Gothic"/>
              <a:cs typeface="Century Gothic"/>
            </a:endParaRPr>
          </a:p>
        </p:txBody>
      </p:sp>
      <p:sp>
        <p:nvSpPr>
          <p:cNvPr id="38" name="object 38"/>
          <p:cNvSpPr txBox="1"/>
          <p:nvPr/>
        </p:nvSpPr>
        <p:spPr>
          <a:xfrm>
            <a:off x="3626599" y="4751997"/>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39" name="object 39"/>
          <p:cNvSpPr txBox="1"/>
          <p:nvPr/>
        </p:nvSpPr>
        <p:spPr>
          <a:xfrm>
            <a:off x="5467299" y="4751997"/>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40" name="object 40"/>
          <p:cNvSpPr txBox="1"/>
          <p:nvPr/>
        </p:nvSpPr>
        <p:spPr>
          <a:xfrm>
            <a:off x="7307998" y="4751997"/>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41" name="object 41"/>
          <p:cNvSpPr txBox="1"/>
          <p:nvPr/>
        </p:nvSpPr>
        <p:spPr>
          <a:xfrm>
            <a:off x="9148698" y="4735199"/>
            <a:ext cx="86614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95" dirty="0">
                <a:solidFill>
                  <a:srgbClr val="3A3535"/>
                </a:solidFill>
                <a:latin typeface="Century Gothic"/>
                <a:cs typeface="Century Gothic"/>
              </a:rPr>
              <a:t>Strong</a:t>
            </a:r>
            <a:endParaRPr sz="1300">
              <a:latin typeface="Century Gothic"/>
              <a:cs typeface="Century Gothic"/>
            </a:endParaRPr>
          </a:p>
        </p:txBody>
      </p:sp>
      <p:sp>
        <p:nvSpPr>
          <p:cNvPr id="42" name="object 42"/>
          <p:cNvSpPr txBox="1"/>
          <p:nvPr/>
        </p:nvSpPr>
        <p:spPr>
          <a:xfrm>
            <a:off x="758520" y="5247297"/>
            <a:ext cx="1167130" cy="228600"/>
          </a:xfrm>
          <a:prstGeom prst="rect">
            <a:avLst/>
          </a:prstGeom>
        </p:spPr>
        <p:txBody>
          <a:bodyPr vert="horz" wrap="square" lIns="0" tIns="16510" rIns="0" bIns="0" rtlCol="0">
            <a:spAutoFit/>
          </a:bodyPr>
          <a:lstStyle/>
          <a:p>
            <a:pPr marL="12700">
              <a:lnSpc>
                <a:spcPct val="100000"/>
              </a:lnSpc>
              <a:spcBef>
                <a:spcPts val="130"/>
              </a:spcBef>
            </a:pPr>
            <a:r>
              <a:rPr sz="1300" dirty="0">
                <a:solidFill>
                  <a:srgbClr val="3A3535"/>
                </a:solidFill>
                <a:latin typeface="Century Gothic"/>
                <a:cs typeface="Century Gothic"/>
              </a:rPr>
              <a:t>Local</a:t>
            </a:r>
            <a:r>
              <a:rPr sz="1300" spc="30" dirty="0">
                <a:solidFill>
                  <a:srgbClr val="3A3535"/>
                </a:solidFill>
                <a:latin typeface="Century Gothic"/>
                <a:cs typeface="Century Gothic"/>
              </a:rPr>
              <a:t> </a:t>
            </a:r>
            <a:r>
              <a:rPr sz="1300" spc="55" dirty="0">
                <a:solidFill>
                  <a:srgbClr val="3A3535"/>
                </a:solidFill>
                <a:latin typeface="Century Gothic"/>
                <a:cs typeface="Century Gothic"/>
              </a:rPr>
              <a:t>Control</a:t>
            </a:r>
            <a:endParaRPr sz="1300">
              <a:latin typeface="Century Gothic"/>
              <a:cs typeface="Century Gothic"/>
            </a:endParaRPr>
          </a:p>
        </p:txBody>
      </p:sp>
      <p:sp>
        <p:nvSpPr>
          <p:cNvPr id="43" name="object 43"/>
          <p:cNvSpPr txBox="1"/>
          <p:nvPr/>
        </p:nvSpPr>
        <p:spPr>
          <a:xfrm>
            <a:off x="3626599" y="5230499"/>
            <a:ext cx="56896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30" dirty="0">
                <a:solidFill>
                  <a:srgbClr val="3A3535"/>
                </a:solidFill>
                <a:latin typeface="Century Gothic"/>
                <a:cs typeface="Century Gothic"/>
              </a:rPr>
              <a:t>Yes</a:t>
            </a:r>
            <a:endParaRPr sz="1300">
              <a:latin typeface="Century Gothic"/>
              <a:cs typeface="Century Gothic"/>
            </a:endParaRPr>
          </a:p>
        </p:txBody>
      </p:sp>
      <p:sp>
        <p:nvSpPr>
          <p:cNvPr id="44" name="object 44"/>
          <p:cNvSpPr txBox="1"/>
          <p:nvPr/>
        </p:nvSpPr>
        <p:spPr>
          <a:xfrm>
            <a:off x="5467299" y="5230499"/>
            <a:ext cx="56896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30" dirty="0">
                <a:solidFill>
                  <a:srgbClr val="3A3535"/>
                </a:solidFill>
                <a:latin typeface="Century Gothic"/>
                <a:cs typeface="Century Gothic"/>
              </a:rPr>
              <a:t>Yes</a:t>
            </a:r>
            <a:endParaRPr sz="1300">
              <a:latin typeface="Century Gothic"/>
              <a:cs typeface="Century Gothic"/>
            </a:endParaRPr>
          </a:p>
        </p:txBody>
      </p:sp>
      <p:sp>
        <p:nvSpPr>
          <p:cNvPr id="45" name="object 45"/>
          <p:cNvSpPr txBox="1"/>
          <p:nvPr/>
        </p:nvSpPr>
        <p:spPr>
          <a:xfrm>
            <a:off x="7308012" y="5230499"/>
            <a:ext cx="56896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30" dirty="0">
                <a:solidFill>
                  <a:srgbClr val="3A3535"/>
                </a:solidFill>
                <a:latin typeface="Century Gothic"/>
                <a:cs typeface="Century Gothic"/>
              </a:rPr>
              <a:t>Yes</a:t>
            </a:r>
            <a:endParaRPr sz="1300">
              <a:latin typeface="Century Gothic"/>
              <a:cs typeface="Century Gothic"/>
            </a:endParaRPr>
          </a:p>
        </p:txBody>
      </p:sp>
      <p:sp>
        <p:nvSpPr>
          <p:cNvPr id="46" name="object 46"/>
          <p:cNvSpPr txBox="1"/>
          <p:nvPr/>
        </p:nvSpPr>
        <p:spPr>
          <a:xfrm>
            <a:off x="9148711" y="5230499"/>
            <a:ext cx="56896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30" dirty="0">
                <a:solidFill>
                  <a:srgbClr val="3A3535"/>
                </a:solidFill>
                <a:latin typeface="Century Gothic"/>
                <a:cs typeface="Century Gothic"/>
              </a:rPr>
              <a:t>Yes</a:t>
            </a:r>
            <a:endParaRPr sz="1300">
              <a:latin typeface="Century Gothic"/>
              <a:cs typeface="Century Gothic"/>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579640" y="1723135"/>
            <a:ext cx="4058285" cy="560070"/>
          </a:xfrm>
          <a:prstGeom prst="rect">
            <a:avLst/>
          </a:prstGeom>
        </p:spPr>
        <p:txBody>
          <a:bodyPr vert="horz" wrap="square" lIns="0" tIns="13335" rIns="0" bIns="0" rtlCol="0">
            <a:spAutoFit/>
          </a:bodyPr>
          <a:lstStyle/>
          <a:p>
            <a:pPr marL="12700">
              <a:lnSpc>
                <a:spcPct val="100000"/>
              </a:lnSpc>
              <a:spcBef>
                <a:spcPts val="105"/>
              </a:spcBef>
            </a:pPr>
            <a:r>
              <a:rPr spc="-265" dirty="0"/>
              <a:t>Why</a:t>
            </a:r>
            <a:r>
              <a:rPr spc="-430" dirty="0"/>
              <a:t> </a:t>
            </a:r>
            <a:r>
              <a:rPr spc="-150" dirty="0"/>
              <a:t>Use</a:t>
            </a:r>
            <a:r>
              <a:rPr spc="-425" dirty="0"/>
              <a:t> </a:t>
            </a:r>
            <a:r>
              <a:rPr spc="-110" dirty="0"/>
              <a:t>SelfHelp</a:t>
            </a:r>
          </a:p>
        </p:txBody>
      </p:sp>
      <p:pic>
        <p:nvPicPr>
          <p:cNvPr id="3" name="object 3"/>
          <p:cNvPicPr/>
          <p:nvPr/>
        </p:nvPicPr>
        <p:blipFill>
          <a:blip r:embed="rId3" cstate="print"/>
          <a:stretch>
            <a:fillRect/>
          </a:stretch>
        </p:blipFill>
        <p:spPr>
          <a:xfrm>
            <a:off x="586802" y="2684296"/>
            <a:ext cx="176712" cy="153672"/>
          </a:xfrm>
          <a:prstGeom prst="rect">
            <a:avLst/>
          </a:prstGeom>
        </p:spPr>
      </p:pic>
      <p:sp>
        <p:nvSpPr>
          <p:cNvPr id="4" name="object 4"/>
          <p:cNvSpPr/>
          <p:nvPr/>
        </p:nvSpPr>
        <p:spPr>
          <a:xfrm>
            <a:off x="590550" y="2924174"/>
            <a:ext cx="5038725" cy="19050"/>
          </a:xfrm>
          <a:custGeom>
            <a:avLst/>
            <a:gdLst/>
            <a:ahLst/>
            <a:cxnLst/>
            <a:rect l="l" t="t" r="r" b="b"/>
            <a:pathLst>
              <a:path w="5038725" h="19050">
                <a:moveTo>
                  <a:pt x="5038725" y="0"/>
                </a:moveTo>
                <a:lnTo>
                  <a:pt x="0" y="0"/>
                </a:lnTo>
                <a:lnTo>
                  <a:pt x="0" y="19050"/>
                </a:lnTo>
                <a:lnTo>
                  <a:pt x="5038725" y="19050"/>
                </a:lnTo>
                <a:lnTo>
                  <a:pt x="5038725" y="0"/>
                </a:lnTo>
                <a:close/>
              </a:path>
            </a:pathLst>
          </a:custGeom>
          <a:solidFill>
            <a:srgbClr val="DA1B2D"/>
          </a:solidFill>
        </p:spPr>
        <p:txBody>
          <a:bodyPr wrap="square" lIns="0" tIns="0" rIns="0" bIns="0" rtlCol="0"/>
          <a:lstStyle/>
          <a:p>
            <a:endParaRPr/>
          </a:p>
        </p:txBody>
      </p:sp>
      <p:sp>
        <p:nvSpPr>
          <p:cNvPr id="5" name="object 5"/>
          <p:cNvSpPr txBox="1"/>
          <p:nvPr/>
        </p:nvSpPr>
        <p:spPr>
          <a:xfrm>
            <a:off x="579640" y="3056547"/>
            <a:ext cx="3747770" cy="228600"/>
          </a:xfrm>
          <a:prstGeom prst="rect">
            <a:avLst/>
          </a:prstGeom>
        </p:spPr>
        <p:txBody>
          <a:bodyPr vert="horz" wrap="square" lIns="0" tIns="16510" rIns="0" bIns="0" rtlCol="0">
            <a:spAutoFit/>
          </a:bodyPr>
          <a:lstStyle/>
          <a:p>
            <a:pPr marL="12700">
              <a:lnSpc>
                <a:spcPct val="100000"/>
              </a:lnSpc>
              <a:spcBef>
                <a:spcPts val="130"/>
              </a:spcBef>
            </a:pPr>
            <a:r>
              <a:rPr sz="1300" dirty="0">
                <a:solidFill>
                  <a:srgbClr val="3A3535"/>
                </a:solidFill>
                <a:latin typeface="Century Gothic"/>
                <a:cs typeface="Century Gothic"/>
              </a:rPr>
              <a:t>One</a:t>
            </a:r>
            <a:r>
              <a:rPr sz="1300" spc="5" dirty="0">
                <a:solidFill>
                  <a:srgbClr val="3A3535"/>
                </a:solidFill>
                <a:latin typeface="Century Gothic"/>
                <a:cs typeface="Century Gothic"/>
              </a:rPr>
              <a:t> </a:t>
            </a:r>
            <a:r>
              <a:rPr sz="1300" spc="50" dirty="0">
                <a:solidFill>
                  <a:srgbClr val="3A3535"/>
                </a:solidFill>
                <a:latin typeface="Century Gothic"/>
                <a:cs typeface="Century Gothic"/>
              </a:rPr>
              <a:t>platform</a:t>
            </a:r>
            <a:r>
              <a:rPr sz="1300" spc="10" dirty="0">
                <a:solidFill>
                  <a:srgbClr val="3A3535"/>
                </a:solidFill>
                <a:latin typeface="Century Gothic"/>
                <a:cs typeface="Century Gothic"/>
              </a:rPr>
              <a:t> </a:t>
            </a:r>
            <a:r>
              <a:rPr sz="1300" spc="85" dirty="0">
                <a:solidFill>
                  <a:srgbClr val="3A3535"/>
                </a:solidFill>
                <a:latin typeface="Century Gothic"/>
                <a:cs typeface="Century Gothic"/>
              </a:rPr>
              <a:t>for</a:t>
            </a:r>
            <a:r>
              <a:rPr sz="1300" spc="10" dirty="0">
                <a:solidFill>
                  <a:srgbClr val="3A3535"/>
                </a:solidFill>
                <a:latin typeface="Century Gothic"/>
                <a:cs typeface="Century Gothic"/>
              </a:rPr>
              <a:t> </a:t>
            </a:r>
            <a:r>
              <a:rPr sz="1300" dirty="0">
                <a:solidFill>
                  <a:srgbClr val="3A3535"/>
                </a:solidFill>
                <a:latin typeface="Century Gothic"/>
                <a:cs typeface="Century Gothic"/>
              </a:rPr>
              <a:t>complete</a:t>
            </a:r>
            <a:r>
              <a:rPr sz="1300" spc="10" dirty="0">
                <a:solidFill>
                  <a:srgbClr val="3A3535"/>
                </a:solidFill>
                <a:latin typeface="Century Gothic"/>
                <a:cs typeface="Century Gothic"/>
              </a:rPr>
              <a:t> </a:t>
            </a:r>
            <a:r>
              <a:rPr sz="1300" spc="55" dirty="0">
                <a:solidFill>
                  <a:srgbClr val="3A3535"/>
                </a:solidFill>
                <a:latin typeface="Century Gothic"/>
                <a:cs typeface="Century Gothic"/>
              </a:rPr>
              <a:t>digital</a:t>
            </a:r>
            <a:r>
              <a:rPr sz="1300" spc="10" dirty="0">
                <a:solidFill>
                  <a:srgbClr val="3A3535"/>
                </a:solidFill>
                <a:latin typeface="Century Gothic"/>
                <a:cs typeface="Century Gothic"/>
              </a:rPr>
              <a:t> </a:t>
            </a:r>
            <a:r>
              <a:rPr sz="1300" spc="45" dirty="0">
                <a:solidFill>
                  <a:srgbClr val="3A3535"/>
                </a:solidFill>
                <a:latin typeface="Century Gothic"/>
                <a:cs typeface="Century Gothic"/>
              </a:rPr>
              <a:t>programs</a:t>
            </a:r>
            <a:endParaRPr sz="1300">
              <a:latin typeface="Century Gothic"/>
              <a:cs typeface="Century Gothic"/>
            </a:endParaRPr>
          </a:p>
        </p:txBody>
      </p:sp>
      <p:pic>
        <p:nvPicPr>
          <p:cNvPr id="6" name="object 6"/>
          <p:cNvPicPr/>
          <p:nvPr/>
        </p:nvPicPr>
        <p:blipFill>
          <a:blip r:embed="rId4" cstate="print"/>
          <a:stretch>
            <a:fillRect/>
          </a:stretch>
        </p:blipFill>
        <p:spPr>
          <a:xfrm>
            <a:off x="5797081" y="2672767"/>
            <a:ext cx="176450" cy="176729"/>
          </a:xfrm>
          <a:prstGeom prst="rect">
            <a:avLst/>
          </a:prstGeom>
        </p:spPr>
      </p:pic>
      <p:sp>
        <p:nvSpPr>
          <p:cNvPr id="7" name="object 7"/>
          <p:cNvSpPr/>
          <p:nvPr/>
        </p:nvSpPr>
        <p:spPr>
          <a:xfrm>
            <a:off x="5800725" y="2924174"/>
            <a:ext cx="5038725" cy="19050"/>
          </a:xfrm>
          <a:custGeom>
            <a:avLst/>
            <a:gdLst/>
            <a:ahLst/>
            <a:cxnLst/>
            <a:rect l="l" t="t" r="r" b="b"/>
            <a:pathLst>
              <a:path w="5038725" h="19050">
                <a:moveTo>
                  <a:pt x="5038725" y="0"/>
                </a:moveTo>
                <a:lnTo>
                  <a:pt x="0" y="0"/>
                </a:lnTo>
                <a:lnTo>
                  <a:pt x="0" y="19050"/>
                </a:lnTo>
                <a:lnTo>
                  <a:pt x="5038725" y="19050"/>
                </a:lnTo>
                <a:lnTo>
                  <a:pt x="5038725" y="0"/>
                </a:lnTo>
                <a:close/>
              </a:path>
            </a:pathLst>
          </a:custGeom>
          <a:solidFill>
            <a:srgbClr val="DA1B2D"/>
          </a:solidFill>
        </p:spPr>
        <p:txBody>
          <a:bodyPr wrap="square" lIns="0" tIns="0" rIns="0" bIns="0" rtlCol="0"/>
          <a:lstStyle/>
          <a:p>
            <a:endParaRPr/>
          </a:p>
        </p:txBody>
      </p:sp>
      <p:sp>
        <p:nvSpPr>
          <p:cNvPr id="8" name="object 8"/>
          <p:cNvSpPr txBox="1"/>
          <p:nvPr/>
        </p:nvSpPr>
        <p:spPr>
          <a:xfrm>
            <a:off x="5786831" y="3056547"/>
            <a:ext cx="4361815" cy="228600"/>
          </a:xfrm>
          <a:prstGeom prst="rect">
            <a:avLst/>
          </a:prstGeom>
        </p:spPr>
        <p:txBody>
          <a:bodyPr vert="horz" wrap="square" lIns="0" tIns="16510" rIns="0" bIns="0" rtlCol="0">
            <a:spAutoFit/>
          </a:bodyPr>
          <a:lstStyle/>
          <a:p>
            <a:pPr marL="12700">
              <a:lnSpc>
                <a:spcPct val="100000"/>
              </a:lnSpc>
              <a:spcBef>
                <a:spcPts val="130"/>
              </a:spcBef>
            </a:pPr>
            <a:r>
              <a:rPr sz="1300" dirty="0">
                <a:solidFill>
                  <a:srgbClr val="3A3535"/>
                </a:solidFill>
                <a:latin typeface="Century Gothic"/>
                <a:cs typeface="Century Gothic"/>
              </a:rPr>
              <a:t>Local</a:t>
            </a:r>
            <a:r>
              <a:rPr sz="1300" spc="-30" dirty="0">
                <a:solidFill>
                  <a:srgbClr val="3A3535"/>
                </a:solidFill>
                <a:latin typeface="Century Gothic"/>
                <a:cs typeface="Century Gothic"/>
              </a:rPr>
              <a:t> </a:t>
            </a:r>
            <a:r>
              <a:rPr sz="1300" spc="60" dirty="0">
                <a:solidFill>
                  <a:srgbClr val="3A3535"/>
                </a:solidFill>
                <a:latin typeface="Century Gothic"/>
                <a:cs typeface="Century Gothic"/>
              </a:rPr>
              <a:t>control</a:t>
            </a:r>
            <a:r>
              <a:rPr sz="1300" spc="-25" dirty="0">
                <a:solidFill>
                  <a:srgbClr val="3A3535"/>
                </a:solidFill>
                <a:latin typeface="Century Gothic"/>
                <a:cs typeface="Century Gothic"/>
              </a:rPr>
              <a:t> </a:t>
            </a:r>
            <a:r>
              <a:rPr sz="1300" spc="90" dirty="0">
                <a:solidFill>
                  <a:srgbClr val="3A3535"/>
                </a:solidFill>
                <a:latin typeface="Century Gothic"/>
                <a:cs typeface="Century Gothic"/>
              </a:rPr>
              <a:t>plus</a:t>
            </a:r>
            <a:r>
              <a:rPr sz="1300" spc="-25" dirty="0">
                <a:solidFill>
                  <a:srgbClr val="3A3535"/>
                </a:solidFill>
                <a:latin typeface="Century Gothic"/>
                <a:cs typeface="Century Gothic"/>
              </a:rPr>
              <a:t> </a:t>
            </a:r>
            <a:r>
              <a:rPr sz="1300" spc="80" dirty="0">
                <a:solidFill>
                  <a:srgbClr val="3A3535"/>
                </a:solidFill>
                <a:latin typeface="Century Gothic"/>
                <a:cs typeface="Century Gothic"/>
              </a:rPr>
              <a:t>flexibility</a:t>
            </a:r>
            <a:r>
              <a:rPr sz="1300" spc="-25" dirty="0">
                <a:solidFill>
                  <a:srgbClr val="3A3535"/>
                </a:solidFill>
                <a:latin typeface="Century Gothic"/>
                <a:cs typeface="Century Gothic"/>
              </a:rPr>
              <a:t> </a:t>
            </a:r>
            <a:r>
              <a:rPr sz="1300" spc="85" dirty="0">
                <a:solidFill>
                  <a:srgbClr val="3A3535"/>
                </a:solidFill>
                <a:latin typeface="Century Gothic"/>
                <a:cs typeface="Century Gothic"/>
              </a:rPr>
              <a:t>for</a:t>
            </a:r>
            <a:r>
              <a:rPr sz="1300" spc="-25" dirty="0">
                <a:solidFill>
                  <a:srgbClr val="3A3535"/>
                </a:solidFill>
                <a:latin typeface="Century Gothic"/>
                <a:cs typeface="Century Gothic"/>
              </a:rPr>
              <a:t> </a:t>
            </a:r>
            <a:r>
              <a:rPr sz="1300" spc="60" dirty="0">
                <a:solidFill>
                  <a:srgbClr val="3A3535"/>
                </a:solidFill>
                <a:latin typeface="Century Gothic"/>
                <a:cs typeface="Century Gothic"/>
              </a:rPr>
              <a:t>future</a:t>
            </a:r>
            <a:r>
              <a:rPr sz="1300" spc="-25" dirty="0">
                <a:solidFill>
                  <a:srgbClr val="3A3535"/>
                </a:solidFill>
                <a:latin typeface="Century Gothic"/>
                <a:cs typeface="Century Gothic"/>
              </a:rPr>
              <a:t> </a:t>
            </a:r>
            <a:r>
              <a:rPr sz="1300" spc="-10" dirty="0">
                <a:solidFill>
                  <a:srgbClr val="3A3535"/>
                </a:solidFill>
                <a:latin typeface="Century Gothic"/>
                <a:cs typeface="Century Gothic"/>
              </a:rPr>
              <a:t>development</a:t>
            </a:r>
            <a:endParaRPr sz="1300">
              <a:latin typeface="Century Gothic"/>
              <a:cs typeface="Century Gothic"/>
            </a:endParaRPr>
          </a:p>
        </p:txBody>
      </p:sp>
      <p:pic>
        <p:nvPicPr>
          <p:cNvPr id="9" name="object 9"/>
          <p:cNvPicPr/>
          <p:nvPr/>
        </p:nvPicPr>
        <p:blipFill>
          <a:blip r:embed="rId5" cstate="print"/>
          <a:stretch>
            <a:fillRect/>
          </a:stretch>
        </p:blipFill>
        <p:spPr>
          <a:xfrm>
            <a:off x="590188" y="3634800"/>
            <a:ext cx="169835" cy="176714"/>
          </a:xfrm>
          <a:prstGeom prst="rect">
            <a:avLst/>
          </a:prstGeom>
        </p:spPr>
      </p:pic>
      <p:sp>
        <p:nvSpPr>
          <p:cNvPr id="10" name="object 10"/>
          <p:cNvSpPr/>
          <p:nvPr/>
        </p:nvSpPr>
        <p:spPr>
          <a:xfrm>
            <a:off x="590550" y="3886200"/>
            <a:ext cx="5038725" cy="19050"/>
          </a:xfrm>
          <a:custGeom>
            <a:avLst/>
            <a:gdLst/>
            <a:ahLst/>
            <a:cxnLst/>
            <a:rect l="l" t="t" r="r" b="b"/>
            <a:pathLst>
              <a:path w="5038725" h="19050">
                <a:moveTo>
                  <a:pt x="5038725" y="0"/>
                </a:moveTo>
                <a:lnTo>
                  <a:pt x="0" y="0"/>
                </a:lnTo>
                <a:lnTo>
                  <a:pt x="0" y="19050"/>
                </a:lnTo>
                <a:lnTo>
                  <a:pt x="5038725" y="19050"/>
                </a:lnTo>
                <a:lnTo>
                  <a:pt x="5038725" y="0"/>
                </a:lnTo>
                <a:close/>
              </a:path>
            </a:pathLst>
          </a:custGeom>
          <a:solidFill>
            <a:srgbClr val="DA1B2D"/>
          </a:solidFill>
        </p:spPr>
        <p:txBody>
          <a:bodyPr wrap="square" lIns="0" tIns="0" rIns="0" bIns="0" rtlCol="0"/>
          <a:lstStyle/>
          <a:p>
            <a:endParaRPr/>
          </a:p>
        </p:txBody>
      </p:sp>
      <p:sp>
        <p:nvSpPr>
          <p:cNvPr id="11" name="object 11"/>
          <p:cNvSpPr txBox="1"/>
          <p:nvPr/>
        </p:nvSpPr>
        <p:spPr>
          <a:xfrm>
            <a:off x="579635" y="3954975"/>
            <a:ext cx="5000625" cy="558800"/>
          </a:xfrm>
          <a:prstGeom prst="rect">
            <a:avLst/>
          </a:prstGeom>
        </p:spPr>
        <p:txBody>
          <a:bodyPr vert="horz" wrap="square" lIns="0" tIns="11430" rIns="0" bIns="0" rtlCol="0">
            <a:spAutoFit/>
          </a:bodyPr>
          <a:lstStyle/>
          <a:p>
            <a:pPr marL="12700" marR="5080">
              <a:lnSpc>
                <a:spcPct val="134600"/>
              </a:lnSpc>
              <a:spcBef>
                <a:spcPts val="90"/>
              </a:spcBef>
            </a:pPr>
            <a:r>
              <a:rPr sz="1300" dirty="0">
                <a:solidFill>
                  <a:srgbClr val="3A3535"/>
                </a:solidFill>
                <a:latin typeface="Century Gothic"/>
                <a:cs typeface="Century Gothic"/>
              </a:rPr>
              <a:t>One</a:t>
            </a:r>
            <a:r>
              <a:rPr sz="1300" spc="35" dirty="0">
                <a:solidFill>
                  <a:srgbClr val="3A3535"/>
                </a:solidFill>
                <a:latin typeface="Century Gothic"/>
                <a:cs typeface="Century Gothic"/>
              </a:rPr>
              <a:t> </a:t>
            </a:r>
            <a:r>
              <a:rPr sz="1300" spc="80" dirty="0">
                <a:solidFill>
                  <a:srgbClr val="3A3535"/>
                </a:solidFill>
                <a:latin typeface="Century Gothic"/>
                <a:cs typeface="Century Gothic"/>
              </a:rPr>
              <a:t>structure</a:t>
            </a:r>
            <a:r>
              <a:rPr sz="1300" spc="40" dirty="0">
                <a:solidFill>
                  <a:srgbClr val="3A3535"/>
                </a:solidFill>
                <a:latin typeface="Century Gothic"/>
                <a:cs typeface="Century Gothic"/>
              </a:rPr>
              <a:t> </a:t>
            </a:r>
            <a:r>
              <a:rPr sz="1300" spc="65" dirty="0">
                <a:solidFill>
                  <a:srgbClr val="3A3535"/>
                </a:solidFill>
                <a:latin typeface="Century Gothic"/>
                <a:cs typeface="Century Gothic"/>
              </a:rPr>
              <a:t>across</a:t>
            </a:r>
            <a:r>
              <a:rPr sz="1300" spc="35" dirty="0">
                <a:solidFill>
                  <a:srgbClr val="3A3535"/>
                </a:solidFill>
                <a:latin typeface="Century Gothic"/>
                <a:cs typeface="Century Gothic"/>
              </a:rPr>
              <a:t> </a:t>
            </a:r>
            <a:r>
              <a:rPr sz="1300" dirty="0">
                <a:solidFill>
                  <a:srgbClr val="3A3535"/>
                </a:solidFill>
                <a:latin typeface="Century Gothic"/>
                <a:cs typeface="Century Gothic"/>
              </a:rPr>
              <a:t>content,</a:t>
            </a:r>
            <a:r>
              <a:rPr sz="1300" spc="40" dirty="0">
                <a:solidFill>
                  <a:srgbClr val="3A3535"/>
                </a:solidFill>
                <a:latin typeface="Century Gothic"/>
                <a:cs typeface="Century Gothic"/>
              </a:rPr>
              <a:t> </a:t>
            </a:r>
            <a:r>
              <a:rPr sz="1300" spc="-30" dirty="0">
                <a:solidFill>
                  <a:srgbClr val="3A3535"/>
                </a:solidFill>
                <a:latin typeface="Century Gothic"/>
                <a:cs typeface="Century Gothic"/>
              </a:rPr>
              <a:t>data,</a:t>
            </a:r>
            <a:r>
              <a:rPr sz="1300" spc="35" dirty="0">
                <a:solidFill>
                  <a:srgbClr val="3A3535"/>
                </a:solidFill>
                <a:latin typeface="Century Gothic"/>
                <a:cs typeface="Century Gothic"/>
              </a:rPr>
              <a:t> </a:t>
            </a:r>
            <a:r>
              <a:rPr sz="1300" spc="65" dirty="0">
                <a:solidFill>
                  <a:srgbClr val="3A3535"/>
                </a:solidFill>
                <a:latin typeface="Century Gothic"/>
                <a:cs typeface="Century Gothic"/>
              </a:rPr>
              <a:t>workflows,</a:t>
            </a:r>
            <a:r>
              <a:rPr sz="1300" spc="40" dirty="0">
                <a:solidFill>
                  <a:srgbClr val="3A3535"/>
                </a:solidFill>
                <a:latin typeface="Century Gothic"/>
                <a:cs typeface="Century Gothic"/>
              </a:rPr>
              <a:t> </a:t>
            </a:r>
            <a:r>
              <a:rPr sz="1300" dirty="0">
                <a:solidFill>
                  <a:srgbClr val="3A3535"/>
                </a:solidFill>
                <a:latin typeface="Century Gothic"/>
                <a:cs typeface="Century Gothic"/>
              </a:rPr>
              <a:t>mobile,</a:t>
            </a:r>
            <a:r>
              <a:rPr sz="1300" spc="40" dirty="0">
                <a:solidFill>
                  <a:srgbClr val="3A3535"/>
                </a:solidFill>
                <a:latin typeface="Century Gothic"/>
                <a:cs typeface="Century Gothic"/>
              </a:rPr>
              <a:t> </a:t>
            </a:r>
            <a:r>
              <a:rPr sz="1300" spc="-25" dirty="0">
                <a:solidFill>
                  <a:srgbClr val="3A3535"/>
                </a:solidFill>
                <a:latin typeface="Century Gothic"/>
                <a:cs typeface="Century Gothic"/>
              </a:rPr>
              <a:t>and </a:t>
            </a:r>
            <a:r>
              <a:rPr sz="1300" spc="40" dirty="0">
                <a:solidFill>
                  <a:srgbClr val="3A3535"/>
                </a:solidFill>
                <a:latin typeface="Century Gothic"/>
                <a:cs typeface="Century Gothic"/>
              </a:rPr>
              <a:t>AI</a:t>
            </a:r>
            <a:endParaRPr sz="1300">
              <a:latin typeface="Century Gothic"/>
              <a:cs typeface="Century Gothic"/>
            </a:endParaRPr>
          </a:p>
        </p:txBody>
      </p:sp>
      <p:grpSp>
        <p:nvGrpSpPr>
          <p:cNvPr id="12" name="object 12"/>
          <p:cNvGrpSpPr/>
          <p:nvPr/>
        </p:nvGrpSpPr>
        <p:grpSpPr>
          <a:xfrm>
            <a:off x="5822924" y="3634802"/>
            <a:ext cx="125095" cy="173355"/>
            <a:chOff x="5822924" y="3634802"/>
            <a:chExt cx="125095" cy="173355"/>
          </a:xfrm>
        </p:grpSpPr>
        <p:sp>
          <p:nvSpPr>
            <p:cNvPr id="13" name="object 13"/>
            <p:cNvSpPr/>
            <p:nvPr/>
          </p:nvSpPr>
          <p:spPr>
            <a:xfrm>
              <a:off x="5849556" y="3680256"/>
              <a:ext cx="36830" cy="36830"/>
            </a:xfrm>
            <a:custGeom>
              <a:avLst/>
              <a:gdLst/>
              <a:ahLst/>
              <a:cxnLst/>
              <a:rect l="l" t="t" r="r" b="b"/>
              <a:pathLst>
                <a:path w="36829" h="36829">
                  <a:moveTo>
                    <a:pt x="0" y="36258"/>
                  </a:moveTo>
                  <a:lnTo>
                    <a:pt x="36309" y="0"/>
                  </a:lnTo>
                </a:path>
              </a:pathLst>
            </a:custGeom>
            <a:ln w="7494">
              <a:solidFill>
                <a:srgbClr val="3A3535"/>
              </a:solidFill>
            </a:ln>
          </p:spPr>
          <p:txBody>
            <a:bodyPr wrap="square" lIns="0" tIns="0" rIns="0" bIns="0" rtlCol="0"/>
            <a:lstStyle/>
            <a:p>
              <a:endParaRPr/>
            </a:p>
          </p:txBody>
        </p:sp>
        <p:sp>
          <p:nvSpPr>
            <p:cNvPr id="14" name="object 14"/>
            <p:cNvSpPr/>
            <p:nvPr/>
          </p:nvSpPr>
          <p:spPr>
            <a:xfrm>
              <a:off x="5885751" y="3680256"/>
              <a:ext cx="635" cy="127635"/>
            </a:xfrm>
            <a:custGeom>
              <a:avLst/>
              <a:gdLst/>
              <a:ahLst/>
              <a:cxnLst/>
              <a:rect l="l" t="t" r="r" b="b"/>
              <a:pathLst>
                <a:path w="635" h="127635">
                  <a:moveTo>
                    <a:pt x="0" y="127508"/>
                  </a:moveTo>
                  <a:lnTo>
                    <a:pt x="114" y="0"/>
                  </a:lnTo>
                </a:path>
              </a:pathLst>
            </a:custGeom>
            <a:ln w="7494">
              <a:solidFill>
                <a:srgbClr val="3A3535"/>
              </a:solidFill>
            </a:ln>
          </p:spPr>
          <p:txBody>
            <a:bodyPr wrap="square" lIns="0" tIns="0" rIns="0" bIns="0" rtlCol="0"/>
            <a:lstStyle/>
            <a:p>
              <a:endParaRPr/>
            </a:p>
          </p:txBody>
        </p:sp>
        <p:sp>
          <p:nvSpPr>
            <p:cNvPr id="15" name="object 15"/>
            <p:cNvSpPr/>
            <p:nvPr/>
          </p:nvSpPr>
          <p:spPr>
            <a:xfrm>
              <a:off x="5885865" y="3680256"/>
              <a:ext cx="36830" cy="37465"/>
            </a:xfrm>
            <a:custGeom>
              <a:avLst/>
              <a:gdLst/>
              <a:ahLst/>
              <a:cxnLst/>
              <a:rect l="l" t="t" r="r" b="b"/>
              <a:pathLst>
                <a:path w="36829" h="37464">
                  <a:moveTo>
                    <a:pt x="36525" y="36906"/>
                  </a:moveTo>
                  <a:lnTo>
                    <a:pt x="0" y="0"/>
                  </a:lnTo>
                </a:path>
              </a:pathLst>
            </a:custGeom>
            <a:ln w="7494">
              <a:solidFill>
                <a:srgbClr val="3A3535"/>
              </a:solidFill>
            </a:ln>
          </p:spPr>
          <p:txBody>
            <a:bodyPr wrap="square" lIns="0" tIns="0" rIns="0" bIns="0" rtlCol="0"/>
            <a:lstStyle/>
            <a:p>
              <a:endParaRPr/>
            </a:p>
          </p:txBody>
        </p:sp>
        <p:sp>
          <p:nvSpPr>
            <p:cNvPr id="16" name="object 16"/>
            <p:cNvSpPr/>
            <p:nvPr/>
          </p:nvSpPr>
          <p:spPr>
            <a:xfrm>
              <a:off x="5826671" y="3638549"/>
              <a:ext cx="59690" cy="59055"/>
            </a:xfrm>
            <a:custGeom>
              <a:avLst/>
              <a:gdLst/>
              <a:ahLst/>
              <a:cxnLst/>
              <a:rect l="l" t="t" r="r" b="b"/>
              <a:pathLst>
                <a:path w="59689" h="59054">
                  <a:moveTo>
                    <a:pt x="0" y="58889"/>
                  </a:moveTo>
                  <a:lnTo>
                    <a:pt x="59232" y="0"/>
                  </a:lnTo>
                </a:path>
              </a:pathLst>
            </a:custGeom>
            <a:ln w="7494">
              <a:solidFill>
                <a:srgbClr val="3A3535"/>
              </a:solidFill>
            </a:ln>
          </p:spPr>
          <p:txBody>
            <a:bodyPr wrap="square" lIns="0" tIns="0" rIns="0" bIns="0" rtlCol="0"/>
            <a:lstStyle/>
            <a:p>
              <a:endParaRPr/>
            </a:p>
          </p:txBody>
        </p:sp>
        <p:sp>
          <p:nvSpPr>
            <p:cNvPr id="17" name="object 17"/>
            <p:cNvSpPr/>
            <p:nvPr/>
          </p:nvSpPr>
          <p:spPr>
            <a:xfrm>
              <a:off x="5885903" y="3638549"/>
              <a:ext cx="58419" cy="58419"/>
            </a:xfrm>
            <a:custGeom>
              <a:avLst/>
              <a:gdLst/>
              <a:ahLst/>
              <a:cxnLst/>
              <a:rect l="l" t="t" r="r" b="b"/>
              <a:pathLst>
                <a:path w="58420" h="58420">
                  <a:moveTo>
                    <a:pt x="58089" y="57835"/>
                  </a:moveTo>
                  <a:lnTo>
                    <a:pt x="0" y="0"/>
                  </a:lnTo>
                </a:path>
              </a:pathLst>
            </a:custGeom>
            <a:ln w="7494">
              <a:solidFill>
                <a:srgbClr val="3A3535"/>
              </a:solidFill>
            </a:ln>
          </p:spPr>
          <p:txBody>
            <a:bodyPr wrap="square" lIns="0" tIns="0" rIns="0" bIns="0" rtlCol="0"/>
            <a:lstStyle/>
            <a:p>
              <a:endParaRPr/>
            </a:p>
          </p:txBody>
        </p:sp>
      </p:grpSp>
      <p:sp>
        <p:nvSpPr>
          <p:cNvPr id="18" name="object 18"/>
          <p:cNvSpPr/>
          <p:nvPr/>
        </p:nvSpPr>
        <p:spPr>
          <a:xfrm>
            <a:off x="5800725" y="3886200"/>
            <a:ext cx="5038725" cy="19050"/>
          </a:xfrm>
          <a:custGeom>
            <a:avLst/>
            <a:gdLst/>
            <a:ahLst/>
            <a:cxnLst/>
            <a:rect l="l" t="t" r="r" b="b"/>
            <a:pathLst>
              <a:path w="5038725" h="19050">
                <a:moveTo>
                  <a:pt x="5038725" y="0"/>
                </a:moveTo>
                <a:lnTo>
                  <a:pt x="0" y="0"/>
                </a:lnTo>
                <a:lnTo>
                  <a:pt x="0" y="19050"/>
                </a:lnTo>
                <a:lnTo>
                  <a:pt x="5038725" y="19050"/>
                </a:lnTo>
                <a:lnTo>
                  <a:pt x="5038725" y="0"/>
                </a:lnTo>
                <a:close/>
              </a:path>
            </a:pathLst>
          </a:custGeom>
          <a:solidFill>
            <a:srgbClr val="DA1B2D"/>
          </a:solidFill>
        </p:spPr>
        <p:txBody>
          <a:bodyPr wrap="square" lIns="0" tIns="0" rIns="0" bIns="0" rtlCol="0"/>
          <a:lstStyle/>
          <a:p>
            <a:endParaRPr/>
          </a:p>
        </p:txBody>
      </p:sp>
      <p:sp>
        <p:nvSpPr>
          <p:cNvPr id="19" name="object 19"/>
          <p:cNvSpPr txBox="1"/>
          <p:nvPr/>
        </p:nvSpPr>
        <p:spPr>
          <a:xfrm>
            <a:off x="5786831" y="3954975"/>
            <a:ext cx="5061585" cy="558800"/>
          </a:xfrm>
          <a:prstGeom prst="rect">
            <a:avLst/>
          </a:prstGeom>
        </p:spPr>
        <p:txBody>
          <a:bodyPr vert="horz" wrap="square" lIns="0" tIns="11430" rIns="0" bIns="0" rtlCol="0">
            <a:spAutoFit/>
          </a:bodyPr>
          <a:lstStyle/>
          <a:p>
            <a:pPr marL="12700" marR="5080">
              <a:lnSpc>
                <a:spcPct val="134600"/>
              </a:lnSpc>
              <a:spcBef>
                <a:spcPts val="90"/>
              </a:spcBef>
            </a:pPr>
            <a:r>
              <a:rPr sz="1300" spc="80" dirty="0">
                <a:solidFill>
                  <a:srgbClr val="3A3535"/>
                </a:solidFill>
                <a:latin typeface="Century Gothic"/>
                <a:cs typeface="Century Gothic"/>
              </a:rPr>
              <a:t>SelfHelp</a:t>
            </a:r>
            <a:r>
              <a:rPr sz="1300" spc="-10" dirty="0">
                <a:solidFill>
                  <a:srgbClr val="3A3535"/>
                </a:solidFill>
                <a:latin typeface="Century Gothic"/>
                <a:cs typeface="Century Gothic"/>
              </a:rPr>
              <a:t> </a:t>
            </a:r>
            <a:r>
              <a:rPr sz="1300" spc="85" dirty="0">
                <a:solidFill>
                  <a:srgbClr val="3A3535"/>
                </a:solidFill>
                <a:latin typeface="Century Gothic"/>
                <a:cs typeface="Century Gothic"/>
              </a:rPr>
              <a:t>2</a:t>
            </a:r>
            <a:r>
              <a:rPr sz="1300" spc="-5" dirty="0">
                <a:solidFill>
                  <a:srgbClr val="3A3535"/>
                </a:solidFill>
                <a:latin typeface="Century Gothic"/>
                <a:cs typeface="Century Gothic"/>
              </a:rPr>
              <a:t> </a:t>
            </a:r>
            <a:r>
              <a:rPr sz="1300" spc="-45" dirty="0">
                <a:solidFill>
                  <a:srgbClr val="3A3535"/>
                </a:solidFill>
                <a:latin typeface="Century Gothic"/>
                <a:cs typeface="Century Gothic"/>
              </a:rPr>
              <a:t>can</a:t>
            </a:r>
            <a:r>
              <a:rPr sz="1300" spc="-10" dirty="0">
                <a:solidFill>
                  <a:srgbClr val="3A3535"/>
                </a:solidFill>
                <a:latin typeface="Century Gothic"/>
                <a:cs typeface="Century Gothic"/>
              </a:rPr>
              <a:t> make</a:t>
            </a:r>
            <a:r>
              <a:rPr sz="1300" spc="-5" dirty="0">
                <a:solidFill>
                  <a:srgbClr val="3A3535"/>
                </a:solidFill>
                <a:latin typeface="Century Gothic"/>
                <a:cs typeface="Century Gothic"/>
              </a:rPr>
              <a:t> </a:t>
            </a:r>
            <a:r>
              <a:rPr sz="1300" dirty="0">
                <a:solidFill>
                  <a:srgbClr val="3A3535"/>
                </a:solidFill>
                <a:latin typeface="Century Gothic"/>
                <a:cs typeface="Century Gothic"/>
              </a:rPr>
              <a:t>the</a:t>
            </a:r>
            <a:r>
              <a:rPr sz="1300" spc="-5" dirty="0">
                <a:solidFill>
                  <a:srgbClr val="3A3535"/>
                </a:solidFill>
                <a:latin typeface="Century Gothic"/>
                <a:cs typeface="Century Gothic"/>
              </a:rPr>
              <a:t> </a:t>
            </a:r>
            <a:r>
              <a:rPr sz="1300" spc="50" dirty="0">
                <a:solidFill>
                  <a:srgbClr val="3A3535"/>
                </a:solidFill>
                <a:latin typeface="Century Gothic"/>
                <a:cs typeface="Century Gothic"/>
              </a:rPr>
              <a:t>platform</a:t>
            </a:r>
            <a:r>
              <a:rPr sz="1300" spc="-10" dirty="0">
                <a:solidFill>
                  <a:srgbClr val="3A3535"/>
                </a:solidFill>
                <a:latin typeface="Century Gothic"/>
                <a:cs typeface="Century Gothic"/>
              </a:rPr>
              <a:t> even</a:t>
            </a:r>
            <a:r>
              <a:rPr sz="1300" spc="-5" dirty="0">
                <a:solidFill>
                  <a:srgbClr val="3A3535"/>
                </a:solidFill>
                <a:latin typeface="Century Gothic"/>
                <a:cs typeface="Century Gothic"/>
              </a:rPr>
              <a:t> </a:t>
            </a:r>
            <a:r>
              <a:rPr sz="1300" dirty="0">
                <a:solidFill>
                  <a:srgbClr val="3A3535"/>
                </a:solidFill>
                <a:latin typeface="Century Gothic"/>
                <a:cs typeface="Century Gothic"/>
              </a:rPr>
              <a:t>more</a:t>
            </a:r>
            <a:r>
              <a:rPr sz="1300" spc="-5" dirty="0">
                <a:solidFill>
                  <a:srgbClr val="3A3535"/>
                </a:solidFill>
                <a:latin typeface="Century Gothic"/>
                <a:cs typeface="Century Gothic"/>
              </a:rPr>
              <a:t> </a:t>
            </a:r>
            <a:r>
              <a:rPr sz="1300" spc="70" dirty="0">
                <a:solidFill>
                  <a:srgbClr val="3A3535"/>
                </a:solidFill>
                <a:latin typeface="Century Gothic"/>
                <a:cs typeface="Century Gothic"/>
              </a:rPr>
              <a:t>structured</a:t>
            </a:r>
            <a:r>
              <a:rPr sz="1300" spc="-10" dirty="0">
                <a:solidFill>
                  <a:srgbClr val="3A3535"/>
                </a:solidFill>
                <a:latin typeface="Century Gothic"/>
                <a:cs typeface="Century Gothic"/>
              </a:rPr>
              <a:t> </a:t>
            </a:r>
            <a:r>
              <a:rPr sz="1300" spc="-25" dirty="0">
                <a:solidFill>
                  <a:srgbClr val="3A3535"/>
                </a:solidFill>
                <a:latin typeface="Century Gothic"/>
                <a:cs typeface="Century Gothic"/>
              </a:rPr>
              <a:t>and </a:t>
            </a:r>
            <a:r>
              <a:rPr sz="1300" dirty="0">
                <a:solidFill>
                  <a:srgbClr val="3A3535"/>
                </a:solidFill>
                <a:latin typeface="Century Gothic"/>
                <a:cs typeface="Century Gothic"/>
              </a:rPr>
              <a:t>easier</a:t>
            </a:r>
            <a:r>
              <a:rPr sz="1300" spc="80" dirty="0">
                <a:solidFill>
                  <a:srgbClr val="3A3535"/>
                </a:solidFill>
                <a:latin typeface="Century Gothic"/>
                <a:cs typeface="Century Gothic"/>
              </a:rPr>
              <a:t> </a:t>
            </a:r>
            <a:r>
              <a:rPr sz="1300" spc="70" dirty="0">
                <a:solidFill>
                  <a:srgbClr val="3A3535"/>
                </a:solidFill>
                <a:latin typeface="Century Gothic"/>
                <a:cs typeface="Century Gothic"/>
              </a:rPr>
              <a:t>to</a:t>
            </a:r>
            <a:r>
              <a:rPr sz="1300" spc="85" dirty="0">
                <a:solidFill>
                  <a:srgbClr val="3A3535"/>
                </a:solidFill>
                <a:latin typeface="Century Gothic"/>
                <a:cs typeface="Century Gothic"/>
              </a:rPr>
              <a:t> </a:t>
            </a:r>
            <a:r>
              <a:rPr sz="1300" spc="-10" dirty="0">
                <a:solidFill>
                  <a:srgbClr val="3A3535"/>
                </a:solidFill>
                <a:latin typeface="Century Gothic"/>
                <a:cs typeface="Century Gothic"/>
              </a:rPr>
              <a:t>extend</a:t>
            </a:r>
            <a:endParaRPr sz="1300">
              <a:latin typeface="Century Gothic"/>
              <a:cs typeface="Century Gothic"/>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4534598" y="1526296"/>
            <a:ext cx="2361565" cy="1149985"/>
          </a:xfrm>
          <a:prstGeom prst="rect">
            <a:avLst/>
          </a:prstGeom>
        </p:spPr>
        <p:txBody>
          <a:bodyPr vert="horz" wrap="square" lIns="0" tIns="181610" rIns="0" bIns="0" rtlCol="0">
            <a:spAutoFit/>
          </a:bodyPr>
          <a:lstStyle/>
          <a:p>
            <a:pPr algn="ctr">
              <a:lnSpc>
                <a:spcPct val="100000"/>
              </a:lnSpc>
              <a:spcBef>
                <a:spcPts val="1430"/>
              </a:spcBef>
            </a:pPr>
            <a:r>
              <a:rPr spc="-250" dirty="0"/>
              <a:t>Thank</a:t>
            </a:r>
            <a:r>
              <a:rPr spc="-395" dirty="0"/>
              <a:t> </a:t>
            </a:r>
            <a:r>
              <a:rPr spc="-280" dirty="0"/>
              <a:t>You</a:t>
            </a:r>
          </a:p>
          <a:p>
            <a:pPr algn="ctr">
              <a:lnSpc>
                <a:spcPct val="100000"/>
              </a:lnSpc>
              <a:spcBef>
                <a:spcPts val="800"/>
              </a:spcBef>
            </a:pPr>
            <a:r>
              <a:rPr sz="2100" spc="-10" dirty="0"/>
              <a:t>Questions?</a:t>
            </a:r>
            <a:endParaRPr sz="2100"/>
          </a:p>
        </p:txBody>
      </p:sp>
      <p:sp>
        <p:nvSpPr>
          <p:cNvPr id="3" name="object 3"/>
          <p:cNvSpPr txBox="1"/>
          <p:nvPr/>
        </p:nvSpPr>
        <p:spPr>
          <a:xfrm>
            <a:off x="4529683" y="4490618"/>
            <a:ext cx="2371725" cy="187960"/>
          </a:xfrm>
          <a:prstGeom prst="rect">
            <a:avLst/>
          </a:prstGeom>
        </p:spPr>
        <p:txBody>
          <a:bodyPr vert="horz" wrap="square" lIns="0" tIns="14604" rIns="0" bIns="0" rtlCol="0">
            <a:spAutoFit/>
          </a:bodyPr>
          <a:lstStyle/>
          <a:p>
            <a:pPr marL="12700">
              <a:lnSpc>
                <a:spcPct val="100000"/>
              </a:lnSpc>
              <a:spcBef>
                <a:spcPts val="114"/>
              </a:spcBef>
            </a:pPr>
            <a:r>
              <a:rPr sz="1050" dirty="0">
                <a:solidFill>
                  <a:srgbClr val="3A3535"/>
                </a:solidFill>
                <a:latin typeface="Century Gothic"/>
                <a:cs typeface="Century Gothic"/>
              </a:rPr>
              <a:t>Stefan</a:t>
            </a:r>
            <a:r>
              <a:rPr sz="1050" spc="80" dirty="0">
                <a:solidFill>
                  <a:srgbClr val="3A3535"/>
                </a:solidFill>
                <a:latin typeface="Century Gothic"/>
                <a:cs typeface="Century Gothic"/>
              </a:rPr>
              <a:t> </a:t>
            </a:r>
            <a:r>
              <a:rPr sz="1050" dirty="0">
                <a:solidFill>
                  <a:srgbClr val="3A3535"/>
                </a:solidFill>
                <a:latin typeface="Century Gothic"/>
                <a:cs typeface="Century Gothic"/>
              </a:rPr>
              <a:t>Kodzhabashev</a:t>
            </a:r>
            <a:r>
              <a:rPr sz="1050" spc="85" dirty="0">
                <a:solidFill>
                  <a:srgbClr val="3A3535"/>
                </a:solidFill>
                <a:latin typeface="Century Gothic"/>
                <a:cs typeface="Century Gothic"/>
              </a:rPr>
              <a:t> </a:t>
            </a:r>
            <a:r>
              <a:rPr sz="1050" spc="-85" dirty="0">
                <a:solidFill>
                  <a:srgbClr val="3A3535"/>
                </a:solidFill>
                <a:latin typeface="Century Gothic"/>
                <a:cs typeface="Century Gothic"/>
              </a:rPr>
              <a:t>·</a:t>
            </a:r>
            <a:r>
              <a:rPr sz="1050" spc="85" dirty="0">
                <a:solidFill>
                  <a:srgbClr val="3A3535"/>
                </a:solidFill>
                <a:latin typeface="Century Gothic"/>
                <a:cs typeface="Century Gothic"/>
              </a:rPr>
              <a:t> </a:t>
            </a:r>
            <a:r>
              <a:rPr sz="1050" spc="75" dirty="0">
                <a:solidFill>
                  <a:srgbClr val="3A3535"/>
                </a:solidFill>
                <a:latin typeface="Century Gothic"/>
                <a:cs typeface="Century Gothic"/>
              </a:rPr>
              <a:t>30.03.2026</a:t>
            </a:r>
            <a:endParaRPr sz="1050">
              <a:latin typeface="Century Gothic"/>
              <a:cs typeface="Century Gothic"/>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13</TotalTime>
  <Words>1908</Words>
  <Application>Microsoft Office PowerPoint</Application>
  <PresentationFormat>Custom</PresentationFormat>
  <Paragraphs>222</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Calibri</vt:lpstr>
      <vt:lpstr>Century Gothic</vt:lpstr>
      <vt:lpstr>Segoe UI Symbol</vt:lpstr>
      <vt:lpstr>Verdana</vt:lpstr>
      <vt:lpstr>Office Theme</vt:lpstr>
      <vt:lpstr>SelfHelp</vt:lpstr>
      <vt:lpstr>What SelfHelp Is</vt:lpstr>
      <vt:lpstr>How SelfHelp Evolved</vt:lpstr>
      <vt:lpstr>What Teams Can Do With It</vt:lpstr>
      <vt:lpstr>How SelfHelp Expands</vt:lpstr>
      <vt:lpstr>Plugin 1: SurveyJS</vt:lpstr>
      <vt:lpstr>Plugin 2: LLM</vt:lpstr>
      <vt:lpstr>Plugin 3: LLM Therapy Chat</vt:lpstr>
      <vt:lpstr>Mobile App</vt:lpstr>
      <vt:lpstr>How SelfHelp Compares</vt:lpstr>
      <vt:lpstr>Why Use SelfHelp</vt:lpstr>
      <vt:lpstr>Thank You 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Kodzhabashev, Stefan Tiholov (HUMDEK)</cp:lastModifiedBy>
  <cp:revision>3</cp:revision>
  <dcterms:created xsi:type="dcterms:W3CDTF">2026-03-24T15:22:41Z</dcterms:created>
  <dcterms:modified xsi:type="dcterms:W3CDTF">2026-03-24T15:45:48Z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2026-03-24T00:00:00Z</vt:filetime>
  </property>
  <property fmtid="{D5CDD505-2E9C-101B-9397-08002B2CF9AE}" pid="3" name="Creator">
    <vt:lpwstr>pdf-lib (https://github.com/Hopding/pdf-lib)</vt:lpwstr>
  </property>
  <property fmtid="{D5CDD505-2E9C-101B-9397-08002B2CF9AE}" pid="4" name="LastSaved">
    <vt:filetime>2026-03-24T00:00:00Z</vt:filetime>
  </property>
  <property fmtid="{D5CDD505-2E9C-101B-9397-08002B2CF9AE}" pid="5" name="Producer">
    <vt:lpwstr>GPL Ghostscript 9.56.1</vt:lpwstr>
  </property>
</Properties>
</file>