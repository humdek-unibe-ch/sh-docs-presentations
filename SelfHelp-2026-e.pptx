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1430000" cy="6445250"/>
  <p:notesSz cx="11430000" cy="64452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30897" autoAdjust="0"/>
  </p:normalViewPr>
  <p:slideViewPr>
    <p:cSldViewPr>
      <p:cViewPr varScale="1">
        <p:scale>
          <a:sx n="30" d="100"/>
          <a:sy n="30" d="100"/>
        </p:scale>
        <p:origin x="3148" y="28"/>
      </p:cViewPr>
      <p:guideLst>
        <p:guide orient="horz" pos="2880"/>
        <p:guide pos="2160"/>
      </p:guideLst>
    </p:cSldViewPr>
  </p:slideViewPr>
  <p:notesTextViewPr>
    <p:cViewPr>
      <p:scale>
        <a:sx n="100" d="100"/>
        <a:sy n="100" d="100"/>
      </p:scale>
      <p:origin x="0" y="-676"/>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3444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Hallo everyone, for those who does not know me, my name is Stefan Kodzhabashev, I am research software engineer and I work in TPF.</a:t>
            </a:r>
          </a:p>
          <a:p>
            <a:endParaRPr lang="en-US" dirty="0"/>
          </a:p>
          <a:p>
            <a:r>
              <a:rPr lang="en-US" dirty="0"/>
              <a:t>Some of you may remember that I already gave a presentation about </a:t>
            </a:r>
            <a:r>
              <a:rPr lang="en-US" dirty="0" err="1"/>
              <a:t>SelfHelp</a:t>
            </a:r>
            <a:r>
              <a:rPr lang="en-US" dirty="0"/>
              <a:t> some years ago, back in 2021.</a:t>
            </a:r>
          </a:p>
          <a:p>
            <a:endParaRPr lang="en-US" dirty="0"/>
          </a:p>
          <a:p>
            <a:r>
              <a:rPr lang="en-US" dirty="0"/>
              <a:t>At that time, the system was much simpler. It was mainly a website builder. Today, I want to show you how it changed, and what it can do now.</a:t>
            </a:r>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 what is </a:t>
            </a:r>
            <a:r>
              <a:rPr lang="en-US" b="1" dirty="0" err="1"/>
              <a:t>SelfHelp</a:t>
            </a:r>
            <a:r>
              <a:rPr lang="en-US" dirty="0"/>
              <a:t> today?</a:t>
            </a:r>
          </a:p>
          <a:p>
            <a:r>
              <a:rPr lang="en-US" dirty="0"/>
              <a:t>I would no longer describe it as just a website builder.</a:t>
            </a:r>
            <a:br>
              <a:rPr lang="en-US" dirty="0"/>
            </a:br>
            <a:r>
              <a:rPr lang="en-US" dirty="0"/>
              <a:t>Instead, it is a platform that connects different digital tools into a single solution.</a:t>
            </a:r>
          </a:p>
          <a:p>
            <a:r>
              <a:rPr lang="en-US" dirty="0"/>
              <a:t>In many projects, systems are fragmented:</a:t>
            </a:r>
          </a:p>
          <a:p>
            <a:r>
              <a:rPr lang="en-US" dirty="0"/>
              <a:t>Data is stored in one place </a:t>
            </a:r>
          </a:p>
          <a:p>
            <a:r>
              <a:rPr lang="en-US" dirty="0"/>
              <a:t>Content is managed in another </a:t>
            </a:r>
          </a:p>
          <a:p>
            <a:r>
              <a:rPr lang="en-US" dirty="0"/>
              <a:t>Scheduling or randomization happens somewhere else </a:t>
            </a:r>
          </a:p>
          <a:p>
            <a:r>
              <a:rPr lang="en-US" dirty="0"/>
              <a:t>And mobile applications are handled separately </a:t>
            </a:r>
          </a:p>
          <a:p>
            <a:r>
              <a:rPr lang="en-US" dirty="0"/>
              <a:t>As a result, everything becomes distributed and harder to manage.</a:t>
            </a:r>
          </a:p>
          <a:p>
            <a:r>
              <a:rPr lang="en-US" dirty="0" err="1"/>
              <a:t>SelfHelp</a:t>
            </a:r>
            <a:r>
              <a:rPr lang="en-US" dirty="0"/>
              <a:t> addresses this by bringing all these components together.</a:t>
            </a:r>
          </a:p>
          <a:p>
            <a:r>
              <a:rPr lang="en-US" dirty="0"/>
              <a:t>It connects:</a:t>
            </a:r>
          </a:p>
          <a:p>
            <a:r>
              <a:rPr lang="en-US" dirty="0"/>
              <a:t>Content </a:t>
            </a:r>
          </a:p>
          <a:p>
            <a:r>
              <a:rPr lang="en-US" dirty="0"/>
              <a:t>Data </a:t>
            </a:r>
          </a:p>
          <a:p>
            <a:r>
              <a:rPr lang="en-US" dirty="0"/>
              <a:t>Workflows </a:t>
            </a:r>
          </a:p>
          <a:p>
            <a:r>
              <a:rPr lang="en-US" dirty="0"/>
              <a:t>Communication </a:t>
            </a:r>
          </a:p>
          <a:p>
            <a:r>
              <a:rPr lang="en-US" dirty="0"/>
              <a:t>And mobile usage </a:t>
            </a:r>
          </a:p>
          <a:p>
            <a:r>
              <a:rPr lang="en-US" dirty="0"/>
              <a:t>—all within one unified environment.</a:t>
            </a:r>
          </a:p>
          <a:p>
            <a:r>
              <a:rPr lang="en-US" dirty="0"/>
              <a:t>Another important aspect is that the system can be installed locally within the university infrastructure.</a:t>
            </a:r>
            <a:br>
              <a:rPr lang="en-US" dirty="0"/>
            </a:br>
            <a:r>
              <a:rPr lang="en-US" dirty="0"/>
              <a:t>This means full control over both the data and the system itself.</a:t>
            </a:r>
          </a:p>
          <a:p>
            <a:r>
              <a:rPr lang="en-US" dirty="0"/>
              <a:t>So in summary:</a:t>
            </a:r>
          </a:p>
          <a:p>
            <a:r>
              <a:rPr lang="en-US" dirty="0"/>
              <a:t>👉 </a:t>
            </a:r>
            <a:r>
              <a:rPr lang="en-US" dirty="0" err="1"/>
              <a:t>SelfHelp</a:t>
            </a:r>
            <a:r>
              <a:rPr lang="en-US" dirty="0"/>
              <a:t> connects different digital needs into one integrated system—and removes the fragmentation we often see in projects.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If we look back to 2021, when I first presented </a:t>
            </a:r>
            <a:r>
              <a:rPr lang="en-US" dirty="0" err="1"/>
              <a:t>SelfHelp</a:t>
            </a:r>
            <a:r>
              <a:rPr lang="en-US" dirty="0"/>
              <a:t>, as I said,  it was mostly a website builder. The focus was clearly on content and page building.</a:t>
            </a:r>
          </a:p>
          <a:p>
            <a:endParaRPr lang="en-US" dirty="0"/>
          </a:p>
          <a:p>
            <a:r>
              <a:rPr lang="en-US" dirty="0"/>
              <a:t>After that, the system slowly became more flexible. We added modular pages, scheduling, and mobile support.</a:t>
            </a:r>
          </a:p>
          <a:p>
            <a:endParaRPr lang="en-US" dirty="0"/>
          </a:p>
          <a:p>
            <a:r>
              <a:rPr lang="en-US" dirty="0"/>
              <a:t>Then later, the focus became broader. We improved the data model, permissions, security, background processing, and other things that are important when a system becomes larger and more serious.</a:t>
            </a:r>
          </a:p>
          <a:p>
            <a:endParaRPr lang="en-US" dirty="0"/>
          </a:p>
          <a:p>
            <a:r>
              <a:rPr lang="en-US" dirty="0"/>
              <a:t>And now our latest addition was to add AI support. But not as a simple chatbot, it is added in a controlled and testable way as we </a:t>
            </a:r>
            <a:r>
              <a:rPr lang="en-US" dirty="0" err="1"/>
              <a:t>gonna</a:t>
            </a:r>
            <a:r>
              <a:rPr lang="en-US" dirty="0"/>
              <a:t> see later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 what can you actually do with </a:t>
            </a:r>
            <a:r>
              <a:rPr lang="en-US" b="1" dirty="0" err="1"/>
              <a:t>SelfHelp</a:t>
            </a:r>
            <a:r>
              <a:rPr lang="en-US" dirty="0"/>
              <a:t>?</a:t>
            </a:r>
          </a:p>
          <a:p>
            <a:r>
              <a:rPr lang="en-US" dirty="0"/>
              <a:t>If you run a study, a course, or any kind of guided digital program, a single page or form is usually not enough.</a:t>
            </a:r>
          </a:p>
          <a:p>
            <a:r>
              <a:rPr lang="en-US" dirty="0"/>
              <a:t>What you really need is a </a:t>
            </a:r>
            <a:r>
              <a:rPr lang="en-US" b="1" dirty="0"/>
              <a:t>continuous process</a:t>
            </a:r>
            <a:r>
              <a:rPr lang="en-US" dirty="0"/>
              <a:t>.</a:t>
            </a:r>
          </a:p>
          <a:p>
            <a:r>
              <a:rPr lang="en-US" dirty="0"/>
              <a:t>For example, you might want to:</a:t>
            </a:r>
          </a:p>
          <a:p>
            <a:r>
              <a:rPr lang="en-US" dirty="0"/>
              <a:t>Guide users into a program </a:t>
            </a:r>
          </a:p>
          <a:p>
            <a:r>
              <a:rPr lang="en-US" dirty="0"/>
              <a:t>Collect data at multiple time points </a:t>
            </a:r>
          </a:p>
          <a:p>
            <a:r>
              <a:rPr lang="en-US" dirty="0"/>
              <a:t>Send notifications and reminders </a:t>
            </a:r>
          </a:p>
          <a:p>
            <a:r>
              <a:rPr lang="en-US" dirty="0"/>
              <a:t>Assign users to different conditions </a:t>
            </a:r>
          </a:p>
          <a:p>
            <a:r>
              <a:rPr lang="en-US" dirty="0"/>
              <a:t>Adapt what they see based on their responses </a:t>
            </a:r>
          </a:p>
          <a:p>
            <a:r>
              <a:rPr lang="en-US" dirty="0"/>
              <a:t>And follow up over time </a:t>
            </a:r>
          </a:p>
          <a:p>
            <a:r>
              <a:rPr lang="en-US" dirty="0"/>
              <a:t>You also want this experience to work seamlessly across web and mobile.</a:t>
            </a:r>
          </a:p>
          <a:p>
            <a:r>
              <a:rPr lang="en-US" dirty="0"/>
              <a:t>This is exactly what </a:t>
            </a:r>
            <a:r>
              <a:rPr lang="en-US" dirty="0" err="1"/>
              <a:t>SelfHelp</a:t>
            </a:r>
            <a:r>
              <a:rPr lang="en-US" dirty="0"/>
              <a:t> enables.</a:t>
            </a:r>
          </a:p>
          <a:p>
            <a:r>
              <a:rPr lang="en-US"/>
              <a:t>So </a:t>
            </a:r>
            <a:r>
              <a:rPr lang="en-US" dirty="0"/>
              <a:t>the key idea is:</a:t>
            </a:r>
          </a:p>
          <a:p>
            <a:r>
              <a:rPr lang="en-US" dirty="0"/>
              <a:t>👉 </a:t>
            </a:r>
            <a:r>
              <a:rPr lang="en-US" dirty="0" err="1"/>
              <a:t>SelfHelp</a:t>
            </a:r>
            <a:r>
              <a:rPr lang="en-US" dirty="0"/>
              <a:t> doesn’t just support individual interactions</a:t>
            </a:r>
            <a:br>
              <a:rPr lang="en-US" dirty="0"/>
            </a:br>
            <a:r>
              <a:rPr lang="en-US" dirty="0"/>
              <a:t>👉 It supports structured, long-term processes from start to finish.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As you already saw that the platform grow a lot during the years. So it was very crucial for us to find a way how to keep it maintainable and light when we install it on the servers as not every projects requires all the functionality. That is we came with the idea than any new functionality which does not fit the core system should be added through plugins.</a:t>
            </a:r>
          </a:p>
          <a:p>
            <a:endParaRPr lang="en-US" dirty="0"/>
          </a:p>
          <a:p>
            <a:r>
              <a:rPr lang="en-US" dirty="0"/>
              <a:t>This is useful for development, because it keeps the code cleaner and better organized. It also keeps an installation lighter. If a project does not need some features, they do not have to be included.</a:t>
            </a:r>
          </a:p>
          <a:p>
            <a:endParaRPr lang="en-US" dirty="0"/>
          </a:p>
          <a:p>
            <a:r>
              <a:rPr lang="en-US" dirty="0"/>
              <a:t>In the next few slides, I would like to focus on 3 of these plugins: </a:t>
            </a:r>
            <a:r>
              <a:rPr lang="en-US" dirty="0" err="1"/>
              <a:t>SurveyJS</a:t>
            </a:r>
            <a:r>
              <a:rPr lang="en-US" dirty="0"/>
              <a:t>, LLM, and LLM Therapy Chat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first plugin I want to talk about is </a:t>
            </a:r>
            <a:r>
              <a:rPr lang="en-US" b="1" dirty="0" err="1"/>
              <a:t>SurveyJS</a:t>
            </a:r>
            <a:r>
              <a:rPr lang="en-US" dirty="0"/>
              <a:t>.</a:t>
            </a:r>
          </a:p>
          <a:p>
            <a:r>
              <a:rPr lang="en-US" dirty="0"/>
              <a:t>The main idea is simple: we can design and manage surveys directly inside our platform.</a:t>
            </a:r>
          </a:p>
          <a:p>
            <a:r>
              <a:rPr lang="en-US" dirty="0"/>
              <a:t>That means we can:</a:t>
            </a:r>
          </a:p>
          <a:p>
            <a:r>
              <a:rPr lang="en-US" dirty="0"/>
              <a:t>Create surveys </a:t>
            </a:r>
          </a:p>
          <a:p>
            <a:r>
              <a:rPr lang="en-US" dirty="0"/>
              <a:t>Store and version them </a:t>
            </a:r>
          </a:p>
          <a:p>
            <a:r>
              <a:rPr lang="en-US" dirty="0"/>
              <a:t>And publish them when they’re ready </a:t>
            </a:r>
          </a:p>
          <a:p>
            <a:r>
              <a:rPr lang="en-US" dirty="0"/>
              <a:t>Once published, these surveys can be used directly within the system—without any external tools.</a:t>
            </a:r>
          </a:p>
          <a:p>
            <a:r>
              <a:rPr lang="en-US" dirty="0"/>
              <a:t>All collected data is automatically available and can be reused across the platform.</a:t>
            </a:r>
            <a:br>
              <a:rPr lang="en-US" dirty="0"/>
            </a:br>
            <a:r>
              <a:rPr lang="en-US" dirty="0"/>
              <a:t>For example, we can integrate survey results into content, or even reuse them inside other surveys to create more dynamic and adaptive flows.</a:t>
            </a:r>
          </a:p>
          <a:p>
            <a:r>
              <a:rPr lang="en-US" dirty="0"/>
              <a:t>This allows us to build more advanced use cases, such as:</a:t>
            </a:r>
          </a:p>
          <a:p>
            <a:r>
              <a:rPr lang="en-US" dirty="0"/>
              <a:t>Baseline assessments </a:t>
            </a:r>
          </a:p>
          <a:p>
            <a:r>
              <a:rPr lang="en-US" dirty="0"/>
              <a:t>Recurring daily surveys </a:t>
            </a:r>
          </a:p>
          <a:p>
            <a:r>
              <a:rPr lang="en-US" dirty="0"/>
              <a:t>Or full service flows based on user input </a:t>
            </a:r>
          </a:p>
          <a:p>
            <a:r>
              <a:rPr lang="en-US" dirty="0"/>
              <a:t>We also have full control over how surveys are delivered.</a:t>
            </a:r>
            <a:br>
              <a:rPr lang="en-US" dirty="0"/>
            </a:br>
            <a:r>
              <a:rPr lang="en-US" dirty="0"/>
              <a:t>For instance, we can define:</a:t>
            </a:r>
          </a:p>
          <a:p>
            <a:r>
              <a:rPr lang="en-US" dirty="0"/>
              <a:t>Whether a survey is shown once per user or on a schedule </a:t>
            </a:r>
          </a:p>
          <a:p>
            <a:r>
              <a:rPr lang="en-US" dirty="0"/>
              <a:t>Time restrictions, like availability only between certain hours </a:t>
            </a:r>
          </a:p>
          <a:p>
            <a:r>
              <a:rPr lang="en-US" dirty="0"/>
              <a:t>Or expiration rules </a:t>
            </a:r>
          </a:p>
          <a:p>
            <a:r>
              <a:rPr lang="en-US" dirty="0"/>
              <a:t>Another important feature is support for rich input.</a:t>
            </a:r>
            <a:br>
              <a:rPr lang="en-US" dirty="0"/>
            </a:br>
            <a:r>
              <a:rPr lang="en-US" dirty="0"/>
              <a:t>Users can upload images, audio, or other files, which enables more specialized or niche use cases.</a:t>
            </a:r>
          </a:p>
          <a:p>
            <a:r>
              <a:rPr lang="en-US" dirty="0"/>
              <a:t>In addition to responses, the system also collects detailed metadata.</a:t>
            </a:r>
            <a:br>
              <a:rPr lang="en-US" dirty="0"/>
            </a:br>
            <a:r>
              <a:rPr lang="en-US" dirty="0"/>
              <a:t>So we don’t just see the final answers—we also know:</a:t>
            </a:r>
          </a:p>
          <a:p>
            <a:r>
              <a:rPr lang="en-US" dirty="0"/>
              <a:t>When the survey was started and completed </a:t>
            </a:r>
          </a:p>
          <a:p>
            <a:r>
              <a:rPr lang="en-US" dirty="0"/>
              <a:t>How much time was spent </a:t>
            </a:r>
          </a:p>
          <a:p>
            <a:r>
              <a:rPr lang="en-US" dirty="0"/>
              <a:t>And how users navigated through the survey </a:t>
            </a:r>
          </a:p>
          <a:p>
            <a:r>
              <a:rPr lang="en-US" dirty="0"/>
              <a:t>This gives us much deeper insights into user behavior.</a:t>
            </a:r>
          </a:p>
          <a:p>
            <a:r>
              <a:rPr lang="en-US" dirty="0"/>
              <a:t>If you compare this to tools like Qualtrics or </a:t>
            </a:r>
            <a:r>
              <a:rPr lang="en-US" dirty="0" err="1"/>
              <a:t>REDCap</a:t>
            </a:r>
            <a:r>
              <a:rPr lang="en-US" dirty="0"/>
              <a:t>, the key difference is integration.</a:t>
            </a:r>
          </a:p>
          <a:p>
            <a:r>
              <a:rPr lang="en-US" dirty="0"/>
              <a:t>Instead of connecting external platforms, everything is built directly into our CMS.</a:t>
            </a:r>
          </a:p>
          <a:p>
            <a:r>
              <a:rPr lang="en-US" dirty="0"/>
              <a:t>So we don’t just use surveys—we fully integrate them into the system.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second plugin that I want to present is: the LLM plugin.</a:t>
            </a:r>
          </a:p>
          <a:p>
            <a:endParaRPr lang="en-US" dirty="0"/>
          </a:p>
          <a:p>
            <a:r>
              <a:rPr lang="en-US" dirty="0"/>
              <a:t>I think most people here already know what an LLM is, so the interesting part is not the general idea of AI, but how we use it inside the system.</a:t>
            </a:r>
          </a:p>
          <a:p>
            <a:endParaRPr lang="en-US" dirty="0"/>
          </a:p>
          <a:p>
            <a:r>
              <a:rPr lang="en-US" dirty="0"/>
              <a:t>One important thing to understand is that AI can be unpredictable. A little bit random. </a:t>
            </a:r>
          </a:p>
          <a:p>
            <a:endParaRPr lang="en-US" dirty="0"/>
          </a:p>
          <a:p>
            <a:r>
              <a:rPr lang="en-US" dirty="0"/>
              <a:t>So the key question becomes: how do we make it behave in a more controlled and reliable way?</a:t>
            </a:r>
          </a:p>
          <a:p>
            <a:endParaRPr lang="en-US" dirty="0"/>
          </a:p>
          <a:p>
            <a:r>
              <a:rPr lang="en-US" dirty="0"/>
              <a:t>This is where </a:t>
            </a:r>
            <a:r>
              <a:rPr lang="en-US" i="1" dirty="0"/>
              <a:t>prompts</a:t>
            </a:r>
            <a:r>
              <a:rPr lang="en-US" dirty="0"/>
              <a:t> and </a:t>
            </a:r>
            <a:r>
              <a:rPr lang="en-US" i="1" dirty="0"/>
              <a:t>context</a:t>
            </a:r>
            <a:r>
              <a:rPr lang="en-US" dirty="0"/>
              <a:t> come in.</a:t>
            </a:r>
          </a:p>
          <a:p>
            <a:endParaRPr lang="en-US" dirty="0"/>
          </a:p>
          <a:p>
            <a:r>
              <a:rPr lang="en-US" dirty="0"/>
              <a:t>A </a:t>
            </a:r>
            <a:r>
              <a:rPr lang="en-US" b="1" dirty="0"/>
              <a:t>prompt</a:t>
            </a:r>
            <a:r>
              <a:rPr lang="en-US" dirty="0"/>
              <a:t> is simply the instruction we give to the AI. It defines the task.</a:t>
            </a:r>
            <a:br>
              <a:rPr lang="en-US" dirty="0"/>
            </a:br>
            <a:r>
              <a:rPr lang="en-US" dirty="0"/>
              <a:t>For example: </a:t>
            </a:r>
            <a:r>
              <a:rPr lang="en-US" i="1" dirty="0"/>
              <a:t>‘Explain depression.’</a:t>
            </a:r>
            <a:endParaRPr lang="en-US" dirty="0"/>
          </a:p>
          <a:p>
            <a:r>
              <a:rPr lang="en-US" dirty="0"/>
              <a:t>But the prompt alone is not enough.</a:t>
            </a:r>
          </a:p>
          <a:p>
            <a:r>
              <a:rPr lang="en-US" dirty="0"/>
              <a:t>We also need </a:t>
            </a:r>
            <a:r>
              <a:rPr lang="en-US" b="1" dirty="0"/>
              <a:t>context</a:t>
            </a:r>
            <a:r>
              <a:rPr lang="en-US" dirty="0"/>
              <a:t>, which defines the situation or the audience.</a:t>
            </a:r>
            <a:br>
              <a:rPr lang="en-US" dirty="0"/>
            </a:br>
            <a:r>
              <a:rPr lang="en-US" dirty="0"/>
              <a:t>For instance, we could add as context:</a:t>
            </a:r>
          </a:p>
          <a:p>
            <a:r>
              <a:rPr lang="en-US" dirty="0"/>
              <a:t>“You are a professor teaching students”</a:t>
            </a:r>
          </a:p>
          <a:p>
            <a:r>
              <a:rPr lang="en-US" dirty="0"/>
              <a:t>Or: “You are therapist talking with a patient”</a:t>
            </a:r>
          </a:p>
          <a:p>
            <a:r>
              <a:rPr lang="en-US" dirty="0"/>
              <a:t>Even though the prompt stays the same, the output will be very different depending on the context.</a:t>
            </a:r>
            <a:br>
              <a:rPr lang="en-US" dirty="0"/>
            </a:br>
            <a:r>
              <a:rPr lang="en-US" dirty="0"/>
              <a:t>In one case, the AI will explain depression in a more academic way.</a:t>
            </a:r>
            <a:br>
              <a:rPr lang="en-US" dirty="0"/>
            </a:br>
            <a:r>
              <a:rPr lang="en-US" dirty="0"/>
              <a:t>In the other, it will use simpler, more empathetic language.</a:t>
            </a:r>
          </a:p>
          <a:p>
            <a:r>
              <a:rPr lang="en-US" dirty="0"/>
              <a:t>So in simple terms:</a:t>
            </a:r>
            <a:br>
              <a:rPr lang="en-US" dirty="0"/>
            </a:br>
            <a:r>
              <a:rPr lang="en-US" dirty="0"/>
              <a:t>👉 The prompt defines </a:t>
            </a:r>
            <a:r>
              <a:rPr lang="en-US" i="1" dirty="0"/>
              <a:t>what</a:t>
            </a:r>
            <a:r>
              <a:rPr lang="en-US" dirty="0"/>
              <a:t> we want</a:t>
            </a:r>
            <a:br>
              <a:rPr lang="en-US" dirty="0"/>
            </a:br>
            <a:r>
              <a:rPr lang="en-US" dirty="0"/>
              <a:t>👉 The context defines </a:t>
            </a:r>
            <a:r>
              <a:rPr lang="en-US" i="1" dirty="0"/>
              <a:t>how</a:t>
            </a:r>
            <a:r>
              <a:rPr lang="en-US" dirty="0"/>
              <a:t> it should be delivered</a:t>
            </a:r>
          </a:p>
          <a:p>
            <a:r>
              <a:rPr lang="en-US" dirty="0"/>
              <a:t>And together, they shape the final result.</a:t>
            </a:r>
          </a:p>
          <a:p>
            <a:r>
              <a:rPr lang="en-US" dirty="0"/>
              <a:t>To make this process more reliable and predictable, we introduced a </a:t>
            </a:r>
            <a:r>
              <a:rPr lang="en-US" b="1" dirty="0"/>
              <a:t>prompt management system</a:t>
            </a:r>
            <a:r>
              <a:rPr lang="en-US" dirty="0"/>
              <a:t>.</a:t>
            </a:r>
          </a:p>
          <a:p>
            <a:r>
              <a:rPr lang="en-US" dirty="0"/>
              <a:t>With this system, we can:</a:t>
            </a:r>
          </a:p>
          <a:p>
            <a:r>
              <a:rPr lang="en-US" dirty="0"/>
              <a:t>Store and version prompts and contexts </a:t>
            </a:r>
          </a:p>
          <a:p>
            <a:r>
              <a:rPr lang="en-US" dirty="0"/>
              <a:t>Test them in a dedicated playground </a:t>
            </a:r>
          </a:p>
          <a:p>
            <a:r>
              <a:rPr lang="en-US" dirty="0"/>
              <a:t>Run them against different modules </a:t>
            </a:r>
          </a:p>
          <a:p>
            <a:r>
              <a:rPr lang="en-US" dirty="0"/>
              <a:t>Create datasets to evaluate AI responses </a:t>
            </a:r>
          </a:p>
          <a:p>
            <a:r>
              <a:rPr lang="en-US" dirty="0"/>
              <a:t>And continuously refine both prompt and context based on results </a:t>
            </a:r>
          </a:p>
          <a:p>
            <a:r>
              <a:rPr lang="en-US" dirty="0"/>
              <a:t>This allows us to systematically improve the behavior of the AI.</a:t>
            </a:r>
          </a:p>
          <a:p>
            <a:r>
              <a:rPr lang="en-US" dirty="0"/>
              <a:t>So in the end, what we built is not just a simple chatbot—it’s a controlled and evolving system for working with LLMs.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last plugin I want to show in more detail is the </a:t>
            </a:r>
            <a:r>
              <a:rPr lang="en-US" b="1" dirty="0"/>
              <a:t>LLM therapy chat</a:t>
            </a:r>
            <a:r>
              <a:rPr lang="en-US" dirty="0"/>
              <a:t>.</a:t>
            </a:r>
          </a:p>
          <a:p>
            <a:r>
              <a:rPr lang="en-US" dirty="0"/>
              <a:t>This plugin combines AI-supported communication with human supervision in a single, shared framework.</a:t>
            </a:r>
          </a:p>
          <a:p>
            <a:r>
              <a:rPr lang="en-US" dirty="0"/>
              <a:t>From the user’s perspective, the experience is very simple.</a:t>
            </a:r>
            <a:br>
              <a:rPr lang="en-US" dirty="0"/>
            </a:br>
            <a:r>
              <a:rPr lang="en-US" dirty="0"/>
              <a:t>They interact through a chat interface and always know whether they are speaking with the AI or with a therapist.</a:t>
            </a:r>
          </a:p>
          <a:p>
            <a:r>
              <a:rPr lang="en-US" dirty="0"/>
              <a:t>If they message the AI, they receive an immediate response </a:t>
            </a:r>
          </a:p>
          <a:p>
            <a:r>
              <a:rPr lang="en-US" dirty="0"/>
              <a:t>If they message the therapist, they wait for a human reply </a:t>
            </a:r>
          </a:p>
          <a:p>
            <a:r>
              <a:rPr lang="en-US" dirty="0"/>
              <a:t>On the professional side, we provide a dedicated therapist dashboard.</a:t>
            </a:r>
          </a:p>
          <a:p>
            <a:r>
              <a:rPr lang="en-US" dirty="0"/>
              <a:t>Here, therapists can:</a:t>
            </a:r>
          </a:p>
          <a:p>
            <a:r>
              <a:rPr lang="en-US" dirty="0"/>
              <a:t>Monitor conversations in real time </a:t>
            </a:r>
          </a:p>
          <a:p>
            <a:r>
              <a:rPr lang="en-US" dirty="0"/>
              <a:t>Receive alerts for critical situations </a:t>
            </a:r>
          </a:p>
          <a:p>
            <a:r>
              <a:rPr lang="en-US" dirty="0"/>
              <a:t>Read summaries and write notes </a:t>
            </a:r>
          </a:p>
          <a:p>
            <a:r>
              <a:rPr lang="en-US" dirty="0"/>
              <a:t>Prepare draft responses </a:t>
            </a:r>
          </a:p>
          <a:p>
            <a:r>
              <a:rPr lang="en-US" dirty="0"/>
              <a:t>And step into the conversation whenever needed </a:t>
            </a:r>
          </a:p>
          <a:p>
            <a:r>
              <a:rPr lang="en-US" dirty="0"/>
              <a:t>They can also communicate directly with the patient from this dashboard.</a:t>
            </a:r>
          </a:p>
          <a:p>
            <a:r>
              <a:rPr lang="en-US" dirty="0"/>
              <a:t>This plugin is not only useful as a service, but also for research.</a:t>
            </a:r>
          </a:p>
          <a:p>
            <a:r>
              <a:rPr lang="en-US" dirty="0"/>
              <a:t>The same system can run in a </a:t>
            </a:r>
            <a:r>
              <a:rPr lang="en-US" b="1" dirty="0"/>
              <a:t>human-only mode</a:t>
            </a:r>
            <a:r>
              <a:rPr lang="en-US" dirty="0"/>
              <a:t>, which allows us to compare different communication setups in a controlled environment—for example, AI-assisted versus fully human interaction.</a:t>
            </a:r>
          </a:p>
          <a:p>
            <a:r>
              <a:rPr lang="en-US" dirty="0"/>
              <a:t>In addition, we implemented several safety features:</a:t>
            </a:r>
          </a:p>
          <a:p>
            <a:r>
              <a:rPr lang="en-US" dirty="0"/>
              <a:t>Risk detection and alerting </a:t>
            </a:r>
          </a:p>
          <a:p>
            <a:r>
              <a:rPr lang="en-US" dirty="0"/>
              <a:t>The ability to pause AI responses </a:t>
            </a:r>
          </a:p>
          <a:p>
            <a:r>
              <a:rPr lang="en-US" dirty="0"/>
              <a:t>Switching to human-only mode when necessary </a:t>
            </a:r>
          </a:p>
          <a:p>
            <a:r>
              <a:rPr lang="en-US" dirty="0"/>
              <a:t>Notifications for both therapists and users </a:t>
            </a:r>
          </a:p>
          <a:p>
            <a:r>
              <a:rPr lang="en-US" dirty="0"/>
              <a:t>So the key point is: this is not just a chat system.</a:t>
            </a:r>
          </a:p>
          <a:p>
            <a:r>
              <a:rPr lang="en-US" dirty="0"/>
              <a:t>It’s a structured communication environment with built-in supervision, safety, and control.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Another important part of self-help is the </a:t>
            </a:r>
            <a:r>
              <a:rPr lang="en-US" b="1" dirty="0"/>
              <a:t>mobile application</a:t>
            </a:r>
            <a:r>
              <a:rPr lang="en-US" dirty="0"/>
              <a:t>.</a:t>
            </a:r>
          </a:p>
          <a:p>
            <a:r>
              <a:rPr lang="en-US" dirty="0"/>
              <a:t>This is important because many digital programs don’t work well as purely desktop or web applications.</a:t>
            </a:r>
          </a:p>
          <a:p>
            <a:r>
              <a:rPr lang="en-US" dirty="0"/>
              <a:t>In real life, people engage while they are moving, waiting, or simply going through their daily routines.</a:t>
            </a:r>
            <a:br>
              <a:rPr lang="en-US" dirty="0"/>
            </a:br>
            <a:r>
              <a:rPr lang="en-US" dirty="0"/>
              <a:t>They don’t sit down at a laptop every time they want to interact with a system.</a:t>
            </a:r>
          </a:p>
          <a:p>
            <a:r>
              <a:rPr lang="en-US" dirty="0"/>
              <a:t>That’s where the mobile app comes in.</a:t>
            </a:r>
          </a:p>
          <a:p>
            <a:r>
              <a:rPr lang="en-US" dirty="0"/>
              <a:t>It allows users to continue the same program directly on their phone.</a:t>
            </a:r>
            <a:br>
              <a:rPr lang="en-US" dirty="0"/>
            </a:br>
            <a:r>
              <a:rPr lang="en-US" dirty="0"/>
              <a:t>They can:</a:t>
            </a:r>
          </a:p>
          <a:p>
            <a:r>
              <a:rPr lang="en-US" dirty="0"/>
              <a:t>Answer surveys </a:t>
            </a:r>
          </a:p>
          <a:p>
            <a:r>
              <a:rPr lang="en-US" dirty="0"/>
              <a:t>Use AI chat or therapy chat </a:t>
            </a:r>
          </a:p>
          <a:p>
            <a:r>
              <a:rPr lang="en-US" dirty="0"/>
              <a:t>Receive push notifications </a:t>
            </a:r>
          </a:p>
          <a:p>
            <a:r>
              <a:rPr lang="en-US" dirty="0"/>
              <a:t>And interact using their camera, microphone, or voice input </a:t>
            </a:r>
          </a:p>
          <a:p>
            <a:r>
              <a:rPr lang="en-US" dirty="0"/>
              <a:t>This makes the system much more present in everyday life.</a:t>
            </a:r>
          </a:p>
          <a:p>
            <a:r>
              <a:rPr lang="en-US" dirty="0"/>
              <a:t>It’s no longer something users open occasionally on a website—it becomes part of an ongoing process.</a:t>
            </a:r>
          </a:p>
          <a:p>
            <a:r>
              <a:rPr lang="en-US" dirty="0"/>
              <a:t>And this has a clear impact.</a:t>
            </a:r>
          </a:p>
          <a:p>
            <a:r>
              <a:rPr lang="en-US" dirty="0"/>
              <a:t>Mobile access, especially combined with push notifications, significantly increases engagement.</a:t>
            </a:r>
            <a:br>
              <a:rPr lang="en-US" dirty="0"/>
            </a:br>
            <a:r>
              <a:rPr lang="en-US" dirty="0"/>
              <a:t>When users are reminded at the right moment and can respond immediately, they are much more likely to stay active and continue using the program.</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If we compare </a:t>
            </a:r>
            <a:r>
              <a:rPr lang="en-US" b="1" dirty="0" err="1"/>
              <a:t>SelfHelp</a:t>
            </a:r>
            <a:r>
              <a:rPr lang="en-US" dirty="0"/>
              <a:t> to other systems, it’s important to be fair.</a:t>
            </a:r>
          </a:p>
          <a:p>
            <a:r>
              <a:rPr lang="en-US" dirty="0"/>
              <a:t>There are several strong open-source tools, such as </a:t>
            </a:r>
            <a:r>
              <a:rPr lang="en-US" dirty="0" err="1"/>
              <a:t>LimeSurvey</a:t>
            </a:r>
            <a:r>
              <a:rPr lang="en-US" dirty="0"/>
              <a:t>, JATOS, </a:t>
            </a:r>
            <a:r>
              <a:rPr lang="en-US" dirty="0" err="1"/>
              <a:t>formr</a:t>
            </a:r>
            <a:r>
              <a:rPr lang="en-US" dirty="0"/>
              <a:t>, or Moodle.</a:t>
            </a:r>
          </a:p>
          <a:p>
            <a:r>
              <a:rPr lang="en-US" dirty="0"/>
              <a:t>Each of these systems is excellent in its own area:</a:t>
            </a:r>
          </a:p>
          <a:p>
            <a:r>
              <a:rPr lang="en-US" dirty="0"/>
              <a:t>JATOS and </a:t>
            </a:r>
            <a:r>
              <a:rPr lang="en-US" dirty="0" err="1"/>
              <a:t>formr</a:t>
            </a:r>
            <a:r>
              <a:rPr lang="en-US" dirty="0"/>
              <a:t> are very strong for online studies </a:t>
            </a:r>
          </a:p>
          <a:p>
            <a:r>
              <a:rPr lang="en-US" dirty="0" err="1"/>
              <a:t>LimeSurvey</a:t>
            </a:r>
            <a:r>
              <a:rPr lang="en-US" dirty="0"/>
              <a:t> is specialized in surveys </a:t>
            </a:r>
          </a:p>
          <a:p>
            <a:r>
              <a:rPr lang="en-US" dirty="0"/>
              <a:t>Moodle is designed for learning environments </a:t>
            </a:r>
          </a:p>
          <a:p>
            <a:r>
              <a:rPr lang="en-US" dirty="0"/>
              <a:t>What makes </a:t>
            </a:r>
            <a:r>
              <a:rPr lang="en-US" b="1" dirty="0" err="1"/>
              <a:t>SelfHelp</a:t>
            </a:r>
            <a:r>
              <a:rPr lang="en-US" dirty="0"/>
              <a:t> different is not that it replaces these tools.</a:t>
            </a:r>
          </a:p>
          <a:p>
            <a:r>
              <a:rPr lang="en-US" dirty="0"/>
              <a:t>The real strength lies in the </a:t>
            </a:r>
            <a:r>
              <a:rPr lang="en-US" b="1" dirty="0"/>
              <a:t>connection between all components</a:t>
            </a:r>
            <a:r>
              <a:rPr lang="en-US" dirty="0"/>
              <a:t>.</a:t>
            </a:r>
          </a:p>
          <a:p>
            <a:r>
              <a:rPr lang="en-US" dirty="0" err="1"/>
              <a:t>SelfHelp</a:t>
            </a:r>
            <a:r>
              <a:rPr lang="en-US" dirty="0"/>
              <a:t> brings together:</a:t>
            </a:r>
          </a:p>
          <a:p>
            <a:r>
              <a:rPr lang="en-US" dirty="0"/>
              <a:t>Surveys </a:t>
            </a:r>
          </a:p>
          <a:p>
            <a:r>
              <a:rPr lang="en-US" dirty="0"/>
              <a:t>Workflows and follow-up processes </a:t>
            </a:r>
          </a:p>
          <a:p>
            <a:r>
              <a:rPr lang="en-US" dirty="0"/>
              <a:t>Mobile usage </a:t>
            </a:r>
          </a:p>
          <a:p>
            <a:r>
              <a:rPr lang="en-US" dirty="0"/>
              <a:t>And AI-supported features </a:t>
            </a:r>
          </a:p>
          <a:p>
            <a:r>
              <a:rPr lang="en-US" dirty="0"/>
              <a:t>—all within a single platform.</a:t>
            </a:r>
          </a:p>
          <a:p>
            <a:r>
              <a:rPr lang="en-US" dirty="0"/>
              <a:t>So if someone only needs one specific function, a specialized tool might be the better choice.</a:t>
            </a:r>
          </a:p>
          <a:p>
            <a:r>
              <a:rPr lang="en-US" dirty="0"/>
              <a:t>But if someone is looking for an integrated, end-to-end solution, then </a:t>
            </a:r>
            <a:r>
              <a:rPr lang="en-US" dirty="0" err="1"/>
              <a:t>SelfHelp</a:t>
            </a:r>
            <a:r>
              <a:rPr lang="en-US" dirty="0"/>
              <a:t> becomes much more powerful.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 why use </a:t>
            </a:r>
            <a:r>
              <a:rPr lang="en-US" b="1" dirty="0" err="1"/>
              <a:t>SelfHelp</a:t>
            </a:r>
            <a:r>
              <a:rPr lang="en-US" dirty="0"/>
              <a:t>?</a:t>
            </a:r>
          </a:p>
          <a:p>
            <a:r>
              <a:rPr lang="en-US" dirty="0"/>
              <a:t>The biggest reason is </a:t>
            </a:r>
            <a:r>
              <a:rPr lang="en-US" b="1" dirty="0"/>
              <a:t>integration</a:t>
            </a:r>
            <a:r>
              <a:rPr lang="en-US" dirty="0"/>
              <a:t>.</a:t>
            </a:r>
          </a:p>
          <a:p>
            <a:r>
              <a:rPr lang="en-US" dirty="0"/>
              <a:t>Instead of splitting your work across multiple tools, everything is combined in a single platform.</a:t>
            </a:r>
          </a:p>
          <a:p>
            <a:r>
              <a:rPr lang="en-US" dirty="0"/>
              <a:t>You can manage:</a:t>
            </a:r>
          </a:p>
          <a:p>
            <a:r>
              <a:rPr lang="en-US" dirty="0"/>
              <a:t>Data </a:t>
            </a:r>
          </a:p>
          <a:p>
            <a:r>
              <a:rPr lang="en-US" dirty="0"/>
              <a:t>Content </a:t>
            </a:r>
          </a:p>
          <a:p>
            <a:r>
              <a:rPr lang="en-US" dirty="0"/>
              <a:t>Logic and workflows </a:t>
            </a:r>
          </a:p>
          <a:p>
            <a:r>
              <a:rPr lang="en-US" dirty="0"/>
              <a:t>Scheduling and randomization </a:t>
            </a:r>
          </a:p>
          <a:p>
            <a:r>
              <a:rPr lang="en-US" dirty="0"/>
              <a:t>Mobile usage </a:t>
            </a:r>
          </a:p>
          <a:p>
            <a:r>
              <a:rPr lang="en-US" dirty="0"/>
              <a:t>And AI features </a:t>
            </a:r>
          </a:p>
          <a:p>
            <a:r>
              <a:rPr lang="en-US" dirty="0"/>
              <a:t>—all in one place.</a:t>
            </a:r>
          </a:p>
          <a:p>
            <a:r>
              <a:rPr lang="en-US" dirty="0"/>
              <a:t>At the same time, the system is continuously evolving.</a:t>
            </a:r>
          </a:p>
          <a:p>
            <a:r>
              <a:rPr lang="en-US" dirty="0"/>
              <a:t>We are currently developing </a:t>
            </a:r>
            <a:r>
              <a:rPr lang="en-US" b="1" dirty="0" err="1"/>
              <a:t>SelfHelp</a:t>
            </a:r>
            <a:r>
              <a:rPr lang="en-US" b="1" dirty="0"/>
              <a:t> 2</a:t>
            </a:r>
            <a:r>
              <a:rPr lang="en-US" dirty="0"/>
              <a:t>, a completely redesigned platform.</a:t>
            </a:r>
            <a:br>
              <a:rPr lang="en-US" dirty="0"/>
            </a:br>
            <a:r>
              <a:rPr lang="en-US" dirty="0"/>
              <a:t>It is built to be more structured, easier to extend, and simpler to work with.</a:t>
            </a:r>
          </a:p>
          <a:p>
            <a:r>
              <a:rPr lang="en-US" dirty="0"/>
              <a:t>One particularly promising feature is </a:t>
            </a:r>
            <a:r>
              <a:rPr lang="en-US" b="1" dirty="0"/>
              <a:t>AI-supported content creation</a:t>
            </a:r>
            <a:r>
              <a:rPr lang="en-US" dirty="0"/>
              <a:t>.</a:t>
            </a:r>
          </a:p>
          <a:p>
            <a:r>
              <a:rPr lang="en-US" dirty="0"/>
              <a:t>This will allow teams to create content for web and mobile much faster.</a:t>
            </a:r>
            <a:br>
              <a:rPr lang="en-US" dirty="0"/>
            </a:br>
            <a:r>
              <a:rPr lang="en-US" dirty="0"/>
              <a:t>And the time saved can be reinvested into what really matters:</a:t>
            </a:r>
          </a:p>
          <a:p>
            <a:r>
              <a:rPr lang="en-US" dirty="0"/>
              <a:t>Improving study quality </a:t>
            </a:r>
          </a:p>
          <a:p>
            <a:r>
              <a:rPr lang="en-US" dirty="0"/>
              <a:t>And refining study design </a:t>
            </a:r>
          </a:p>
          <a:p>
            <a:r>
              <a:rPr lang="en-US" dirty="0"/>
              <a:t>So the key message is:</a:t>
            </a:r>
          </a:p>
          <a:p>
            <a:r>
              <a:rPr lang="en-US" dirty="0"/>
              <a:t>👉 </a:t>
            </a:r>
            <a:r>
              <a:rPr lang="en-US" dirty="0" err="1"/>
              <a:t>SelfHelp</a:t>
            </a:r>
            <a:r>
              <a:rPr lang="en-US" dirty="0"/>
              <a:t> moves us away from isolated digital tools</a:t>
            </a:r>
            <a:br>
              <a:rPr lang="en-US" dirty="0"/>
            </a:br>
            <a:r>
              <a:rPr lang="en-US" dirty="0"/>
              <a:t>👉 And toward continuous, integrated digital platforms.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Last but not least, I would like to thank Thomas Berger and his group, as well as Tina Hascher and her team, for the great collaboration on the LLM plugin implementations.</a:t>
            </a:r>
          </a:p>
          <a:p>
            <a:endParaRPr lang="en-US" dirty="0"/>
          </a:p>
          <a:p>
            <a:r>
              <a:rPr lang="en-US" dirty="0"/>
              <a:t>I would also like to highlight that all of this is made possible by the local LLM infrastructure, which is currently being developed by the </a:t>
            </a:r>
            <a:r>
              <a:rPr lang="en-US" dirty="0" err="1"/>
              <a:t>Informatikdienste</a:t>
            </a:r>
            <a:r>
              <a:rPr lang="en-US" dirty="0"/>
              <a:t> at the university.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if you see value in this direction, I would really encourage you to support ID with a short letter of support so that this local LLM service can become a permanent university service.</a:t>
            </a:r>
          </a:p>
          <a:p>
            <a:endParaRPr lang="en-US" dirty="0"/>
          </a:p>
          <a:p>
            <a:r>
              <a:rPr lang="en-US" dirty="0"/>
              <a:t>Thank you very much for your attention.</a:t>
            </a:r>
          </a:p>
          <a:p>
            <a:endParaRPr lang="en-US" dirty="0"/>
          </a:p>
          <a:p>
            <a:r>
              <a:rPr lang="en-US" dirty="0"/>
              <a:t>I will be happy to answer questions, and also happy to talk afterwards if someone wants to discuss ideas in more detail.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1998027"/>
            <a:ext cx="9715500" cy="1353502"/>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subTitle" idx="4"/>
          </p:nvPr>
        </p:nvSpPr>
        <p:spPr>
          <a:xfrm>
            <a:off x="1714500" y="3609340"/>
            <a:ext cx="8001000" cy="1611312"/>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sz="half" idx="2"/>
          </p:nvPr>
        </p:nvSpPr>
        <p:spPr>
          <a:xfrm>
            <a:off x="571500" y="1482407"/>
            <a:ext cx="497205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71514" y="1886102"/>
            <a:ext cx="4398645" cy="3514090"/>
          </a:xfrm>
          <a:prstGeom prst="rect">
            <a:avLst/>
          </a:prstGeom>
        </p:spPr>
        <p:txBody>
          <a:bodyPr wrap="square" lIns="0" tIns="0" rIns="0" bIns="0">
            <a:spAutoFit/>
          </a:bodyPr>
          <a:lstStyle>
            <a:lvl1pPr>
              <a:defRPr sz="2000" b="1" i="0">
                <a:solidFill>
                  <a:srgbClr val="3A3535"/>
                </a:solidFill>
                <a:latin typeface="Verdana"/>
                <a:cs typeface="Verdan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79640" y="494411"/>
            <a:ext cx="6170295" cy="864869"/>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a:xfrm>
            <a:off x="571500" y="1482407"/>
            <a:ext cx="1028700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886200" y="5994082"/>
            <a:ext cx="3657600" cy="32226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5994082"/>
            <a:ext cx="2628900" cy="32226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28-Mar-26</a:t>
            </a:fld>
            <a:endParaRPr lang="en-US"/>
          </a:p>
        </p:txBody>
      </p:sp>
      <p:sp>
        <p:nvSpPr>
          <p:cNvPr id="6" name="Holder 6"/>
          <p:cNvSpPr>
            <a:spLocks noGrp="1"/>
          </p:cNvSpPr>
          <p:nvPr>
            <p:ph type="sldNum" sz="quarter" idx="7"/>
          </p:nvPr>
        </p:nvSpPr>
        <p:spPr>
          <a:xfrm>
            <a:off x="8229600" y="5994082"/>
            <a:ext cx="2628900" cy="32226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10248900" y="676274"/>
            <a:ext cx="685799" cy="685799"/>
          </a:xfrm>
          <a:prstGeom prst="rect">
            <a:avLst/>
          </a:prstGeom>
        </p:spPr>
      </p:pic>
      <p:sp>
        <p:nvSpPr>
          <p:cNvPr id="3" name="object 3" descr="$PPTXTitle"/>
          <p:cNvSpPr txBox="1">
            <a:spLocks noGrp="1"/>
          </p:cNvSpPr>
          <p:nvPr>
            <p:ph type="title"/>
          </p:nvPr>
        </p:nvSpPr>
        <p:spPr>
          <a:xfrm>
            <a:off x="492721" y="2407602"/>
            <a:ext cx="1709420" cy="481965"/>
          </a:xfrm>
          <a:prstGeom prst="rect">
            <a:avLst/>
          </a:prstGeom>
        </p:spPr>
        <p:txBody>
          <a:bodyPr vert="horz" wrap="square" lIns="0" tIns="11430" rIns="0" bIns="0" rtlCol="0">
            <a:spAutoFit/>
          </a:bodyPr>
          <a:lstStyle/>
          <a:p>
            <a:pPr marL="12700">
              <a:lnSpc>
                <a:spcPct val="100000"/>
              </a:lnSpc>
              <a:spcBef>
                <a:spcPts val="90"/>
              </a:spcBef>
            </a:pPr>
            <a:r>
              <a:rPr sz="3000" spc="-100" dirty="0"/>
              <a:t>SelfHelp</a:t>
            </a:r>
            <a:endParaRPr sz="3000" dirty="0"/>
          </a:p>
        </p:txBody>
      </p:sp>
      <p:sp>
        <p:nvSpPr>
          <p:cNvPr id="4" name="object 4"/>
          <p:cNvSpPr txBox="1"/>
          <p:nvPr/>
        </p:nvSpPr>
        <p:spPr>
          <a:xfrm>
            <a:off x="492721" y="3033776"/>
            <a:ext cx="4536479" cy="217367"/>
          </a:xfrm>
          <a:prstGeom prst="rect">
            <a:avLst/>
          </a:prstGeom>
        </p:spPr>
        <p:txBody>
          <a:bodyPr vert="horz" wrap="square" lIns="0" tIns="17145" rIns="0" bIns="0" rtlCol="0">
            <a:spAutoFit/>
          </a:bodyPr>
          <a:lstStyle/>
          <a:p>
            <a:pPr marL="12700">
              <a:lnSpc>
                <a:spcPct val="100000"/>
              </a:lnSpc>
              <a:spcBef>
                <a:spcPts val="135"/>
              </a:spcBef>
            </a:pPr>
            <a:r>
              <a:rPr sz="1300" spc="70" dirty="0">
                <a:solidFill>
                  <a:srgbClr val="3A3535"/>
                </a:solidFill>
                <a:latin typeface="Century Gothic"/>
                <a:cs typeface="Century Gothic"/>
              </a:rPr>
              <a:t>From</a:t>
            </a:r>
            <a:r>
              <a:rPr sz="1300" spc="20" dirty="0">
                <a:solidFill>
                  <a:srgbClr val="3A3535"/>
                </a:solidFill>
                <a:latin typeface="Century Gothic"/>
                <a:cs typeface="Century Gothic"/>
              </a:rPr>
              <a:t> </a:t>
            </a:r>
            <a:r>
              <a:rPr sz="1300" spc="50" dirty="0">
                <a:solidFill>
                  <a:srgbClr val="3A3535"/>
                </a:solidFill>
                <a:latin typeface="Century Gothic"/>
                <a:cs typeface="Century Gothic"/>
              </a:rPr>
              <a:t>website</a:t>
            </a:r>
            <a:r>
              <a:rPr sz="1300" spc="20" dirty="0">
                <a:solidFill>
                  <a:srgbClr val="3A3535"/>
                </a:solidFill>
                <a:latin typeface="Century Gothic"/>
                <a:cs typeface="Century Gothic"/>
              </a:rPr>
              <a:t> </a:t>
            </a:r>
            <a:r>
              <a:rPr sz="1300" spc="80" dirty="0">
                <a:solidFill>
                  <a:srgbClr val="3A3535"/>
                </a:solidFill>
                <a:latin typeface="Century Gothic"/>
                <a:cs typeface="Century Gothic"/>
              </a:rPr>
              <a:t>system</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to</a:t>
            </a:r>
            <a:r>
              <a:rPr sz="1300" spc="20" dirty="0">
                <a:solidFill>
                  <a:srgbClr val="3A3535"/>
                </a:solidFill>
                <a:latin typeface="Century Gothic"/>
                <a:cs typeface="Century Gothic"/>
              </a:rPr>
              <a:t> digital</a:t>
            </a:r>
            <a:r>
              <a:rPr sz="1300" spc="25" dirty="0">
                <a:solidFill>
                  <a:srgbClr val="3A3535"/>
                </a:solidFill>
                <a:latin typeface="Century Gothic"/>
                <a:cs typeface="Century Gothic"/>
              </a:rPr>
              <a:t> </a:t>
            </a:r>
            <a:r>
              <a:rPr sz="1300" spc="20" dirty="0">
                <a:solidFill>
                  <a:srgbClr val="3A3535"/>
                </a:solidFill>
                <a:latin typeface="Century Gothic"/>
                <a:cs typeface="Century Gothic"/>
              </a:rPr>
              <a:t>program </a:t>
            </a:r>
            <a:r>
              <a:rPr sz="1300" spc="-10" dirty="0">
                <a:solidFill>
                  <a:srgbClr val="3A3535"/>
                </a:solidFill>
                <a:latin typeface="Century Gothic"/>
                <a:cs typeface="Century Gothic"/>
              </a:rPr>
              <a:t>platform</a:t>
            </a:r>
            <a:endParaRPr sz="1300" dirty="0">
              <a:latin typeface="Century Gothic"/>
              <a:cs typeface="Century Gothic"/>
            </a:endParaRPr>
          </a:p>
        </p:txBody>
      </p:sp>
      <p:pic>
        <p:nvPicPr>
          <p:cNvPr id="5" name="object 5"/>
          <p:cNvPicPr/>
          <p:nvPr/>
        </p:nvPicPr>
        <p:blipFill>
          <a:blip r:embed="rId4" cstate="print"/>
          <a:stretch>
            <a:fillRect/>
          </a:stretch>
        </p:blipFill>
        <p:spPr>
          <a:xfrm>
            <a:off x="7191375" y="2133600"/>
            <a:ext cx="2666999" cy="2657474"/>
          </a:xfrm>
          <a:prstGeom prst="rect">
            <a:avLst/>
          </a:prstGeom>
        </p:spPr>
      </p:pic>
      <p:sp>
        <p:nvSpPr>
          <p:cNvPr id="6" name="object 6"/>
          <p:cNvSpPr txBox="1"/>
          <p:nvPr/>
        </p:nvSpPr>
        <p:spPr>
          <a:xfrm>
            <a:off x="2861443" y="5356225"/>
            <a:ext cx="5707113" cy="652743"/>
          </a:xfrm>
          <a:prstGeom prst="rect">
            <a:avLst/>
          </a:prstGeom>
        </p:spPr>
        <p:txBody>
          <a:bodyPr vert="horz" wrap="square" lIns="0" tIns="13970" rIns="0" bIns="0" rtlCol="0">
            <a:spAutoFit/>
          </a:bodyPr>
          <a:lstStyle/>
          <a:p>
            <a:pPr algn="ctr">
              <a:lnSpc>
                <a:spcPct val="100000"/>
              </a:lnSpc>
              <a:spcBef>
                <a:spcPts val="110"/>
              </a:spcBef>
            </a:pPr>
            <a:r>
              <a:rPr sz="1300" dirty="0">
                <a:solidFill>
                  <a:srgbClr val="3A3535"/>
                </a:solidFill>
                <a:latin typeface="Century Gothic"/>
                <a:cs typeface="Century Gothic"/>
              </a:rPr>
              <a:t>Stefan</a:t>
            </a:r>
            <a:r>
              <a:rPr sz="1300" spc="60" dirty="0">
                <a:solidFill>
                  <a:srgbClr val="3A3535"/>
                </a:solidFill>
                <a:latin typeface="Century Gothic"/>
                <a:cs typeface="Century Gothic"/>
              </a:rPr>
              <a:t> </a:t>
            </a:r>
            <a:r>
              <a:rPr sz="1300" dirty="0">
                <a:solidFill>
                  <a:srgbClr val="3A3535"/>
                </a:solidFill>
                <a:latin typeface="Century Gothic"/>
                <a:cs typeface="Century Gothic"/>
              </a:rPr>
              <a:t>Kodzhabashev</a:t>
            </a:r>
            <a:r>
              <a:rPr sz="1300" spc="60" dirty="0">
                <a:solidFill>
                  <a:srgbClr val="3A3535"/>
                </a:solidFill>
                <a:latin typeface="Century Gothic"/>
                <a:cs typeface="Century Gothic"/>
              </a:rPr>
              <a:t> </a:t>
            </a:r>
            <a:r>
              <a:rPr sz="1300" spc="-75" dirty="0">
                <a:solidFill>
                  <a:srgbClr val="3A3535"/>
                </a:solidFill>
                <a:latin typeface="Century Gothic"/>
                <a:cs typeface="Century Gothic"/>
              </a:rPr>
              <a:t>·</a:t>
            </a:r>
            <a:r>
              <a:rPr sz="1300" spc="60" dirty="0">
                <a:solidFill>
                  <a:srgbClr val="3A3535"/>
                </a:solidFill>
                <a:latin typeface="Century Gothic"/>
                <a:cs typeface="Century Gothic"/>
              </a:rPr>
              <a:t> </a:t>
            </a:r>
            <a:r>
              <a:rPr sz="1300" spc="65" dirty="0">
                <a:solidFill>
                  <a:srgbClr val="3A3535"/>
                </a:solidFill>
                <a:latin typeface="Century Gothic"/>
                <a:cs typeface="Century Gothic"/>
              </a:rPr>
              <a:t>30.03.2026</a:t>
            </a:r>
            <a:endParaRPr sz="1300" dirty="0">
              <a:latin typeface="Century Gothic"/>
              <a:cs typeface="Century Gothic"/>
            </a:endParaRPr>
          </a:p>
          <a:p>
            <a:pPr>
              <a:lnSpc>
                <a:spcPct val="100000"/>
              </a:lnSpc>
              <a:spcBef>
                <a:spcPts val="290"/>
              </a:spcBef>
            </a:pPr>
            <a:endParaRPr sz="1300" dirty="0">
              <a:latin typeface="Century Gothic"/>
              <a:cs typeface="Century Gothic"/>
            </a:endParaRPr>
          </a:p>
          <a:p>
            <a:pPr algn="ctr">
              <a:lnSpc>
                <a:spcPct val="100000"/>
              </a:lnSpc>
            </a:pPr>
            <a:r>
              <a:rPr sz="1300" dirty="0">
                <a:solidFill>
                  <a:srgbClr val="3A3535"/>
                </a:solidFill>
                <a:latin typeface="Century Gothic"/>
                <a:cs typeface="Century Gothic"/>
              </a:rPr>
              <a:t>Faculty</a:t>
            </a:r>
            <a:r>
              <a:rPr sz="1300" spc="15" dirty="0">
                <a:solidFill>
                  <a:srgbClr val="3A3535"/>
                </a:solidFill>
                <a:latin typeface="Century Gothic"/>
                <a:cs typeface="Century Gothic"/>
              </a:rPr>
              <a:t> </a:t>
            </a:r>
            <a:r>
              <a:rPr sz="1300" dirty="0">
                <a:solidFill>
                  <a:srgbClr val="3A3535"/>
                </a:solidFill>
                <a:latin typeface="Century Gothic"/>
                <a:cs typeface="Century Gothic"/>
              </a:rPr>
              <a:t>Meeting</a:t>
            </a:r>
            <a:r>
              <a:rPr sz="1300" spc="15" dirty="0">
                <a:solidFill>
                  <a:srgbClr val="3A3535"/>
                </a:solidFill>
                <a:latin typeface="Century Gothic"/>
                <a:cs typeface="Century Gothic"/>
              </a:rPr>
              <a:t> </a:t>
            </a:r>
            <a:r>
              <a:rPr sz="1300" spc="-7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March</a:t>
            </a:r>
            <a:r>
              <a:rPr sz="1300" spc="15" dirty="0">
                <a:solidFill>
                  <a:srgbClr val="3A3535"/>
                </a:solidFill>
                <a:latin typeface="Century Gothic"/>
                <a:cs typeface="Century Gothic"/>
              </a:rPr>
              <a:t> </a:t>
            </a:r>
            <a:r>
              <a:rPr sz="1300" spc="95" dirty="0">
                <a:solidFill>
                  <a:srgbClr val="3A3535"/>
                </a:solidFill>
                <a:latin typeface="Century Gothic"/>
                <a:cs typeface="Century Gothic"/>
              </a:rPr>
              <a:t>2026</a:t>
            </a:r>
            <a:r>
              <a:rPr sz="1300" spc="20" dirty="0">
                <a:solidFill>
                  <a:srgbClr val="3A3535"/>
                </a:solidFill>
                <a:latin typeface="Century Gothic"/>
                <a:cs typeface="Century Gothic"/>
              </a:rPr>
              <a:t> </a:t>
            </a:r>
            <a:r>
              <a:rPr sz="1300" spc="-75" dirty="0">
                <a:solidFill>
                  <a:srgbClr val="3A3535"/>
                </a:solidFill>
                <a:latin typeface="Century Gothic"/>
                <a:cs typeface="Century Gothic"/>
              </a:rPr>
              <a:t>·</a:t>
            </a:r>
            <a:r>
              <a:rPr sz="1300" spc="15" dirty="0">
                <a:solidFill>
                  <a:srgbClr val="3A3535"/>
                </a:solidFill>
                <a:latin typeface="Century Gothic"/>
                <a:cs typeface="Century Gothic"/>
              </a:rPr>
              <a:t> </a:t>
            </a:r>
            <a:r>
              <a:rPr sz="1300" spc="50" dirty="0">
                <a:solidFill>
                  <a:srgbClr val="3A3535"/>
                </a:solidFill>
                <a:latin typeface="Century Gothic"/>
                <a:cs typeface="Century Gothic"/>
              </a:rPr>
              <a:t>Building</a:t>
            </a:r>
            <a:r>
              <a:rPr sz="1300" spc="20" dirty="0">
                <a:solidFill>
                  <a:srgbClr val="3A3535"/>
                </a:solidFill>
                <a:latin typeface="Century Gothic"/>
                <a:cs typeface="Century Gothic"/>
              </a:rPr>
              <a:t> </a:t>
            </a:r>
            <a:r>
              <a:rPr sz="1300" dirty="0">
                <a:solidFill>
                  <a:srgbClr val="3A3535"/>
                </a:solidFill>
                <a:latin typeface="Century Gothic"/>
                <a:cs typeface="Century Gothic"/>
              </a:rPr>
              <a:t>on</a:t>
            </a:r>
            <a:r>
              <a:rPr sz="1300" spc="15" dirty="0">
                <a:solidFill>
                  <a:srgbClr val="3A3535"/>
                </a:solidFill>
                <a:latin typeface="Century Gothic"/>
                <a:cs typeface="Century Gothic"/>
              </a:rPr>
              <a:t> </a:t>
            </a:r>
            <a:r>
              <a:rPr sz="1300" dirty="0">
                <a:solidFill>
                  <a:srgbClr val="3A3535"/>
                </a:solidFill>
                <a:latin typeface="Century Gothic"/>
                <a:cs typeface="Century Gothic"/>
              </a:rPr>
              <a:t>our</a:t>
            </a:r>
            <a:r>
              <a:rPr sz="1300" spc="15" dirty="0">
                <a:solidFill>
                  <a:srgbClr val="3A3535"/>
                </a:solidFill>
                <a:latin typeface="Century Gothic"/>
                <a:cs typeface="Century Gothic"/>
              </a:rPr>
              <a:t> </a:t>
            </a:r>
            <a:r>
              <a:rPr sz="1300" dirty="0">
                <a:solidFill>
                  <a:srgbClr val="3A3535"/>
                </a:solidFill>
                <a:latin typeface="Century Gothic"/>
                <a:cs typeface="Century Gothic"/>
              </a:rPr>
              <a:t>2021</a:t>
            </a:r>
            <a:r>
              <a:rPr sz="1300" spc="20" dirty="0">
                <a:solidFill>
                  <a:srgbClr val="3A3535"/>
                </a:solidFill>
                <a:latin typeface="Century Gothic"/>
                <a:cs typeface="Century Gothic"/>
              </a:rPr>
              <a:t> </a:t>
            </a:r>
            <a:r>
              <a:rPr sz="1300" spc="-10" dirty="0">
                <a:solidFill>
                  <a:srgbClr val="3A3535"/>
                </a:solidFill>
                <a:latin typeface="Century Gothic"/>
                <a:cs typeface="Century Gothic"/>
              </a:rPr>
              <a:t>presentation</a:t>
            </a:r>
            <a:endParaRPr sz="1300" dirty="0">
              <a:latin typeface="Century Gothic"/>
              <a:cs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3785235" cy="560070"/>
          </a:xfrm>
          <a:prstGeom prst="rect">
            <a:avLst/>
          </a:prstGeom>
        </p:spPr>
        <p:txBody>
          <a:bodyPr vert="horz" wrap="square" lIns="0" tIns="13335" rIns="0" bIns="0" rtlCol="0">
            <a:spAutoFit/>
          </a:bodyPr>
          <a:lstStyle/>
          <a:p>
            <a:pPr marL="12700">
              <a:lnSpc>
                <a:spcPct val="100000"/>
              </a:lnSpc>
              <a:spcBef>
                <a:spcPts val="105"/>
              </a:spcBef>
            </a:pPr>
            <a:r>
              <a:rPr spc="-215" dirty="0"/>
              <a:t>What</a:t>
            </a:r>
            <a:r>
              <a:rPr spc="-400" dirty="0"/>
              <a:t> </a:t>
            </a:r>
            <a:r>
              <a:rPr spc="-130" dirty="0"/>
              <a:t>SelfHelp</a:t>
            </a:r>
            <a:r>
              <a:rPr spc="-395" dirty="0"/>
              <a:t> </a:t>
            </a:r>
            <a:r>
              <a:rPr spc="-505" dirty="0"/>
              <a:t>Is</a:t>
            </a:r>
          </a:p>
        </p:txBody>
      </p:sp>
      <p:sp>
        <p:nvSpPr>
          <p:cNvPr id="3" name="object 3"/>
          <p:cNvSpPr txBox="1"/>
          <p:nvPr/>
        </p:nvSpPr>
        <p:spPr>
          <a:xfrm>
            <a:off x="579635" y="2459550"/>
            <a:ext cx="9766300" cy="577850"/>
          </a:xfrm>
          <a:prstGeom prst="rect">
            <a:avLst/>
          </a:prstGeom>
        </p:spPr>
        <p:txBody>
          <a:bodyPr vert="horz" wrap="square" lIns="0" tIns="11430" rIns="0" bIns="0" rtlCol="0">
            <a:spAutoFit/>
          </a:bodyPr>
          <a:lstStyle/>
          <a:p>
            <a:pPr marL="12700" marR="5080">
              <a:lnSpc>
                <a:spcPct val="139400"/>
              </a:lnSpc>
              <a:spcBef>
                <a:spcPts val="90"/>
              </a:spcBef>
            </a:pPr>
            <a:r>
              <a:rPr sz="1300" dirty="0">
                <a:solidFill>
                  <a:srgbClr val="3A3535"/>
                </a:solidFill>
                <a:latin typeface="Century Gothic"/>
                <a:cs typeface="Century Gothic"/>
              </a:rPr>
              <a:t>A</a:t>
            </a:r>
            <a:r>
              <a:rPr sz="1300" spc="40" dirty="0">
                <a:solidFill>
                  <a:srgbClr val="3A3535"/>
                </a:solidFill>
                <a:latin typeface="Century Gothic"/>
                <a:cs typeface="Century Gothic"/>
              </a:rPr>
              <a:t> </a:t>
            </a:r>
            <a:r>
              <a:rPr sz="1300" dirty="0">
                <a:solidFill>
                  <a:srgbClr val="3A3535"/>
                </a:solidFill>
                <a:latin typeface="Century Gothic"/>
                <a:cs typeface="Century Gothic"/>
              </a:rPr>
              <a:t>modular</a:t>
            </a:r>
            <a:r>
              <a:rPr sz="1300" spc="40"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40" dirty="0">
                <a:solidFill>
                  <a:srgbClr val="3A3535"/>
                </a:solidFill>
                <a:latin typeface="Century Gothic"/>
                <a:cs typeface="Century Gothic"/>
              </a:rPr>
              <a:t> </a:t>
            </a:r>
            <a:r>
              <a:rPr sz="1300" dirty="0">
                <a:solidFill>
                  <a:srgbClr val="3A3535"/>
                </a:solidFill>
                <a:latin typeface="Century Gothic"/>
                <a:cs typeface="Century Gothic"/>
              </a:rPr>
              <a:t>that</a:t>
            </a:r>
            <a:r>
              <a:rPr sz="1300" spc="40" dirty="0">
                <a:solidFill>
                  <a:srgbClr val="3A3535"/>
                </a:solidFill>
                <a:latin typeface="Century Gothic"/>
                <a:cs typeface="Century Gothic"/>
              </a:rPr>
              <a:t> </a:t>
            </a:r>
            <a:r>
              <a:rPr sz="1300" spc="95" dirty="0">
                <a:solidFill>
                  <a:srgbClr val="3A3535"/>
                </a:solidFill>
                <a:latin typeface="Century Gothic"/>
                <a:cs typeface="Century Gothic"/>
              </a:rPr>
              <a:t>brings</a:t>
            </a:r>
            <a:r>
              <a:rPr sz="1300" spc="4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80" dirty="0">
                <a:solidFill>
                  <a:srgbClr val="3A3535"/>
                </a:solidFill>
                <a:latin typeface="Century Gothic"/>
                <a:cs typeface="Century Gothic"/>
              </a:rPr>
              <a:t>assessments,</a:t>
            </a:r>
            <a:r>
              <a:rPr sz="1300" spc="30"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5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dirty="0">
                <a:solidFill>
                  <a:srgbClr val="3A3535"/>
                </a:solidFill>
                <a:latin typeface="Century Gothic"/>
                <a:cs typeface="Century Gothic"/>
              </a:rPr>
              <a:t>delivery</a:t>
            </a:r>
            <a:r>
              <a:rPr sz="1300" spc="40" dirty="0">
                <a:solidFill>
                  <a:srgbClr val="3A3535"/>
                </a:solidFill>
                <a:latin typeface="Century Gothic"/>
                <a:cs typeface="Century Gothic"/>
              </a:rPr>
              <a:t> </a:t>
            </a:r>
            <a:r>
              <a:rPr sz="1300" spc="80" dirty="0">
                <a:solidFill>
                  <a:srgbClr val="3A3535"/>
                </a:solidFill>
                <a:latin typeface="Century Gothic"/>
                <a:cs typeface="Century Gothic"/>
              </a:rPr>
              <a:t>into</a:t>
            </a:r>
            <a:r>
              <a:rPr sz="1300" spc="45" dirty="0">
                <a:solidFill>
                  <a:srgbClr val="3A3535"/>
                </a:solidFill>
                <a:latin typeface="Century Gothic"/>
                <a:cs typeface="Century Gothic"/>
              </a:rPr>
              <a:t> </a:t>
            </a:r>
            <a:r>
              <a:rPr sz="1300" dirty="0">
                <a:solidFill>
                  <a:srgbClr val="3A3535"/>
                </a:solidFill>
                <a:latin typeface="Century Gothic"/>
                <a:cs typeface="Century Gothic"/>
              </a:rPr>
              <a:t>one</a:t>
            </a:r>
            <a:r>
              <a:rPr sz="1300" spc="40" dirty="0">
                <a:solidFill>
                  <a:srgbClr val="3A3535"/>
                </a:solidFill>
                <a:latin typeface="Century Gothic"/>
                <a:cs typeface="Century Gothic"/>
              </a:rPr>
              <a:t> </a:t>
            </a:r>
            <a:r>
              <a:rPr sz="1300" dirty="0">
                <a:solidFill>
                  <a:srgbClr val="3A3535"/>
                </a:solidFill>
                <a:latin typeface="Century Gothic"/>
                <a:cs typeface="Century Gothic"/>
              </a:rPr>
              <a:t>connected</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system</a:t>
            </a:r>
            <a:r>
              <a:rPr sz="1300" spc="40" dirty="0">
                <a:solidFill>
                  <a:srgbClr val="3A3535"/>
                </a:solidFill>
                <a:latin typeface="Century Gothic"/>
                <a:cs typeface="Century Gothic"/>
              </a:rPr>
              <a:t> </a:t>
            </a:r>
            <a:r>
              <a:rPr sz="1300" spc="-50" dirty="0">
                <a:solidFill>
                  <a:srgbClr val="3A3535"/>
                </a:solidFill>
                <a:latin typeface="Century Gothic"/>
                <a:cs typeface="Century Gothic"/>
              </a:rPr>
              <a:t>— </a:t>
            </a:r>
            <a:r>
              <a:rPr sz="1300" spc="10" dirty="0">
                <a:solidFill>
                  <a:srgbClr val="3A3535"/>
                </a:solidFill>
                <a:latin typeface="Century Gothic"/>
                <a:cs typeface="Century Gothic"/>
              </a:rPr>
              <a:t>hostable</a:t>
            </a:r>
            <a:r>
              <a:rPr sz="1300" spc="105" dirty="0">
                <a:solidFill>
                  <a:srgbClr val="3A3535"/>
                </a:solidFill>
                <a:latin typeface="Century Gothic"/>
                <a:cs typeface="Century Gothic"/>
              </a:rPr>
              <a:t> </a:t>
            </a:r>
            <a:r>
              <a:rPr sz="1300" spc="10" dirty="0">
                <a:solidFill>
                  <a:srgbClr val="3A3535"/>
                </a:solidFill>
                <a:latin typeface="Century Gothic"/>
                <a:cs typeface="Century Gothic"/>
              </a:rPr>
              <a:t>under</a:t>
            </a:r>
            <a:r>
              <a:rPr sz="1300" spc="105" dirty="0">
                <a:solidFill>
                  <a:srgbClr val="3A3535"/>
                </a:solidFill>
                <a:latin typeface="Century Gothic"/>
                <a:cs typeface="Century Gothic"/>
              </a:rPr>
              <a:t> </a:t>
            </a:r>
            <a:r>
              <a:rPr sz="1300" spc="75" dirty="0">
                <a:solidFill>
                  <a:srgbClr val="3A3535"/>
                </a:solidFill>
                <a:latin typeface="Century Gothic"/>
                <a:cs typeface="Century Gothic"/>
              </a:rPr>
              <a:t>university</a:t>
            </a:r>
            <a:r>
              <a:rPr sz="1300" spc="110" dirty="0">
                <a:solidFill>
                  <a:srgbClr val="3A3535"/>
                </a:solidFill>
                <a:latin typeface="Century Gothic"/>
                <a:cs typeface="Century Gothic"/>
              </a:rPr>
              <a:t> </a:t>
            </a:r>
            <a:r>
              <a:rPr sz="1300" spc="40" dirty="0">
                <a:solidFill>
                  <a:srgbClr val="3A3535"/>
                </a:solidFill>
                <a:latin typeface="Century Gothic"/>
                <a:cs typeface="Century Gothic"/>
              </a:rPr>
              <a:t>control.</a:t>
            </a:r>
            <a:endParaRPr sz="1300" dirty="0">
              <a:latin typeface="Century Gothic"/>
              <a:cs typeface="Century Gothic"/>
            </a:endParaRPr>
          </a:p>
        </p:txBody>
      </p:sp>
      <p:grpSp>
        <p:nvGrpSpPr>
          <p:cNvPr id="4" name="object 4"/>
          <p:cNvGrpSpPr/>
          <p:nvPr/>
        </p:nvGrpSpPr>
        <p:grpSpPr>
          <a:xfrm>
            <a:off x="590550" y="3257550"/>
            <a:ext cx="3305175" cy="1552575"/>
            <a:chOff x="590550" y="3257550"/>
            <a:chExt cx="3305175" cy="1552575"/>
          </a:xfrm>
        </p:grpSpPr>
        <p:sp>
          <p:nvSpPr>
            <p:cNvPr id="5" name="object 5"/>
            <p:cNvSpPr/>
            <p:nvPr/>
          </p:nvSpPr>
          <p:spPr>
            <a:xfrm>
              <a:off x="595312" y="3262312"/>
              <a:ext cx="3295650" cy="1543050"/>
            </a:xfrm>
            <a:custGeom>
              <a:avLst/>
              <a:gdLst/>
              <a:ahLst/>
              <a:cxnLst/>
              <a:rect l="l" t="t" r="r" b="b"/>
              <a:pathLst>
                <a:path w="3295650" h="1543050">
                  <a:moveTo>
                    <a:pt x="3244748" y="0"/>
                  </a:moveTo>
                  <a:lnTo>
                    <a:pt x="50904" y="0"/>
                  </a:lnTo>
                  <a:lnTo>
                    <a:pt x="47362" y="342"/>
                  </a:lnTo>
                  <a:lnTo>
                    <a:pt x="13428" y="18491"/>
                  </a:lnTo>
                  <a:lnTo>
                    <a:pt x="0" y="50901"/>
                  </a:lnTo>
                  <a:lnTo>
                    <a:pt x="0" y="1488567"/>
                  </a:lnTo>
                  <a:lnTo>
                    <a:pt x="0" y="1492148"/>
                  </a:lnTo>
                  <a:lnTo>
                    <a:pt x="18484" y="1529626"/>
                  </a:lnTo>
                  <a:lnTo>
                    <a:pt x="50904"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262312"/>
              <a:ext cx="3295650" cy="1543050"/>
            </a:xfrm>
            <a:custGeom>
              <a:avLst/>
              <a:gdLst/>
              <a:ahLst/>
              <a:cxnLst/>
              <a:rect l="l" t="t" r="r" b="b"/>
              <a:pathLst>
                <a:path w="3295650" h="1543050">
                  <a:moveTo>
                    <a:pt x="0" y="1488567"/>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0" y="1543050"/>
                  </a:lnTo>
                  <a:lnTo>
                    <a:pt x="50904" y="1543050"/>
                  </a:lnTo>
                  <a:lnTo>
                    <a:pt x="47362" y="1542694"/>
                  </a:lnTo>
                  <a:lnTo>
                    <a:pt x="15958" y="1527086"/>
                  </a:lnTo>
                  <a:lnTo>
                    <a:pt x="13428" y="1524558"/>
                  </a:lnTo>
                  <a:lnTo>
                    <a:pt x="11167" y="1521802"/>
                  </a:lnTo>
                  <a:lnTo>
                    <a:pt x="9182" y="1518831"/>
                  </a:lnTo>
                  <a:lnTo>
                    <a:pt x="7193" y="1515859"/>
                  </a:lnTo>
                  <a:lnTo>
                    <a:pt x="1046" y="1499196"/>
                  </a:lnTo>
                  <a:lnTo>
                    <a:pt x="346"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412680"/>
            <a:ext cx="2436495"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Modular</a:t>
            </a:r>
            <a:endParaRPr sz="1750" dirty="0">
              <a:latin typeface="Verdana"/>
              <a:cs typeface="Verdana"/>
            </a:endParaRPr>
          </a:p>
          <a:p>
            <a:pPr marL="12700" marR="5080" algn="just">
              <a:lnSpc>
                <a:spcPct val="137000"/>
              </a:lnSpc>
              <a:spcBef>
                <a:spcPts val="625"/>
              </a:spcBef>
            </a:pPr>
            <a:r>
              <a:rPr sz="1300" spc="20" dirty="0">
                <a:solidFill>
                  <a:srgbClr val="3A3535"/>
                </a:solidFill>
                <a:latin typeface="Century Gothic"/>
                <a:cs typeface="Century Gothic"/>
              </a:rPr>
              <a:t>Reusable</a:t>
            </a:r>
            <a:r>
              <a:rPr sz="1300" spc="145" dirty="0">
                <a:solidFill>
                  <a:srgbClr val="3A3535"/>
                </a:solidFill>
                <a:latin typeface="Century Gothic"/>
                <a:cs typeface="Century Gothic"/>
              </a:rPr>
              <a:t> </a:t>
            </a:r>
            <a:r>
              <a:rPr sz="1300" spc="20" dirty="0">
                <a:solidFill>
                  <a:srgbClr val="3A3535"/>
                </a:solidFill>
                <a:latin typeface="Century Gothic"/>
                <a:cs typeface="Century Gothic"/>
              </a:rPr>
              <a:t>components</a:t>
            </a:r>
            <a:r>
              <a:rPr sz="1300" spc="150" dirty="0">
                <a:solidFill>
                  <a:srgbClr val="3A3535"/>
                </a:solidFill>
                <a:latin typeface="Century Gothic"/>
                <a:cs typeface="Century Gothic"/>
              </a:rPr>
              <a:t> </a:t>
            </a:r>
            <a:r>
              <a:rPr sz="1300" spc="-20" dirty="0">
                <a:solidFill>
                  <a:srgbClr val="3A3535"/>
                </a:solidFill>
                <a:latin typeface="Century Gothic"/>
                <a:cs typeface="Century Gothic"/>
              </a:rPr>
              <a:t>make </a:t>
            </a:r>
            <a:r>
              <a:rPr sz="1300" spc="55" dirty="0">
                <a:solidFill>
                  <a:srgbClr val="3A3535"/>
                </a:solidFill>
                <a:latin typeface="Century Gothic"/>
                <a:cs typeface="Century Gothic"/>
              </a:rPr>
              <a:t>programs</a:t>
            </a:r>
            <a:r>
              <a:rPr sz="1300" spc="-35" dirty="0">
                <a:solidFill>
                  <a:srgbClr val="3A3535"/>
                </a:solidFill>
                <a:latin typeface="Century Gothic"/>
                <a:cs typeface="Century Gothic"/>
              </a:rPr>
              <a:t> </a:t>
            </a:r>
            <a:r>
              <a:rPr sz="1300" spc="55" dirty="0">
                <a:solidFill>
                  <a:srgbClr val="3A3535"/>
                </a:solidFill>
                <a:latin typeface="Century Gothic"/>
                <a:cs typeface="Century Gothic"/>
              </a:rPr>
              <a:t>faster</a:t>
            </a:r>
            <a:r>
              <a:rPr sz="1300" spc="-35" dirty="0">
                <a:solidFill>
                  <a:srgbClr val="3A3535"/>
                </a:solidFill>
                <a:latin typeface="Century Gothic"/>
                <a:cs typeface="Century Gothic"/>
              </a:rPr>
              <a:t> </a:t>
            </a:r>
            <a:r>
              <a:rPr sz="1300" spc="70" dirty="0">
                <a:solidFill>
                  <a:srgbClr val="3A3535"/>
                </a:solidFill>
                <a:latin typeface="Century Gothic"/>
                <a:cs typeface="Century Gothic"/>
              </a:rPr>
              <a:t>to</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a:t>
            </a:r>
            <a:r>
              <a:rPr sz="1300" spc="-35"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adapt</a:t>
            </a:r>
            <a:endParaRPr sz="1300" dirty="0">
              <a:latin typeface="Century Gothic"/>
              <a:cs typeface="Century Gothic"/>
            </a:endParaRPr>
          </a:p>
        </p:txBody>
      </p:sp>
      <p:grpSp>
        <p:nvGrpSpPr>
          <p:cNvPr id="8" name="object 8"/>
          <p:cNvGrpSpPr/>
          <p:nvPr/>
        </p:nvGrpSpPr>
        <p:grpSpPr>
          <a:xfrm>
            <a:off x="4067175" y="3257550"/>
            <a:ext cx="3295650" cy="1552575"/>
            <a:chOff x="4067175" y="3257550"/>
            <a:chExt cx="3295650" cy="1552575"/>
          </a:xfrm>
        </p:grpSpPr>
        <p:sp>
          <p:nvSpPr>
            <p:cNvPr id="9" name="object 9"/>
            <p:cNvSpPr/>
            <p:nvPr/>
          </p:nvSpPr>
          <p:spPr>
            <a:xfrm>
              <a:off x="4071937" y="3262312"/>
              <a:ext cx="3286125" cy="1543050"/>
            </a:xfrm>
            <a:custGeom>
              <a:avLst/>
              <a:gdLst/>
              <a:ahLst/>
              <a:cxnLst/>
              <a:rect l="l" t="t" r="r" b="b"/>
              <a:pathLst>
                <a:path w="3286125" h="1543050">
                  <a:moveTo>
                    <a:pt x="3235223" y="0"/>
                  </a:moveTo>
                  <a:lnTo>
                    <a:pt x="50901" y="0"/>
                  </a:lnTo>
                  <a:lnTo>
                    <a:pt x="47358" y="342"/>
                  </a:lnTo>
                  <a:lnTo>
                    <a:pt x="13423" y="18491"/>
                  </a:lnTo>
                  <a:lnTo>
                    <a:pt x="0" y="50901"/>
                  </a:lnTo>
                  <a:lnTo>
                    <a:pt x="0" y="1488567"/>
                  </a:lnTo>
                  <a:lnTo>
                    <a:pt x="0" y="1492148"/>
                  </a:lnTo>
                  <a:lnTo>
                    <a:pt x="15963" y="1527086"/>
                  </a:lnTo>
                  <a:lnTo>
                    <a:pt x="18478" y="1529626"/>
                  </a:lnTo>
                  <a:lnTo>
                    <a:pt x="50901" y="1543050"/>
                  </a:lnTo>
                  <a:lnTo>
                    <a:pt x="3235223" y="1543050"/>
                  </a:lnTo>
                  <a:lnTo>
                    <a:pt x="3272701" y="1524558"/>
                  </a:lnTo>
                  <a:lnTo>
                    <a:pt x="3286125" y="14921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262312"/>
              <a:ext cx="3286125" cy="1543050"/>
            </a:xfrm>
            <a:custGeom>
              <a:avLst/>
              <a:gdLst/>
              <a:ahLst/>
              <a:cxnLst/>
              <a:rect l="l" t="t" r="r" b="b"/>
              <a:pathLst>
                <a:path w="3286125"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488567"/>
                  </a:lnTo>
                  <a:lnTo>
                    <a:pt x="3286125" y="1492148"/>
                  </a:lnTo>
                  <a:lnTo>
                    <a:pt x="3285782" y="1495691"/>
                  </a:lnTo>
                  <a:lnTo>
                    <a:pt x="3285083" y="1499196"/>
                  </a:lnTo>
                  <a:lnTo>
                    <a:pt x="3284385" y="1502702"/>
                  </a:lnTo>
                  <a:lnTo>
                    <a:pt x="3283343" y="1506105"/>
                  </a:lnTo>
                  <a:lnTo>
                    <a:pt x="3281972" y="1509420"/>
                  </a:lnTo>
                  <a:lnTo>
                    <a:pt x="3280613" y="1512722"/>
                  </a:lnTo>
                  <a:lnTo>
                    <a:pt x="3278936" y="1515859"/>
                  </a:lnTo>
                  <a:lnTo>
                    <a:pt x="3276942" y="1518831"/>
                  </a:lnTo>
                  <a:lnTo>
                    <a:pt x="3274949" y="1521802"/>
                  </a:lnTo>
                  <a:lnTo>
                    <a:pt x="3272701" y="1524558"/>
                  </a:lnTo>
                  <a:lnTo>
                    <a:pt x="3270161" y="1527086"/>
                  </a:lnTo>
                  <a:lnTo>
                    <a:pt x="3267633" y="1529626"/>
                  </a:lnTo>
                  <a:lnTo>
                    <a:pt x="3235223" y="1543050"/>
                  </a:lnTo>
                  <a:lnTo>
                    <a:pt x="3231642" y="1543050"/>
                  </a:lnTo>
                  <a:lnTo>
                    <a:pt x="54483" y="1543050"/>
                  </a:lnTo>
                  <a:lnTo>
                    <a:pt x="50901" y="1543050"/>
                  </a:lnTo>
                  <a:lnTo>
                    <a:pt x="47358" y="1542694"/>
                  </a:lnTo>
                  <a:lnTo>
                    <a:pt x="15963"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412680"/>
            <a:ext cx="2832100" cy="9105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Connected</a:t>
            </a:r>
            <a:endParaRPr sz="1750">
              <a:latin typeface="Verdana"/>
              <a:cs typeface="Verdana"/>
            </a:endParaRPr>
          </a:p>
          <a:p>
            <a:pPr marL="12700" marR="5080">
              <a:lnSpc>
                <a:spcPct val="134600"/>
              </a:lnSpc>
              <a:spcBef>
                <a:spcPts val="660"/>
              </a:spcBef>
            </a:pPr>
            <a:r>
              <a:rPr sz="1300" dirty="0">
                <a:solidFill>
                  <a:srgbClr val="3A3535"/>
                </a:solidFill>
                <a:latin typeface="Century Gothic"/>
                <a:cs typeface="Century Gothic"/>
              </a:rPr>
              <a:t>Content,</a:t>
            </a:r>
            <a:r>
              <a:rPr sz="1300" spc="25"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2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spc="75" dirty="0">
                <a:solidFill>
                  <a:srgbClr val="3A3535"/>
                </a:solidFill>
                <a:latin typeface="Century Gothic"/>
                <a:cs typeface="Century Gothic"/>
              </a:rPr>
              <a:t>workflows</a:t>
            </a:r>
            <a:r>
              <a:rPr sz="1300" spc="25" dirty="0">
                <a:solidFill>
                  <a:srgbClr val="3A3535"/>
                </a:solidFill>
                <a:latin typeface="Century Gothic"/>
                <a:cs typeface="Century Gothic"/>
              </a:rPr>
              <a:t> </a:t>
            </a:r>
            <a:r>
              <a:rPr sz="1300" spc="-20" dirty="0">
                <a:solidFill>
                  <a:srgbClr val="3A3535"/>
                </a:solidFill>
                <a:latin typeface="Century Gothic"/>
                <a:cs typeface="Century Gothic"/>
              </a:rPr>
              <a:t>live </a:t>
            </a:r>
            <a:r>
              <a:rPr sz="1300" spc="90" dirty="0">
                <a:solidFill>
                  <a:srgbClr val="3A3535"/>
                </a:solidFill>
                <a:latin typeface="Century Gothic"/>
                <a:cs typeface="Century Gothic"/>
              </a:rPr>
              <a:t>in</a:t>
            </a:r>
            <a:r>
              <a:rPr sz="1300" spc="-25" dirty="0">
                <a:solidFill>
                  <a:srgbClr val="3A3535"/>
                </a:solidFill>
                <a:latin typeface="Century Gothic"/>
                <a:cs typeface="Century Gothic"/>
              </a:rPr>
              <a:t> </a:t>
            </a:r>
            <a:r>
              <a:rPr sz="1300" dirty="0">
                <a:solidFill>
                  <a:srgbClr val="3A3535"/>
                </a:solidFill>
                <a:latin typeface="Century Gothic"/>
                <a:cs typeface="Century Gothic"/>
              </a:rPr>
              <a:t>one</a:t>
            </a:r>
            <a:r>
              <a:rPr sz="1300" spc="-20" dirty="0">
                <a:solidFill>
                  <a:srgbClr val="3A3535"/>
                </a:solidFill>
                <a:latin typeface="Century Gothic"/>
                <a:cs typeface="Century Gothic"/>
              </a:rPr>
              <a:t> </a:t>
            </a:r>
            <a:r>
              <a:rPr sz="1300" spc="40" dirty="0">
                <a:solidFill>
                  <a:srgbClr val="3A3535"/>
                </a:solidFill>
                <a:latin typeface="Century Gothic"/>
                <a:cs typeface="Century Gothic"/>
              </a:rPr>
              <a:t>environment</a:t>
            </a:r>
            <a:endParaRPr sz="1300">
              <a:latin typeface="Century Gothic"/>
              <a:cs typeface="Century Gothic"/>
            </a:endParaRPr>
          </a:p>
        </p:txBody>
      </p:sp>
      <p:grpSp>
        <p:nvGrpSpPr>
          <p:cNvPr id="12" name="object 12"/>
          <p:cNvGrpSpPr/>
          <p:nvPr/>
        </p:nvGrpSpPr>
        <p:grpSpPr>
          <a:xfrm>
            <a:off x="7534275" y="3257550"/>
            <a:ext cx="3305175" cy="1552575"/>
            <a:chOff x="7534275" y="3257550"/>
            <a:chExt cx="3305175" cy="1552575"/>
          </a:xfrm>
        </p:grpSpPr>
        <p:sp>
          <p:nvSpPr>
            <p:cNvPr id="13" name="object 13"/>
            <p:cNvSpPr/>
            <p:nvPr/>
          </p:nvSpPr>
          <p:spPr>
            <a:xfrm>
              <a:off x="7539037" y="3262312"/>
              <a:ext cx="3295650" cy="1543050"/>
            </a:xfrm>
            <a:custGeom>
              <a:avLst/>
              <a:gdLst/>
              <a:ahLst/>
              <a:cxnLst/>
              <a:rect l="l" t="t" r="r" b="b"/>
              <a:pathLst>
                <a:path w="3295650" h="1543050">
                  <a:moveTo>
                    <a:pt x="3244748" y="0"/>
                  </a:moveTo>
                  <a:lnTo>
                    <a:pt x="50901" y="0"/>
                  </a:lnTo>
                  <a:lnTo>
                    <a:pt x="47358" y="342"/>
                  </a:lnTo>
                  <a:lnTo>
                    <a:pt x="13423" y="18491"/>
                  </a:lnTo>
                  <a:lnTo>
                    <a:pt x="0" y="50901"/>
                  </a:lnTo>
                  <a:lnTo>
                    <a:pt x="0" y="1488567"/>
                  </a:lnTo>
                  <a:lnTo>
                    <a:pt x="0" y="1492148"/>
                  </a:lnTo>
                  <a:lnTo>
                    <a:pt x="18478" y="1529626"/>
                  </a:lnTo>
                  <a:lnTo>
                    <a:pt x="50901"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262312"/>
              <a:ext cx="3295650" cy="1543050"/>
            </a:xfrm>
            <a:custGeom>
              <a:avLst/>
              <a:gdLst/>
              <a:ahLst/>
              <a:cxnLst/>
              <a:rect l="l" t="t" r="r" b="b"/>
              <a:pathLst>
                <a:path w="3295650"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3" y="1543050"/>
                  </a:lnTo>
                  <a:lnTo>
                    <a:pt x="50901" y="1543050"/>
                  </a:lnTo>
                  <a:lnTo>
                    <a:pt x="47358" y="1542694"/>
                  </a:lnTo>
                  <a:lnTo>
                    <a:pt x="15951"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412680"/>
            <a:ext cx="2760980"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Controlled</a:t>
            </a:r>
            <a:endParaRPr sz="1750">
              <a:latin typeface="Verdana"/>
              <a:cs typeface="Verdana"/>
            </a:endParaRPr>
          </a:p>
          <a:p>
            <a:pPr marL="12700" marR="5080">
              <a:lnSpc>
                <a:spcPct val="137000"/>
              </a:lnSpc>
              <a:spcBef>
                <a:spcPts val="625"/>
              </a:spcBef>
            </a:pPr>
            <a:r>
              <a:rPr sz="1300" spc="-35" dirty="0">
                <a:solidFill>
                  <a:srgbClr val="3A3535"/>
                </a:solidFill>
                <a:latin typeface="Century Gothic"/>
                <a:cs typeface="Century Gothic"/>
              </a:rPr>
              <a:t>Can</a:t>
            </a:r>
            <a:r>
              <a:rPr sz="1300" spc="25" dirty="0">
                <a:solidFill>
                  <a:srgbClr val="3A3535"/>
                </a:solidFill>
                <a:latin typeface="Century Gothic"/>
                <a:cs typeface="Century Gothic"/>
              </a:rPr>
              <a:t> </a:t>
            </a:r>
            <a:r>
              <a:rPr sz="1300" spc="75" dirty="0">
                <a:solidFill>
                  <a:srgbClr val="3A3535"/>
                </a:solidFill>
                <a:latin typeface="Century Gothic"/>
                <a:cs typeface="Century Gothic"/>
              </a:rPr>
              <a:t>run</a:t>
            </a:r>
            <a:r>
              <a:rPr sz="1300" spc="30" dirty="0">
                <a:solidFill>
                  <a:srgbClr val="3A3535"/>
                </a:solidFill>
                <a:latin typeface="Century Gothic"/>
                <a:cs typeface="Century Gothic"/>
              </a:rPr>
              <a:t> </a:t>
            </a:r>
            <a:r>
              <a:rPr sz="1300" dirty="0">
                <a:solidFill>
                  <a:srgbClr val="3A3535"/>
                </a:solidFill>
                <a:latin typeface="Century Gothic"/>
                <a:cs typeface="Century Gothic"/>
              </a:rPr>
              <a:t>under</a:t>
            </a:r>
            <a:r>
              <a:rPr sz="1300" spc="30" dirty="0">
                <a:solidFill>
                  <a:srgbClr val="3A3535"/>
                </a:solidFill>
                <a:latin typeface="Century Gothic"/>
                <a:cs typeface="Century Gothic"/>
              </a:rPr>
              <a:t> </a:t>
            </a:r>
            <a:r>
              <a:rPr sz="1300" spc="65" dirty="0">
                <a:solidFill>
                  <a:srgbClr val="3A3535"/>
                </a:solidFill>
                <a:latin typeface="Century Gothic"/>
                <a:cs typeface="Century Gothic"/>
              </a:rPr>
              <a:t>university </a:t>
            </a:r>
            <a:r>
              <a:rPr sz="1300" dirty="0">
                <a:solidFill>
                  <a:srgbClr val="3A3535"/>
                </a:solidFill>
                <a:latin typeface="Century Gothic"/>
                <a:cs typeface="Century Gothic"/>
              </a:rPr>
              <a:t>governance</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40" dirty="0">
                <a:solidFill>
                  <a:srgbClr val="3A3535"/>
                </a:solidFill>
                <a:latin typeface="Century Gothic"/>
                <a:cs typeface="Century Gothic"/>
              </a:rPr>
              <a:t>data </a:t>
            </a:r>
            <a:r>
              <a:rPr sz="1300" spc="45" dirty="0">
                <a:solidFill>
                  <a:srgbClr val="3A3535"/>
                </a:solidFill>
                <a:latin typeface="Century Gothic"/>
                <a:cs typeface="Century Gothic"/>
              </a:rPr>
              <a:t>protection </a:t>
            </a:r>
            <a:r>
              <a:rPr sz="1300" spc="50" dirty="0">
                <a:solidFill>
                  <a:srgbClr val="3A3535"/>
                </a:solidFill>
                <a:latin typeface="Century Gothic"/>
                <a:cs typeface="Century Gothic"/>
              </a:rPr>
              <a:t>requirements</a:t>
            </a:r>
            <a:endParaRPr sz="1300">
              <a:latin typeface="Century Gothic"/>
              <a:cs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132586"/>
            <a:ext cx="5031740" cy="560070"/>
          </a:xfrm>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50" dirty="0"/>
              <a:t>Evolved</a:t>
            </a:r>
          </a:p>
        </p:txBody>
      </p:sp>
      <p:grpSp>
        <p:nvGrpSpPr>
          <p:cNvPr id="3" name="object 3"/>
          <p:cNvGrpSpPr/>
          <p:nvPr/>
        </p:nvGrpSpPr>
        <p:grpSpPr>
          <a:xfrm>
            <a:off x="590550" y="3162223"/>
            <a:ext cx="10248900" cy="695325"/>
            <a:chOff x="590550" y="3162223"/>
            <a:chExt cx="10248900" cy="695325"/>
          </a:xfrm>
        </p:grpSpPr>
        <p:sp>
          <p:nvSpPr>
            <p:cNvPr id="4" name="object 4"/>
            <p:cNvSpPr/>
            <p:nvPr/>
          </p:nvSpPr>
          <p:spPr>
            <a:xfrm>
              <a:off x="590550" y="3162223"/>
              <a:ext cx="10248900" cy="524510"/>
            </a:xfrm>
            <a:custGeom>
              <a:avLst/>
              <a:gdLst/>
              <a:ahLst/>
              <a:cxnLst/>
              <a:rect l="l" t="t" r="r" b="b"/>
              <a:pathLst>
                <a:path w="10248900" h="524510">
                  <a:moveTo>
                    <a:pt x="2000250" y="6896"/>
                  </a:moveTo>
                  <a:lnTo>
                    <a:pt x="1999322" y="4648"/>
                  </a:lnTo>
                  <a:lnTo>
                    <a:pt x="1995601" y="927"/>
                  </a:lnTo>
                  <a:lnTo>
                    <a:pt x="1993353" y="0"/>
                  </a:lnTo>
                  <a:lnTo>
                    <a:pt x="1988096" y="0"/>
                  </a:lnTo>
                  <a:lnTo>
                    <a:pt x="1985848" y="927"/>
                  </a:lnTo>
                  <a:lnTo>
                    <a:pt x="1982127" y="4648"/>
                  </a:lnTo>
                  <a:lnTo>
                    <a:pt x="1981200" y="6896"/>
                  </a:lnTo>
                  <a:lnTo>
                    <a:pt x="1981200" y="495300"/>
                  </a:lnTo>
                  <a:lnTo>
                    <a:pt x="1981200" y="497928"/>
                  </a:lnTo>
                  <a:lnTo>
                    <a:pt x="1982127" y="500176"/>
                  </a:lnTo>
                  <a:lnTo>
                    <a:pt x="1985848" y="503897"/>
                  </a:lnTo>
                  <a:lnTo>
                    <a:pt x="1988096" y="504825"/>
                  </a:lnTo>
                  <a:lnTo>
                    <a:pt x="1993353" y="504825"/>
                  </a:lnTo>
                  <a:lnTo>
                    <a:pt x="1995601" y="503897"/>
                  </a:lnTo>
                  <a:lnTo>
                    <a:pt x="1999322" y="500176"/>
                  </a:lnTo>
                  <a:lnTo>
                    <a:pt x="2000250" y="497928"/>
                  </a:lnTo>
                  <a:lnTo>
                    <a:pt x="2000250" y="6896"/>
                  </a:lnTo>
                  <a:close/>
                </a:path>
                <a:path w="10248900" h="524510">
                  <a:moveTo>
                    <a:pt x="10248900" y="511797"/>
                  </a:moveTo>
                  <a:lnTo>
                    <a:pt x="10247973" y="509549"/>
                  </a:lnTo>
                  <a:lnTo>
                    <a:pt x="10244252" y="505828"/>
                  </a:lnTo>
                  <a:lnTo>
                    <a:pt x="10242004" y="504901"/>
                  </a:lnTo>
                  <a:lnTo>
                    <a:pt x="6896" y="504901"/>
                  </a:lnTo>
                  <a:lnTo>
                    <a:pt x="4648" y="505828"/>
                  </a:lnTo>
                  <a:lnTo>
                    <a:pt x="927" y="509549"/>
                  </a:lnTo>
                  <a:lnTo>
                    <a:pt x="0" y="511797"/>
                  </a:lnTo>
                  <a:lnTo>
                    <a:pt x="0" y="514426"/>
                  </a:lnTo>
                  <a:lnTo>
                    <a:pt x="0" y="517055"/>
                  </a:lnTo>
                  <a:lnTo>
                    <a:pt x="927" y="519303"/>
                  </a:lnTo>
                  <a:lnTo>
                    <a:pt x="4648" y="523024"/>
                  </a:lnTo>
                  <a:lnTo>
                    <a:pt x="6896" y="523951"/>
                  </a:lnTo>
                  <a:lnTo>
                    <a:pt x="10242004" y="523951"/>
                  </a:lnTo>
                  <a:lnTo>
                    <a:pt x="10244252" y="523024"/>
                  </a:lnTo>
                  <a:lnTo>
                    <a:pt x="10247973" y="519303"/>
                  </a:lnTo>
                  <a:lnTo>
                    <a:pt x="10248900" y="517055"/>
                  </a:lnTo>
                  <a:lnTo>
                    <a:pt x="10248900" y="511797"/>
                  </a:lnTo>
                  <a:close/>
                </a:path>
              </a:pathLst>
            </a:custGeom>
            <a:solidFill>
              <a:srgbClr val="DFB7BB"/>
            </a:solidFill>
          </p:spPr>
          <p:txBody>
            <a:bodyPr wrap="square" lIns="0" tIns="0" rIns="0" bIns="0" rtlCol="0"/>
            <a:lstStyle/>
            <a:p>
              <a:endParaRPr/>
            </a:p>
          </p:txBody>
        </p:sp>
        <p:sp>
          <p:nvSpPr>
            <p:cNvPr id="5" name="object 5"/>
            <p:cNvSpPr/>
            <p:nvPr/>
          </p:nvSpPr>
          <p:spPr>
            <a:xfrm>
              <a:off x="2395537"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96" y="13423"/>
                  </a:lnTo>
                  <a:lnTo>
                    <a:pt x="324116" y="355"/>
                  </a:lnTo>
                  <a:lnTo>
                    <a:pt x="320573" y="0"/>
                  </a:lnTo>
                  <a:close/>
                </a:path>
              </a:pathLst>
            </a:custGeom>
            <a:solidFill>
              <a:srgbClr val="F9D2D6"/>
            </a:solidFill>
          </p:spPr>
          <p:txBody>
            <a:bodyPr wrap="square" lIns="0" tIns="0" rIns="0" bIns="0" rtlCol="0"/>
            <a:lstStyle/>
            <a:p>
              <a:endParaRPr/>
            </a:p>
          </p:txBody>
        </p:sp>
        <p:sp>
          <p:nvSpPr>
            <p:cNvPr id="6" name="object 6"/>
            <p:cNvSpPr/>
            <p:nvPr/>
          </p:nvSpPr>
          <p:spPr>
            <a:xfrm>
              <a:off x="2395537"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96"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18478" y="358051"/>
                  </a:lnTo>
                  <a:lnTo>
                    <a:pt x="15963" y="355523"/>
                  </a:lnTo>
                  <a:lnTo>
                    <a:pt x="13423" y="352983"/>
                  </a:lnTo>
                  <a:lnTo>
                    <a:pt x="11163" y="350240"/>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2508224" y="3467836"/>
            <a:ext cx="139065" cy="346075"/>
          </a:xfrm>
          <a:prstGeom prst="rect">
            <a:avLst/>
          </a:prstGeom>
        </p:spPr>
        <p:txBody>
          <a:bodyPr vert="horz" wrap="square" lIns="0" tIns="12700" rIns="0" bIns="0" rtlCol="0">
            <a:spAutoFit/>
          </a:bodyPr>
          <a:lstStyle/>
          <a:p>
            <a:pPr marL="12700">
              <a:lnSpc>
                <a:spcPct val="100000"/>
              </a:lnSpc>
              <a:spcBef>
                <a:spcPts val="100"/>
              </a:spcBef>
            </a:pPr>
            <a:r>
              <a:rPr sz="2100" b="1" spc="-645" dirty="0">
                <a:solidFill>
                  <a:srgbClr val="3A3535"/>
                </a:solidFill>
                <a:latin typeface="Verdana"/>
                <a:cs typeface="Verdana"/>
              </a:rPr>
              <a:t>1</a:t>
            </a:r>
            <a:endParaRPr sz="2100">
              <a:latin typeface="Verdana"/>
              <a:cs typeface="Verdana"/>
            </a:endParaRPr>
          </a:p>
        </p:txBody>
      </p:sp>
      <p:sp>
        <p:nvSpPr>
          <p:cNvPr id="8" name="object 8"/>
          <p:cNvSpPr txBox="1"/>
          <p:nvPr/>
        </p:nvSpPr>
        <p:spPr>
          <a:xfrm>
            <a:off x="2293988" y="2041080"/>
            <a:ext cx="567690" cy="29273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3A3535"/>
                </a:solidFill>
                <a:latin typeface="Verdana"/>
                <a:cs typeface="Verdana"/>
              </a:rPr>
              <a:t>2021</a:t>
            </a:r>
            <a:endParaRPr sz="1750">
              <a:latin typeface="Verdana"/>
              <a:cs typeface="Verdana"/>
            </a:endParaRPr>
          </a:p>
        </p:txBody>
      </p:sp>
      <p:sp>
        <p:nvSpPr>
          <p:cNvPr id="9" name="object 9"/>
          <p:cNvSpPr txBox="1"/>
          <p:nvPr/>
        </p:nvSpPr>
        <p:spPr>
          <a:xfrm>
            <a:off x="752424" y="2392875"/>
            <a:ext cx="3651885" cy="558800"/>
          </a:xfrm>
          <a:prstGeom prst="rect">
            <a:avLst/>
          </a:prstGeom>
        </p:spPr>
        <p:txBody>
          <a:bodyPr vert="horz" wrap="square" lIns="0" tIns="11430" rIns="0" bIns="0" rtlCol="0">
            <a:spAutoFit/>
          </a:bodyPr>
          <a:lstStyle/>
          <a:p>
            <a:pPr marL="1118235" marR="5080" indent="-1106170">
              <a:lnSpc>
                <a:spcPct val="134600"/>
              </a:lnSpc>
              <a:spcBef>
                <a:spcPts val="90"/>
              </a:spcBef>
            </a:pPr>
            <a:r>
              <a:rPr sz="1300" spc="85" dirty="0">
                <a:solidFill>
                  <a:srgbClr val="3A3535"/>
                </a:solidFill>
                <a:latin typeface="Century Gothic"/>
                <a:cs typeface="Century Gothic"/>
              </a:rPr>
              <a:t>Self-</a:t>
            </a:r>
            <a:r>
              <a:rPr sz="1300" spc="75" dirty="0">
                <a:solidFill>
                  <a:srgbClr val="3A3535"/>
                </a:solidFill>
                <a:latin typeface="Century Gothic"/>
                <a:cs typeface="Century Gothic"/>
              </a:rPr>
              <a:t>help</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dirty="0">
                <a:solidFill>
                  <a:srgbClr val="3A3535"/>
                </a:solidFill>
                <a:latin typeface="Century Gothic"/>
                <a:cs typeface="Century Gothic"/>
              </a:rPr>
              <a:t>research</a:t>
            </a:r>
            <a:r>
              <a:rPr sz="1300" spc="20" dirty="0">
                <a:solidFill>
                  <a:srgbClr val="3A3535"/>
                </a:solidFill>
                <a:latin typeface="Century Gothic"/>
                <a:cs typeface="Century Gothic"/>
              </a:rPr>
              <a:t> </a:t>
            </a:r>
            <a:r>
              <a:rPr sz="1300" spc="70" dirty="0">
                <a:solidFill>
                  <a:srgbClr val="3A3535"/>
                </a:solidFill>
                <a:latin typeface="Century Gothic"/>
                <a:cs typeface="Century Gothic"/>
              </a:rPr>
              <a:t>websites</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content </a:t>
            </a:r>
            <a:r>
              <a:rPr sz="1300" spc="75" dirty="0">
                <a:solidFill>
                  <a:srgbClr val="3A3535"/>
                </a:solidFill>
                <a:latin typeface="Century Gothic"/>
                <a:cs typeface="Century Gothic"/>
              </a:rPr>
              <a:t>publishing</a:t>
            </a:r>
            <a:r>
              <a:rPr sz="1300" spc="-45" dirty="0">
                <a:solidFill>
                  <a:srgbClr val="3A3535"/>
                </a:solidFill>
                <a:latin typeface="Century Gothic"/>
                <a:cs typeface="Century Gothic"/>
              </a:rPr>
              <a:t> </a:t>
            </a:r>
            <a:r>
              <a:rPr sz="1300" spc="50" dirty="0">
                <a:solidFill>
                  <a:srgbClr val="3A3535"/>
                </a:solidFill>
                <a:latin typeface="Century Gothic"/>
                <a:cs typeface="Century Gothic"/>
              </a:rPr>
              <a:t>focus</a:t>
            </a:r>
            <a:endParaRPr sz="1300">
              <a:latin typeface="Century Gothic"/>
              <a:cs typeface="Century Gothic"/>
            </a:endParaRPr>
          </a:p>
        </p:txBody>
      </p:sp>
      <p:grpSp>
        <p:nvGrpSpPr>
          <p:cNvPr id="10" name="object 10"/>
          <p:cNvGrpSpPr/>
          <p:nvPr/>
        </p:nvGrpSpPr>
        <p:grpSpPr>
          <a:xfrm>
            <a:off x="4476750" y="3476700"/>
            <a:ext cx="381000" cy="695325"/>
            <a:chOff x="4476750" y="3476700"/>
            <a:chExt cx="381000" cy="695325"/>
          </a:xfrm>
        </p:grpSpPr>
        <p:sp>
          <p:nvSpPr>
            <p:cNvPr id="11" name="object 11"/>
            <p:cNvSpPr/>
            <p:nvPr/>
          </p:nvSpPr>
          <p:spPr>
            <a:xfrm>
              <a:off x="4657725"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2" name="object 12"/>
            <p:cNvSpPr/>
            <p:nvPr/>
          </p:nvSpPr>
          <p:spPr>
            <a:xfrm>
              <a:off x="4481512"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5963" y="355511"/>
                  </a:lnTo>
                  <a:lnTo>
                    <a:pt x="18478" y="358051"/>
                  </a:lnTo>
                  <a:lnTo>
                    <a:pt x="50901" y="371475"/>
                  </a:lnTo>
                  <a:lnTo>
                    <a:pt x="320573" y="371475"/>
                  </a:lnTo>
                  <a:lnTo>
                    <a:pt x="355511" y="355511"/>
                  </a:lnTo>
                  <a:lnTo>
                    <a:pt x="358051" y="352983"/>
                  </a:lnTo>
                  <a:lnTo>
                    <a:pt x="371475" y="320573"/>
                  </a:lnTo>
                  <a:lnTo>
                    <a:pt x="371475" y="50901"/>
                  </a:lnTo>
                  <a:lnTo>
                    <a:pt x="352996" y="13423"/>
                  </a:lnTo>
                  <a:lnTo>
                    <a:pt x="324116" y="342"/>
                  </a:lnTo>
                  <a:lnTo>
                    <a:pt x="320573" y="0"/>
                  </a:lnTo>
                  <a:close/>
                </a:path>
              </a:pathLst>
            </a:custGeom>
            <a:solidFill>
              <a:srgbClr val="F9D2D6"/>
            </a:solidFill>
          </p:spPr>
          <p:txBody>
            <a:bodyPr wrap="square" lIns="0" tIns="0" rIns="0" bIns="0" rtlCol="0"/>
            <a:lstStyle/>
            <a:p>
              <a:endParaRPr/>
            </a:p>
          </p:txBody>
        </p:sp>
        <p:sp>
          <p:nvSpPr>
            <p:cNvPr id="13" name="object 13"/>
            <p:cNvSpPr/>
            <p:nvPr/>
          </p:nvSpPr>
          <p:spPr>
            <a:xfrm>
              <a:off x="4481512"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13423" y="18478"/>
                  </a:lnTo>
                  <a:lnTo>
                    <a:pt x="15963" y="15951"/>
                  </a:lnTo>
                  <a:lnTo>
                    <a:pt x="18478" y="13423"/>
                  </a:lnTo>
                  <a:lnTo>
                    <a:pt x="21234" y="11163"/>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96"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96"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63"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14" name="object 14"/>
          <p:cNvSpPr txBox="1"/>
          <p:nvPr/>
        </p:nvSpPr>
        <p:spPr>
          <a:xfrm>
            <a:off x="4572469" y="346797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2</a:t>
            </a:r>
            <a:endParaRPr sz="2100">
              <a:latin typeface="Verdana"/>
              <a:cs typeface="Verdana"/>
            </a:endParaRPr>
          </a:p>
        </p:txBody>
      </p:sp>
      <p:sp>
        <p:nvSpPr>
          <p:cNvPr id="15" name="object 15"/>
          <p:cNvSpPr txBox="1"/>
          <p:nvPr/>
        </p:nvSpPr>
        <p:spPr>
          <a:xfrm>
            <a:off x="3000768" y="4317555"/>
            <a:ext cx="3337560" cy="910590"/>
          </a:xfrm>
          <a:prstGeom prst="rect">
            <a:avLst/>
          </a:prstGeom>
        </p:spPr>
        <p:txBody>
          <a:bodyPr vert="horz" wrap="square" lIns="0" tIns="12700" rIns="0" bIns="0" rtlCol="0">
            <a:spAutoFit/>
          </a:bodyPr>
          <a:lstStyle/>
          <a:p>
            <a:pPr algn="ctr">
              <a:lnSpc>
                <a:spcPct val="100000"/>
              </a:lnSpc>
              <a:spcBef>
                <a:spcPts val="100"/>
              </a:spcBef>
            </a:pPr>
            <a:r>
              <a:rPr sz="1750" b="1" spc="-20" dirty="0">
                <a:solidFill>
                  <a:srgbClr val="3A3535"/>
                </a:solidFill>
                <a:latin typeface="Verdana"/>
                <a:cs typeface="Verdana"/>
              </a:rPr>
              <a:t>2023</a:t>
            </a:r>
            <a:endParaRPr sz="1750" dirty="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Modular</a:t>
            </a:r>
            <a:r>
              <a:rPr sz="1300" spc="130" dirty="0">
                <a:solidFill>
                  <a:srgbClr val="3A3535"/>
                </a:solidFill>
                <a:latin typeface="Century Gothic"/>
                <a:cs typeface="Century Gothic"/>
              </a:rPr>
              <a:t> </a:t>
            </a:r>
            <a:r>
              <a:rPr sz="1300" dirty="0">
                <a:solidFill>
                  <a:srgbClr val="3A3535"/>
                </a:solidFill>
                <a:latin typeface="Century Gothic"/>
                <a:cs typeface="Century Gothic"/>
              </a:rPr>
              <a:t>pages,</a:t>
            </a:r>
            <a:r>
              <a:rPr sz="1300" spc="135" dirty="0">
                <a:solidFill>
                  <a:srgbClr val="3A3535"/>
                </a:solidFill>
                <a:latin typeface="Century Gothic"/>
                <a:cs typeface="Century Gothic"/>
              </a:rPr>
              <a:t> </a:t>
            </a:r>
            <a:r>
              <a:rPr sz="1300" dirty="0">
                <a:solidFill>
                  <a:srgbClr val="3A3535"/>
                </a:solidFill>
                <a:latin typeface="Century Gothic"/>
                <a:cs typeface="Century Gothic"/>
              </a:rPr>
              <a:t>scheduling,</a:t>
            </a:r>
            <a:r>
              <a:rPr sz="1300" spc="13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35" dirty="0">
                <a:solidFill>
                  <a:srgbClr val="3A3535"/>
                </a:solidFill>
                <a:latin typeface="Century Gothic"/>
                <a:cs typeface="Century Gothic"/>
              </a:rPr>
              <a:t> </a:t>
            </a:r>
            <a:r>
              <a:rPr sz="1300" spc="40" dirty="0">
                <a:solidFill>
                  <a:srgbClr val="3A3535"/>
                </a:solidFill>
                <a:latin typeface="Century Gothic"/>
                <a:cs typeface="Century Gothic"/>
              </a:rPr>
              <a:t>mobile </a:t>
            </a:r>
            <a:r>
              <a:rPr sz="1300" spc="45" dirty="0">
                <a:solidFill>
                  <a:srgbClr val="3A3535"/>
                </a:solidFill>
                <a:latin typeface="Century Gothic"/>
                <a:cs typeface="Century Gothic"/>
              </a:rPr>
              <a:t>integration</a:t>
            </a:r>
            <a:endParaRPr sz="1300" dirty="0">
              <a:latin typeface="Century Gothic"/>
              <a:cs typeface="Century Gothic"/>
            </a:endParaRPr>
          </a:p>
        </p:txBody>
      </p:sp>
      <p:grpSp>
        <p:nvGrpSpPr>
          <p:cNvPr id="16" name="object 16"/>
          <p:cNvGrpSpPr/>
          <p:nvPr/>
        </p:nvGrpSpPr>
        <p:grpSpPr>
          <a:xfrm>
            <a:off x="6572250" y="3162223"/>
            <a:ext cx="381000" cy="695325"/>
            <a:chOff x="6572250" y="3162223"/>
            <a:chExt cx="381000" cy="695325"/>
          </a:xfrm>
        </p:grpSpPr>
        <p:sp>
          <p:nvSpPr>
            <p:cNvPr id="17" name="object 17"/>
            <p:cNvSpPr/>
            <p:nvPr/>
          </p:nvSpPr>
          <p:spPr>
            <a:xfrm>
              <a:off x="6753225" y="3162223"/>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97"/>
                  </a:lnTo>
                  <a:lnTo>
                    <a:pt x="6896" y="504825"/>
                  </a:lnTo>
                  <a:lnTo>
                    <a:pt x="12153" y="504825"/>
                  </a:lnTo>
                  <a:lnTo>
                    <a:pt x="14401" y="503897"/>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8" name="object 18"/>
            <p:cNvSpPr/>
            <p:nvPr/>
          </p:nvSpPr>
          <p:spPr>
            <a:xfrm>
              <a:off x="6577012"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55"/>
                  </a:lnTo>
                  <a:lnTo>
                    <a:pt x="320573" y="0"/>
                  </a:lnTo>
                  <a:close/>
                </a:path>
              </a:pathLst>
            </a:custGeom>
            <a:solidFill>
              <a:srgbClr val="F9D2D6"/>
            </a:solidFill>
          </p:spPr>
          <p:txBody>
            <a:bodyPr wrap="square" lIns="0" tIns="0" rIns="0" bIns="0" rtlCol="0"/>
            <a:lstStyle/>
            <a:p>
              <a:endParaRPr/>
            </a:p>
          </p:txBody>
        </p:sp>
        <p:sp>
          <p:nvSpPr>
            <p:cNvPr id="19" name="object 19"/>
            <p:cNvSpPr/>
            <p:nvPr/>
          </p:nvSpPr>
          <p:spPr>
            <a:xfrm>
              <a:off x="6577012"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83"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0" name="object 20"/>
          <p:cNvSpPr txBox="1"/>
          <p:nvPr/>
        </p:nvSpPr>
        <p:spPr>
          <a:xfrm>
            <a:off x="6663956" y="346783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3</a:t>
            </a:r>
            <a:endParaRPr sz="2100">
              <a:latin typeface="Verdana"/>
              <a:cs typeface="Verdana"/>
            </a:endParaRPr>
          </a:p>
        </p:txBody>
      </p:sp>
      <p:sp>
        <p:nvSpPr>
          <p:cNvPr id="21" name="object 21"/>
          <p:cNvSpPr txBox="1"/>
          <p:nvPr/>
        </p:nvSpPr>
        <p:spPr>
          <a:xfrm>
            <a:off x="6093129" y="2041080"/>
            <a:ext cx="1335405" cy="292735"/>
          </a:xfrm>
          <a:prstGeom prst="rect">
            <a:avLst/>
          </a:prstGeom>
        </p:spPr>
        <p:txBody>
          <a:bodyPr vert="horz" wrap="square" lIns="0" tIns="12700" rIns="0" bIns="0" rtlCol="0">
            <a:spAutoFit/>
          </a:bodyPr>
          <a:lstStyle/>
          <a:p>
            <a:pPr marL="12700">
              <a:lnSpc>
                <a:spcPct val="100000"/>
              </a:lnSpc>
              <a:spcBef>
                <a:spcPts val="100"/>
              </a:spcBef>
            </a:pPr>
            <a:r>
              <a:rPr sz="1750" b="1" spc="-120" dirty="0">
                <a:solidFill>
                  <a:srgbClr val="3A3535"/>
                </a:solidFill>
                <a:latin typeface="Verdana"/>
                <a:cs typeface="Verdana"/>
              </a:rPr>
              <a:t>2024–</a:t>
            </a:r>
            <a:r>
              <a:rPr sz="1750" b="1" spc="-85" dirty="0">
                <a:solidFill>
                  <a:srgbClr val="3A3535"/>
                </a:solidFill>
                <a:latin typeface="Verdana"/>
                <a:cs typeface="Verdana"/>
              </a:rPr>
              <a:t>2026</a:t>
            </a:r>
            <a:endParaRPr sz="1750">
              <a:latin typeface="Verdana"/>
              <a:cs typeface="Verdana"/>
            </a:endParaRPr>
          </a:p>
        </p:txBody>
      </p:sp>
      <p:sp>
        <p:nvSpPr>
          <p:cNvPr id="22" name="object 22"/>
          <p:cNvSpPr txBox="1"/>
          <p:nvPr/>
        </p:nvSpPr>
        <p:spPr>
          <a:xfrm>
            <a:off x="4977206" y="2392875"/>
            <a:ext cx="3567429" cy="558800"/>
          </a:xfrm>
          <a:prstGeom prst="rect">
            <a:avLst/>
          </a:prstGeom>
        </p:spPr>
        <p:txBody>
          <a:bodyPr vert="horz" wrap="square" lIns="0" tIns="11430" rIns="0" bIns="0" rtlCol="0">
            <a:spAutoFit/>
          </a:bodyPr>
          <a:lstStyle/>
          <a:p>
            <a:pPr marL="12700" marR="5080" indent="394970">
              <a:lnSpc>
                <a:spcPct val="134600"/>
              </a:lnSpc>
              <a:spcBef>
                <a:spcPts val="90"/>
              </a:spcBef>
            </a:pPr>
            <a:r>
              <a:rPr sz="1300" spc="95" dirty="0">
                <a:solidFill>
                  <a:srgbClr val="3A3535"/>
                </a:solidFill>
                <a:latin typeface="Century Gothic"/>
                <a:cs typeface="Century Gothic"/>
              </a:rPr>
              <a:t>Stronger</a:t>
            </a:r>
            <a:r>
              <a:rPr sz="1300" dirty="0">
                <a:solidFill>
                  <a:srgbClr val="3A3535"/>
                </a:solidFill>
                <a:latin typeface="Century Gothic"/>
                <a:cs typeface="Century Gothic"/>
              </a:rPr>
              <a:t> </a:t>
            </a:r>
            <a:r>
              <a:rPr sz="1300" spc="-40" dirty="0">
                <a:solidFill>
                  <a:srgbClr val="3A3535"/>
                </a:solidFill>
                <a:latin typeface="Century Gothic"/>
                <a:cs typeface="Century Gothic"/>
              </a:rPr>
              <a:t>data</a:t>
            </a:r>
            <a:r>
              <a:rPr sz="1300" dirty="0">
                <a:solidFill>
                  <a:srgbClr val="3A3535"/>
                </a:solidFill>
                <a:latin typeface="Century Gothic"/>
                <a:cs typeface="Century Gothic"/>
              </a:rPr>
              <a:t> model,</a:t>
            </a:r>
            <a:r>
              <a:rPr sz="1300" spc="5" dirty="0">
                <a:solidFill>
                  <a:srgbClr val="3A3535"/>
                </a:solidFill>
                <a:latin typeface="Century Gothic"/>
                <a:cs typeface="Century Gothic"/>
              </a:rPr>
              <a:t> </a:t>
            </a:r>
            <a:r>
              <a:rPr sz="1300" spc="55" dirty="0">
                <a:solidFill>
                  <a:srgbClr val="3A3535"/>
                </a:solidFill>
                <a:latin typeface="Century Gothic"/>
                <a:cs typeface="Century Gothic"/>
              </a:rPr>
              <a:t>workflows, </a:t>
            </a:r>
            <a:r>
              <a:rPr sz="1300" spc="90" dirty="0">
                <a:solidFill>
                  <a:srgbClr val="3A3535"/>
                </a:solidFill>
                <a:latin typeface="Century Gothic"/>
                <a:cs typeface="Century Gothic"/>
              </a:rPr>
              <a:t>permissions,</a:t>
            </a:r>
            <a:r>
              <a:rPr sz="1300" spc="70" dirty="0">
                <a:solidFill>
                  <a:srgbClr val="3A3535"/>
                </a:solidFill>
                <a:latin typeface="Century Gothic"/>
                <a:cs typeface="Century Gothic"/>
              </a:rPr>
              <a:t> </a:t>
            </a:r>
            <a:r>
              <a:rPr sz="1300" dirty="0">
                <a:solidFill>
                  <a:srgbClr val="3A3535"/>
                </a:solidFill>
                <a:latin typeface="Century Gothic"/>
                <a:cs typeface="Century Gothic"/>
              </a:rPr>
              <a:t>2FA,</a:t>
            </a:r>
            <a:r>
              <a:rPr sz="1300" spc="70" dirty="0">
                <a:solidFill>
                  <a:srgbClr val="3A3535"/>
                </a:solidFill>
                <a:latin typeface="Century Gothic"/>
                <a:cs typeface="Century Gothic"/>
              </a:rPr>
              <a:t> </a:t>
            </a:r>
            <a:r>
              <a:rPr sz="1300" dirty="0">
                <a:solidFill>
                  <a:srgbClr val="3A3535"/>
                </a:solidFill>
                <a:latin typeface="Century Gothic"/>
                <a:cs typeface="Century Gothic"/>
              </a:rPr>
              <a:t>background</a:t>
            </a:r>
            <a:r>
              <a:rPr sz="1300" spc="75" dirty="0">
                <a:solidFill>
                  <a:srgbClr val="3A3535"/>
                </a:solidFill>
                <a:latin typeface="Century Gothic"/>
                <a:cs typeface="Century Gothic"/>
              </a:rPr>
              <a:t> </a:t>
            </a:r>
            <a:r>
              <a:rPr sz="1300" spc="60" dirty="0">
                <a:solidFill>
                  <a:srgbClr val="3A3535"/>
                </a:solidFill>
                <a:latin typeface="Century Gothic"/>
                <a:cs typeface="Century Gothic"/>
              </a:rPr>
              <a:t>processing</a:t>
            </a:r>
            <a:endParaRPr sz="1300">
              <a:latin typeface="Century Gothic"/>
              <a:cs typeface="Century Gothic"/>
            </a:endParaRPr>
          </a:p>
        </p:txBody>
      </p:sp>
      <p:grpSp>
        <p:nvGrpSpPr>
          <p:cNvPr id="23" name="object 23"/>
          <p:cNvGrpSpPr/>
          <p:nvPr/>
        </p:nvGrpSpPr>
        <p:grpSpPr>
          <a:xfrm>
            <a:off x="8658225" y="3476700"/>
            <a:ext cx="381000" cy="695325"/>
            <a:chOff x="8658225" y="3476700"/>
            <a:chExt cx="381000" cy="695325"/>
          </a:xfrm>
        </p:grpSpPr>
        <p:sp>
          <p:nvSpPr>
            <p:cNvPr id="24" name="object 24"/>
            <p:cNvSpPr/>
            <p:nvPr/>
          </p:nvSpPr>
          <p:spPr>
            <a:xfrm>
              <a:off x="8839200"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25" name="object 25"/>
            <p:cNvSpPr/>
            <p:nvPr/>
          </p:nvSpPr>
          <p:spPr>
            <a:xfrm>
              <a:off x="8662987"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42"/>
                  </a:lnTo>
                  <a:lnTo>
                    <a:pt x="320573" y="0"/>
                  </a:lnTo>
                  <a:close/>
                </a:path>
              </a:pathLst>
            </a:custGeom>
            <a:solidFill>
              <a:srgbClr val="F9D2D6"/>
            </a:solidFill>
          </p:spPr>
          <p:txBody>
            <a:bodyPr wrap="square" lIns="0" tIns="0" rIns="0" bIns="0" rtlCol="0"/>
            <a:lstStyle/>
            <a:p>
              <a:endParaRPr/>
            </a:p>
          </p:txBody>
        </p:sp>
        <p:sp>
          <p:nvSpPr>
            <p:cNvPr id="26" name="object 26"/>
            <p:cNvSpPr/>
            <p:nvPr/>
          </p:nvSpPr>
          <p:spPr>
            <a:xfrm>
              <a:off x="8662987"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83"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83"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51"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7" name="object 27"/>
          <p:cNvSpPr txBox="1"/>
          <p:nvPr/>
        </p:nvSpPr>
        <p:spPr>
          <a:xfrm>
            <a:off x="8750668" y="3467976"/>
            <a:ext cx="202565" cy="346075"/>
          </a:xfrm>
          <a:prstGeom prst="rect">
            <a:avLst/>
          </a:prstGeom>
        </p:spPr>
        <p:txBody>
          <a:bodyPr vert="horz" wrap="square" lIns="0" tIns="12700" rIns="0" bIns="0" rtlCol="0">
            <a:spAutoFit/>
          </a:bodyPr>
          <a:lstStyle/>
          <a:p>
            <a:pPr marL="12700">
              <a:lnSpc>
                <a:spcPct val="100000"/>
              </a:lnSpc>
              <a:spcBef>
                <a:spcPts val="100"/>
              </a:spcBef>
            </a:pPr>
            <a:r>
              <a:rPr sz="2100" b="1" spc="-50" dirty="0">
                <a:solidFill>
                  <a:srgbClr val="3A3535"/>
                </a:solidFill>
                <a:latin typeface="Verdana"/>
                <a:cs typeface="Verdana"/>
              </a:rPr>
              <a:t>4</a:t>
            </a:r>
            <a:endParaRPr sz="2100">
              <a:latin typeface="Verdana"/>
              <a:cs typeface="Verdana"/>
            </a:endParaRPr>
          </a:p>
        </p:txBody>
      </p:sp>
      <p:sp>
        <p:nvSpPr>
          <p:cNvPr id="28" name="object 28"/>
          <p:cNvSpPr txBox="1"/>
          <p:nvPr/>
        </p:nvSpPr>
        <p:spPr>
          <a:xfrm>
            <a:off x="7292378" y="4317555"/>
            <a:ext cx="3119755" cy="910590"/>
          </a:xfrm>
          <a:prstGeom prst="rect">
            <a:avLst/>
          </a:prstGeom>
        </p:spPr>
        <p:txBody>
          <a:bodyPr vert="horz" wrap="square" lIns="0" tIns="12700" rIns="0" bIns="0" rtlCol="0">
            <a:spAutoFit/>
          </a:bodyPr>
          <a:lstStyle/>
          <a:p>
            <a:pPr algn="ctr">
              <a:lnSpc>
                <a:spcPct val="100000"/>
              </a:lnSpc>
              <a:spcBef>
                <a:spcPts val="100"/>
              </a:spcBef>
            </a:pPr>
            <a:r>
              <a:rPr sz="1750" b="1" spc="-25" dirty="0">
                <a:solidFill>
                  <a:srgbClr val="3A3535"/>
                </a:solidFill>
                <a:latin typeface="Verdana"/>
                <a:cs typeface="Verdana"/>
              </a:rPr>
              <a:t>Now</a:t>
            </a:r>
            <a:endParaRPr sz="175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General</a:t>
            </a:r>
            <a:r>
              <a:rPr sz="1300" spc="-45" dirty="0">
                <a:solidFill>
                  <a:srgbClr val="3A3535"/>
                </a:solidFill>
                <a:latin typeface="Century Gothic"/>
                <a:cs typeface="Century Gothic"/>
              </a:rPr>
              <a:t> </a:t>
            </a:r>
            <a:r>
              <a:rPr sz="1300" spc="80" dirty="0">
                <a:solidFill>
                  <a:srgbClr val="3A3535"/>
                </a:solidFill>
                <a:latin typeface="Century Gothic"/>
                <a:cs typeface="Century Gothic"/>
              </a:rPr>
              <a:t>LLM</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support</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60" dirty="0">
                <a:solidFill>
                  <a:srgbClr val="3A3535"/>
                </a:solidFill>
                <a:latin typeface="Century Gothic"/>
                <a:cs typeface="Century Gothic"/>
              </a:rPr>
              <a:t>supervised </a:t>
            </a:r>
            <a:r>
              <a:rPr sz="1300" dirty="0">
                <a:solidFill>
                  <a:srgbClr val="3A3535"/>
                </a:solidFill>
                <a:latin typeface="Century Gothic"/>
                <a:cs typeface="Century Gothic"/>
              </a:rPr>
              <a:t>therapy-</a:t>
            </a:r>
            <a:r>
              <a:rPr sz="1300" spc="100" dirty="0">
                <a:solidFill>
                  <a:srgbClr val="3A3535"/>
                </a:solidFill>
                <a:latin typeface="Century Gothic"/>
                <a:cs typeface="Century Gothic"/>
              </a:rPr>
              <a:t>style</a:t>
            </a:r>
            <a:r>
              <a:rPr sz="1300" spc="7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7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18135" rIns="0" bIns="0" rtlCol="0">
            <a:spAutoFit/>
          </a:bodyPr>
          <a:lstStyle/>
          <a:p>
            <a:pPr marL="12700">
              <a:lnSpc>
                <a:spcPct val="100000"/>
              </a:lnSpc>
              <a:spcBef>
                <a:spcPts val="105"/>
              </a:spcBef>
            </a:pPr>
            <a:r>
              <a:rPr spc="-215" dirty="0"/>
              <a:t>What</a:t>
            </a:r>
            <a:r>
              <a:rPr spc="-420" dirty="0"/>
              <a:t> </a:t>
            </a:r>
            <a:r>
              <a:rPr spc="-280" dirty="0"/>
              <a:t>Teams</a:t>
            </a:r>
            <a:r>
              <a:rPr spc="-420" dirty="0"/>
              <a:t> </a:t>
            </a:r>
            <a:r>
              <a:rPr spc="-105" dirty="0"/>
              <a:t>Can</a:t>
            </a:r>
            <a:r>
              <a:rPr spc="-420" dirty="0"/>
              <a:t> </a:t>
            </a:r>
            <a:r>
              <a:rPr spc="-114" dirty="0"/>
              <a:t>Do</a:t>
            </a:r>
            <a:r>
              <a:rPr spc="-420" dirty="0"/>
              <a:t> </a:t>
            </a:r>
            <a:r>
              <a:rPr spc="-170" dirty="0"/>
              <a:t>With</a:t>
            </a:r>
            <a:r>
              <a:rPr spc="-420" dirty="0"/>
              <a:t> </a:t>
            </a:r>
            <a:r>
              <a:rPr spc="-465" dirty="0"/>
              <a:t>It</a:t>
            </a:r>
          </a:p>
        </p:txBody>
      </p:sp>
      <p:grpSp>
        <p:nvGrpSpPr>
          <p:cNvPr id="3" name="object 3"/>
          <p:cNvGrpSpPr/>
          <p:nvPr/>
        </p:nvGrpSpPr>
        <p:grpSpPr>
          <a:xfrm>
            <a:off x="585152" y="1728152"/>
            <a:ext cx="5133975" cy="688340"/>
            <a:chOff x="585152" y="1728152"/>
            <a:chExt cx="5133975" cy="688340"/>
          </a:xfrm>
        </p:grpSpPr>
        <p:sp>
          <p:nvSpPr>
            <p:cNvPr id="4" name="object 4"/>
            <p:cNvSpPr/>
            <p:nvPr/>
          </p:nvSpPr>
          <p:spPr>
            <a:xfrm>
              <a:off x="590550" y="1733549"/>
              <a:ext cx="5123180" cy="677545"/>
            </a:xfrm>
            <a:custGeom>
              <a:avLst/>
              <a:gdLst/>
              <a:ahLst/>
              <a:cxnLst/>
              <a:rect l="l" t="t" r="r" b="b"/>
              <a:pathLst>
                <a:path w="5123180" h="677544">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5" name="object 5"/>
            <p:cNvSpPr/>
            <p:nvPr/>
          </p:nvSpPr>
          <p:spPr>
            <a:xfrm>
              <a:off x="590550" y="1733549"/>
              <a:ext cx="5123180" cy="677545"/>
            </a:xfrm>
            <a:custGeom>
              <a:avLst/>
              <a:gdLst/>
              <a:ahLst/>
              <a:cxnLst/>
              <a:rect l="l" t="t" r="r" b="b"/>
              <a:pathLst>
                <a:path w="5123180" h="677544">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6" name="object 6"/>
          <p:cNvSpPr txBox="1"/>
          <p:nvPr/>
        </p:nvSpPr>
        <p:spPr>
          <a:xfrm>
            <a:off x="748842" y="1886102"/>
            <a:ext cx="3919854" cy="1304290"/>
          </a:xfrm>
          <a:prstGeom prst="rect">
            <a:avLst/>
          </a:prstGeom>
        </p:spPr>
        <p:txBody>
          <a:bodyPr vert="horz" wrap="square" lIns="0" tIns="12065" rIns="0" bIns="0" rtlCol="0">
            <a:spAutoFit/>
          </a:bodyPr>
          <a:lstStyle/>
          <a:p>
            <a:pPr marL="889635" algn="ctr">
              <a:lnSpc>
                <a:spcPct val="100000"/>
              </a:lnSpc>
              <a:spcBef>
                <a:spcPts val="95"/>
              </a:spcBef>
            </a:pPr>
            <a:r>
              <a:rPr sz="2000" b="1" spc="-635" dirty="0">
                <a:solidFill>
                  <a:srgbClr val="3A3535"/>
                </a:solidFill>
                <a:latin typeface="Verdana"/>
                <a:cs typeface="Verdana"/>
              </a:rPr>
              <a:t>1</a:t>
            </a:r>
            <a:endParaRPr sz="2000">
              <a:latin typeface="Verdana"/>
              <a:cs typeface="Verdana"/>
            </a:endParaRPr>
          </a:p>
          <a:p>
            <a:pPr>
              <a:lnSpc>
                <a:spcPct val="100000"/>
              </a:lnSpc>
              <a:spcBef>
                <a:spcPts val="445"/>
              </a:spcBef>
            </a:pPr>
            <a:endParaRPr sz="2000">
              <a:latin typeface="Verdana"/>
              <a:cs typeface="Verdana"/>
            </a:endParaRPr>
          </a:p>
          <a:p>
            <a:pPr marL="12700">
              <a:lnSpc>
                <a:spcPct val="100000"/>
              </a:lnSpc>
            </a:pPr>
            <a:r>
              <a:rPr sz="1750" b="1" spc="-10" dirty="0">
                <a:solidFill>
                  <a:srgbClr val="3A3535"/>
                </a:solidFill>
                <a:latin typeface="Verdana"/>
                <a:cs typeface="Verdana"/>
              </a:rPr>
              <a:t>Onboard</a:t>
            </a:r>
            <a:endParaRPr sz="1750">
              <a:latin typeface="Verdana"/>
              <a:cs typeface="Verdana"/>
            </a:endParaRPr>
          </a:p>
          <a:p>
            <a:pPr marL="12700">
              <a:lnSpc>
                <a:spcPct val="100000"/>
              </a:lnSpc>
              <a:spcBef>
                <a:spcPts val="1125"/>
              </a:spcBef>
            </a:pPr>
            <a:r>
              <a:rPr sz="1300" spc="100" dirty="0">
                <a:solidFill>
                  <a:srgbClr val="3A3535"/>
                </a:solidFill>
                <a:latin typeface="Century Gothic"/>
                <a:cs typeface="Century Gothic"/>
              </a:rPr>
              <a:t>Turn</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concept </a:t>
            </a:r>
            <a:r>
              <a:rPr sz="1300" spc="80" dirty="0">
                <a:solidFill>
                  <a:srgbClr val="3A3535"/>
                </a:solidFill>
                <a:latin typeface="Century Gothic"/>
                <a:cs typeface="Century Gothic"/>
              </a:rPr>
              <a:t>into</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guided </a:t>
            </a:r>
            <a:r>
              <a:rPr sz="1300" spc="55" dirty="0">
                <a:solidFill>
                  <a:srgbClr val="3A3535"/>
                </a:solidFill>
                <a:latin typeface="Century Gothic"/>
                <a:cs typeface="Century Gothic"/>
              </a:rPr>
              <a:t>entry</a:t>
            </a:r>
            <a:r>
              <a:rPr sz="1300" dirty="0">
                <a:solidFill>
                  <a:srgbClr val="3A3535"/>
                </a:solidFill>
                <a:latin typeface="Century Gothic"/>
                <a:cs typeface="Century Gothic"/>
              </a:rPr>
              <a:t> </a:t>
            </a:r>
            <a:r>
              <a:rPr sz="1300" spc="-10" dirty="0">
                <a:solidFill>
                  <a:srgbClr val="3A3535"/>
                </a:solidFill>
                <a:latin typeface="Century Gothic"/>
                <a:cs typeface="Century Gothic"/>
              </a:rPr>
              <a:t>experience</a:t>
            </a:r>
            <a:endParaRPr sz="1300">
              <a:latin typeface="Century Gothic"/>
              <a:cs typeface="Century Gothic"/>
            </a:endParaRPr>
          </a:p>
        </p:txBody>
      </p:sp>
      <p:grpSp>
        <p:nvGrpSpPr>
          <p:cNvPr id="7" name="object 7"/>
          <p:cNvGrpSpPr/>
          <p:nvPr/>
        </p:nvGrpSpPr>
        <p:grpSpPr>
          <a:xfrm>
            <a:off x="5709710" y="1728260"/>
            <a:ext cx="5133340" cy="687705"/>
            <a:chOff x="5709710" y="1728260"/>
            <a:chExt cx="5133340" cy="687705"/>
          </a:xfrm>
        </p:grpSpPr>
        <p:sp>
          <p:nvSpPr>
            <p:cNvPr id="8" name="object 8"/>
            <p:cNvSpPr/>
            <p:nvPr/>
          </p:nvSpPr>
          <p:spPr>
            <a:xfrm>
              <a:off x="5714999" y="1733549"/>
              <a:ext cx="5123180" cy="677545"/>
            </a:xfrm>
            <a:custGeom>
              <a:avLst/>
              <a:gdLst/>
              <a:ahLst/>
              <a:cxnLst/>
              <a:rect l="l" t="t" r="r" b="b"/>
              <a:pathLst>
                <a:path w="5123180" h="677544">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9" name="object 9"/>
            <p:cNvSpPr/>
            <p:nvPr/>
          </p:nvSpPr>
          <p:spPr>
            <a:xfrm>
              <a:off x="5714999" y="1733549"/>
              <a:ext cx="5123180" cy="677545"/>
            </a:xfrm>
            <a:custGeom>
              <a:avLst/>
              <a:gdLst/>
              <a:ahLst/>
              <a:cxnLst/>
              <a:rect l="l" t="t" r="r" b="b"/>
              <a:pathLst>
                <a:path w="5123180" h="677544">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grpSp>
        <p:nvGrpSpPr>
          <p:cNvPr id="10" name="object 10"/>
          <p:cNvGrpSpPr/>
          <p:nvPr/>
        </p:nvGrpSpPr>
        <p:grpSpPr>
          <a:xfrm>
            <a:off x="585152" y="3661727"/>
            <a:ext cx="5133975" cy="688340"/>
            <a:chOff x="585152" y="3661727"/>
            <a:chExt cx="5133975" cy="688340"/>
          </a:xfrm>
        </p:grpSpPr>
        <p:sp>
          <p:nvSpPr>
            <p:cNvPr id="11" name="object 11"/>
            <p:cNvSpPr/>
            <p:nvPr/>
          </p:nvSpPr>
          <p:spPr>
            <a:xfrm>
              <a:off x="590550" y="3667124"/>
              <a:ext cx="5123180" cy="677545"/>
            </a:xfrm>
            <a:custGeom>
              <a:avLst/>
              <a:gdLst/>
              <a:ahLst/>
              <a:cxnLst/>
              <a:rect l="l" t="t" r="r" b="b"/>
              <a:pathLst>
                <a:path w="5123180" h="677545">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2" name="object 12"/>
            <p:cNvSpPr/>
            <p:nvPr/>
          </p:nvSpPr>
          <p:spPr>
            <a:xfrm>
              <a:off x="590550" y="3667124"/>
              <a:ext cx="5123180" cy="677545"/>
            </a:xfrm>
            <a:custGeom>
              <a:avLst/>
              <a:gdLst/>
              <a:ahLst/>
              <a:cxnLst/>
              <a:rect l="l" t="t" r="r" b="b"/>
              <a:pathLst>
                <a:path w="5123180" h="677545">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3" name="object 13"/>
          <p:cNvSpPr txBox="1"/>
          <p:nvPr/>
        </p:nvSpPr>
        <p:spPr>
          <a:xfrm>
            <a:off x="748855" y="3819677"/>
            <a:ext cx="4589145" cy="1580515"/>
          </a:xfrm>
          <a:prstGeom prst="rect">
            <a:avLst/>
          </a:prstGeom>
        </p:spPr>
        <p:txBody>
          <a:bodyPr vert="horz" wrap="square" lIns="0" tIns="12065" rIns="0" bIns="0" rtlCol="0">
            <a:spAutoFit/>
          </a:bodyPr>
          <a:lstStyle/>
          <a:p>
            <a:pPr marL="220345" algn="ctr">
              <a:lnSpc>
                <a:spcPct val="100000"/>
              </a:lnSpc>
              <a:spcBef>
                <a:spcPts val="95"/>
              </a:spcBef>
            </a:pPr>
            <a:r>
              <a:rPr sz="2000" b="1" spc="-50" dirty="0">
                <a:solidFill>
                  <a:srgbClr val="3A3535"/>
                </a:solidFill>
                <a:latin typeface="Verdana"/>
                <a:cs typeface="Verdana"/>
              </a:rPr>
              <a:t>3</a:t>
            </a:r>
            <a:endParaRPr sz="2000" dirty="0">
              <a:latin typeface="Verdana"/>
              <a:cs typeface="Verdana"/>
            </a:endParaRPr>
          </a:p>
          <a:p>
            <a:pPr>
              <a:lnSpc>
                <a:spcPct val="100000"/>
              </a:lnSpc>
              <a:spcBef>
                <a:spcPts val="445"/>
              </a:spcBef>
            </a:pPr>
            <a:endParaRPr sz="2000" dirty="0">
              <a:latin typeface="Verdana"/>
              <a:cs typeface="Verdana"/>
            </a:endParaRPr>
          </a:p>
          <a:p>
            <a:pPr marL="12700">
              <a:lnSpc>
                <a:spcPct val="100000"/>
              </a:lnSpc>
            </a:pPr>
            <a:r>
              <a:rPr sz="1750" b="1" spc="-10" dirty="0">
                <a:solidFill>
                  <a:srgbClr val="3A3535"/>
                </a:solidFill>
                <a:latin typeface="Verdana"/>
                <a:cs typeface="Verdana"/>
              </a:rPr>
              <a:t>Adapt</a:t>
            </a:r>
            <a:endParaRPr sz="1750" dirty="0">
              <a:latin typeface="Verdana"/>
              <a:cs typeface="Verdana"/>
            </a:endParaRPr>
          </a:p>
          <a:p>
            <a:pPr marL="12700" marR="5080">
              <a:lnSpc>
                <a:spcPct val="134600"/>
              </a:lnSpc>
              <a:spcBef>
                <a:spcPts val="660"/>
              </a:spcBef>
            </a:pPr>
            <a:r>
              <a:rPr sz="1300" spc="85" dirty="0">
                <a:solidFill>
                  <a:srgbClr val="3A3535"/>
                </a:solidFill>
                <a:latin typeface="Century Gothic"/>
                <a:cs typeface="Century Gothic"/>
              </a:rPr>
              <a:t>Adjust</a:t>
            </a:r>
            <a:r>
              <a:rPr sz="1300" spc="40"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40" dirty="0">
                <a:solidFill>
                  <a:srgbClr val="3A3535"/>
                </a:solidFill>
                <a:latin typeface="Century Gothic"/>
                <a:cs typeface="Century Gothic"/>
              </a:rPr>
              <a:t> </a:t>
            </a:r>
            <a:r>
              <a:rPr sz="1300" dirty="0">
                <a:solidFill>
                  <a:srgbClr val="3A3535"/>
                </a:solidFill>
                <a:latin typeface="Century Gothic"/>
                <a:cs typeface="Century Gothic"/>
              </a:rPr>
              <a:t>by</a:t>
            </a:r>
            <a:r>
              <a:rPr sz="1300" spc="40" dirty="0">
                <a:solidFill>
                  <a:srgbClr val="3A3535"/>
                </a:solidFill>
                <a:latin typeface="Century Gothic"/>
                <a:cs typeface="Century Gothic"/>
              </a:rPr>
              <a:t> </a:t>
            </a:r>
            <a:r>
              <a:rPr sz="1300" dirty="0">
                <a:solidFill>
                  <a:srgbClr val="3A3535"/>
                </a:solidFill>
                <a:latin typeface="Century Gothic"/>
                <a:cs typeface="Century Gothic"/>
              </a:rPr>
              <a:t>role,</a:t>
            </a:r>
            <a:r>
              <a:rPr sz="1300" spc="45" dirty="0">
                <a:solidFill>
                  <a:srgbClr val="3A3535"/>
                </a:solidFill>
                <a:latin typeface="Century Gothic"/>
                <a:cs typeface="Century Gothic"/>
              </a:rPr>
              <a:t> </a:t>
            </a:r>
            <a:r>
              <a:rPr sz="1300" dirty="0">
                <a:solidFill>
                  <a:srgbClr val="3A3535"/>
                </a:solidFill>
                <a:latin typeface="Century Gothic"/>
                <a:cs typeface="Century Gothic"/>
              </a:rPr>
              <a:t>group,</a:t>
            </a:r>
            <a:r>
              <a:rPr sz="1300" spc="40" dirty="0">
                <a:solidFill>
                  <a:srgbClr val="3A3535"/>
                </a:solidFill>
                <a:latin typeface="Century Gothic"/>
                <a:cs typeface="Century Gothic"/>
              </a:rPr>
              <a:t> </a:t>
            </a:r>
            <a:r>
              <a:rPr sz="1300" spc="-10" dirty="0">
                <a:solidFill>
                  <a:srgbClr val="3A3535"/>
                </a:solidFill>
                <a:latin typeface="Century Gothic"/>
                <a:cs typeface="Century Gothic"/>
              </a:rPr>
              <a:t>language,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or </a:t>
            </a:r>
            <a:r>
              <a:rPr sz="1300" spc="85" dirty="0">
                <a:solidFill>
                  <a:srgbClr val="3A3535"/>
                </a:solidFill>
                <a:latin typeface="Century Gothic"/>
                <a:cs typeface="Century Gothic"/>
              </a:rPr>
              <a:t>user</a:t>
            </a:r>
            <a:r>
              <a:rPr sz="1300" spc="-40" dirty="0">
                <a:solidFill>
                  <a:srgbClr val="3A3535"/>
                </a:solidFill>
                <a:latin typeface="Century Gothic"/>
                <a:cs typeface="Century Gothic"/>
              </a:rPr>
              <a:t> </a:t>
            </a:r>
            <a:r>
              <a:rPr sz="1300" spc="40" dirty="0">
                <a:solidFill>
                  <a:srgbClr val="3A3535"/>
                </a:solidFill>
                <a:latin typeface="Century Gothic"/>
                <a:cs typeface="Century Gothic"/>
              </a:rPr>
              <a:t>state</a:t>
            </a:r>
            <a:endParaRPr sz="1300" dirty="0">
              <a:latin typeface="Century Gothic"/>
              <a:cs typeface="Century Gothic"/>
            </a:endParaRPr>
          </a:p>
        </p:txBody>
      </p:sp>
      <p:grpSp>
        <p:nvGrpSpPr>
          <p:cNvPr id="14" name="object 14"/>
          <p:cNvGrpSpPr/>
          <p:nvPr/>
        </p:nvGrpSpPr>
        <p:grpSpPr>
          <a:xfrm>
            <a:off x="5709710" y="3661835"/>
            <a:ext cx="5133340" cy="687705"/>
            <a:chOff x="5709710" y="3661835"/>
            <a:chExt cx="5133340" cy="687705"/>
          </a:xfrm>
        </p:grpSpPr>
        <p:sp>
          <p:nvSpPr>
            <p:cNvPr id="15" name="object 15"/>
            <p:cNvSpPr/>
            <p:nvPr/>
          </p:nvSpPr>
          <p:spPr>
            <a:xfrm>
              <a:off x="5714999" y="3667124"/>
              <a:ext cx="5123180" cy="677545"/>
            </a:xfrm>
            <a:custGeom>
              <a:avLst/>
              <a:gdLst/>
              <a:ahLst/>
              <a:cxnLst/>
              <a:rect l="l" t="t" r="r" b="b"/>
              <a:pathLst>
                <a:path w="5123180" h="677545">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6" name="object 16"/>
            <p:cNvSpPr/>
            <p:nvPr/>
          </p:nvSpPr>
          <p:spPr>
            <a:xfrm>
              <a:off x="5714999" y="3667124"/>
              <a:ext cx="5123180" cy="677545"/>
            </a:xfrm>
            <a:custGeom>
              <a:avLst/>
              <a:gdLst/>
              <a:ahLst/>
              <a:cxnLst/>
              <a:rect l="l" t="t" r="r" b="b"/>
              <a:pathLst>
                <a:path w="5123180" h="677545">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7" name="object 17"/>
          <p:cNvSpPr txBox="1">
            <a:spLocks noGrp="1"/>
          </p:cNvSpPr>
          <p:nvPr>
            <p:ph sz="half" idx="3"/>
          </p:nvPr>
        </p:nvSpPr>
        <p:spPr>
          <a:prstGeom prst="rect">
            <a:avLst/>
          </a:prstGeom>
        </p:spPr>
        <p:txBody>
          <a:bodyPr vert="horz" wrap="square" lIns="0" tIns="12065" rIns="0" bIns="0" rtlCol="0">
            <a:spAutoFit/>
          </a:bodyPr>
          <a:lstStyle/>
          <a:p>
            <a:pPr marL="410845" algn="ctr">
              <a:lnSpc>
                <a:spcPct val="100000"/>
              </a:lnSpc>
              <a:spcBef>
                <a:spcPts val="95"/>
              </a:spcBef>
            </a:pPr>
            <a:r>
              <a:rPr spc="-50" dirty="0"/>
              <a:t>2</a:t>
            </a:r>
          </a:p>
          <a:p>
            <a:pPr>
              <a:lnSpc>
                <a:spcPct val="100000"/>
              </a:lnSpc>
              <a:spcBef>
                <a:spcPts val="445"/>
              </a:spcBef>
            </a:pPr>
            <a:endParaRPr spc="-50" dirty="0"/>
          </a:p>
          <a:p>
            <a:pPr marL="12700">
              <a:lnSpc>
                <a:spcPct val="100000"/>
              </a:lnSpc>
            </a:pPr>
            <a:r>
              <a:rPr sz="1750" spc="-10" dirty="0"/>
              <a:t>Assess</a:t>
            </a:r>
            <a:endParaRPr sz="1750"/>
          </a:p>
          <a:p>
            <a:pPr marL="12700" marR="5080">
              <a:lnSpc>
                <a:spcPct val="139400"/>
              </a:lnSpc>
              <a:spcBef>
                <a:spcPts val="509"/>
              </a:spcBef>
            </a:pPr>
            <a:r>
              <a:rPr sz="1300" b="0" spc="70" dirty="0">
                <a:latin typeface="Century Gothic"/>
                <a:cs typeface="Century Gothic"/>
              </a:rPr>
              <a:t>Run</a:t>
            </a:r>
            <a:r>
              <a:rPr sz="1300" b="0" dirty="0">
                <a:latin typeface="Century Gothic"/>
                <a:cs typeface="Century Gothic"/>
              </a:rPr>
              <a:t> repeated</a:t>
            </a:r>
            <a:r>
              <a:rPr sz="1300" b="0" spc="5" dirty="0">
                <a:latin typeface="Century Gothic"/>
                <a:cs typeface="Century Gothic"/>
              </a:rPr>
              <a:t> </a:t>
            </a:r>
            <a:r>
              <a:rPr sz="1300" b="0" spc="90" dirty="0">
                <a:latin typeface="Century Gothic"/>
                <a:cs typeface="Century Gothic"/>
              </a:rPr>
              <a:t>assessments</a:t>
            </a:r>
            <a:r>
              <a:rPr sz="1300" b="0" spc="5" dirty="0">
                <a:latin typeface="Century Gothic"/>
                <a:cs typeface="Century Gothic"/>
              </a:rPr>
              <a:t> </a:t>
            </a:r>
            <a:r>
              <a:rPr sz="1300" b="0" spc="-10" dirty="0">
                <a:latin typeface="Century Gothic"/>
                <a:cs typeface="Century Gothic"/>
              </a:rPr>
              <a:t>and</a:t>
            </a:r>
            <a:r>
              <a:rPr sz="1300" b="0" dirty="0">
                <a:latin typeface="Century Gothic"/>
                <a:cs typeface="Century Gothic"/>
              </a:rPr>
              <a:t> collect</a:t>
            </a:r>
            <a:r>
              <a:rPr sz="1300" b="0" spc="5" dirty="0">
                <a:latin typeface="Century Gothic"/>
                <a:cs typeface="Century Gothic"/>
              </a:rPr>
              <a:t> </a:t>
            </a:r>
            <a:r>
              <a:rPr sz="1300" b="0" spc="70" dirty="0">
                <a:latin typeface="Century Gothic"/>
                <a:cs typeface="Century Gothic"/>
              </a:rPr>
              <a:t>richer</a:t>
            </a:r>
            <a:r>
              <a:rPr sz="1300" b="0" spc="5" dirty="0">
                <a:latin typeface="Century Gothic"/>
                <a:cs typeface="Century Gothic"/>
              </a:rPr>
              <a:t> </a:t>
            </a:r>
            <a:r>
              <a:rPr sz="1300" b="0" spc="85" dirty="0">
                <a:latin typeface="Century Gothic"/>
                <a:cs typeface="Century Gothic"/>
              </a:rPr>
              <a:t>inputs </a:t>
            </a:r>
            <a:r>
              <a:rPr sz="1300" b="0" dirty="0">
                <a:latin typeface="Century Gothic"/>
                <a:cs typeface="Century Gothic"/>
              </a:rPr>
              <a:t>over</a:t>
            </a:r>
            <a:r>
              <a:rPr sz="1300" b="0" spc="50" dirty="0">
                <a:latin typeface="Century Gothic"/>
                <a:cs typeface="Century Gothic"/>
              </a:rPr>
              <a:t> </a:t>
            </a:r>
            <a:r>
              <a:rPr sz="1300" b="0" spc="45" dirty="0">
                <a:latin typeface="Century Gothic"/>
                <a:cs typeface="Century Gothic"/>
              </a:rPr>
              <a:t>time</a:t>
            </a:r>
            <a:endParaRPr sz="1300">
              <a:latin typeface="Century Gothic"/>
              <a:cs typeface="Century Gothic"/>
            </a:endParaRPr>
          </a:p>
          <a:p>
            <a:pPr>
              <a:lnSpc>
                <a:spcPct val="100000"/>
              </a:lnSpc>
              <a:spcBef>
                <a:spcPts val="1395"/>
              </a:spcBef>
            </a:pPr>
            <a:endParaRPr sz="1300">
              <a:latin typeface="Century Gothic"/>
              <a:cs typeface="Century Gothic"/>
            </a:endParaRPr>
          </a:p>
          <a:p>
            <a:pPr marL="410845" algn="ctr">
              <a:lnSpc>
                <a:spcPct val="100000"/>
              </a:lnSpc>
              <a:spcBef>
                <a:spcPts val="5"/>
              </a:spcBef>
            </a:pPr>
            <a:r>
              <a:rPr spc="-50" dirty="0"/>
              <a:t>4</a:t>
            </a:r>
          </a:p>
          <a:p>
            <a:pPr>
              <a:lnSpc>
                <a:spcPct val="100000"/>
              </a:lnSpc>
              <a:spcBef>
                <a:spcPts val="440"/>
              </a:spcBef>
            </a:pPr>
            <a:endParaRPr spc="-50" dirty="0"/>
          </a:p>
          <a:p>
            <a:pPr marL="12700">
              <a:lnSpc>
                <a:spcPct val="100000"/>
              </a:lnSpc>
            </a:pPr>
            <a:r>
              <a:rPr sz="1750" spc="-100" dirty="0"/>
              <a:t>Follow</a:t>
            </a:r>
            <a:r>
              <a:rPr sz="1750" spc="-165" dirty="0"/>
              <a:t> </a:t>
            </a:r>
            <a:r>
              <a:rPr sz="1750" spc="-25" dirty="0"/>
              <a:t>Up</a:t>
            </a:r>
            <a:endParaRPr sz="1750"/>
          </a:p>
          <a:p>
            <a:pPr marL="12700" marR="236220">
              <a:lnSpc>
                <a:spcPct val="134600"/>
              </a:lnSpc>
              <a:spcBef>
                <a:spcPts val="665"/>
              </a:spcBef>
            </a:pPr>
            <a:r>
              <a:rPr sz="1300" b="0" dirty="0">
                <a:latin typeface="Century Gothic"/>
                <a:cs typeface="Century Gothic"/>
              </a:rPr>
              <a:t>Automate</a:t>
            </a:r>
            <a:r>
              <a:rPr sz="1300" b="0" spc="-10" dirty="0">
                <a:latin typeface="Century Gothic"/>
                <a:cs typeface="Century Gothic"/>
              </a:rPr>
              <a:t> </a:t>
            </a:r>
            <a:r>
              <a:rPr sz="1300" b="0" spc="60" dirty="0">
                <a:latin typeface="Century Gothic"/>
                <a:cs typeface="Century Gothic"/>
              </a:rPr>
              <a:t>reminders,</a:t>
            </a:r>
            <a:r>
              <a:rPr sz="1300" b="0" spc="-5" dirty="0">
                <a:latin typeface="Century Gothic"/>
                <a:cs typeface="Century Gothic"/>
              </a:rPr>
              <a:t> </a:t>
            </a:r>
            <a:r>
              <a:rPr sz="1300" b="0" spc="65" dirty="0">
                <a:latin typeface="Century Gothic"/>
                <a:cs typeface="Century Gothic"/>
              </a:rPr>
              <a:t>tasks,</a:t>
            </a:r>
            <a:r>
              <a:rPr sz="1300" b="0" spc="-5" dirty="0">
                <a:latin typeface="Century Gothic"/>
                <a:cs typeface="Century Gothic"/>
              </a:rPr>
              <a:t> </a:t>
            </a:r>
            <a:r>
              <a:rPr sz="1300" b="0" spc="-10" dirty="0">
                <a:latin typeface="Century Gothic"/>
                <a:cs typeface="Century Gothic"/>
              </a:rPr>
              <a:t>and </a:t>
            </a:r>
            <a:r>
              <a:rPr sz="1300" b="0" spc="55" dirty="0">
                <a:latin typeface="Century Gothic"/>
                <a:cs typeface="Century Gothic"/>
              </a:rPr>
              <a:t>next</a:t>
            </a:r>
            <a:r>
              <a:rPr sz="1300" b="0" spc="-5" dirty="0">
                <a:latin typeface="Century Gothic"/>
                <a:cs typeface="Century Gothic"/>
              </a:rPr>
              <a:t> </a:t>
            </a:r>
            <a:r>
              <a:rPr sz="1300" b="0" spc="95" dirty="0">
                <a:latin typeface="Century Gothic"/>
                <a:cs typeface="Century Gothic"/>
              </a:rPr>
              <a:t>steps</a:t>
            </a:r>
            <a:r>
              <a:rPr sz="1300" b="0" spc="-5" dirty="0">
                <a:latin typeface="Century Gothic"/>
                <a:cs typeface="Century Gothic"/>
              </a:rPr>
              <a:t> </a:t>
            </a:r>
            <a:r>
              <a:rPr sz="1300" b="0" dirty="0">
                <a:latin typeface="Century Gothic"/>
                <a:cs typeface="Century Gothic"/>
              </a:rPr>
              <a:t>as</a:t>
            </a:r>
            <a:r>
              <a:rPr sz="1300" b="0" spc="-10" dirty="0">
                <a:latin typeface="Century Gothic"/>
                <a:cs typeface="Century Gothic"/>
              </a:rPr>
              <a:t> </a:t>
            </a:r>
            <a:r>
              <a:rPr sz="1300" b="0" spc="-25" dirty="0">
                <a:latin typeface="Century Gothic"/>
                <a:cs typeface="Century Gothic"/>
              </a:rPr>
              <a:t>the </a:t>
            </a:r>
            <a:r>
              <a:rPr sz="1300" b="0" dirty="0">
                <a:latin typeface="Century Gothic"/>
                <a:cs typeface="Century Gothic"/>
              </a:rPr>
              <a:t>program</a:t>
            </a:r>
            <a:r>
              <a:rPr sz="1300" b="0" spc="204" dirty="0">
                <a:latin typeface="Century Gothic"/>
                <a:cs typeface="Century Gothic"/>
              </a:rPr>
              <a:t> </a:t>
            </a:r>
            <a:r>
              <a:rPr sz="1300" b="0" spc="70" dirty="0">
                <a:latin typeface="Century Gothic"/>
                <a:cs typeface="Century Gothic"/>
              </a:rPr>
              <a:t>progresses</a:t>
            </a:r>
            <a:endParaRPr sz="1300">
              <a:latin typeface="Century Gothic"/>
              <a:cs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60" dirty="0"/>
              <a:t>Expands</a:t>
            </a:r>
          </a:p>
        </p:txBody>
      </p:sp>
      <p:sp>
        <p:nvSpPr>
          <p:cNvPr id="3" name="object 3"/>
          <p:cNvSpPr txBox="1"/>
          <p:nvPr/>
        </p:nvSpPr>
        <p:spPr>
          <a:xfrm>
            <a:off x="579640" y="1437297"/>
            <a:ext cx="7090409"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New</a:t>
            </a:r>
            <a:r>
              <a:rPr sz="1300" spc="25" dirty="0">
                <a:solidFill>
                  <a:srgbClr val="3A3535"/>
                </a:solidFill>
                <a:latin typeface="Century Gothic"/>
                <a:cs typeface="Century Gothic"/>
              </a:rPr>
              <a:t> </a:t>
            </a:r>
            <a:r>
              <a:rPr sz="1300" dirty="0">
                <a:solidFill>
                  <a:srgbClr val="3A3535"/>
                </a:solidFill>
                <a:latin typeface="Century Gothic"/>
                <a:cs typeface="Century Gothic"/>
              </a:rPr>
              <a:t>capabilities</a:t>
            </a:r>
            <a:r>
              <a:rPr sz="1300" spc="30" dirty="0">
                <a:solidFill>
                  <a:srgbClr val="3A3535"/>
                </a:solidFill>
                <a:latin typeface="Century Gothic"/>
                <a:cs typeface="Century Gothic"/>
              </a:rPr>
              <a:t> </a:t>
            </a:r>
            <a:r>
              <a:rPr sz="1300" dirty="0">
                <a:solidFill>
                  <a:srgbClr val="3A3535"/>
                </a:solidFill>
                <a:latin typeface="Century Gothic"/>
                <a:cs typeface="Century Gothic"/>
              </a:rPr>
              <a:t>are</a:t>
            </a:r>
            <a:r>
              <a:rPr sz="1300" spc="30" dirty="0">
                <a:solidFill>
                  <a:srgbClr val="3A3535"/>
                </a:solidFill>
                <a:latin typeface="Century Gothic"/>
                <a:cs typeface="Century Gothic"/>
              </a:rPr>
              <a:t> </a:t>
            </a:r>
            <a:r>
              <a:rPr sz="1300" spc="-25" dirty="0">
                <a:solidFill>
                  <a:srgbClr val="3A3535"/>
                </a:solidFill>
                <a:latin typeface="Century Gothic"/>
                <a:cs typeface="Century Gothic"/>
              </a:rPr>
              <a:t>added</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through</a:t>
            </a:r>
            <a:r>
              <a:rPr sz="1300" spc="30" dirty="0">
                <a:solidFill>
                  <a:srgbClr val="3A3535"/>
                </a:solidFill>
                <a:latin typeface="Century Gothic"/>
                <a:cs typeface="Century Gothic"/>
              </a:rPr>
              <a:t> </a:t>
            </a:r>
            <a:r>
              <a:rPr sz="1300" spc="80" dirty="0">
                <a:solidFill>
                  <a:srgbClr val="3A3535"/>
                </a:solidFill>
                <a:latin typeface="Century Gothic"/>
                <a:cs typeface="Century Gothic"/>
              </a:rPr>
              <a:t>plugins</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15" dirty="0">
                <a:solidFill>
                  <a:srgbClr val="3A3535"/>
                </a:solidFill>
                <a:latin typeface="Century Gothic"/>
                <a:cs typeface="Century Gothic"/>
              </a:rPr>
              <a:t> </a:t>
            </a:r>
            <a:r>
              <a:rPr sz="1300" spc="60" dirty="0">
                <a:solidFill>
                  <a:srgbClr val="3A3535"/>
                </a:solidFill>
                <a:latin typeface="Century Gothic"/>
                <a:cs typeface="Century Gothic"/>
              </a:rPr>
              <a:t>rebuilding</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25" dirty="0">
                <a:solidFill>
                  <a:srgbClr val="3A3535"/>
                </a:solidFill>
                <a:latin typeface="Century Gothic"/>
                <a:cs typeface="Century Gothic"/>
              </a:rPr>
              <a:t> </a:t>
            </a:r>
            <a:r>
              <a:rPr sz="1300" dirty="0">
                <a:solidFill>
                  <a:srgbClr val="3A3535"/>
                </a:solidFill>
                <a:latin typeface="Century Gothic"/>
                <a:cs typeface="Century Gothic"/>
              </a:rPr>
              <a:t>core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p:txBody>
      </p:sp>
      <p:sp>
        <p:nvSpPr>
          <p:cNvPr id="4" name="object 4"/>
          <p:cNvSpPr txBox="1"/>
          <p:nvPr/>
        </p:nvSpPr>
        <p:spPr>
          <a:xfrm>
            <a:off x="579635" y="2041080"/>
            <a:ext cx="2844165" cy="292735"/>
          </a:xfrm>
          <a:prstGeom prst="rect">
            <a:avLst/>
          </a:prstGeom>
        </p:spPr>
        <p:txBody>
          <a:bodyPr vert="horz" wrap="square" lIns="0" tIns="12700" rIns="0" bIns="0" rtlCol="0">
            <a:spAutoFit/>
          </a:bodyPr>
          <a:lstStyle/>
          <a:p>
            <a:pPr marL="12700">
              <a:lnSpc>
                <a:spcPct val="100000"/>
              </a:lnSpc>
              <a:spcBef>
                <a:spcPts val="100"/>
              </a:spcBef>
            </a:pPr>
            <a:r>
              <a:rPr sz="1750" b="1" spc="-40" dirty="0">
                <a:solidFill>
                  <a:srgbClr val="1F1E1E"/>
                </a:solidFill>
                <a:latin typeface="Verdana"/>
                <a:cs typeface="Verdana"/>
              </a:rPr>
              <a:t>Core</a:t>
            </a:r>
            <a:r>
              <a:rPr sz="1750" b="1" spc="-160" dirty="0">
                <a:solidFill>
                  <a:srgbClr val="1F1E1E"/>
                </a:solidFill>
                <a:latin typeface="Verdana"/>
                <a:cs typeface="Verdana"/>
              </a:rPr>
              <a:t> </a:t>
            </a:r>
            <a:r>
              <a:rPr sz="1750" b="1" spc="-65" dirty="0">
                <a:solidFill>
                  <a:srgbClr val="1F1E1E"/>
                </a:solidFill>
                <a:latin typeface="Verdana"/>
                <a:cs typeface="Verdana"/>
              </a:rPr>
              <a:t>Supporting</a:t>
            </a:r>
            <a:r>
              <a:rPr sz="1750" b="1" spc="-160" dirty="0">
                <a:solidFill>
                  <a:srgbClr val="1F1E1E"/>
                </a:solidFill>
                <a:latin typeface="Verdana"/>
                <a:cs typeface="Verdana"/>
              </a:rPr>
              <a:t> </a:t>
            </a:r>
            <a:r>
              <a:rPr sz="1750" b="1" spc="-75" dirty="0">
                <a:solidFill>
                  <a:srgbClr val="1F1E1E"/>
                </a:solidFill>
                <a:latin typeface="Verdana"/>
                <a:cs typeface="Verdana"/>
              </a:rPr>
              <a:t>Plugins</a:t>
            </a:r>
            <a:endParaRPr sz="1750">
              <a:latin typeface="Verdana"/>
              <a:cs typeface="Verdana"/>
            </a:endParaRPr>
          </a:p>
        </p:txBody>
      </p:sp>
      <p:sp>
        <p:nvSpPr>
          <p:cNvPr id="5" name="object 5"/>
          <p:cNvSpPr/>
          <p:nvPr/>
        </p:nvSpPr>
        <p:spPr>
          <a:xfrm>
            <a:off x="600075" y="2543174"/>
            <a:ext cx="2352675" cy="1343025"/>
          </a:xfrm>
          <a:custGeom>
            <a:avLst/>
            <a:gdLst/>
            <a:ahLst/>
            <a:cxnLst/>
            <a:rect l="l" t="t" r="r" b="b"/>
            <a:pathLst>
              <a:path w="2352675" h="1343025">
                <a:moveTo>
                  <a:pt x="0" y="1293304"/>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293304"/>
                </a:lnTo>
                <a:lnTo>
                  <a:pt x="2352675" y="1299895"/>
                </a:lnTo>
                <a:lnTo>
                  <a:pt x="2351417" y="1306245"/>
                </a:lnTo>
                <a:lnTo>
                  <a:pt x="2348890" y="1312329"/>
                </a:lnTo>
                <a:lnTo>
                  <a:pt x="2346363" y="1318425"/>
                </a:lnTo>
                <a:lnTo>
                  <a:pt x="2315895" y="1341755"/>
                </a:lnTo>
                <a:lnTo>
                  <a:pt x="2309545" y="1343025"/>
                </a:lnTo>
                <a:lnTo>
                  <a:pt x="2302954" y="1343025"/>
                </a:lnTo>
                <a:lnTo>
                  <a:pt x="49717" y="1343025"/>
                </a:lnTo>
                <a:lnTo>
                  <a:pt x="43125" y="1343025"/>
                </a:lnTo>
                <a:lnTo>
                  <a:pt x="36785" y="1341755"/>
                </a:lnTo>
                <a:lnTo>
                  <a:pt x="6305" y="1318425"/>
                </a:lnTo>
                <a:lnTo>
                  <a:pt x="3784" y="1312329"/>
                </a:lnTo>
                <a:lnTo>
                  <a:pt x="1259"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6" name="object 6"/>
          <p:cNvSpPr txBox="1"/>
          <p:nvPr/>
        </p:nvSpPr>
        <p:spPr>
          <a:xfrm>
            <a:off x="767902" y="2698305"/>
            <a:ext cx="2022475" cy="977265"/>
          </a:xfrm>
          <a:prstGeom prst="rect">
            <a:avLst/>
          </a:prstGeom>
        </p:spPr>
        <p:txBody>
          <a:bodyPr vert="horz" wrap="square" lIns="0" tIns="12700" rIns="0" bIns="0" rtlCol="0">
            <a:spAutoFit/>
          </a:bodyPr>
          <a:lstStyle/>
          <a:p>
            <a:pPr marL="12700">
              <a:lnSpc>
                <a:spcPct val="100000"/>
              </a:lnSpc>
              <a:spcBef>
                <a:spcPts val="100"/>
              </a:spcBef>
            </a:pPr>
            <a:r>
              <a:rPr sz="1750" b="1" spc="-125" dirty="0">
                <a:solidFill>
                  <a:srgbClr val="3A3535"/>
                </a:solidFill>
                <a:latin typeface="Verdana"/>
                <a:cs typeface="Verdana"/>
              </a:rPr>
              <a:t>External</a:t>
            </a:r>
            <a:r>
              <a:rPr sz="1750" b="1" spc="-155" dirty="0">
                <a:solidFill>
                  <a:srgbClr val="3A3535"/>
                </a:solidFill>
                <a:latin typeface="Verdana"/>
                <a:cs typeface="Verdana"/>
              </a:rPr>
              <a:t> </a:t>
            </a:r>
            <a:r>
              <a:rPr sz="1750" b="1" spc="-20" dirty="0">
                <a:solidFill>
                  <a:srgbClr val="3A3535"/>
                </a:solidFill>
                <a:latin typeface="Verdana"/>
                <a:cs typeface="Verdana"/>
              </a:rPr>
              <a:t>Auth</a:t>
            </a:r>
            <a:endParaRPr sz="1750">
              <a:latin typeface="Verdana"/>
              <a:cs typeface="Verdana"/>
            </a:endParaRPr>
          </a:p>
          <a:p>
            <a:pPr marL="12700" marR="5080">
              <a:lnSpc>
                <a:spcPct val="134600"/>
              </a:lnSpc>
              <a:spcBef>
                <a:spcPts val="1185"/>
              </a:spcBef>
            </a:pPr>
            <a:r>
              <a:rPr sz="1300" spc="135" dirty="0">
                <a:solidFill>
                  <a:srgbClr val="3A3535"/>
                </a:solidFill>
                <a:latin typeface="Century Gothic"/>
                <a:cs typeface="Century Gothic"/>
              </a:rPr>
              <a:t>Fits</a:t>
            </a:r>
            <a:r>
              <a:rPr sz="1300" spc="-40" dirty="0">
                <a:solidFill>
                  <a:srgbClr val="3A3535"/>
                </a:solidFill>
                <a:latin typeface="Century Gothic"/>
                <a:cs typeface="Century Gothic"/>
              </a:rPr>
              <a:t> </a:t>
            </a:r>
            <a:r>
              <a:rPr sz="1300" spc="85" dirty="0">
                <a:solidFill>
                  <a:srgbClr val="3A3535"/>
                </a:solidFill>
                <a:latin typeface="Century Gothic"/>
                <a:cs typeface="Century Gothic"/>
              </a:rPr>
              <a:t>institutional</a:t>
            </a:r>
            <a:r>
              <a:rPr sz="1300" spc="-35" dirty="0">
                <a:solidFill>
                  <a:srgbClr val="3A3535"/>
                </a:solidFill>
                <a:latin typeface="Century Gothic"/>
                <a:cs typeface="Century Gothic"/>
              </a:rPr>
              <a:t> </a:t>
            </a:r>
            <a:r>
              <a:rPr sz="1300" spc="-10" dirty="0">
                <a:solidFill>
                  <a:srgbClr val="3A3535"/>
                </a:solidFill>
                <a:latin typeface="Century Gothic"/>
                <a:cs typeface="Century Gothic"/>
              </a:rPr>
              <a:t>access </a:t>
            </a:r>
            <a:r>
              <a:rPr sz="1300" spc="50" dirty="0">
                <a:solidFill>
                  <a:srgbClr val="3A3535"/>
                </a:solidFill>
                <a:latin typeface="Century Gothic"/>
                <a:cs typeface="Century Gothic"/>
              </a:rPr>
              <a:t>models</a:t>
            </a:r>
            <a:endParaRPr sz="1300">
              <a:latin typeface="Century Gothic"/>
              <a:cs typeface="Century Gothic"/>
            </a:endParaRPr>
          </a:p>
        </p:txBody>
      </p:sp>
      <p:sp>
        <p:nvSpPr>
          <p:cNvPr id="7" name="object 7"/>
          <p:cNvSpPr/>
          <p:nvPr/>
        </p:nvSpPr>
        <p:spPr>
          <a:xfrm>
            <a:off x="3143250" y="2543174"/>
            <a:ext cx="2352675" cy="1343025"/>
          </a:xfrm>
          <a:custGeom>
            <a:avLst/>
            <a:gdLst/>
            <a:ahLst/>
            <a:cxnLst/>
            <a:rect l="l" t="t" r="r" b="b"/>
            <a:pathLst>
              <a:path w="2352675" h="1343025">
                <a:moveTo>
                  <a:pt x="0" y="1293304"/>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293304"/>
                </a:lnTo>
                <a:lnTo>
                  <a:pt x="2352675" y="1299895"/>
                </a:lnTo>
                <a:lnTo>
                  <a:pt x="2351405" y="1306245"/>
                </a:lnTo>
                <a:lnTo>
                  <a:pt x="2328075" y="1336713"/>
                </a:lnTo>
                <a:lnTo>
                  <a:pt x="2309545" y="1343025"/>
                </a:lnTo>
                <a:lnTo>
                  <a:pt x="2302954" y="1343025"/>
                </a:lnTo>
                <a:lnTo>
                  <a:pt x="49720" y="1343025"/>
                </a:lnTo>
                <a:lnTo>
                  <a:pt x="43129" y="1343025"/>
                </a:lnTo>
                <a:lnTo>
                  <a:pt x="36779" y="1341755"/>
                </a:lnTo>
                <a:lnTo>
                  <a:pt x="6299" y="1318425"/>
                </a:lnTo>
                <a:lnTo>
                  <a:pt x="3784" y="1312329"/>
                </a:lnTo>
                <a:lnTo>
                  <a:pt x="1257"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8" name="object 8"/>
          <p:cNvSpPr txBox="1"/>
          <p:nvPr/>
        </p:nvSpPr>
        <p:spPr>
          <a:xfrm>
            <a:off x="3310635" y="2698305"/>
            <a:ext cx="1322070" cy="9772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Lab.js</a:t>
            </a:r>
            <a:endParaRPr sz="1750" dirty="0">
              <a:latin typeface="Verdana"/>
              <a:cs typeface="Verdana"/>
            </a:endParaRPr>
          </a:p>
          <a:p>
            <a:pPr marL="12700" marR="5080">
              <a:lnSpc>
                <a:spcPct val="134600"/>
              </a:lnSpc>
              <a:spcBef>
                <a:spcPts val="1185"/>
              </a:spcBef>
            </a:pPr>
            <a:r>
              <a:rPr sz="1300" spc="75" dirty="0">
                <a:solidFill>
                  <a:srgbClr val="3A3535"/>
                </a:solidFill>
                <a:latin typeface="Century Gothic"/>
                <a:cs typeface="Century Gothic"/>
              </a:rPr>
              <a:t>Browser-</a:t>
            </a:r>
            <a:r>
              <a:rPr sz="1300" spc="45" dirty="0">
                <a:solidFill>
                  <a:srgbClr val="3A3535"/>
                </a:solidFill>
                <a:latin typeface="Century Gothic"/>
                <a:cs typeface="Century Gothic"/>
              </a:rPr>
              <a:t>based </a:t>
            </a:r>
            <a:r>
              <a:rPr sz="1300" spc="55" dirty="0">
                <a:solidFill>
                  <a:srgbClr val="3A3535"/>
                </a:solidFill>
                <a:latin typeface="Century Gothic"/>
                <a:cs typeface="Century Gothic"/>
              </a:rPr>
              <a:t>experiments</a:t>
            </a:r>
            <a:endParaRPr sz="1300" dirty="0">
              <a:latin typeface="Century Gothic"/>
              <a:cs typeface="Century Gothic"/>
            </a:endParaRPr>
          </a:p>
        </p:txBody>
      </p:sp>
      <p:sp>
        <p:nvSpPr>
          <p:cNvPr id="9" name="object 9"/>
          <p:cNvSpPr/>
          <p:nvPr/>
        </p:nvSpPr>
        <p:spPr>
          <a:xfrm>
            <a:off x="600075" y="4076700"/>
            <a:ext cx="2352675" cy="1628775"/>
          </a:xfrm>
          <a:custGeom>
            <a:avLst/>
            <a:gdLst/>
            <a:ahLst/>
            <a:cxnLst/>
            <a:rect l="l" t="t" r="r" b="b"/>
            <a:pathLst>
              <a:path w="2352675" h="1628775">
                <a:moveTo>
                  <a:pt x="0" y="1579057"/>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579057"/>
                </a:lnTo>
                <a:lnTo>
                  <a:pt x="2352675" y="1585650"/>
                </a:lnTo>
                <a:lnTo>
                  <a:pt x="2351417" y="1591990"/>
                </a:lnTo>
                <a:lnTo>
                  <a:pt x="2348890" y="1598082"/>
                </a:lnTo>
                <a:lnTo>
                  <a:pt x="2346363" y="1604175"/>
                </a:lnTo>
                <a:lnTo>
                  <a:pt x="2321979" y="1624990"/>
                </a:lnTo>
                <a:lnTo>
                  <a:pt x="2315895" y="1627511"/>
                </a:lnTo>
                <a:lnTo>
                  <a:pt x="2309545" y="1628771"/>
                </a:lnTo>
                <a:lnTo>
                  <a:pt x="2302954" y="1628776"/>
                </a:lnTo>
                <a:lnTo>
                  <a:pt x="49717" y="1628776"/>
                </a:lnTo>
                <a:lnTo>
                  <a:pt x="9902" y="1609547"/>
                </a:lnTo>
                <a:lnTo>
                  <a:pt x="3784" y="1598082"/>
                </a:lnTo>
                <a:lnTo>
                  <a:pt x="1259"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0" name="object 10"/>
          <p:cNvSpPr txBox="1"/>
          <p:nvPr/>
        </p:nvSpPr>
        <p:spPr>
          <a:xfrm>
            <a:off x="767902" y="4231830"/>
            <a:ext cx="1871980" cy="977265"/>
          </a:xfrm>
          <a:prstGeom prst="rect">
            <a:avLst/>
          </a:prstGeom>
        </p:spPr>
        <p:txBody>
          <a:bodyPr vert="horz" wrap="square" lIns="0" tIns="12700" rIns="0" bIns="0" rtlCol="0">
            <a:spAutoFit/>
          </a:bodyPr>
          <a:lstStyle/>
          <a:p>
            <a:pPr marL="12700">
              <a:lnSpc>
                <a:spcPct val="100000"/>
              </a:lnSpc>
              <a:spcBef>
                <a:spcPts val="100"/>
              </a:spcBef>
            </a:pPr>
            <a:r>
              <a:rPr sz="1750" b="1" spc="-130" dirty="0">
                <a:solidFill>
                  <a:srgbClr val="3A3535"/>
                </a:solidFill>
                <a:latin typeface="Verdana"/>
                <a:cs typeface="Verdana"/>
              </a:rPr>
              <a:t>R</a:t>
            </a:r>
            <a:r>
              <a:rPr sz="1750" b="1" spc="-215" dirty="0">
                <a:solidFill>
                  <a:srgbClr val="3A3535"/>
                </a:solidFill>
                <a:latin typeface="Verdana"/>
                <a:cs typeface="Verdana"/>
              </a:rPr>
              <a:t> </a:t>
            </a:r>
            <a:r>
              <a:rPr sz="1750" b="1" spc="-25" dirty="0">
                <a:solidFill>
                  <a:srgbClr val="3A3535"/>
                </a:solidFill>
                <a:latin typeface="Verdana"/>
                <a:cs typeface="Verdana"/>
              </a:rPr>
              <a:t>Integration</a:t>
            </a:r>
            <a:endParaRPr sz="1750">
              <a:latin typeface="Verdana"/>
              <a:cs typeface="Verdana"/>
            </a:endParaRPr>
          </a:p>
          <a:p>
            <a:pPr marL="12700" marR="5080">
              <a:lnSpc>
                <a:spcPct val="134600"/>
              </a:lnSpc>
              <a:spcBef>
                <a:spcPts val="1185"/>
              </a:spcBef>
            </a:pPr>
            <a:r>
              <a:rPr sz="1300" spc="-10" dirty="0">
                <a:solidFill>
                  <a:srgbClr val="3A3535"/>
                </a:solidFill>
                <a:latin typeface="Century Gothic"/>
                <a:cs typeface="Century Gothic"/>
              </a:rPr>
              <a:t>Advanced</a:t>
            </a:r>
            <a:r>
              <a:rPr sz="1300" spc="-65" dirty="0">
                <a:solidFill>
                  <a:srgbClr val="3A3535"/>
                </a:solidFill>
                <a:latin typeface="Century Gothic"/>
                <a:cs typeface="Century Gothic"/>
              </a:rPr>
              <a:t> </a:t>
            </a:r>
            <a:r>
              <a:rPr sz="1300" spc="50" dirty="0">
                <a:solidFill>
                  <a:srgbClr val="3A3535"/>
                </a:solidFill>
                <a:latin typeface="Century Gothic"/>
                <a:cs typeface="Century Gothic"/>
              </a:rPr>
              <a:t>analysis</a:t>
            </a:r>
            <a:r>
              <a:rPr sz="1300" spc="-65" dirty="0">
                <a:solidFill>
                  <a:srgbClr val="3A3535"/>
                </a:solidFill>
                <a:latin typeface="Century Gothic"/>
                <a:cs typeface="Century Gothic"/>
              </a:rPr>
              <a:t> </a:t>
            </a:r>
            <a:r>
              <a:rPr sz="1300" spc="110" dirty="0">
                <a:solidFill>
                  <a:srgbClr val="3A3535"/>
                </a:solidFill>
                <a:latin typeface="Century Gothic"/>
                <a:cs typeface="Century Gothic"/>
              </a:rPr>
              <a:t>in-</a:t>
            </a:r>
            <a:r>
              <a:rPr sz="1300" spc="40" dirty="0">
                <a:solidFill>
                  <a:srgbClr val="3A3535"/>
                </a:solidFill>
                <a:latin typeface="Century Gothic"/>
                <a:cs typeface="Century Gothic"/>
              </a:rPr>
              <a:t>platform</a:t>
            </a:r>
            <a:endParaRPr sz="1300">
              <a:latin typeface="Century Gothic"/>
              <a:cs typeface="Century Gothic"/>
            </a:endParaRPr>
          </a:p>
        </p:txBody>
      </p:sp>
      <p:sp>
        <p:nvSpPr>
          <p:cNvPr id="11" name="object 11"/>
          <p:cNvSpPr/>
          <p:nvPr/>
        </p:nvSpPr>
        <p:spPr>
          <a:xfrm>
            <a:off x="3143250" y="4076700"/>
            <a:ext cx="2352675" cy="1628775"/>
          </a:xfrm>
          <a:custGeom>
            <a:avLst/>
            <a:gdLst/>
            <a:ahLst/>
            <a:cxnLst/>
            <a:rect l="l" t="t" r="r" b="b"/>
            <a:pathLst>
              <a:path w="2352675" h="1628775">
                <a:moveTo>
                  <a:pt x="0" y="1579057"/>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579057"/>
                </a:lnTo>
                <a:lnTo>
                  <a:pt x="2352675" y="1585650"/>
                </a:lnTo>
                <a:lnTo>
                  <a:pt x="2351405" y="1591990"/>
                </a:lnTo>
                <a:lnTo>
                  <a:pt x="2328075" y="1622465"/>
                </a:lnTo>
                <a:lnTo>
                  <a:pt x="2321979" y="1624990"/>
                </a:lnTo>
                <a:lnTo>
                  <a:pt x="2315895" y="1627511"/>
                </a:lnTo>
                <a:lnTo>
                  <a:pt x="2309545" y="1628771"/>
                </a:lnTo>
                <a:lnTo>
                  <a:pt x="2302954" y="1628776"/>
                </a:lnTo>
                <a:lnTo>
                  <a:pt x="49720" y="1628776"/>
                </a:lnTo>
                <a:lnTo>
                  <a:pt x="43129" y="1628771"/>
                </a:lnTo>
                <a:lnTo>
                  <a:pt x="36779" y="1627511"/>
                </a:lnTo>
                <a:lnTo>
                  <a:pt x="30695" y="1624990"/>
                </a:lnTo>
                <a:lnTo>
                  <a:pt x="24599" y="1622465"/>
                </a:lnTo>
                <a:lnTo>
                  <a:pt x="3784" y="1598082"/>
                </a:lnTo>
                <a:lnTo>
                  <a:pt x="1257"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2" name="object 12"/>
          <p:cNvSpPr txBox="1"/>
          <p:nvPr/>
        </p:nvSpPr>
        <p:spPr>
          <a:xfrm>
            <a:off x="3310635" y="4231830"/>
            <a:ext cx="1744980" cy="1253490"/>
          </a:xfrm>
          <a:prstGeom prst="rect">
            <a:avLst/>
          </a:prstGeom>
        </p:spPr>
        <p:txBody>
          <a:bodyPr vert="horz" wrap="square" lIns="0" tIns="3175" rIns="0" bIns="0" rtlCol="0">
            <a:spAutoFit/>
          </a:bodyPr>
          <a:lstStyle/>
          <a:p>
            <a:pPr marL="12700" marR="676910">
              <a:lnSpc>
                <a:spcPct val="103600"/>
              </a:lnSpc>
              <a:spcBef>
                <a:spcPts val="25"/>
              </a:spcBef>
            </a:pPr>
            <a:r>
              <a:rPr sz="1750" b="1" spc="-10" dirty="0">
                <a:solidFill>
                  <a:srgbClr val="3A3535"/>
                </a:solidFill>
                <a:latin typeface="Verdana"/>
                <a:cs typeface="Verdana"/>
              </a:rPr>
              <a:t>Custom </a:t>
            </a:r>
            <a:r>
              <a:rPr sz="1750" b="1" spc="-120" dirty="0">
                <a:solidFill>
                  <a:srgbClr val="3A3535"/>
                </a:solidFill>
                <a:latin typeface="Verdana"/>
                <a:cs typeface="Verdana"/>
              </a:rPr>
              <a:t>Formulas</a:t>
            </a:r>
            <a:endParaRPr sz="1750">
              <a:latin typeface="Verdana"/>
              <a:cs typeface="Verdana"/>
            </a:endParaRPr>
          </a:p>
          <a:p>
            <a:pPr marL="12700" marR="5080">
              <a:lnSpc>
                <a:spcPct val="134600"/>
              </a:lnSpc>
              <a:spcBef>
                <a:spcPts val="1185"/>
              </a:spcBef>
            </a:pPr>
            <a:r>
              <a:rPr sz="1300" spc="90" dirty="0">
                <a:solidFill>
                  <a:srgbClr val="3A3535"/>
                </a:solidFill>
                <a:latin typeface="Century Gothic"/>
                <a:cs typeface="Century Gothic"/>
              </a:rPr>
              <a:t>Scoring</a:t>
            </a:r>
            <a:r>
              <a:rPr sz="1300" spc="-5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10" dirty="0">
                <a:solidFill>
                  <a:srgbClr val="3A3535"/>
                </a:solidFill>
                <a:latin typeface="Century Gothic"/>
                <a:cs typeface="Century Gothic"/>
              </a:rPr>
              <a:t>derived values</a:t>
            </a:r>
            <a:endParaRPr sz="1300">
              <a:latin typeface="Century Gothic"/>
              <a:cs typeface="Century Gothic"/>
            </a:endParaRPr>
          </a:p>
        </p:txBody>
      </p:sp>
      <p:sp>
        <p:nvSpPr>
          <p:cNvPr id="13" name="object 13"/>
          <p:cNvSpPr/>
          <p:nvPr/>
        </p:nvSpPr>
        <p:spPr>
          <a:xfrm>
            <a:off x="5810250" y="1895474"/>
            <a:ext cx="5162550" cy="4010025"/>
          </a:xfrm>
          <a:custGeom>
            <a:avLst/>
            <a:gdLst/>
            <a:ahLst/>
            <a:cxnLst/>
            <a:rect l="l" t="t" r="r" b="b"/>
            <a:pathLst>
              <a:path w="5162550" h="4010025">
                <a:moveTo>
                  <a:pt x="5067655" y="0"/>
                </a:moveTo>
                <a:lnTo>
                  <a:pt x="94894" y="0"/>
                </a:lnTo>
                <a:lnTo>
                  <a:pt x="88290" y="647"/>
                </a:lnTo>
                <a:lnTo>
                  <a:pt x="50685" y="13411"/>
                </a:lnTo>
                <a:lnTo>
                  <a:pt x="20815" y="39585"/>
                </a:lnTo>
                <a:lnTo>
                  <a:pt x="3251" y="75209"/>
                </a:lnTo>
                <a:lnTo>
                  <a:pt x="0" y="94894"/>
                </a:lnTo>
                <a:lnTo>
                  <a:pt x="0" y="3908465"/>
                </a:lnTo>
                <a:lnTo>
                  <a:pt x="0" y="3915133"/>
                </a:lnTo>
                <a:lnTo>
                  <a:pt x="10287" y="3953491"/>
                </a:lnTo>
                <a:lnTo>
                  <a:pt x="34467" y="3984993"/>
                </a:lnTo>
                <a:lnTo>
                  <a:pt x="68846" y="4004847"/>
                </a:lnTo>
                <a:lnTo>
                  <a:pt x="94894" y="4010026"/>
                </a:lnTo>
                <a:lnTo>
                  <a:pt x="5067655" y="4010026"/>
                </a:lnTo>
                <a:lnTo>
                  <a:pt x="5106009" y="3999741"/>
                </a:lnTo>
                <a:lnTo>
                  <a:pt x="5137518" y="3975562"/>
                </a:lnTo>
                <a:lnTo>
                  <a:pt x="5157368" y="3941168"/>
                </a:lnTo>
                <a:lnTo>
                  <a:pt x="5162550" y="3915133"/>
                </a:lnTo>
                <a:lnTo>
                  <a:pt x="5162550" y="94894"/>
                </a:lnTo>
                <a:lnTo>
                  <a:pt x="5152263" y="56527"/>
                </a:lnTo>
                <a:lnTo>
                  <a:pt x="5128082" y="25031"/>
                </a:lnTo>
                <a:lnTo>
                  <a:pt x="5093690" y="5181"/>
                </a:lnTo>
                <a:lnTo>
                  <a:pt x="5074259" y="647"/>
                </a:lnTo>
                <a:lnTo>
                  <a:pt x="5067655" y="0"/>
                </a:lnTo>
                <a:close/>
              </a:path>
            </a:pathLst>
          </a:custGeom>
          <a:solidFill>
            <a:srgbClr val="F9D2D6"/>
          </a:solidFill>
        </p:spPr>
        <p:txBody>
          <a:bodyPr wrap="square" lIns="0" tIns="0" rIns="0" bIns="0" rtlCol="0"/>
          <a:lstStyle/>
          <a:p>
            <a:endParaRPr/>
          </a:p>
        </p:txBody>
      </p:sp>
      <p:sp>
        <p:nvSpPr>
          <p:cNvPr id="14" name="object 14"/>
          <p:cNvSpPr txBox="1"/>
          <p:nvPr/>
        </p:nvSpPr>
        <p:spPr>
          <a:xfrm>
            <a:off x="5965571" y="2041080"/>
            <a:ext cx="4077335" cy="71056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1F1E1E"/>
                </a:solidFill>
                <a:latin typeface="Verdana"/>
                <a:cs typeface="Verdana"/>
              </a:rPr>
              <a:t>3</a:t>
            </a:r>
            <a:r>
              <a:rPr sz="1750" b="1" spc="-195" dirty="0">
                <a:solidFill>
                  <a:srgbClr val="1F1E1E"/>
                </a:solidFill>
                <a:latin typeface="Verdana"/>
                <a:cs typeface="Verdana"/>
              </a:rPr>
              <a:t> </a:t>
            </a:r>
            <a:r>
              <a:rPr sz="1750" b="1" spc="-114" dirty="0">
                <a:solidFill>
                  <a:srgbClr val="1F1E1E"/>
                </a:solidFill>
                <a:latin typeface="Verdana"/>
                <a:cs typeface="Verdana"/>
              </a:rPr>
              <a:t>Featured</a:t>
            </a:r>
            <a:r>
              <a:rPr sz="1750" b="1" spc="-190" dirty="0">
                <a:solidFill>
                  <a:srgbClr val="1F1E1E"/>
                </a:solidFill>
                <a:latin typeface="Verdana"/>
                <a:cs typeface="Verdana"/>
              </a:rPr>
              <a:t> </a:t>
            </a:r>
            <a:r>
              <a:rPr sz="1750" b="1" spc="-10" dirty="0">
                <a:solidFill>
                  <a:srgbClr val="1F1E1E"/>
                </a:solidFill>
                <a:latin typeface="Verdana"/>
                <a:cs typeface="Verdana"/>
              </a:rPr>
              <a:t>Plugins</a:t>
            </a:r>
            <a:endParaRPr sz="1750" dirty="0">
              <a:latin typeface="Verdana"/>
              <a:cs typeface="Verdana"/>
            </a:endParaRPr>
          </a:p>
          <a:p>
            <a:pPr marL="12700">
              <a:lnSpc>
                <a:spcPct val="100000"/>
              </a:lnSpc>
              <a:spcBef>
                <a:spcPts val="1725"/>
              </a:spcBef>
            </a:pPr>
            <a:r>
              <a:rPr sz="1300" b="1" spc="-45" dirty="0">
                <a:solidFill>
                  <a:srgbClr val="3A3535"/>
                </a:solidFill>
                <a:latin typeface="Verdana"/>
                <a:cs typeface="Verdana"/>
              </a:rPr>
              <a:t>SurveyJS</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20" dirty="0">
                <a:solidFill>
                  <a:srgbClr val="3A3535"/>
                </a:solidFill>
                <a:latin typeface="Century Gothic"/>
                <a:cs typeface="Century Gothic"/>
              </a:rPr>
              <a:t> </a:t>
            </a:r>
            <a:r>
              <a:rPr sz="1300" spc="55" dirty="0">
                <a:solidFill>
                  <a:srgbClr val="3A3535"/>
                </a:solidFill>
                <a:latin typeface="Century Gothic"/>
                <a:cs typeface="Century Gothic"/>
              </a:rPr>
              <a:t>longitudinal</a:t>
            </a:r>
            <a:r>
              <a:rPr sz="1300" spc="-25" dirty="0">
                <a:solidFill>
                  <a:srgbClr val="3A3535"/>
                </a:solidFill>
                <a:latin typeface="Century Gothic"/>
                <a:cs typeface="Century Gothic"/>
              </a:rPr>
              <a:t> </a:t>
            </a:r>
            <a:r>
              <a:rPr sz="1300" spc="70" dirty="0">
                <a:solidFill>
                  <a:srgbClr val="3A3535"/>
                </a:solidFill>
                <a:latin typeface="Century Gothic"/>
                <a:cs typeface="Century Gothic"/>
              </a:rPr>
              <a:t>assessment</a:t>
            </a:r>
            <a:endParaRPr sz="1300" dirty="0">
              <a:latin typeface="Century Gothic"/>
              <a:cs typeface="Century Gothic"/>
            </a:endParaRPr>
          </a:p>
        </p:txBody>
      </p:sp>
      <p:sp>
        <p:nvSpPr>
          <p:cNvPr id="15" name="object 15"/>
          <p:cNvSpPr txBox="1"/>
          <p:nvPr/>
        </p:nvSpPr>
        <p:spPr>
          <a:xfrm>
            <a:off x="5965571" y="2942247"/>
            <a:ext cx="2603500"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2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5" dirty="0">
                <a:solidFill>
                  <a:srgbClr val="3A3535"/>
                </a:solidFill>
                <a:latin typeface="Century Gothic"/>
                <a:cs typeface="Century Gothic"/>
              </a:rPr>
              <a:t> </a:t>
            </a:r>
            <a:r>
              <a:rPr sz="1300" spc="85" dirty="0">
                <a:solidFill>
                  <a:srgbClr val="3A3535"/>
                </a:solidFill>
                <a:latin typeface="Century Gothic"/>
                <a:cs typeface="Century Gothic"/>
              </a:rPr>
              <a:t>assistants</a:t>
            </a:r>
            <a:endParaRPr sz="1300">
              <a:latin typeface="Century Gothic"/>
              <a:cs typeface="Century Gothic"/>
            </a:endParaRPr>
          </a:p>
        </p:txBody>
      </p:sp>
      <p:sp>
        <p:nvSpPr>
          <p:cNvPr id="16" name="object 16"/>
          <p:cNvSpPr txBox="1"/>
          <p:nvPr/>
        </p:nvSpPr>
        <p:spPr>
          <a:xfrm>
            <a:off x="5965571" y="3361347"/>
            <a:ext cx="4125595"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50" dirty="0">
                <a:solidFill>
                  <a:srgbClr val="3A3535"/>
                </a:solidFill>
                <a:latin typeface="Verdana"/>
                <a:cs typeface="Verdana"/>
              </a:rPr>
              <a:t> </a:t>
            </a:r>
            <a:r>
              <a:rPr sz="1300" b="1" spc="-70" dirty="0">
                <a:solidFill>
                  <a:srgbClr val="3A3535"/>
                </a:solidFill>
                <a:latin typeface="Verdana"/>
                <a:cs typeface="Verdana"/>
              </a:rPr>
              <a:t>Therapy</a:t>
            </a:r>
            <a:r>
              <a:rPr sz="1300" b="1" spc="-145" dirty="0">
                <a:solidFill>
                  <a:srgbClr val="3A3535"/>
                </a:solidFill>
                <a:latin typeface="Verdana"/>
                <a:cs typeface="Verdana"/>
              </a:rPr>
              <a:t> </a:t>
            </a:r>
            <a:r>
              <a:rPr sz="1300" b="1" spc="-10" dirty="0">
                <a:solidFill>
                  <a:srgbClr val="3A3535"/>
                </a:solidFill>
                <a:latin typeface="Verdana"/>
                <a:cs typeface="Verdana"/>
              </a:rPr>
              <a:t>Chat</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supervised</a:t>
            </a:r>
            <a:r>
              <a:rPr sz="1300" spc="-30" dirty="0">
                <a:solidFill>
                  <a:srgbClr val="3A3535"/>
                </a:solidFill>
                <a:latin typeface="Century Gothic"/>
                <a:cs typeface="Century Gothic"/>
              </a:rPr>
              <a:t> </a:t>
            </a:r>
            <a:r>
              <a:rPr sz="1300" spc="-10" dirty="0">
                <a:solidFill>
                  <a:srgbClr val="3A3535"/>
                </a:solidFill>
                <a:latin typeface="Century Gothic"/>
                <a:cs typeface="Century Gothic"/>
              </a:rPr>
              <a:t>communication</a:t>
            </a:r>
            <a:endParaRPr sz="1300">
              <a:latin typeface="Century Gothic"/>
              <a:cs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75" dirty="0"/>
              <a:t>Plugin</a:t>
            </a:r>
            <a:r>
              <a:rPr spc="-409" dirty="0"/>
              <a:t> </a:t>
            </a:r>
            <a:r>
              <a:rPr spc="-745" dirty="0"/>
              <a:t>1:</a:t>
            </a:r>
            <a:r>
              <a:rPr spc="-405" dirty="0"/>
              <a:t> </a:t>
            </a:r>
            <a:r>
              <a:rPr spc="-140" dirty="0"/>
              <a:t>SurveyJS</a:t>
            </a:r>
          </a:p>
        </p:txBody>
      </p:sp>
      <p:sp>
        <p:nvSpPr>
          <p:cNvPr id="3" name="object 3"/>
          <p:cNvSpPr/>
          <p:nvPr/>
        </p:nvSpPr>
        <p:spPr>
          <a:xfrm>
            <a:off x="628650" y="28575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4" name="object 4"/>
          <p:cNvSpPr/>
          <p:nvPr/>
        </p:nvSpPr>
        <p:spPr>
          <a:xfrm>
            <a:off x="628650" y="31813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5" name="object 5"/>
          <p:cNvSpPr/>
          <p:nvPr/>
        </p:nvSpPr>
        <p:spPr>
          <a:xfrm>
            <a:off x="628650" y="351472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579635" y="1707075"/>
            <a:ext cx="4725670" cy="2197100"/>
          </a:xfrm>
          <a:prstGeom prst="rect">
            <a:avLst/>
          </a:prstGeom>
        </p:spPr>
        <p:txBody>
          <a:bodyPr vert="horz" wrap="square" lIns="0" tIns="16510" rIns="0" bIns="0" rtlCol="0">
            <a:spAutoFit/>
          </a:bodyPr>
          <a:lstStyle/>
          <a:p>
            <a:pPr marL="12700" marR="5080">
              <a:lnSpc>
                <a:spcPct val="137000"/>
              </a:lnSpc>
              <a:spcBef>
                <a:spcPts val="130"/>
              </a:spcBef>
            </a:pPr>
            <a:r>
              <a:rPr sz="1300" spc="114" dirty="0">
                <a:solidFill>
                  <a:srgbClr val="3A3535"/>
                </a:solidFill>
                <a:latin typeface="Century Gothic"/>
                <a:cs typeface="Century Gothic"/>
              </a:rPr>
              <a:t>SurveyJS</a:t>
            </a:r>
            <a:r>
              <a:rPr sz="1300" spc="-5" dirty="0">
                <a:solidFill>
                  <a:srgbClr val="3A3535"/>
                </a:solidFill>
                <a:latin typeface="Century Gothic"/>
                <a:cs typeface="Century Gothic"/>
              </a:rPr>
              <a:t> </a:t>
            </a:r>
            <a:r>
              <a:rPr sz="1300" dirty="0">
                <a:solidFill>
                  <a:srgbClr val="3A3535"/>
                </a:solidFill>
                <a:latin typeface="Century Gothic"/>
                <a:cs typeface="Century Gothic"/>
              </a:rPr>
              <a:t>moves</a:t>
            </a:r>
            <a:r>
              <a:rPr sz="1300" spc="-5" dirty="0">
                <a:solidFill>
                  <a:srgbClr val="3A3535"/>
                </a:solidFill>
                <a:latin typeface="Century Gothic"/>
                <a:cs typeface="Century Gothic"/>
              </a:rPr>
              <a:t> </a:t>
            </a:r>
            <a:r>
              <a:rPr sz="1300" dirty="0">
                <a:solidFill>
                  <a:srgbClr val="3A3535"/>
                </a:solidFill>
                <a:latin typeface="Century Gothic"/>
                <a:cs typeface="Century Gothic"/>
              </a:rPr>
              <a:t>beyond</a:t>
            </a:r>
            <a:r>
              <a:rPr sz="1300" spc="-5" dirty="0">
                <a:solidFill>
                  <a:srgbClr val="3A3535"/>
                </a:solidFill>
                <a:latin typeface="Century Gothic"/>
                <a:cs typeface="Century Gothic"/>
              </a:rPr>
              <a:t> </a:t>
            </a:r>
            <a:r>
              <a:rPr sz="1300" spc="75" dirty="0">
                <a:solidFill>
                  <a:srgbClr val="3A3535"/>
                </a:solidFill>
                <a:latin typeface="Century Gothic"/>
                <a:cs typeface="Century Gothic"/>
              </a:rPr>
              <a:t>simple</a:t>
            </a:r>
            <a:r>
              <a:rPr sz="1300" spc="-5" dirty="0">
                <a:solidFill>
                  <a:srgbClr val="3A3535"/>
                </a:solidFill>
                <a:latin typeface="Century Gothic"/>
                <a:cs typeface="Century Gothic"/>
              </a:rPr>
              <a:t> </a:t>
            </a:r>
            <a:r>
              <a:rPr sz="1300" spc="100" dirty="0">
                <a:solidFill>
                  <a:srgbClr val="3A3535"/>
                </a:solidFill>
                <a:latin typeface="Century Gothic"/>
                <a:cs typeface="Century Gothic"/>
              </a:rPr>
              <a:t>forms</a:t>
            </a:r>
            <a:r>
              <a:rPr sz="1300"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75" dirty="0">
                <a:solidFill>
                  <a:srgbClr val="3A3535"/>
                </a:solidFill>
                <a:latin typeface="Century Gothic"/>
                <a:cs typeface="Century Gothic"/>
              </a:rPr>
              <a:t>surveys</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5" dirty="0">
                <a:solidFill>
                  <a:srgbClr val="3A3535"/>
                </a:solidFill>
                <a:latin typeface="Century Gothic"/>
                <a:cs typeface="Century Gothic"/>
              </a:rPr>
              <a:t> </a:t>
            </a:r>
            <a:r>
              <a:rPr sz="1300" spc="-25" dirty="0">
                <a:solidFill>
                  <a:srgbClr val="3A3535"/>
                </a:solidFill>
                <a:latin typeface="Century Gothic"/>
                <a:cs typeface="Century Gothic"/>
              </a:rPr>
              <a:t>be </a:t>
            </a:r>
            <a:r>
              <a:rPr sz="1300" b="1" spc="-50" dirty="0">
                <a:solidFill>
                  <a:srgbClr val="3A3535"/>
                </a:solidFill>
                <a:latin typeface="Verdana"/>
                <a:cs typeface="Verdana"/>
              </a:rPr>
              <a:t>versioned,</a:t>
            </a:r>
            <a:r>
              <a:rPr sz="1300" b="1" spc="-120" dirty="0">
                <a:solidFill>
                  <a:srgbClr val="3A3535"/>
                </a:solidFill>
                <a:latin typeface="Verdana"/>
                <a:cs typeface="Verdana"/>
              </a:rPr>
              <a:t> </a:t>
            </a:r>
            <a:r>
              <a:rPr sz="1300" b="1" spc="-40" dirty="0">
                <a:solidFill>
                  <a:srgbClr val="3A3535"/>
                </a:solidFill>
                <a:latin typeface="Verdana"/>
                <a:cs typeface="Verdana"/>
              </a:rPr>
              <a:t>scheduled,</a:t>
            </a:r>
            <a:r>
              <a:rPr sz="1300" b="1" spc="-114" dirty="0">
                <a:solidFill>
                  <a:srgbClr val="3A3535"/>
                </a:solidFill>
                <a:latin typeface="Verdana"/>
                <a:cs typeface="Verdana"/>
              </a:rPr>
              <a:t> </a:t>
            </a:r>
            <a:r>
              <a:rPr sz="1300" b="1" spc="-30" dirty="0">
                <a:solidFill>
                  <a:srgbClr val="3A3535"/>
                </a:solidFill>
                <a:latin typeface="Verdana"/>
                <a:cs typeface="Verdana"/>
              </a:rPr>
              <a:t>edited,</a:t>
            </a:r>
            <a:r>
              <a:rPr sz="1300" b="1" spc="-114" dirty="0">
                <a:solidFill>
                  <a:srgbClr val="3A3535"/>
                </a:solidFill>
                <a:latin typeface="Verdana"/>
                <a:cs typeface="Verdana"/>
              </a:rPr>
              <a:t> </a:t>
            </a:r>
            <a:r>
              <a:rPr sz="1300" b="1" spc="-45" dirty="0">
                <a:solidFill>
                  <a:srgbClr val="3A3535"/>
                </a:solidFill>
                <a:latin typeface="Verdana"/>
                <a:cs typeface="Verdana"/>
              </a:rPr>
              <a:t>and</a:t>
            </a:r>
            <a:r>
              <a:rPr sz="1300" b="1" spc="-114" dirty="0">
                <a:solidFill>
                  <a:srgbClr val="3A3535"/>
                </a:solidFill>
                <a:latin typeface="Verdana"/>
                <a:cs typeface="Verdana"/>
              </a:rPr>
              <a:t> </a:t>
            </a:r>
            <a:r>
              <a:rPr sz="1300" b="1" spc="-10" dirty="0">
                <a:solidFill>
                  <a:srgbClr val="3A3535"/>
                </a:solidFill>
                <a:latin typeface="Verdana"/>
                <a:cs typeface="Verdana"/>
              </a:rPr>
              <a:t>connected</a:t>
            </a:r>
            <a:r>
              <a:rPr sz="1300" b="1" spc="-114" dirty="0">
                <a:solidFill>
                  <a:srgbClr val="3A3535"/>
                </a:solidFill>
                <a:latin typeface="Verdana"/>
                <a:cs typeface="Verdana"/>
              </a:rPr>
              <a:t> </a:t>
            </a:r>
            <a:r>
              <a:rPr sz="1300" b="1" spc="-25" dirty="0">
                <a:solidFill>
                  <a:srgbClr val="3A3535"/>
                </a:solidFill>
                <a:latin typeface="Verdana"/>
                <a:cs typeface="Verdana"/>
              </a:rPr>
              <a:t>to </a:t>
            </a:r>
            <a:r>
              <a:rPr sz="1300" b="1" spc="-35" dirty="0">
                <a:solidFill>
                  <a:srgbClr val="3A3535"/>
                </a:solidFill>
                <a:latin typeface="Verdana"/>
                <a:cs typeface="Verdana"/>
              </a:rPr>
              <a:t>dashboards</a:t>
            </a:r>
            <a:r>
              <a:rPr sz="1300" b="1" spc="-70" dirty="0">
                <a:solidFill>
                  <a:srgbClr val="3A3535"/>
                </a:solidFill>
                <a:latin typeface="Verdana"/>
                <a:cs typeface="Verdana"/>
              </a:rPr>
              <a:t> </a:t>
            </a:r>
            <a:r>
              <a:rPr sz="1300" spc="80" dirty="0">
                <a:solidFill>
                  <a:srgbClr val="3A3535"/>
                </a:solidFill>
                <a:latin typeface="Century Gothic"/>
                <a:cs typeface="Century Gothic"/>
              </a:rPr>
              <a:t>inside</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a:p>
            <a:pPr>
              <a:lnSpc>
                <a:spcPct val="100000"/>
              </a:lnSpc>
              <a:spcBef>
                <a:spcPts val="220"/>
              </a:spcBef>
            </a:pPr>
            <a:endParaRPr sz="1300">
              <a:latin typeface="Century Gothic"/>
              <a:cs typeface="Century Gothic"/>
            </a:endParaRPr>
          </a:p>
          <a:p>
            <a:pPr marL="283210">
              <a:lnSpc>
                <a:spcPct val="100000"/>
              </a:lnSpc>
            </a:pPr>
            <a:r>
              <a:rPr sz="1300" dirty="0">
                <a:solidFill>
                  <a:srgbClr val="3A3535"/>
                </a:solidFill>
                <a:latin typeface="Century Gothic"/>
                <a:cs typeface="Century Gothic"/>
              </a:rPr>
              <a:t>Autosave,</a:t>
            </a:r>
            <a:r>
              <a:rPr sz="1300" spc="-5" dirty="0">
                <a:solidFill>
                  <a:srgbClr val="3A3535"/>
                </a:solidFill>
                <a:latin typeface="Century Gothic"/>
                <a:cs typeface="Century Gothic"/>
              </a:rPr>
              <a:t> </a:t>
            </a:r>
            <a:r>
              <a:rPr sz="1300" spc="60" dirty="0">
                <a:solidFill>
                  <a:srgbClr val="3A3535"/>
                </a:solidFill>
                <a:latin typeface="Century Gothic"/>
                <a:cs typeface="Century Gothic"/>
              </a:rPr>
              <a:t>edit</a:t>
            </a:r>
            <a:r>
              <a:rPr sz="1300" spc="-5" dirty="0">
                <a:solidFill>
                  <a:srgbClr val="3A3535"/>
                </a:solidFill>
                <a:latin typeface="Century Gothic"/>
                <a:cs typeface="Century Gothic"/>
              </a:rPr>
              <a:t> </a:t>
            </a:r>
            <a:r>
              <a:rPr sz="1300" dirty="0">
                <a:solidFill>
                  <a:srgbClr val="3A3535"/>
                </a:solidFill>
                <a:latin typeface="Century Gothic"/>
                <a:cs typeface="Century Gothic"/>
              </a:rPr>
              <a:t>mode,</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a:t>
            </a:r>
            <a:r>
              <a:rPr sz="1300"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5" dirty="0">
                <a:solidFill>
                  <a:srgbClr val="3A3535"/>
                </a:solidFill>
                <a:latin typeface="Century Gothic"/>
                <a:cs typeface="Century Gothic"/>
              </a:rPr>
              <a:t> </a:t>
            </a:r>
            <a:r>
              <a:rPr sz="1300" spc="-10" dirty="0">
                <a:solidFill>
                  <a:srgbClr val="3A3535"/>
                </a:solidFill>
                <a:latin typeface="Century Gothic"/>
                <a:cs typeface="Century Gothic"/>
              </a:rPr>
              <a:t>metadata</a:t>
            </a:r>
            <a:endParaRPr sz="1300">
              <a:latin typeface="Century Gothic"/>
              <a:cs typeface="Century Gothic"/>
            </a:endParaRPr>
          </a:p>
          <a:p>
            <a:pPr marL="283210">
              <a:lnSpc>
                <a:spcPct val="100000"/>
              </a:lnSpc>
              <a:spcBef>
                <a:spcPts val="990"/>
              </a:spcBef>
            </a:pPr>
            <a:r>
              <a:rPr sz="1300" spc="70" dirty="0">
                <a:solidFill>
                  <a:srgbClr val="3A3535"/>
                </a:solidFill>
                <a:latin typeface="Century Gothic"/>
                <a:cs typeface="Century Gothic"/>
              </a:rPr>
              <a:t>File</a:t>
            </a:r>
            <a:r>
              <a:rPr sz="1300" spc="-10" dirty="0">
                <a:solidFill>
                  <a:srgbClr val="3A3535"/>
                </a:solidFill>
                <a:latin typeface="Century Gothic"/>
                <a:cs typeface="Century Gothic"/>
              </a:rPr>
              <a:t> </a:t>
            </a:r>
            <a:r>
              <a:rPr sz="1300" dirty="0">
                <a:solidFill>
                  <a:srgbClr val="3A3535"/>
                </a:solidFill>
                <a:latin typeface="Century Gothic"/>
                <a:cs typeface="Century Gothic"/>
              </a:rPr>
              <a:t>upload,</a:t>
            </a:r>
            <a:r>
              <a:rPr sz="1300" spc="-10" dirty="0">
                <a:solidFill>
                  <a:srgbClr val="3A3535"/>
                </a:solidFill>
                <a:latin typeface="Century Gothic"/>
                <a:cs typeface="Century Gothic"/>
              </a:rPr>
              <a:t> </a:t>
            </a:r>
            <a:r>
              <a:rPr sz="1300" spc="85" dirty="0">
                <a:solidFill>
                  <a:srgbClr val="3A3535"/>
                </a:solidFill>
                <a:latin typeface="Century Gothic"/>
                <a:cs typeface="Century Gothic"/>
              </a:rPr>
              <a:t>PDF</a:t>
            </a:r>
            <a:r>
              <a:rPr sz="1300" spc="-10" dirty="0">
                <a:solidFill>
                  <a:srgbClr val="3A3535"/>
                </a:solidFill>
                <a:latin typeface="Century Gothic"/>
                <a:cs typeface="Century Gothic"/>
              </a:rPr>
              <a:t> </a:t>
            </a:r>
            <a:r>
              <a:rPr sz="1300" spc="50" dirty="0">
                <a:solidFill>
                  <a:srgbClr val="3A3535"/>
                </a:solidFill>
                <a:latin typeface="Century Gothic"/>
                <a:cs typeface="Century Gothic"/>
              </a:rPr>
              <a:t>export,</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 </a:t>
            </a:r>
            <a:r>
              <a:rPr sz="1300" spc="65" dirty="0">
                <a:solidFill>
                  <a:srgbClr val="3A3535"/>
                </a:solidFill>
                <a:latin typeface="Century Gothic"/>
                <a:cs typeface="Century Gothic"/>
              </a:rPr>
              <a:t>voice-</a:t>
            </a:r>
            <a:r>
              <a:rPr sz="1300" dirty="0">
                <a:solidFill>
                  <a:srgbClr val="3A3535"/>
                </a:solidFill>
                <a:latin typeface="Century Gothic"/>
                <a:cs typeface="Century Gothic"/>
              </a:rPr>
              <a:t>record</a:t>
            </a:r>
            <a:r>
              <a:rPr sz="1300" spc="-1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a:p>
            <a:pPr marL="283210" marR="120014">
              <a:lnSpc>
                <a:spcPct val="134600"/>
              </a:lnSpc>
              <a:spcBef>
                <a:spcPts val="525"/>
              </a:spcBef>
            </a:pPr>
            <a:r>
              <a:rPr sz="1300" spc="95" dirty="0">
                <a:solidFill>
                  <a:srgbClr val="3A3535"/>
                </a:solidFill>
                <a:latin typeface="Century Gothic"/>
                <a:cs typeface="Century Gothic"/>
              </a:rPr>
              <a:t>Stronger</a:t>
            </a:r>
            <a:r>
              <a:rPr sz="1300" spc="5" dirty="0">
                <a:solidFill>
                  <a:srgbClr val="3A3535"/>
                </a:solidFill>
                <a:latin typeface="Century Gothic"/>
                <a:cs typeface="Century Gothic"/>
              </a:rPr>
              <a:t> </a:t>
            </a:r>
            <a:r>
              <a:rPr sz="1300" spc="-40" dirty="0">
                <a:solidFill>
                  <a:srgbClr val="3A3535"/>
                </a:solidFill>
                <a:latin typeface="Century Gothic"/>
                <a:cs typeface="Century Gothic"/>
              </a:rPr>
              <a:t>data</a:t>
            </a:r>
            <a:r>
              <a:rPr sz="1300" spc="5" dirty="0">
                <a:solidFill>
                  <a:srgbClr val="3A3535"/>
                </a:solidFill>
                <a:latin typeface="Century Gothic"/>
                <a:cs typeface="Century Gothic"/>
              </a:rPr>
              <a:t> </a:t>
            </a:r>
            <a:r>
              <a:rPr sz="1300" dirty="0">
                <a:solidFill>
                  <a:srgbClr val="3A3535"/>
                </a:solidFill>
                <a:latin typeface="Century Gothic"/>
                <a:cs typeface="Century Gothic"/>
              </a:rPr>
              <a:t>quality</a:t>
            </a:r>
            <a:r>
              <a:rPr sz="1300" spc="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5" dirty="0">
                <a:solidFill>
                  <a:srgbClr val="3A3535"/>
                </a:solidFill>
                <a:latin typeface="Century Gothic"/>
                <a:cs typeface="Century Gothic"/>
              </a:rPr>
              <a:t> </a:t>
            </a:r>
            <a:r>
              <a:rPr sz="1300" dirty="0">
                <a:solidFill>
                  <a:srgbClr val="3A3535"/>
                </a:solidFill>
                <a:latin typeface="Century Gothic"/>
                <a:cs typeface="Century Gothic"/>
              </a:rPr>
              <a:t>repeated</a:t>
            </a:r>
            <a:r>
              <a:rPr sz="1300" spc="1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spc="45" dirty="0">
                <a:solidFill>
                  <a:srgbClr val="3A3535"/>
                </a:solidFill>
                <a:latin typeface="Century Gothic"/>
                <a:cs typeface="Century Gothic"/>
              </a:rPr>
              <a:t>longitudinal </a:t>
            </a:r>
            <a:r>
              <a:rPr sz="1300" spc="65" dirty="0">
                <a:solidFill>
                  <a:srgbClr val="3A3535"/>
                </a:solidFill>
                <a:latin typeface="Century Gothic"/>
                <a:cs typeface="Century Gothic"/>
              </a:rPr>
              <a:t>assessment</a:t>
            </a:r>
            <a:endParaRPr sz="1300">
              <a:latin typeface="Century Gothic"/>
              <a:cs typeface="Century Gothic"/>
            </a:endParaRPr>
          </a:p>
        </p:txBody>
      </p:sp>
      <p:grpSp>
        <p:nvGrpSpPr>
          <p:cNvPr id="7" name="object 7"/>
          <p:cNvGrpSpPr/>
          <p:nvPr/>
        </p:nvGrpSpPr>
        <p:grpSpPr>
          <a:xfrm>
            <a:off x="5915025" y="1809749"/>
            <a:ext cx="4933950" cy="1095375"/>
            <a:chOff x="5915025" y="1809749"/>
            <a:chExt cx="4933950" cy="1095375"/>
          </a:xfrm>
        </p:grpSpPr>
        <p:sp>
          <p:nvSpPr>
            <p:cNvPr id="8" name="object 8"/>
            <p:cNvSpPr/>
            <p:nvPr/>
          </p:nvSpPr>
          <p:spPr>
            <a:xfrm>
              <a:off x="5934913" y="180976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44"/>
                  </a:lnTo>
                  <a:lnTo>
                    <a:pt x="609" y="1034046"/>
                  </a:lnTo>
                  <a:lnTo>
                    <a:pt x="2413" y="1041247"/>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9" name="object 9"/>
            <p:cNvSpPr/>
            <p:nvPr/>
          </p:nvSpPr>
          <p:spPr>
            <a:xfrm>
              <a:off x="5915025" y="1809749"/>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0" name="object 10"/>
          <p:cNvSpPr txBox="1"/>
          <p:nvPr/>
        </p:nvSpPr>
        <p:spPr>
          <a:xfrm>
            <a:off x="6163665" y="1974405"/>
            <a:ext cx="351091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Create</a:t>
            </a:r>
            <a:endParaRPr sz="1750">
              <a:latin typeface="Verdana"/>
              <a:cs typeface="Verdana"/>
            </a:endParaRPr>
          </a:p>
          <a:p>
            <a:pPr marL="12700">
              <a:lnSpc>
                <a:spcPct val="100000"/>
              </a:lnSpc>
              <a:spcBef>
                <a:spcPts val="1725"/>
              </a:spcBef>
            </a:pPr>
            <a:r>
              <a:rPr sz="1300" spc="55" dirty="0">
                <a:solidFill>
                  <a:srgbClr val="3A3535"/>
                </a:solidFill>
                <a:latin typeface="Century Gothic"/>
                <a:cs typeface="Century Gothic"/>
              </a:rPr>
              <a:t>Versioned</a:t>
            </a:r>
            <a:r>
              <a:rPr sz="1300" spc="-40" dirty="0">
                <a:solidFill>
                  <a:srgbClr val="3A3535"/>
                </a:solidFill>
                <a:latin typeface="Century Gothic"/>
                <a:cs typeface="Century Gothic"/>
              </a:rPr>
              <a:t> </a:t>
            </a:r>
            <a:r>
              <a:rPr sz="1300" spc="55" dirty="0">
                <a:solidFill>
                  <a:srgbClr val="3A3535"/>
                </a:solidFill>
                <a:latin typeface="Century Gothic"/>
                <a:cs typeface="Century Gothic"/>
              </a:rPr>
              <a:t>survey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builder</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35" dirty="0">
                <a:solidFill>
                  <a:srgbClr val="3A3535"/>
                </a:solidFill>
                <a:latin typeface="Century Gothic"/>
                <a:cs typeface="Century Gothic"/>
              </a:rPr>
              <a:t> </a:t>
            </a:r>
            <a:r>
              <a:rPr sz="1300" spc="40" dirty="0">
                <a:solidFill>
                  <a:srgbClr val="3A3535"/>
                </a:solidFill>
                <a:latin typeface="Century Gothic"/>
                <a:cs typeface="Century Gothic"/>
              </a:rPr>
              <a:t>scheduling</a:t>
            </a:r>
            <a:endParaRPr sz="1300">
              <a:latin typeface="Century Gothic"/>
              <a:cs typeface="Century Gothic"/>
            </a:endParaRPr>
          </a:p>
        </p:txBody>
      </p:sp>
      <p:grpSp>
        <p:nvGrpSpPr>
          <p:cNvPr id="11" name="object 11"/>
          <p:cNvGrpSpPr/>
          <p:nvPr/>
        </p:nvGrpSpPr>
        <p:grpSpPr>
          <a:xfrm>
            <a:off x="5915025" y="3076575"/>
            <a:ext cx="4933950" cy="1095375"/>
            <a:chOff x="5915025" y="3076575"/>
            <a:chExt cx="4933950" cy="1095375"/>
          </a:xfrm>
        </p:grpSpPr>
        <p:sp>
          <p:nvSpPr>
            <p:cNvPr id="12" name="object 12"/>
            <p:cNvSpPr/>
            <p:nvPr/>
          </p:nvSpPr>
          <p:spPr>
            <a:xfrm>
              <a:off x="5934913" y="3076587"/>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31"/>
                  </a:lnTo>
                  <a:lnTo>
                    <a:pt x="609" y="1034046"/>
                  </a:lnTo>
                  <a:lnTo>
                    <a:pt x="2413" y="1041260"/>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13" name="object 13"/>
            <p:cNvSpPr/>
            <p:nvPr/>
          </p:nvSpPr>
          <p:spPr>
            <a:xfrm>
              <a:off x="5915025" y="3076575"/>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4" name="object 14"/>
          <p:cNvSpPr txBox="1"/>
          <p:nvPr/>
        </p:nvSpPr>
        <p:spPr>
          <a:xfrm>
            <a:off x="6163665" y="3241230"/>
            <a:ext cx="3206750"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Collect</a:t>
            </a:r>
            <a:endParaRPr sz="1750">
              <a:latin typeface="Verdana"/>
              <a:cs typeface="Verdana"/>
            </a:endParaRPr>
          </a:p>
          <a:p>
            <a:pPr marL="12700">
              <a:lnSpc>
                <a:spcPct val="100000"/>
              </a:lnSpc>
              <a:spcBef>
                <a:spcPts val="1725"/>
              </a:spcBef>
            </a:pPr>
            <a:r>
              <a:rPr sz="1300" spc="75" dirty="0">
                <a:solidFill>
                  <a:srgbClr val="3A3535"/>
                </a:solidFill>
                <a:latin typeface="Century Gothic"/>
                <a:cs typeface="Century Gothic"/>
              </a:rPr>
              <a:t>Files,</a:t>
            </a:r>
            <a:r>
              <a:rPr sz="1300" spc="-35" dirty="0">
                <a:solidFill>
                  <a:srgbClr val="3A3535"/>
                </a:solidFill>
                <a:latin typeface="Century Gothic"/>
                <a:cs typeface="Century Gothic"/>
              </a:rPr>
              <a:t> </a:t>
            </a:r>
            <a:r>
              <a:rPr sz="1300" dirty="0">
                <a:solidFill>
                  <a:srgbClr val="3A3535"/>
                </a:solidFill>
                <a:latin typeface="Century Gothic"/>
                <a:cs typeface="Century Gothic"/>
              </a:rPr>
              <a:t>voice,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3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p:txBody>
      </p:sp>
      <p:grpSp>
        <p:nvGrpSpPr>
          <p:cNvPr id="15" name="object 15"/>
          <p:cNvGrpSpPr/>
          <p:nvPr/>
        </p:nvGrpSpPr>
        <p:grpSpPr>
          <a:xfrm>
            <a:off x="5915025" y="4343400"/>
            <a:ext cx="4933950" cy="1095375"/>
            <a:chOff x="5915025" y="4343400"/>
            <a:chExt cx="4933950" cy="1095375"/>
          </a:xfrm>
        </p:grpSpPr>
        <p:sp>
          <p:nvSpPr>
            <p:cNvPr id="16" name="object 16"/>
            <p:cNvSpPr/>
            <p:nvPr/>
          </p:nvSpPr>
          <p:spPr>
            <a:xfrm>
              <a:off x="5934913" y="434341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393"/>
                  </a:lnTo>
                  <a:lnTo>
                    <a:pt x="75349" y="19050"/>
                  </a:lnTo>
                  <a:lnTo>
                    <a:pt x="4854803" y="19050"/>
                  </a:lnTo>
                  <a:lnTo>
                    <a:pt x="4892065" y="43827"/>
                  </a:lnTo>
                  <a:lnTo>
                    <a:pt x="4894999" y="59245"/>
                  </a:lnTo>
                  <a:lnTo>
                    <a:pt x="4894999" y="1036129"/>
                  </a:lnTo>
                  <a:lnTo>
                    <a:pt x="4894288" y="1043978"/>
                  </a:lnTo>
                  <a:lnTo>
                    <a:pt x="4894275" y="1044143"/>
                  </a:lnTo>
                  <a:lnTo>
                    <a:pt x="4892065" y="1051547"/>
                  </a:lnTo>
                  <a:lnTo>
                    <a:pt x="4888382" y="1058354"/>
                  </a:lnTo>
                  <a:lnTo>
                    <a:pt x="4883658" y="1064018"/>
                  </a:lnTo>
                  <a:lnTo>
                    <a:pt x="4883226" y="1064539"/>
                  </a:lnTo>
                  <a:lnTo>
                    <a:pt x="4877041" y="1069695"/>
                  </a:lnTo>
                  <a:lnTo>
                    <a:pt x="4870234" y="1073378"/>
                  </a:lnTo>
                  <a:lnTo>
                    <a:pt x="4862830" y="1075588"/>
                  </a:lnTo>
                  <a:lnTo>
                    <a:pt x="4854803" y="1076325"/>
                  </a:lnTo>
                  <a:lnTo>
                    <a:pt x="75349" y="1076325"/>
                  </a:lnTo>
                  <a:lnTo>
                    <a:pt x="33007" y="1066698"/>
                  </a:lnTo>
                  <a:lnTo>
                    <a:pt x="1079" y="1034034"/>
                  </a:lnTo>
                  <a:lnTo>
                    <a:pt x="0" y="1029931"/>
                  </a:lnTo>
                  <a:lnTo>
                    <a:pt x="609" y="1034034"/>
                  </a:lnTo>
                  <a:lnTo>
                    <a:pt x="2413" y="1041260"/>
                  </a:lnTo>
                  <a:lnTo>
                    <a:pt x="4851" y="1048042"/>
                  </a:lnTo>
                  <a:lnTo>
                    <a:pt x="4953" y="1048334"/>
                  </a:lnTo>
                  <a:lnTo>
                    <a:pt x="33007" y="1082535"/>
                  </a:lnTo>
                  <a:lnTo>
                    <a:pt x="75349" y="1095375"/>
                  </a:lnTo>
                  <a:lnTo>
                    <a:pt x="4862665" y="1095375"/>
                  </a:lnTo>
                  <a:lnTo>
                    <a:pt x="4869942" y="1093914"/>
                  </a:lnTo>
                  <a:lnTo>
                    <a:pt x="4870094" y="1093914"/>
                  </a:lnTo>
                  <a:lnTo>
                    <a:pt x="4884737" y="1087843"/>
                  </a:lnTo>
                  <a:lnTo>
                    <a:pt x="4891138" y="1083576"/>
                  </a:lnTo>
                  <a:lnTo>
                    <a:pt x="4896701" y="1078014"/>
                  </a:lnTo>
                  <a:lnTo>
                    <a:pt x="4897171" y="1077544"/>
                  </a:lnTo>
                  <a:lnTo>
                    <a:pt x="4902251" y="1072464"/>
                  </a:lnTo>
                  <a:lnTo>
                    <a:pt x="4906530" y="1066050"/>
                  </a:lnTo>
                  <a:lnTo>
                    <a:pt x="4912550" y="1051547"/>
                  </a:lnTo>
                  <a:lnTo>
                    <a:pt x="4914023" y="1044143"/>
                  </a:lnTo>
                  <a:lnTo>
                    <a:pt x="4914023" y="51219"/>
                  </a:lnTo>
                  <a:close/>
                </a:path>
              </a:pathLst>
            </a:custGeom>
            <a:solidFill>
              <a:srgbClr val="DFB7BB"/>
            </a:solidFill>
          </p:spPr>
          <p:txBody>
            <a:bodyPr wrap="square" lIns="0" tIns="0" rIns="0" bIns="0" rtlCol="0"/>
            <a:lstStyle/>
            <a:p>
              <a:endParaRPr/>
            </a:p>
          </p:txBody>
        </p:sp>
        <p:sp>
          <p:nvSpPr>
            <p:cNvPr id="17" name="object 17"/>
            <p:cNvSpPr/>
            <p:nvPr/>
          </p:nvSpPr>
          <p:spPr>
            <a:xfrm>
              <a:off x="5915025" y="4343400"/>
              <a:ext cx="76200" cy="1095375"/>
            </a:xfrm>
            <a:custGeom>
              <a:avLst/>
              <a:gdLst/>
              <a:ahLst/>
              <a:cxnLst/>
              <a:rect l="l" t="t" r="r" b="b"/>
              <a:pathLst>
                <a:path w="76200" h="1095375">
                  <a:moveTo>
                    <a:pt x="76200" y="0"/>
                  </a:moveTo>
                  <a:lnTo>
                    <a:pt x="55359" y="0"/>
                  </a:lnTo>
                  <a:lnTo>
                    <a:pt x="51498" y="381"/>
                  </a:lnTo>
                  <a:lnTo>
                    <a:pt x="14605" y="20104"/>
                  </a:lnTo>
                  <a:lnTo>
                    <a:pt x="0" y="55346"/>
                  </a:lnTo>
                  <a:lnTo>
                    <a:pt x="0" y="1036132"/>
                  </a:lnTo>
                  <a:lnTo>
                    <a:pt x="0" y="1040022"/>
                  </a:lnTo>
                  <a:lnTo>
                    <a:pt x="14605" y="1075269"/>
                  </a:lnTo>
                  <a:lnTo>
                    <a:pt x="51498" y="1094994"/>
                  </a:lnTo>
                  <a:lnTo>
                    <a:pt x="55359" y="1095376"/>
                  </a:lnTo>
                  <a:lnTo>
                    <a:pt x="76200" y="1095376"/>
                  </a:lnTo>
                  <a:lnTo>
                    <a:pt x="76200" y="0"/>
                  </a:lnTo>
                  <a:close/>
                </a:path>
              </a:pathLst>
            </a:custGeom>
            <a:solidFill>
              <a:srgbClr val="DA1B2D"/>
            </a:solidFill>
          </p:spPr>
          <p:txBody>
            <a:bodyPr wrap="square" lIns="0" tIns="0" rIns="0" bIns="0" rtlCol="0"/>
            <a:lstStyle/>
            <a:p>
              <a:endParaRPr/>
            </a:p>
          </p:txBody>
        </p:sp>
      </p:grpSp>
      <p:sp>
        <p:nvSpPr>
          <p:cNvPr id="18" name="object 18"/>
          <p:cNvSpPr txBox="1"/>
          <p:nvPr/>
        </p:nvSpPr>
        <p:spPr>
          <a:xfrm>
            <a:off x="6163665" y="4508055"/>
            <a:ext cx="267906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Analyze</a:t>
            </a:r>
            <a:endParaRPr sz="1750">
              <a:latin typeface="Verdana"/>
              <a:cs typeface="Verdana"/>
            </a:endParaRPr>
          </a:p>
          <a:p>
            <a:pPr marL="12700">
              <a:lnSpc>
                <a:spcPct val="100000"/>
              </a:lnSpc>
              <a:spcBef>
                <a:spcPts val="1725"/>
              </a:spcBef>
            </a:pPr>
            <a:r>
              <a:rPr sz="1300" spc="50" dirty="0">
                <a:solidFill>
                  <a:srgbClr val="3A3535"/>
                </a:solidFill>
                <a:latin typeface="Century Gothic"/>
                <a:cs typeface="Century Gothic"/>
              </a:rPr>
              <a:t>Dashboards</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filtered</a:t>
            </a:r>
            <a:r>
              <a:rPr sz="1300" spc="-50" dirty="0">
                <a:solidFill>
                  <a:srgbClr val="3A3535"/>
                </a:solidFill>
                <a:latin typeface="Century Gothic"/>
                <a:cs typeface="Century Gothic"/>
              </a:rPr>
              <a:t> </a:t>
            </a:r>
            <a:r>
              <a:rPr sz="1300" spc="95" dirty="0">
                <a:solidFill>
                  <a:srgbClr val="3A3535"/>
                </a:solidFill>
                <a:latin typeface="Century Gothic"/>
                <a:cs typeface="Century Gothic"/>
              </a:rPr>
              <a:t>results</a:t>
            </a:r>
            <a:endParaRPr sz="1300">
              <a:latin typeface="Century Gothic"/>
              <a:cs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298577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15" dirty="0"/>
              <a:t> </a:t>
            </a:r>
            <a:r>
              <a:rPr spc="-390" dirty="0"/>
              <a:t>2:</a:t>
            </a:r>
            <a:r>
              <a:rPr spc="-409" dirty="0"/>
              <a:t> </a:t>
            </a:r>
            <a:r>
              <a:rPr spc="-155" dirty="0"/>
              <a:t>LLM</a:t>
            </a:r>
          </a:p>
        </p:txBody>
      </p:sp>
      <p:sp>
        <p:nvSpPr>
          <p:cNvPr id="3" name="object 3"/>
          <p:cNvSpPr txBox="1"/>
          <p:nvPr/>
        </p:nvSpPr>
        <p:spPr>
          <a:xfrm>
            <a:off x="579635" y="2469075"/>
            <a:ext cx="10014585" cy="558800"/>
          </a:xfrm>
          <a:prstGeom prst="rect">
            <a:avLst/>
          </a:prstGeom>
        </p:spPr>
        <p:txBody>
          <a:bodyPr vert="horz" wrap="square" lIns="0" tIns="11430" rIns="0" bIns="0" rtlCol="0">
            <a:spAutoFit/>
          </a:bodyPr>
          <a:lstStyle/>
          <a:p>
            <a:pPr marL="12700" marR="5080">
              <a:lnSpc>
                <a:spcPct val="134600"/>
              </a:lnSpc>
              <a:spcBef>
                <a:spcPts val="90"/>
              </a:spcBef>
            </a:pPr>
            <a:r>
              <a:rPr sz="1300" spc="105" dirty="0">
                <a:solidFill>
                  <a:srgbClr val="3A3535"/>
                </a:solidFill>
                <a:latin typeface="Century Gothic"/>
                <a:cs typeface="Century Gothic"/>
              </a:rPr>
              <a:t>Not</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just</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chatbot</a:t>
            </a:r>
            <a:r>
              <a:rPr sz="1300" spc="-5"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b="1" spc="-35" dirty="0">
                <a:solidFill>
                  <a:srgbClr val="3A3535"/>
                </a:solidFill>
                <a:latin typeface="Verdana"/>
                <a:cs typeface="Verdana"/>
              </a:rPr>
              <a:t>controlled,</a:t>
            </a:r>
            <a:r>
              <a:rPr sz="1300" b="1" spc="-125" dirty="0">
                <a:solidFill>
                  <a:srgbClr val="3A3535"/>
                </a:solidFill>
                <a:latin typeface="Verdana"/>
                <a:cs typeface="Verdana"/>
              </a:rPr>
              <a:t> </a:t>
            </a:r>
            <a:r>
              <a:rPr sz="1300" b="1" spc="-35" dirty="0">
                <a:solidFill>
                  <a:srgbClr val="3A3535"/>
                </a:solidFill>
                <a:latin typeface="Verdana"/>
                <a:cs typeface="Verdana"/>
              </a:rPr>
              <a:t>testable</a:t>
            </a:r>
            <a:r>
              <a:rPr sz="1300" b="1" spc="-125" dirty="0">
                <a:solidFill>
                  <a:srgbClr val="3A3535"/>
                </a:solidFill>
                <a:latin typeface="Verdana"/>
                <a:cs typeface="Verdana"/>
              </a:rPr>
              <a:t> </a:t>
            </a:r>
            <a:r>
              <a:rPr sz="1300" b="1" spc="-130" dirty="0">
                <a:solidFill>
                  <a:srgbClr val="3A3535"/>
                </a:solidFill>
                <a:latin typeface="Verdana"/>
                <a:cs typeface="Verdana"/>
              </a:rPr>
              <a:t>AI</a:t>
            </a:r>
            <a:r>
              <a:rPr sz="1300" b="1" spc="-120" dirty="0">
                <a:solidFill>
                  <a:srgbClr val="3A3535"/>
                </a:solidFill>
                <a:latin typeface="Verdana"/>
                <a:cs typeface="Verdana"/>
              </a:rPr>
              <a:t> </a:t>
            </a:r>
            <a:r>
              <a:rPr sz="1300" b="1" spc="-25" dirty="0">
                <a:solidFill>
                  <a:srgbClr val="3A3535"/>
                </a:solidFill>
                <a:latin typeface="Verdana"/>
                <a:cs typeface="Verdana"/>
              </a:rPr>
              <a:t>component</a:t>
            </a:r>
            <a:r>
              <a:rPr sz="1300" b="1" spc="-90" dirty="0">
                <a:solidFill>
                  <a:srgbClr val="3A3535"/>
                </a:solidFill>
                <a:latin typeface="Verdana"/>
                <a:cs typeface="Verdana"/>
              </a:rPr>
              <a:t> </a:t>
            </a:r>
            <a:r>
              <a:rPr sz="1300" spc="-20" dirty="0">
                <a:solidFill>
                  <a:srgbClr val="3A3535"/>
                </a:solidFill>
                <a:latin typeface="Century Gothic"/>
                <a:cs typeface="Century Gothic"/>
              </a:rPr>
              <a:t>placed</a:t>
            </a:r>
            <a:r>
              <a:rPr sz="1300" spc="-5" dirty="0">
                <a:solidFill>
                  <a:srgbClr val="3A3535"/>
                </a:solidFill>
                <a:latin typeface="Century Gothic"/>
                <a:cs typeface="Century Gothic"/>
              </a:rPr>
              <a:t> </a:t>
            </a:r>
            <a:r>
              <a:rPr sz="1300" spc="80" dirty="0">
                <a:solidFill>
                  <a:srgbClr val="3A3535"/>
                </a:solidFill>
                <a:latin typeface="Century Gothic"/>
                <a:cs typeface="Century Gothic"/>
              </a:rPr>
              <a:t>inside</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spc="-40" dirty="0">
                <a:solidFill>
                  <a:srgbClr val="3A3535"/>
                </a:solidFill>
                <a:latin typeface="Century Gothic"/>
                <a:cs typeface="Century Gothic"/>
              </a:rPr>
              <a:t>page</a:t>
            </a:r>
            <a:r>
              <a:rPr sz="1300" spc="-5"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clear</a:t>
            </a:r>
            <a:r>
              <a:rPr sz="1300" spc="-5" dirty="0">
                <a:solidFill>
                  <a:srgbClr val="3A3535"/>
                </a:solidFill>
                <a:latin typeface="Century Gothic"/>
                <a:cs typeface="Century Gothic"/>
              </a:rPr>
              <a:t> </a:t>
            </a:r>
            <a:r>
              <a:rPr sz="1300" spc="55" dirty="0">
                <a:solidFill>
                  <a:srgbClr val="3A3535"/>
                </a:solidFill>
                <a:latin typeface="Century Gothic"/>
                <a:cs typeface="Century Gothic"/>
              </a:rPr>
              <a:t>role</a:t>
            </a:r>
            <a:r>
              <a:rPr sz="130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dirty="0">
                <a:solidFill>
                  <a:srgbClr val="3A3535"/>
                </a:solidFill>
                <a:latin typeface="Century Gothic"/>
                <a:cs typeface="Century Gothic"/>
              </a:rPr>
              <a:t>context.</a:t>
            </a:r>
            <a:r>
              <a:rPr sz="1300" spc="-5" dirty="0">
                <a:solidFill>
                  <a:srgbClr val="3A3535"/>
                </a:solidFill>
                <a:latin typeface="Century Gothic"/>
                <a:cs typeface="Century Gothic"/>
              </a:rPr>
              <a:t> </a:t>
            </a:r>
            <a:r>
              <a:rPr sz="1300" spc="40" dirty="0">
                <a:solidFill>
                  <a:srgbClr val="3A3535"/>
                </a:solidFill>
                <a:latin typeface="Century Gothic"/>
                <a:cs typeface="Century Gothic"/>
              </a:rPr>
              <a:t>Currently </a:t>
            </a:r>
            <a:r>
              <a:rPr sz="1300" spc="90" dirty="0">
                <a:solidFill>
                  <a:srgbClr val="3A3535"/>
                </a:solidFill>
                <a:latin typeface="Century Gothic"/>
                <a:cs typeface="Century Gothic"/>
              </a:rPr>
              <a:t>using</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80" dirty="0">
                <a:solidFill>
                  <a:srgbClr val="3A3535"/>
                </a:solidFill>
                <a:latin typeface="Century Gothic"/>
                <a:cs typeface="Century Gothic"/>
              </a:rPr>
              <a:t>university's</a:t>
            </a:r>
            <a:r>
              <a:rPr sz="1300" spc="-5" dirty="0">
                <a:solidFill>
                  <a:srgbClr val="3A3535"/>
                </a:solidFill>
                <a:latin typeface="Century Gothic"/>
                <a:cs typeface="Century Gothic"/>
              </a:rPr>
              <a:t> </a:t>
            </a:r>
            <a:r>
              <a:rPr sz="1300" dirty="0">
                <a:solidFill>
                  <a:srgbClr val="3A3535"/>
                </a:solidFill>
                <a:latin typeface="Century Gothic"/>
                <a:cs typeface="Century Gothic"/>
              </a:rPr>
              <a:t>local</a:t>
            </a:r>
            <a:r>
              <a:rPr sz="1300" spc="-5" dirty="0">
                <a:solidFill>
                  <a:srgbClr val="3A3535"/>
                </a:solidFill>
                <a:latin typeface="Century Gothic"/>
                <a:cs typeface="Century Gothic"/>
              </a:rPr>
              <a:t> </a:t>
            </a:r>
            <a:r>
              <a:rPr sz="1300" spc="80" dirty="0">
                <a:solidFill>
                  <a:srgbClr val="3A3535"/>
                </a:solidFill>
                <a:latin typeface="Century Gothic"/>
                <a:cs typeface="Century Gothic"/>
              </a:rPr>
              <a:t>LLM</a:t>
            </a:r>
            <a:r>
              <a:rPr sz="1300" dirty="0">
                <a:solidFill>
                  <a:srgbClr val="3A3535"/>
                </a:solidFill>
                <a:latin typeface="Century Gothic"/>
                <a:cs typeface="Century Gothic"/>
              </a:rPr>
              <a:t> </a:t>
            </a:r>
            <a:r>
              <a:rPr sz="1300" spc="55" dirty="0">
                <a:solidFill>
                  <a:srgbClr val="3A3535"/>
                </a:solidFill>
                <a:latin typeface="Century Gothic"/>
                <a:cs typeface="Century Gothic"/>
              </a:rPr>
              <a:t>infrastructure.</a:t>
            </a:r>
            <a:endParaRPr sz="1300" dirty="0">
              <a:latin typeface="Century Gothic"/>
              <a:cs typeface="Century Gothic"/>
            </a:endParaRPr>
          </a:p>
        </p:txBody>
      </p:sp>
      <p:pic>
        <p:nvPicPr>
          <p:cNvPr id="4" name="object 4"/>
          <p:cNvPicPr/>
          <p:nvPr/>
        </p:nvPicPr>
        <p:blipFill>
          <a:blip r:embed="rId3" cstate="print"/>
          <a:stretch>
            <a:fillRect/>
          </a:stretch>
        </p:blipFill>
        <p:spPr>
          <a:xfrm>
            <a:off x="581181" y="3272007"/>
            <a:ext cx="441854" cy="394199"/>
          </a:xfrm>
          <a:prstGeom prst="rect">
            <a:avLst/>
          </a:prstGeom>
        </p:spPr>
      </p:pic>
      <p:sp>
        <p:nvSpPr>
          <p:cNvPr id="5" name="object 5"/>
          <p:cNvSpPr txBox="1"/>
          <p:nvPr/>
        </p:nvSpPr>
        <p:spPr>
          <a:xfrm>
            <a:off x="579640" y="3860355"/>
            <a:ext cx="3086735" cy="643890"/>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Flexible</a:t>
            </a:r>
            <a:r>
              <a:rPr sz="1750" b="1" spc="-170" dirty="0">
                <a:solidFill>
                  <a:srgbClr val="3A3535"/>
                </a:solidFill>
                <a:latin typeface="Verdana"/>
                <a:cs typeface="Verdana"/>
              </a:rPr>
              <a:t> </a:t>
            </a:r>
            <a:r>
              <a:rPr sz="1750" b="1" spc="-10" dirty="0">
                <a:solidFill>
                  <a:srgbClr val="3A3535"/>
                </a:solidFill>
                <a:latin typeface="Verdana"/>
                <a:cs typeface="Verdana"/>
              </a:rPr>
              <a:t>Input</a:t>
            </a:r>
            <a:endParaRPr sz="1750" dirty="0">
              <a:latin typeface="Verdana"/>
              <a:cs typeface="Verdana"/>
            </a:endParaRPr>
          </a:p>
          <a:p>
            <a:pPr marL="12700">
              <a:lnSpc>
                <a:spcPct val="100000"/>
              </a:lnSpc>
              <a:spcBef>
                <a:spcPts val="1200"/>
              </a:spcBef>
            </a:pPr>
            <a:r>
              <a:rPr sz="1300" spc="55" dirty="0">
                <a:solidFill>
                  <a:srgbClr val="3A3535"/>
                </a:solidFill>
                <a:latin typeface="Century Gothic"/>
                <a:cs typeface="Century Gothic"/>
              </a:rPr>
              <a:t>Text,</a:t>
            </a:r>
            <a:r>
              <a:rPr sz="1300" spc="15" dirty="0">
                <a:solidFill>
                  <a:srgbClr val="3A3535"/>
                </a:solidFill>
                <a:latin typeface="Century Gothic"/>
                <a:cs typeface="Century Gothic"/>
              </a:rPr>
              <a:t> </a:t>
            </a:r>
            <a:r>
              <a:rPr sz="1300" dirty="0">
                <a:solidFill>
                  <a:srgbClr val="3A3535"/>
                </a:solidFill>
                <a:latin typeface="Century Gothic"/>
                <a:cs typeface="Century Gothic"/>
              </a:rPr>
              <a:t>file,</a:t>
            </a:r>
            <a:r>
              <a:rPr sz="1300" spc="15" dirty="0">
                <a:solidFill>
                  <a:srgbClr val="3A3535"/>
                </a:solidFill>
                <a:latin typeface="Century Gothic"/>
                <a:cs typeface="Century Gothic"/>
              </a:rPr>
              <a:t> </a:t>
            </a:r>
            <a:r>
              <a:rPr sz="1300" dirty="0">
                <a:solidFill>
                  <a:srgbClr val="3A3535"/>
                </a:solidFill>
                <a:latin typeface="Century Gothic"/>
                <a:cs typeface="Century Gothic"/>
              </a:rPr>
              <a:t>image,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spc="65" dirty="0">
                <a:solidFill>
                  <a:srgbClr val="3A3535"/>
                </a:solidFill>
                <a:latin typeface="Century Gothic"/>
                <a:cs typeface="Century Gothic"/>
              </a:rPr>
              <a:t>speech-</a:t>
            </a:r>
            <a:r>
              <a:rPr sz="1300" spc="100" dirty="0">
                <a:solidFill>
                  <a:srgbClr val="3A3535"/>
                </a:solidFill>
                <a:latin typeface="Century Gothic"/>
                <a:cs typeface="Century Gothic"/>
              </a:rPr>
              <a:t>to-</a:t>
            </a:r>
            <a:r>
              <a:rPr sz="1300" spc="40" dirty="0">
                <a:solidFill>
                  <a:srgbClr val="3A3535"/>
                </a:solidFill>
                <a:latin typeface="Century Gothic"/>
                <a:cs typeface="Century Gothic"/>
              </a:rPr>
              <a:t>text</a:t>
            </a:r>
            <a:endParaRPr sz="1300" dirty="0">
              <a:latin typeface="Century Gothic"/>
              <a:cs typeface="Century Gothic"/>
            </a:endParaRPr>
          </a:p>
        </p:txBody>
      </p:sp>
      <p:grpSp>
        <p:nvGrpSpPr>
          <p:cNvPr id="6" name="object 6"/>
          <p:cNvGrpSpPr/>
          <p:nvPr/>
        </p:nvGrpSpPr>
        <p:grpSpPr>
          <a:xfrm>
            <a:off x="4067327" y="3250322"/>
            <a:ext cx="441959" cy="438150"/>
            <a:chOff x="4067327" y="3250322"/>
            <a:chExt cx="441959" cy="438150"/>
          </a:xfrm>
        </p:grpSpPr>
        <p:sp>
          <p:nvSpPr>
            <p:cNvPr id="7" name="object 7"/>
            <p:cNvSpPr/>
            <p:nvPr/>
          </p:nvSpPr>
          <p:spPr>
            <a:xfrm>
              <a:off x="4076699" y="3288461"/>
              <a:ext cx="300990" cy="390525"/>
            </a:xfrm>
            <a:custGeom>
              <a:avLst/>
              <a:gdLst/>
              <a:ahLst/>
              <a:cxnLst/>
              <a:rect l="l" t="t" r="r" b="b"/>
              <a:pathLst>
                <a:path w="300989" h="390525">
                  <a:moveTo>
                    <a:pt x="103047" y="0"/>
                  </a:moveTo>
                  <a:lnTo>
                    <a:pt x="71882" y="22364"/>
                  </a:lnTo>
                  <a:lnTo>
                    <a:pt x="41657" y="55133"/>
                  </a:lnTo>
                  <a:lnTo>
                    <a:pt x="20948" y="88813"/>
                  </a:lnTo>
                  <a:lnTo>
                    <a:pt x="6112" y="129952"/>
                  </a:lnTo>
                  <a:lnTo>
                    <a:pt x="206" y="173550"/>
                  </a:lnTo>
                  <a:lnTo>
                    <a:pt x="0" y="180657"/>
                  </a:lnTo>
                  <a:lnTo>
                    <a:pt x="311" y="188182"/>
                  </a:lnTo>
                  <a:lnTo>
                    <a:pt x="5641" y="227703"/>
                  </a:lnTo>
                  <a:lnTo>
                    <a:pt x="19507" y="268274"/>
                  </a:lnTo>
                  <a:lnTo>
                    <a:pt x="39865" y="302615"/>
                  </a:lnTo>
                  <a:lnTo>
                    <a:pt x="65263" y="331483"/>
                  </a:lnTo>
                  <a:lnTo>
                    <a:pt x="98026" y="356923"/>
                  </a:lnTo>
                  <a:lnTo>
                    <a:pt x="137380" y="376861"/>
                  </a:lnTo>
                  <a:lnTo>
                    <a:pt x="179908" y="387934"/>
                  </a:lnTo>
                  <a:lnTo>
                    <a:pt x="209435" y="390093"/>
                  </a:lnTo>
                  <a:lnTo>
                    <a:pt x="219031" y="389649"/>
                  </a:lnTo>
                  <a:lnTo>
                    <a:pt x="259377" y="384365"/>
                  </a:lnTo>
                  <a:lnTo>
                    <a:pt x="294208" y="373405"/>
                  </a:lnTo>
                  <a:lnTo>
                    <a:pt x="300710" y="370674"/>
                  </a:lnTo>
                </a:path>
              </a:pathLst>
            </a:custGeom>
            <a:ln w="18745">
              <a:solidFill>
                <a:srgbClr val="DA1B2D"/>
              </a:solidFill>
            </a:ln>
          </p:spPr>
          <p:txBody>
            <a:bodyPr wrap="square" lIns="0" tIns="0" rIns="0" bIns="0" rtlCol="0"/>
            <a:lstStyle/>
            <a:p>
              <a:endParaRPr/>
            </a:p>
          </p:txBody>
        </p:sp>
        <p:sp>
          <p:nvSpPr>
            <p:cNvPr id="8" name="object 8"/>
            <p:cNvSpPr/>
            <p:nvPr/>
          </p:nvSpPr>
          <p:spPr>
            <a:xfrm>
              <a:off x="4179747" y="3259694"/>
              <a:ext cx="120014" cy="29209"/>
            </a:xfrm>
            <a:custGeom>
              <a:avLst/>
              <a:gdLst/>
              <a:ahLst/>
              <a:cxnLst/>
              <a:rect l="l" t="t" r="r" b="b"/>
              <a:pathLst>
                <a:path w="120014" h="29210">
                  <a:moveTo>
                    <a:pt x="119811" y="39"/>
                  </a:moveTo>
                  <a:lnTo>
                    <a:pt x="71907" y="2541"/>
                  </a:lnTo>
                  <a:lnTo>
                    <a:pt x="28041" y="14961"/>
                  </a:lnTo>
                  <a:lnTo>
                    <a:pt x="6938" y="25116"/>
                  </a:lnTo>
                  <a:lnTo>
                    <a:pt x="0" y="28766"/>
                  </a:lnTo>
                </a:path>
              </a:pathLst>
            </a:custGeom>
            <a:ln w="18745">
              <a:solidFill>
                <a:srgbClr val="DA1B2D"/>
              </a:solidFill>
            </a:ln>
          </p:spPr>
          <p:txBody>
            <a:bodyPr wrap="square" lIns="0" tIns="0" rIns="0" bIns="0" rtlCol="0"/>
            <a:lstStyle/>
            <a:p>
              <a:endParaRPr/>
            </a:p>
          </p:txBody>
        </p:sp>
        <p:sp>
          <p:nvSpPr>
            <p:cNvPr id="9" name="object 9"/>
            <p:cNvSpPr/>
            <p:nvPr/>
          </p:nvSpPr>
          <p:spPr>
            <a:xfrm>
              <a:off x="4342358" y="3382124"/>
              <a:ext cx="85090" cy="85725"/>
            </a:xfrm>
            <a:custGeom>
              <a:avLst/>
              <a:gdLst/>
              <a:ahLst/>
              <a:cxnLst/>
              <a:rect l="l" t="t" r="r" b="b"/>
              <a:pathLst>
                <a:path w="85089" h="85725">
                  <a:moveTo>
                    <a:pt x="0" y="0"/>
                  </a:moveTo>
                  <a:lnTo>
                    <a:pt x="84543" y="85636"/>
                  </a:lnTo>
                </a:path>
              </a:pathLst>
            </a:custGeom>
            <a:ln w="18745">
              <a:solidFill>
                <a:srgbClr val="DA1B2D"/>
              </a:solidFill>
            </a:ln>
          </p:spPr>
          <p:txBody>
            <a:bodyPr wrap="square" lIns="0" tIns="0" rIns="0" bIns="0" rtlCol="0"/>
            <a:lstStyle/>
            <a:p>
              <a:endParaRPr/>
            </a:p>
          </p:txBody>
        </p:sp>
        <p:sp>
          <p:nvSpPr>
            <p:cNvPr id="10" name="object 10"/>
            <p:cNvSpPr/>
            <p:nvPr/>
          </p:nvSpPr>
          <p:spPr>
            <a:xfrm>
              <a:off x="4342396" y="3467760"/>
              <a:ext cx="85090" cy="83820"/>
            </a:xfrm>
            <a:custGeom>
              <a:avLst/>
              <a:gdLst/>
              <a:ahLst/>
              <a:cxnLst/>
              <a:rect l="l" t="t" r="r" b="b"/>
              <a:pathLst>
                <a:path w="85089" h="83820">
                  <a:moveTo>
                    <a:pt x="0" y="83693"/>
                  </a:moveTo>
                  <a:lnTo>
                    <a:pt x="84505" y="0"/>
                  </a:lnTo>
                </a:path>
              </a:pathLst>
            </a:custGeom>
            <a:ln w="18745">
              <a:solidFill>
                <a:srgbClr val="DA1B2D"/>
              </a:solidFill>
            </a:ln>
          </p:spPr>
          <p:txBody>
            <a:bodyPr wrap="square" lIns="0" tIns="0" rIns="0" bIns="0" rtlCol="0"/>
            <a:lstStyle/>
            <a:p>
              <a:endParaRPr/>
            </a:p>
          </p:txBody>
        </p:sp>
        <p:sp>
          <p:nvSpPr>
            <p:cNvPr id="11" name="object 11"/>
            <p:cNvSpPr/>
            <p:nvPr/>
          </p:nvSpPr>
          <p:spPr>
            <a:xfrm>
              <a:off x="4150207" y="3382708"/>
              <a:ext cx="85090" cy="168275"/>
            </a:xfrm>
            <a:custGeom>
              <a:avLst/>
              <a:gdLst/>
              <a:ahLst/>
              <a:cxnLst/>
              <a:rect l="l" t="t" r="r" b="b"/>
              <a:pathLst>
                <a:path w="85089" h="168275">
                  <a:moveTo>
                    <a:pt x="84759" y="0"/>
                  </a:moveTo>
                  <a:lnTo>
                    <a:pt x="0" y="84785"/>
                  </a:lnTo>
                  <a:lnTo>
                    <a:pt x="83756" y="167830"/>
                  </a:lnTo>
                </a:path>
              </a:pathLst>
            </a:custGeom>
            <a:ln w="18745">
              <a:solidFill>
                <a:srgbClr val="DA1B2D"/>
              </a:solidFill>
            </a:ln>
          </p:spPr>
          <p:txBody>
            <a:bodyPr wrap="square" lIns="0" tIns="0" rIns="0" bIns="0" rtlCol="0"/>
            <a:lstStyle/>
            <a:p>
              <a:endParaRPr/>
            </a:p>
          </p:txBody>
        </p:sp>
        <p:sp>
          <p:nvSpPr>
            <p:cNvPr id="12" name="object 12"/>
            <p:cNvSpPr/>
            <p:nvPr/>
          </p:nvSpPr>
          <p:spPr>
            <a:xfrm>
              <a:off x="4377410" y="3459848"/>
              <a:ext cx="122555" cy="199390"/>
            </a:xfrm>
            <a:custGeom>
              <a:avLst/>
              <a:gdLst/>
              <a:ahLst/>
              <a:cxnLst/>
              <a:rect l="l" t="t" r="r" b="b"/>
              <a:pathLst>
                <a:path w="122554" h="199389">
                  <a:moveTo>
                    <a:pt x="0" y="199301"/>
                  </a:moveTo>
                  <a:lnTo>
                    <a:pt x="33667" y="180140"/>
                  </a:lnTo>
                  <a:lnTo>
                    <a:pt x="63198" y="155084"/>
                  </a:lnTo>
                  <a:lnTo>
                    <a:pt x="87562" y="124984"/>
                  </a:lnTo>
                  <a:lnTo>
                    <a:pt x="105930" y="90881"/>
                  </a:lnTo>
                  <a:lnTo>
                    <a:pt x="117654" y="53960"/>
                  </a:lnTo>
                  <a:lnTo>
                    <a:pt x="122329" y="15519"/>
                  </a:lnTo>
                  <a:lnTo>
                    <a:pt x="122398" y="7765"/>
                  </a:lnTo>
                  <a:lnTo>
                    <a:pt x="122174" y="0"/>
                  </a:lnTo>
                </a:path>
              </a:pathLst>
            </a:custGeom>
            <a:ln w="18745">
              <a:solidFill>
                <a:srgbClr val="DA1B2D"/>
              </a:solidFill>
            </a:ln>
          </p:spPr>
          <p:txBody>
            <a:bodyPr wrap="square" lIns="0" tIns="0" rIns="0" bIns="0" rtlCol="0"/>
            <a:lstStyle/>
            <a:p>
              <a:endParaRPr/>
            </a:p>
          </p:txBody>
        </p:sp>
        <p:sp>
          <p:nvSpPr>
            <p:cNvPr id="13" name="object 13"/>
            <p:cNvSpPr/>
            <p:nvPr/>
          </p:nvSpPr>
          <p:spPr>
            <a:xfrm>
              <a:off x="4492561" y="3412655"/>
              <a:ext cx="7620" cy="47625"/>
            </a:xfrm>
            <a:custGeom>
              <a:avLst/>
              <a:gdLst/>
              <a:ahLst/>
              <a:cxnLst/>
              <a:rect l="l" t="t" r="r" b="b"/>
              <a:pathLst>
                <a:path w="7620" h="47625">
                  <a:moveTo>
                    <a:pt x="7213" y="47193"/>
                  </a:moveTo>
                  <a:lnTo>
                    <a:pt x="0" y="0"/>
                  </a:lnTo>
                </a:path>
              </a:pathLst>
            </a:custGeom>
            <a:ln w="18745">
              <a:solidFill>
                <a:srgbClr val="DA1B2D"/>
              </a:solidFill>
            </a:ln>
          </p:spPr>
          <p:txBody>
            <a:bodyPr wrap="square" lIns="0" tIns="0" rIns="0" bIns="0" rtlCol="0"/>
            <a:lstStyle/>
            <a:p>
              <a:endParaRPr/>
            </a:p>
          </p:txBody>
        </p:sp>
        <p:sp>
          <p:nvSpPr>
            <p:cNvPr id="14" name="object 14"/>
            <p:cNvSpPr/>
            <p:nvPr/>
          </p:nvSpPr>
          <p:spPr>
            <a:xfrm>
              <a:off x="4299546" y="3259950"/>
              <a:ext cx="193675" cy="153035"/>
            </a:xfrm>
            <a:custGeom>
              <a:avLst/>
              <a:gdLst/>
              <a:ahLst/>
              <a:cxnLst/>
              <a:rect l="l" t="t" r="r" b="b"/>
              <a:pathLst>
                <a:path w="193675" h="153035">
                  <a:moveTo>
                    <a:pt x="193128" y="152679"/>
                  </a:moveTo>
                  <a:lnTo>
                    <a:pt x="178080" y="114516"/>
                  </a:lnTo>
                  <a:lnTo>
                    <a:pt x="155929" y="80002"/>
                  </a:lnTo>
                  <a:lnTo>
                    <a:pt x="127519" y="50434"/>
                  </a:lnTo>
                  <a:lnTo>
                    <a:pt x="93903" y="26924"/>
                  </a:lnTo>
                  <a:lnTo>
                    <a:pt x="56382" y="10359"/>
                  </a:lnTo>
                  <a:lnTo>
                    <a:pt x="16375" y="1385"/>
                  </a:lnTo>
                  <a:lnTo>
                    <a:pt x="8208" y="536"/>
                  </a:lnTo>
                  <a:lnTo>
                    <a:pt x="0" y="0"/>
                  </a:lnTo>
                </a:path>
              </a:pathLst>
            </a:custGeom>
            <a:ln w="18745">
              <a:solidFill>
                <a:srgbClr val="DA1B2D"/>
              </a:solidFill>
            </a:ln>
          </p:spPr>
          <p:txBody>
            <a:bodyPr wrap="square" lIns="0" tIns="0" rIns="0" bIns="0" rtlCol="0"/>
            <a:lstStyle/>
            <a:p>
              <a:endParaRPr/>
            </a:p>
          </p:txBody>
        </p:sp>
      </p:grpSp>
      <p:sp>
        <p:nvSpPr>
          <p:cNvPr id="15" name="object 15"/>
          <p:cNvSpPr txBox="1"/>
          <p:nvPr/>
        </p:nvSpPr>
        <p:spPr>
          <a:xfrm>
            <a:off x="4065193" y="3860355"/>
            <a:ext cx="2828290" cy="920115"/>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Structured</a:t>
            </a:r>
            <a:r>
              <a:rPr sz="1750" b="1" spc="-125" dirty="0">
                <a:solidFill>
                  <a:srgbClr val="3A3535"/>
                </a:solidFill>
                <a:latin typeface="Verdana"/>
                <a:cs typeface="Verdana"/>
              </a:rPr>
              <a:t> </a:t>
            </a:r>
            <a:r>
              <a:rPr sz="1750" b="1" spc="-10" dirty="0">
                <a:solidFill>
                  <a:srgbClr val="3A3535"/>
                </a:solidFill>
                <a:latin typeface="Verdana"/>
                <a:cs typeface="Verdana"/>
              </a:rPr>
              <a:t>Output</a:t>
            </a:r>
            <a:endParaRPr sz="1750">
              <a:latin typeface="Verdana"/>
              <a:cs typeface="Verdana"/>
            </a:endParaRPr>
          </a:p>
          <a:p>
            <a:pPr marL="12700" marR="5080">
              <a:lnSpc>
                <a:spcPct val="139400"/>
              </a:lnSpc>
              <a:spcBef>
                <a:spcPts val="585"/>
              </a:spcBef>
            </a:pPr>
            <a:r>
              <a:rPr sz="1300" spc="50" dirty="0">
                <a:solidFill>
                  <a:srgbClr val="3A3535"/>
                </a:solidFill>
                <a:latin typeface="Century Gothic"/>
                <a:cs typeface="Century Gothic"/>
              </a:rPr>
              <a:t>Conversation</a:t>
            </a:r>
            <a:r>
              <a:rPr sz="1300" spc="-4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30" dirty="0">
                <a:solidFill>
                  <a:srgbClr val="3A3535"/>
                </a:solidFill>
                <a:latin typeface="Century Gothic"/>
                <a:cs typeface="Century Gothic"/>
              </a:rPr>
              <a:t>JSON,</a:t>
            </a:r>
            <a:r>
              <a:rPr sz="1300" spc="-40" dirty="0">
                <a:solidFill>
                  <a:srgbClr val="3A3535"/>
                </a:solidFill>
                <a:latin typeface="Century Gothic"/>
                <a:cs typeface="Century Gothic"/>
              </a:rPr>
              <a:t> </a:t>
            </a:r>
            <a:r>
              <a:rPr sz="1300" spc="45" dirty="0">
                <a:solidFill>
                  <a:srgbClr val="3A3535"/>
                </a:solidFill>
                <a:latin typeface="Century Gothic"/>
                <a:cs typeface="Century Gothic"/>
              </a:rPr>
              <a:t>including </a:t>
            </a:r>
            <a:r>
              <a:rPr sz="1300" spc="75" dirty="0">
                <a:solidFill>
                  <a:srgbClr val="3A3535"/>
                </a:solidFill>
                <a:latin typeface="Century Gothic"/>
                <a:cs typeface="Century Gothic"/>
              </a:rPr>
              <a:t>OpenAI-</a:t>
            </a:r>
            <a:r>
              <a:rPr sz="1300" spc="55" dirty="0">
                <a:solidFill>
                  <a:srgbClr val="3A3535"/>
                </a:solidFill>
                <a:latin typeface="Century Gothic"/>
                <a:cs typeface="Century Gothic"/>
              </a:rPr>
              <a:t>style</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formats</a:t>
            </a:r>
            <a:endParaRPr sz="1300">
              <a:latin typeface="Century Gothic"/>
              <a:cs typeface="Century Gothic"/>
            </a:endParaRPr>
          </a:p>
        </p:txBody>
      </p:sp>
      <p:grpSp>
        <p:nvGrpSpPr>
          <p:cNvPr id="16" name="object 16"/>
          <p:cNvGrpSpPr/>
          <p:nvPr/>
        </p:nvGrpSpPr>
        <p:grpSpPr>
          <a:xfrm>
            <a:off x="7577672" y="3248178"/>
            <a:ext cx="393700" cy="441959"/>
            <a:chOff x="7577672" y="3248178"/>
            <a:chExt cx="393700" cy="441959"/>
          </a:xfrm>
        </p:grpSpPr>
        <p:sp>
          <p:nvSpPr>
            <p:cNvPr id="17" name="object 17"/>
            <p:cNvSpPr/>
            <p:nvPr/>
          </p:nvSpPr>
          <p:spPr>
            <a:xfrm>
              <a:off x="7656715" y="3488664"/>
              <a:ext cx="236220" cy="31750"/>
            </a:xfrm>
            <a:custGeom>
              <a:avLst/>
              <a:gdLst/>
              <a:ahLst/>
              <a:cxnLst/>
              <a:rect l="l" t="t" r="r" b="b"/>
              <a:pathLst>
                <a:path w="236220" h="31750">
                  <a:moveTo>
                    <a:pt x="235737" y="11747"/>
                  </a:moveTo>
                  <a:lnTo>
                    <a:pt x="196045" y="28254"/>
                  </a:lnTo>
                  <a:lnTo>
                    <a:pt x="168935" y="31711"/>
                  </a:lnTo>
                  <a:lnTo>
                    <a:pt x="160629" y="31457"/>
                  </a:lnTo>
                  <a:lnTo>
                    <a:pt x="117790" y="16610"/>
                  </a:lnTo>
                  <a:lnTo>
                    <a:pt x="108265" y="11267"/>
                  </a:lnTo>
                  <a:lnTo>
                    <a:pt x="69172" y="175"/>
                  </a:lnTo>
                  <a:lnTo>
                    <a:pt x="62812" y="0"/>
                  </a:lnTo>
                  <a:lnTo>
                    <a:pt x="56211" y="53"/>
                  </a:lnTo>
                  <a:lnTo>
                    <a:pt x="49250" y="342"/>
                  </a:lnTo>
                  <a:lnTo>
                    <a:pt x="40553" y="1648"/>
                  </a:lnTo>
                  <a:lnTo>
                    <a:pt x="29802" y="3865"/>
                  </a:lnTo>
                  <a:lnTo>
                    <a:pt x="16462" y="7270"/>
                  </a:lnTo>
                  <a:lnTo>
                    <a:pt x="0" y="12141"/>
                  </a:lnTo>
                </a:path>
              </a:pathLst>
            </a:custGeom>
            <a:ln w="18742">
              <a:solidFill>
                <a:srgbClr val="DA1B2D"/>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7577672" y="3248178"/>
              <a:ext cx="393532" cy="441855"/>
            </a:xfrm>
            <a:prstGeom prst="rect">
              <a:avLst/>
            </a:prstGeom>
          </p:spPr>
        </p:pic>
      </p:grpSp>
      <p:sp>
        <p:nvSpPr>
          <p:cNvPr id="19" name="object 19"/>
          <p:cNvSpPr txBox="1"/>
          <p:nvPr/>
        </p:nvSpPr>
        <p:spPr>
          <a:xfrm>
            <a:off x="7550746" y="3860355"/>
            <a:ext cx="2836545" cy="920115"/>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Prompt</a:t>
            </a:r>
            <a:r>
              <a:rPr sz="1750" b="1" spc="-180" dirty="0">
                <a:solidFill>
                  <a:srgbClr val="3A3535"/>
                </a:solidFill>
                <a:latin typeface="Verdana"/>
                <a:cs typeface="Verdana"/>
              </a:rPr>
              <a:t> </a:t>
            </a:r>
            <a:r>
              <a:rPr sz="1750" b="1" spc="-25" dirty="0">
                <a:solidFill>
                  <a:srgbClr val="3A3535"/>
                </a:solidFill>
                <a:latin typeface="Verdana"/>
                <a:cs typeface="Verdana"/>
              </a:rPr>
              <a:t>Lab</a:t>
            </a:r>
            <a:endParaRPr sz="1750">
              <a:latin typeface="Verdana"/>
              <a:cs typeface="Verdana"/>
            </a:endParaRPr>
          </a:p>
          <a:p>
            <a:pPr marL="12700" marR="5080">
              <a:lnSpc>
                <a:spcPct val="139400"/>
              </a:lnSpc>
              <a:spcBef>
                <a:spcPts val="585"/>
              </a:spcBef>
            </a:pPr>
            <a:r>
              <a:rPr sz="1300" spc="60" dirty="0">
                <a:solidFill>
                  <a:srgbClr val="3A3535"/>
                </a:solidFill>
                <a:latin typeface="Century Gothic"/>
                <a:cs typeface="Century Gothic"/>
              </a:rPr>
              <a:t>Version,</a:t>
            </a:r>
            <a:r>
              <a:rPr sz="1300" spc="-50" dirty="0">
                <a:solidFill>
                  <a:srgbClr val="3A3535"/>
                </a:solidFill>
                <a:latin typeface="Century Gothic"/>
                <a:cs typeface="Century Gothic"/>
              </a:rPr>
              <a:t> </a:t>
            </a:r>
            <a:r>
              <a:rPr sz="1300" spc="70" dirty="0">
                <a:solidFill>
                  <a:srgbClr val="3A3535"/>
                </a:solidFill>
                <a:latin typeface="Century Gothic"/>
                <a:cs typeface="Century Gothic"/>
              </a:rPr>
              <a:t>test,</a:t>
            </a:r>
            <a:r>
              <a:rPr sz="1300" spc="-45" dirty="0">
                <a:solidFill>
                  <a:srgbClr val="3A3535"/>
                </a:solidFill>
                <a:latin typeface="Century Gothic"/>
                <a:cs typeface="Century Gothic"/>
              </a:rPr>
              <a:t> </a:t>
            </a:r>
            <a:r>
              <a:rPr sz="1300" dirty="0">
                <a:solidFill>
                  <a:srgbClr val="3A3535"/>
                </a:solidFill>
                <a:latin typeface="Century Gothic"/>
                <a:cs typeface="Century Gothic"/>
              </a:rPr>
              <a:t>replay,</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10" dirty="0">
                <a:solidFill>
                  <a:srgbClr val="3A3535"/>
                </a:solidFill>
                <a:latin typeface="Century Gothic"/>
                <a:cs typeface="Century Gothic"/>
              </a:rPr>
              <a:t>evaluate </a:t>
            </a:r>
            <a:r>
              <a:rPr sz="1300" dirty="0">
                <a:solidFill>
                  <a:srgbClr val="3A3535"/>
                </a:solidFill>
                <a:latin typeface="Century Gothic"/>
                <a:cs typeface="Century Gothic"/>
              </a:rPr>
              <a:t>before</a:t>
            </a:r>
            <a:r>
              <a:rPr sz="1300" spc="135" dirty="0">
                <a:solidFill>
                  <a:srgbClr val="3A3535"/>
                </a:solidFill>
                <a:latin typeface="Century Gothic"/>
                <a:cs typeface="Century Gothic"/>
              </a:rPr>
              <a:t> </a:t>
            </a:r>
            <a:r>
              <a:rPr sz="1300" spc="70" dirty="0">
                <a:solidFill>
                  <a:srgbClr val="3A3535"/>
                </a:solidFill>
                <a:latin typeface="Century Gothic"/>
                <a:cs typeface="Century Gothic"/>
              </a:rPr>
              <a:t>rollout</a:t>
            </a:r>
            <a:endParaRPr sz="1300">
              <a:latin typeface="Century Gothic"/>
              <a:cs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611505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09" dirty="0"/>
              <a:t> </a:t>
            </a:r>
            <a:r>
              <a:rPr spc="-390" dirty="0"/>
              <a:t>3:</a:t>
            </a:r>
            <a:r>
              <a:rPr spc="-405" dirty="0"/>
              <a:t> </a:t>
            </a:r>
            <a:r>
              <a:rPr spc="-190" dirty="0"/>
              <a:t>LLM</a:t>
            </a:r>
            <a:r>
              <a:rPr spc="-405" dirty="0"/>
              <a:t> </a:t>
            </a:r>
            <a:r>
              <a:rPr spc="-229" dirty="0"/>
              <a:t>Therapy</a:t>
            </a:r>
            <a:r>
              <a:rPr spc="-405" dirty="0"/>
              <a:t> </a:t>
            </a:r>
            <a:r>
              <a:rPr spc="-50" dirty="0"/>
              <a:t>Chat</a:t>
            </a:r>
          </a:p>
        </p:txBody>
      </p:sp>
      <p:sp>
        <p:nvSpPr>
          <p:cNvPr id="3" name="object 3"/>
          <p:cNvSpPr txBox="1"/>
          <p:nvPr/>
        </p:nvSpPr>
        <p:spPr>
          <a:xfrm>
            <a:off x="579635" y="2592900"/>
            <a:ext cx="9813290" cy="577850"/>
          </a:xfrm>
          <a:prstGeom prst="rect">
            <a:avLst/>
          </a:prstGeom>
        </p:spPr>
        <p:txBody>
          <a:bodyPr vert="horz" wrap="square" lIns="0" tIns="11430" rIns="0" bIns="0" rtlCol="0">
            <a:spAutoFit/>
          </a:bodyPr>
          <a:lstStyle/>
          <a:p>
            <a:pPr marL="12700" marR="5080">
              <a:lnSpc>
                <a:spcPct val="139400"/>
              </a:lnSpc>
              <a:spcBef>
                <a:spcPts val="90"/>
              </a:spcBef>
            </a:pPr>
            <a:r>
              <a:rPr sz="1300" spc="75" dirty="0">
                <a:solidFill>
                  <a:srgbClr val="3A3535"/>
                </a:solidFill>
                <a:latin typeface="Century Gothic"/>
                <a:cs typeface="Century Gothic"/>
              </a:rPr>
              <a:t>Supervised</a:t>
            </a:r>
            <a:r>
              <a:rPr sz="1300" spc="25" dirty="0">
                <a:solidFill>
                  <a:srgbClr val="3A3535"/>
                </a:solidFill>
                <a:latin typeface="Century Gothic"/>
                <a:cs typeface="Century Gothic"/>
              </a:rPr>
              <a:t> </a:t>
            </a:r>
            <a:r>
              <a:rPr sz="1300" dirty="0">
                <a:solidFill>
                  <a:srgbClr val="3A3535"/>
                </a:solidFill>
                <a:latin typeface="Century Gothic"/>
                <a:cs typeface="Century Gothic"/>
              </a:rPr>
              <a:t>communication</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dirty="0">
                <a:solidFill>
                  <a:srgbClr val="3A3535"/>
                </a:solidFill>
                <a:latin typeface="Century Gothic"/>
                <a:cs typeface="Century Gothic"/>
              </a:rPr>
              <a:t>human</a:t>
            </a:r>
            <a:r>
              <a:rPr sz="1300" spc="30" dirty="0">
                <a:solidFill>
                  <a:srgbClr val="3A3535"/>
                </a:solidFill>
                <a:latin typeface="Century Gothic"/>
                <a:cs typeface="Century Gothic"/>
              </a:rPr>
              <a:t> </a:t>
            </a:r>
            <a:r>
              <a:rPr sz="1300" spc="90" dirty="0">
                <a:solidFill>
                  <a:srgbClr val="3A3535"/>
                </a:solidFill>
                <a:latin typeface="Century Gothic"/>
                <a:cs typeface="Century Gothic"/>
              </a:rPr>
              <a:t>in</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30" dirty="0">
                <a:solidFill>
                  <a:srgbClr val="3A3535"/>
                </a:solidFill>
                <a:latin typeface="Century Gothic"/>
                <a:cs typeface="Century Gothic"/>
              </a:rPr>
              <a:t> </a:t>
            </a:r>
            <a:r>
              <a:rPr sz="1300" dirty="0">
                <a:solidFill>
                  <a:srgbClr val="3A3535"/>
                </a:solidFill>
                <a:latin typeface="Century Gothic"/>
                <a:cs typeface="Century Gothic"/>
              </a:rPr>
              <a:t>same</a:t>
            </a:r>
            <a:r>
              <a:rPr sz="1300" spc="15" dirty="0">
                <a:solidFill>
                  <a:srgbClr val="3A3535"/>
                </a:solidFill>
                <a:latin typeface="Century Gothic"/>
                <a:cs typeface="Century Gothic"/>
              </a:rPr>
              <a:t> </a:t>
            </a:r>
            <a:r>
              <a:rPr sz="1300" dirty="0">
                <a:solidFill>
                  <a:srgbClr val="3A3535"/>
                </a:solidFill>
                <a:latin typeface="Century Gothic"/>
                <a:cs typeface="Century Gothic"/>
              </a:rPr>
              <a:t>framework.</a:t>
            </a:r>
            <a:r>
              <a:rPr sz="1300" spc="30" dirty="0">
                <a:solidFill>
                  <a:srgbClr val="3A3535"/>
                </a:solidFill>
                <a:latin typeface="Century Gothic"/>
                <a:cs typeface="Century Gothic"/>
              </a:rPr>
              <a:t> </a:t>
            </a:r>
            <a:r>
              <a:rPr sz="1300" spc="95" dirty="0">
                <a:solidFill>
                  <a:srgbClr val="3A3535"/>
                </a:solidFill>
                <a:latin typeface="Century Gothic"/>
                <a:cs typeface="Century Gothic"/>
              </a:rPr>
              <a:t>Useful</a:t>
            </a:r>
            <a:r>
              <a:rPr sz="1300" spc="3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30" dirty="0">
                <a:solidFill>
                  <a:srgbClr val="3A3535"/>
                </a:solidFill>
                <a:latin typeface="Century Gothic"/>
                <a:cs typeface="Century Gothic"/>
              </a:rPr>
              <a:t> </a:t>
            </a:r>
            <a:r>
              <a:rPr sz="1300" spc="55" dirty="0">
                <a:solidFill>
                  <a:srgbClr val="3A3535"/>
                </a:solidFill>
                <a:latin typeface="Century Gothic"/>
                <a:cs typeface="Century Gothic"/>
              </a:rPr>
              <a:t>both</a:t>
            </a:r>
            <a:r>
              <a:rPr sz="1300" spc="25" dirty="0">
                <a:solidFill>
                  <a:srgbClr val="3A3535"/>
                </a:solidFill>
                <a:latin typeface="Century Gothic"/>
                <a:cs typeface="Century Gothic"/>
              </a:rPr>
              <a:t> </a:t>
            </a:r>
            <a:r>
              <a:rPr sz="1300" b="1" spc="-35" dirty="0">
                <a:solidFill>
                  <a:srgbClr val="3A3535"/>
                </a:solidFill>
                <a:latin typeface="Verdana"/>
                <a:cs typeface="Verdana"/>
              </a:rPr>
              <a:t>service</a:t>
            </a:r>
            <a:r>
              <a:rPr sz="1300" b="1" spc="-90" dirty="0">
                <a:solidFill>
                  <a:srgbClr val="3A3535"/>
                </a:solidFill>
                <a:latin typeface="Verdana"/>
                <a:cs typeface="Verdana"/>
              </a:rPr>
              <a:t> </a:t>
            </a:r>
            <a:r>
              <a:rPr sz="1300" b="1" spc="-50" dirty="0">
                <a:solidFill>
                  <a:srgbClr val="3A3535"/>
                </a:solidFill>
                <a:latin typeface="Verdana"/>
                <a:cs typeface="Verdana"/>
              </a:rPr>
              <a:t>delivery</a:t>
            </a:r>
            <a:r>
              <a:rPr sz="1300" b="1" spc="-55" dirty="0">
                <a:solidFill>
                  <a:srgbClr val="3A3535"/>
                </a:solidFill>
                <a:latin typeface="Verdana"/>
                <a:cs typeface="Verdana"/>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b="1" spc="-10" dirty="0">
                <a:solidFill>
                  <a:srgbClr val="3A3535"/>
                </a:solidFill>
                <a:latin typeface="Verdana"/>
                <a:cs typeface="Verdana"/>
              </a:rPr>
              <a:t>controlled </a:t>
            </a:r>
            <a:r>
              <a:rPr sz="1300" b="1" spc="-35" dirty="0">
                <a:solidFill>
                  <a:srgbClr val="3A3535"/>
                </a:solidFill>
                <a:latin typeface="Verdana"/>
                <a:cs typeface="Verdana"/>
              </a:rPr>
              <a:t>comparison</a:t>
            </a:r>
            <a:r>
              <a:rPr sz="1300" b="1" spc="-70" dirty="0">
                <a:solidFill>
                  <a:srgbClr val="3A3535"/>
                </a:solidFill>
                <a:latin typeface="Verdana"/>
                <a:cs typeface="Verdana"/>
              </a:rPr>
              <a:t> </a:t>
            </a:r>
            <a:r>
              <a:rPr sz="1300" b="1" spc="-10" dirty="0">
                <a:solidFill>
                  <a:srgbClr val="3A3535"/>
                </a:solidFill>
                <a:latin typeface="Verdana"/>
                <a:cs typeface="Verdana"/>
              </a:rPr>
              <a:t>studies</a:t>
            </a:r>
            <a:r>
              <a:rPr sz="1300" spc="-10" dirty="0">
                <a:solidFill>
                  <a:srgbClr val="3A3535"/>
                </a:solidFill>
                <a:latin typeface="Century Gothic"/>
                <a:cs typeface="Century Gothic"/>
              </a:rPr>
              <a:t>.</a:t>
            </a:r>
            <a:endParaRPr sz="1300">
              <a:latin typeface="Century Gothic"/>
              <a:cs typeface="Century Gothic"/>
            </a:endParaRPr>
          </a:p>
        </p:txBody>
      </p:sp>
      <p:grpSp>
        <p:nvGrpSpPr>
          <p:cNvPr id="4" name="object 4"/>
          <p:cNvGrpSpPr/>
          <p:nvPr/>
        </p:nvGrpSpPr>
        <p:grpSpPr>
          <a:xfrm>
            <a:off x="590550" y="3390900"/>
            <a:ext cx="3305175" cy="1285875"/>
            <a:chOff x="590550" y="3390900"/>
            <a:chExt cx="3305175" cy="1285875"/>
          </a:xfrm>
        </p:grpSpPr>
        <p:sp>
          <p:nvSpPr>
            <p:cNvPr id="5" name="object 5"/>
            <p:cNvSpPr/>
            <p:nvPr/>
          </p:nvSpPr>
          <p:spPr>
            <a:xfrm>
              <a:off x="595312" y="3395662"/>
              <a:ext cx="3295650" cy="1276350"/>
            </a:xfrm>
            <a:custGeom>
              <a:avLst/>
              <a:gdLst/>
              <a:ahLst/>
              <a:cxnLst/>
              <a:rect l="l" t="t" r="r" b="b"/>
              <a:pathLst>
                <a:path w="3295650" h="1276350">
                  <a:moveTo>
                    <a:pt x="3244748" y="0"/>
                  </a:moveTo>
                  <a:lnTo>
                    <a:pt x="50904" y="0"/>
                  </a:lnTo>
                  <a:lnTo>
                    <a:pt x="47362" y="342"/>
                  </a:lnTo>
                  <a:lnTo>
                    <a:pt x="13428" y="18491"/>
                  </a:lnTo>
                  <a:lnTo>
                    <a:pt x="0" y="50901"/>
                  </a:lnTo>
                  <a:lnTo>
                    <a:pt x="0" y="1221867"/>
                  </a:lnTo>
                  <a:lnTo>
                    <a:pt x="0" y="1225448"/>
                  </a:lnTo>
                  <a:lnTo>
                    <a:pt x="18484" y="1262926"/>
                  </a:lnTo>
                  <a:lnTo>
                    <a:pt x="50904"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395662"/>
              <a:ext cx="3295650" cy="1276350"/>
            </a:xfrm>
            <a:custGeom>
              <a:avLst/>
              <a:gdLst/>
              <a:ahLst/>
              <a:cxnLst/>
              <a:rect l="l" t="t" r="r" b="b"/>
              <a:pathLst>
                <a:path w="3295650" h="1276350">
                  <a:moveTo>
                    <a:pt x="0" y="1221867"/>
                  </a:moveTo>
                  <a:lnTo>
                    <a:pt x="0" y="54483"/>
                  </a:lnTo>
                  <a:lnTo>
                    <a:pt x="0" y="50901"/>
                  </a:lnTo>
                  <a:lnTo>
                    <a:pt x="346" y="47358"/>
                  </a:lnTo>
                  <a:lnTo>
                    <a:pt x="18484" y="13423"/>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0" y="1276350"/>
                  </a:lnTo>
                  <a:lnTo>
                    <a:pt x="50904" y="1276350"/>
                  </a:lnTo>
                  <a:lnTo>
                    <a:pt x="47362" y="1275994"/>
                  </a:lnTo>
                  <a:lnTo>
                    <a:pt x="15958" y="1260386"/>
                  </a:lnTo>
                  <a:lnTo>
                    <a:pt x="13428" y="1257858"/>
                  </a:lnTo>
                  <a:lnTo>
                    <a:pt x="11167" y="1255102"/>
                  </a:lnTo>
                  <a:lnTo>
                    <a:pt x="9182" y="1252131"/>
                  </a:lnTo>
                  <a:lnTo>
                    <a:pt x="7193" y="1249159"/>
                  </a:lnTo>
                  <a:lnTo>
                    <a:pt x="1046" y="1232496"/>
                  </a:lnTo>
                  <a:lnTo>
                    <a:pt x="346"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546030"/>
            <a:ext cx="2616835" cy="910590"/>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User</a:t>
            </a:r>
            <a:r>
              <a:rPr sz="1750" b="1" spc="-220" dirty="0">
                <a:solidFill>
                  <a:srgbClr val="3A3535"/>
                </a:solidFill>
                <a:latin typeface="Verdana"/>
                <a:cs typeface="Verdana"/>
              </a:rPr>
              <a:t> </a:t>
            </a:r>
            <a:r>
              <a:rPr sz="1750" b="1" spc="-20" dirty="0">
                <a:solidFill>
                  <a:srgbClr val="3A3535"/>
                </a:solidFill>
                <a:latin typeface="Verdana"/>
                <a:cs typeface="Verdana"/>
              </a:rPr>
              <a:t>Side</a:t>
            </a:r>
            <a:endParaRPr sz="1750">
              <a:latin typeface="Verdana"/>
              <a:cs typeface="Verdana"/>
            </a:endParaRPr>
          </a:p>
          <a:p>
            <a:pPr marL="12700" marR="5080">
              <a:lnSpc>
                <a:spcPct val="134600"/>
              </a:lnSpc>
              <a:spcBef>
                <a:spcPts val="660"/>
              </a:spcBef>
            </a:pPr>
            <a:r>
              <a:rPr sz="1300" spc="55" dirty="0">
                <a:solidFill>
                  <a:srgbClr val="3A3535"/>
                </a:solidFill>
                <a:latin typeface="Century Gothic"/>
                <a:cs typeface="Century Gothic"/>
              </a:rPr>
              <a:t>Interacts</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40"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0" dirty="0">
                <a:solidFill>
                  <a:srgbClr val="3A3535"/>
                </a:solidFill>
                <a:latin typeface="Century Gothic"/>
                <a:cs typeface="Century Gothic"/>
              </a:rPr>
              <a:t>human </a:t>
            </a:r>
            <a:r>
              <a:rPr sz="1300" spc="60" dirty="0">
                <a:solidFill>
                  <a:srgbClr val="3A3535"/>
                </a:solidFill>
                <a:latin typeface="Century Gothic"/>
                <a:cs typeface="Century Gothic"/>
              </a:rPr>
              <a:t>through</a:t>
            </a:r>
            <a:r>
              <a:rPr sz="1300" spc="-4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40" dirty="0">
                <a:solidFill>
                  <a:srgbClr val="3A3535"/>
                </a:solidFill>
                <a:latin typeface="Century Gothic"/>
                <a:cs typeface="Century Gothic"/>
              </a:rPr>
              <a:t> </a:t>
            </a:r>
            <a:r>
              <a:rPr sz="1300" spc="75" dirty="0">
                <a:solidFill>
                  <a:srgbClr val="3A3535"/>
                </a:solidFill>
                <a:latin typeface="Century Gothic"/>
                <a:cs typeface="Century Gothic"/>
              </a:rPr>
              <a:t>single</a:t>
            </a:r>
            <a:r>
              <a:rPr sz="1300" spc="-40" dirty="0">
                <a:solidFill>
                  <a:srgbClr val="3A3535"/>
                </a:solidFill>
                <a:latin typeface="Century Gothic"/>
                <a:cs typeface="Century Gothic"/>
              </a:rPr>
              <a:t> </a:t>
            </a:r>
            <a:r>
              <a:rPr sz="1300" dirty="0">
                <a:solidFill>
                  <a:srgbClr val="3A3535"/>
                </a:solidFill>
                <a:latin typeface="Century Gothic"/>
                <a:cs typeface="Century Gothic"/>
              </a:rPr>
              <a:t>chat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interface</a:t>
            </a:r>
            <a:endParaRPr sz="1300">
              <a:latin typeface="Century Gothic"/>
              <a:cs typeface="Century Gothic"/>
            </a:endParaRPr>
          </a:p>
        </p:txBody>
      </p:sp>
      <p:grpSp>
        <p:nvGrpSpPr>
          <p:cNvPr id="8" name="object 8"/>
          <p:cNvGrpSpPr/>
          <p:nvPr/>
        </p:nvGrpSpPr>
        <p:grpSpPr>
          <a:xfrm>
            <a:off x="4067175" y="3390900"/>
            <a:ext cx="3295650" cy="1285875"/>
            <a:chOff x="4067175" y="3390900"/>
            <a:chExt cx="3295650" cy="1285875"/>
          </a:xfrm>
        </p:grpSpPr>
        <p:sp>
          <p:nvSpPr>
            <p:cNvPr id="9" name="object 9"/>
            <p:cNvSpPr/>
            <p:nvPr/>
          </p:nvSpPr>
          <p:spPr>
            <a:xfrm>
              <a:off x="4071937" y="3395662"/>
              <a:ext cx="3286125" cy="1276350"/>
            </a:xfrm>
            <a:custGeom>
              <a:avLst/>
              <a:gdLst/>
              <a:ahLst/>
              <a:cxnLst/>
              <a:rect l="l" t="t" r="r" b="b"/>
              <a:pathLst>
                <a:path w="3286125" h="1276350">
                  <a:moveTo>
                    <a:pt x="3235223" y="0"/>
                  </a:moveTo>
                  <a:lnTo>
                    <a:pt x="50901" y="0"/>
                  </a:lnTo>
                  <a:lnTo>
                    <a:pt x="47358" y="342"/>
                  </a:lnTo>
                  <a:lnTo>
                    <a:pt x="13423" y="18491"/>
                  </a:lnTo>
                  <a:lnTo>
                    <a:pt x="0" y="50901"/>
                  </a:lnTo>
                  <a:lnTo>
                    <a:pt x="0" y="1221867"/>
                  </a:lnTo>
                  <a:lnTo>
                    <a:pt x="0" y="1225448"/>
                  </a:lnTo>
                  <a:lnTo>
                    <a:pt x="15963" y="1260386"/>
                  </a:lnTo>
                  <a:lnTo>
                    <a:pt x="18478" y="1262926"/>
                  </a:lnTo>
                  <a:lnTo>
                    <a:pt x="50901" y="1276350"/>
                  </a:lnTo>
                  <a:lnTo>
                    <a:pt x="3235223" y="1276350"/>
                  </a:lnTo>
                  <a:lnTo>
                    <a:pt x="3272701" y="1257858"/>
                  </a:lnTo>
                  <a:lnTo>
                    <a:pt x="3286125" y="12254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395662"/>
              <a:ext cx="3286125" cy="1276350"/>
            </a:xfrm>
            <a:custGeom>
              <a:avLst/>
              <a:gdLst/>
              <a:ahLst/>
              <a:cxnLst/>
              <a:rect l="l" t="t" r="r" b="b"/>
              <a:pathLst>
                <a:path w="3286125"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221867"/>
                  </a:lnTo>
                  <a:lnTo>
                    <a:pt x="3286125" y="1225448"/>
                  </a:lnTo>
                  <a:lnTo>
                    <a:pt x="3285782" y="1228991"/>
                  </a:lnTo>
                  <a:lnTo>
                    <a:pt x="3285083" y="1232496"/>
                  </a:lnTo>
                  <a:lnTo>
                    <a:pt x="3284385" y="1236002"/>
                  </a:lnTo>
                  <a:lnTo>
                    <a:pt x="3283343" y="1239405"/>
                  </a:lnTo>
                  <a:lnTo>
                    <a:pt x="3281972" y="1242720"/>
                  </a:lnTo>
                  <a:lnTo>
                    <a:pt x="3280613" y="1246022"/>
                  </a:lnTo>
                  <a:lnTo>
                    <a:pt x="3278936" y="1249159"/>
                  </a:lnTo>
                  <a:lnTo>
                    <a:pt x="3276942" y="1252131"/>
                  </a:lnTo>
                  <a:lnTo>
                    <a:pt x="3274949" y="1255102"/>
                  </a:lnTo>
                  <a:lnTo>
                    <a:pt x="3272701" y="1257858"/>
                  </a:lnTo>
                  <a:lnTo>
                    <a:pt x="3270161" y="1260386"/>
                  </a:lnTo>
                  <a:lnTo>
                    <a:pt x="3267633" y="1262926"/>
                  </a:lnTo>
                  <a:lnTo>
                    <a:pt x="3235223" y="1276350"/>
                  </a:lnTo>
                  <a:lnTo>
                    <a:pt x="3231642" y="1276350"/>
                  </a:lnTo>
                  <a:lnTo>
                    <a:pt x="54483" y="1276350"/>
                  </a:lnTo>
                  <a:lnTo>
                    <a:pt x="50901" y="1276350"/>
                  </a:lnTo>
                  <a:lnTo>
                    <a:pt x="47358" y="1275994"/>
                  </a:lnTo>
                  <a:lnTo>
                    <a:pt x="15963"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546030"/>
            <a:ext cx="2733675"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Therapist</a:t>
            </a:r>
            <a:r>
              <a:rPr sz="1750" b="1" spc="-165" dirty="0">
                <a:solidFill>
                  <a:srgbClr val="3A3535"/>
                </a:solidFill>
                <a:latin typeface="Verdana"/>
                <a:cs typeface="Verdana"/>
              </a:rPr>
              <a:t> </a:t>
            </a:r>
            <a:r>
              <a:rPr sz="1750" b="1" spc="-10" dirty="0">
                <a:solidFill>
                  <a:srgbClr val="3A3535"/>
                </a:solidFill>
                <a:latin typeface="Verdana"/>
                <a:cs typeface="Verdana"/>
              </a:rPr>
              <a:t>Dashboard</a:t>
            </a:r>
            <a:endParaRPr sz="1750">
              <a:latin typeface="Verdana"/>
              <a:cs typeface="Verdana"/>
            </a:endParaRPr>
          </a:p>
          <a:p>
            <a:pPr marL="12700" marR="5080">
              <a:lnSpc>
                <a:spcPct val="134600"/>
              </a:lnSpc>
              <a:spcBef>
                <a:spcPts val="660"/>
              </a:spcBef>
            </a:pPr>
            <a:r>
              <a:rPr sz="1300" spc="70" dirty="0">
                <a:solidFill>
                  <a:srgbClr val="3A3535"/>
                </a:solidFill>
                <a:latin typeface="Century Gothic"/>
                <a:cs typeface="Century Gothic"/>
              </a:rPr>
              <a:t>Alerts,</a:t>
            </a:r>
            <a:r>
              <a:rPr sz="1300" spc="-25" dirty="0">
                <a:solidFill>
                  <a:srgbClr val="3A3535"/>
                </a:solidFill>
                <a:latin typeface="Century Gothic"/>
                <a:cs typeface="Century Gothic"/>
              </a:rPr>
              <a:t> </a:t>
            </a:r>
            <a:r>
              <a:rPr sz="1300" spc="50" dirty="0">
                <a:solidFill>
                  <a:srgbClr val="3A3535"/>
                </a:solidFill>
                <a:latin typeface="Century Gothic"/>
                <a:cs typeface="Century Gothic"/>
              </a:rPr>
              <a:t>notes,</a:t>
            </a:r>
            <a:r>
              <a:rPr sz="1300" spc="-25" dirty="0">
                <a:solidFill>
                  <a:srgbClr val="3A3535"/>
                </a:solidFill>
                <a:latin typeface="Century Gothic"/>
                <a:cs typeface="Century Gothic"/>
              </a:rPr>
              <a:t> </a:t>
            </a:r>
            <a:r>
              <a:rPr sz="1300" spc="60" dirty="0">
                <a:solidFill>
                  <a:srgbClr val="3A3535"/>
                </a:solidFill>
                <a:latin typeface="Century Gothic"/>
                <a:cs typeface="Century Gothic"/>
              </a:rPr>
              <a:t>summaries,</a:t>
            </a:r>
            <a:r>
              <a:rPr sz="1300" spc="-25" dirty="0">
                <a:solidFill>
                  <a:srgbClr val="3A3535"/>
                </a:solidFill>
                <a:latin typeface="Century Gothic"/>
                <a:cs typeface="Century Gothic"/>
              </a:rPr>
              <a:t> </a:t>
            </a:r>
            <a:r>
              <a:rPr sz="1300" spc="45" dirty="0">
                <a:solidFill>
                  <a:srgbClr val="3A3535"/>
                </a:solidFill>
                <a:latin typeface="Century Gothic"/>
                <a:cs typeface="Century Gothic"/>
              </a:rPr>
              <a:t>drafts, </a:t>
            </a:r>
            <a:r>
              <a:rPr sz="1300" spc="-10" dirty="0">
                <a:solidFill>
                  <a:srgbClr val="3A3535"/>
                </a:solidFill>
                <a:latin typeface="Century Gothic"/>
                <a:cs typeface="Century Gothic"/>
              </a:rPr>
              <a:t>and</a:t>
            </a:r>
            <a:r>
              <a:rPr sz="1300" spc="-60" dirty="0">
                <a:solidFill>
                  <a:srgbClr val="3A3535"/>
                </a:solidFill>
                <a:latin typeface="Century Gothic"/>
                <a:cs typeface="Century Gothic"/>
              </a:rPr>
              <a:t> </a:t>
            </a:r>
            <a:r>
              <a:rPr sz="1300" spc="55" dirty="0">
                <a:solidFill>
                  <a:srgbClr val="3A3535"/>
                </a:solidFill>
                <a:latin typeface="Century Gothic"/>
                <a:cs typeface="Century Gothic"/>
              </a:rPr>
              <a:t>direct</a:t>
            </a:r>
            <a:r>
              <a:rPr sz="1300" spc="-55" dirty="0">
                <a:solidFill>
                  <a:srgbClr val="3A3535"/>
                </a:solidFill>
                <a:latin typeface="Century Gothic"/>
                <a:cs typeface="Century Gothic"/>
              </a:rPr>
              <a:t> </a:t>
            </a:r>
            <a:r>
              <a:rPr sz="1300" spc="-10" dirty="0">
                <a:solidFill>
                  <a:srgbClr val="3A3535"/>
                </a:solidFill>
                <a:latin typeface="Century Gothic"/>
                <a:cs typeface="Century Gothic"/>
              </a:rPr>
              <a:t>escalation</a:t>
            </a:r>
            <a:endParaRPr sz="1300">
              <a:latin typeface="Century Gothic"/>
              <a:cs typeface="Century Gothic"/>
            </a:endParaRPr>
          </a:p>
        </p:txBody>
      </p:sp>
      <p:grpSp>
        <p:nvGrpSpPr>
          <p:cNvPr id="12" name="object 12"/>
          <p:cNvGrpSpPr/>
          <p:nvPr/>
        </p:nvGrpSpPr>
        <p:grpSpPr>
          <a:xfrm>
            <a:off x="7534275" y="3390900"/>
            <a:ext cx="3305175" cy="1285875"/>
            <a:chOff x="7534275" y="3390900"/>
            <a:chExt cx="3305175" cy="1285875"/>
          </a:xfrm>
        </p:grpSpPr>
        <p:sp>
          <p:nvSpPr>
            <p:cNvPr id="13" name="object 13"/>
            <p:cNvSpPr/>
            <p:nvPr/>
          </p:nvSpPr>
          <p:spPr>
            <a:xfrm>
              <a:off x="7539037" y="3395662"/>
              <a:ext cx="3295650" cy="1276350"/>
            </a:xfrm>
            <a:custGeom>
              <a:avLst/>
              <a:gdLst/>
              <a:ahLst/>
              <a:cxnLst/>
              <a:rect l="l" t="t" r="r" b="b"/>
              <a:pathLst>
                <a:path w="3295650" h="1276350">
                  <a:moveTo>
                    <a:pt x="3244748" y="0"/>
                  </a:moveTo>
                  <a:lnTo>
                    <a:pt x="50901" y="0"/>
                  </a:lnTo>
                  <a:lnTo>
                    <a:pt x="47358" y="342"/>
                  </a:lnTo>
                  <a:lnTo>
                    <a:pt x="13423" y="18491"/>
                  </a:lnTo>
                  <a:lnTo>
                    <a:pt x="0" y="50901"/>
                  </a:lnTo>
                  <a:lnTo>
                    <a:pt x="0" y="1221867"/>
                  </a:lnTo>
                  <a:lnTo>
                    <a:pt x="0" y="1225448"/>
                  </a:lnTo>
                  <a:lnTo>
                    <a:pt x="18478" y="1262926"/>
                  </a:lnTo>
                  <a:lnTo>
                    <a:pt x="50901"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395662"/>
              <a:ext cx="3295650" cy="1276350"/>
            </a:xfrm>
            <a:custGeom>
              <a:avLst/>
              <a:gdLst/>
              <a:ahLst/>
              <a:cxnLst/>
              <a:rect l="l" t="t" r="r" b="b"/>
              <a:pathLst>
                <a:path w="3295650"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3" y="1276350"/>
                  </a:lnTo>
                  <a:lnTo>
                    <a:pt x="50901" y="1276350"/>
                  </a:lnTo>
                  <a:lnTo>
                    <a:pt x="47358" y="1275994"/>
                  </a:lnTo>
                  <a:lnTo>
                    <a:pt x="15951"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546030"/>
            <a:ext cx="2966720"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Human-</a:t>
            </a:r>
            <a:r>
              <a:rPr sz="1750" b="1" spc="-85" dirty="0">
                <a:solidFill>
                  <a:srgbClr val="3A3535"/>
                </a:solidFill>
                <a:latin typeface="Verdana"/>
                <a:cs typeface="Verdana"/>
              </a:rPr>
              <a:t>Only</a:t>
            </a:r>
            <a:r>
              <a:rPr sz="1750" b="1" spc="-155" dirty="0">
                <a:solidFill>
                  <a:srgbClr val="3A3535"/>
                </a:solidFill>
                <a:latin typeface="Verdana"/>
                <a:cs typeface="Verdana"/>
              </a:rPr>
              <a:t> </a:t>
            </a:r>
            <a:r>
              <a:rPr sz="1750" b="1" spc="-20" dirty="0">
                <a:solidFill>
                  <a:srgbClr val="3A3535"/>
                </a:solidFill>
                <a:latin typeface="Verdana"/>
                <a:cs typeface="Verdana"/>
              </a:rPr>
              <a:t>Mode</a:t>
            </a:r>
            <a:endParaRPr sz="1750">
              <a:latin typeface="Verdana"/>
              <a:cs typeface="Verdana"/>
            </a:endParaRPr>
          </a:p>
          <a:p>
            <a:pPr marL="12700" marR="5080">
              <a:lnSpc>
                <a:spcPct val="134600"/>
              </a:lnSpc>
              <a:spcBef>
                <a:spcPts val="660"/>
              </a:spcBef>
            </a:pPr>
            <a:r>
              <a:rPr sz="1300" spc="10" dirty="0">
                <a:solidFill>
                  <a:srgbClr val="3A3535"/>
                </a:solidFill>
                <a:latin typeface="Century Gothic"/>
                <a:cs typeface="Century Gothic"/>
              </a:rPr>
              <a:t>Same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framework</a:t>
            </a:r>
            <a:r>
              <a:rPr sz="1300" spc="35" dirty="0">
                <a:solidFill>
                  <a:srgbClr val="3A3535"/>
                </a:solidFill>
                <a:latin typeface="Century Gothic"/>
                <a:cs typeface="Century Gothic"/>
              </a:rPr>
              <a:t> </a:t>
            </a:r>
            <a:r>
              <a:rPr sz="1300" spc="110" dirty="0">
                <a:solidFill>
                  <a:srgbClr val="3A3535"/>
                </a:solidFill>
                <a:latin typeface="Century Gothic"/>
                <a:cs typeface="Century Gothic"/>
              </a:rPr>
              <a:t>runs</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35"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50" dirty="0">
                <a:solidFill>
                  <a:srgbClr val="3A3535"/>
                </a:solidFill>
                <a:latin typeface="Century Gothic"/>
                <a:cs typeface="Century Gothic"/>
              </a:rPr>
              <a:t>— </a:t>
            </a:r>
            <a:r>
              <a:rPr sz="1300" dirty="0">
                <a:solidFill>
                  <a:srgbClr val="3A3535"/>
                </a:solidFill>
                <a:latin typeface="Century Gothic"/>
                <a:cs typeface="Century Gothic"/>
              </a:rPr>
              <a:t>enabling</a:t>
            </a:r>
            <a:r>
              <a:rPr sz="1300" spc="8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80" dirty="0">
                <a:solidFill>
                  <a:srgbClr val="3A3535"/>
                </a:solidFill>
                <a:latin typeface="Century Gothic"/>
                <a:cs typeface="Century Gothic"/>
              </a:rPr>
              <a:t> </a:t>
            </a:r>
            <a:r>
              <a:rPr sz="1300" spc="55" dirty="0">
                <a:solidFill>
                  <a:srgbClr val="3A3535"/>
                </a:solidFill>
                <a:latin typeface="Century Gothic"/>
                <a:cs typeface="Century Gothic"/>
              </a:rPr>
              <a:t>comparisons</a:t>
            </a:r>
            <a:endParaRPr sz="1300">
              <a:latin typeface="Century Gothic"/>
              <a:cs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99085" rIns="0" bIns="0" rtlCol="0">
            <a:spAutoFit/>
          </a:bodyPr>
          <a:lstStyle/>
          <a:p>
            <a:pPr marL="12700">
              <a:lnSpc>
                <a:spcPct val="100000"/>
              </a:lnSpc>
              <a:spcBef>
                <a:spcPts val="105"/>
              </a:spcBef>
            </a:pPr>
            <a:r>
              <a:rPr spc="-70" dirty="0"/>
              <a:t>Mobile</a:t>
            </a:r>
            <a:r>
              <a:rPr spc="-409" dirty="0"/>
              <a:t> </a:t>
            </a:r>
            <a:r>
              <a:rPr spc="-25" dirty="0"/>
              <a:t>App</a:t>
            </a:r>
          </a:p>
        </p:txBody>
      </p:sp>
      <p:sp>
        <p:nvSpPr>
          <p:cNvPr id="3" name="object 3"/>
          <p:cNvSpPr txBox="1"/>
          <p:nvPr/>
        </p:nvSpPr>
        <p:spPr>
          <a:xfrm>
            <a:off x="579635" y="1716600"/>
            <a:ext cx="4663440" cy="577850"/>
          </a:xfrm>
          <a:prstGeom prst="rect">
            <a:avLst/>
          </a:prstGeom>
        </p:spPr>
        <p:txBody>
          <a:bodyPr vert="horz" wrap="square" lIns="0" tIns="11430" rIns="0" bIns="0" rtlCol="0">
            <a:spAutoFit/>
          </a:bodyPr>
          <a:lstStyle/>
          <a:p>
            <a:pPr marL="12700" marR="5080">
              <a:lnSpc>
                <a:spcPct val="139400"/>
              </a:lnSpc>
              <a:spcBef>
                <a:spcPts val="90"/>
              </a:spcBef>
            </a:pPr>
            <a:r>
              <a:rPr sz="1300" spc="80" dirty="0">
                <a:solidFill>
                  <a:srgbClr val="3A3535"/>
                </a:solidFill>
                <a:latin typeface="Century Gothic"/>
                <a:cs typeface="Century Gothic"/>
              </a:rPr>
              <a:t>The</a:t>
            </a:r>
            <a:r>
              <a:rPr sz="1300" spc="85" dirty="0">
                <a:solidFill>
                  <a:srgbClr val="3A3535"/>
                </a:solidFill>
                <a:latin typeface="Century Gothic"/>
                <a:cs typeface="Century Gothic"/>
              </a:rPr>
              <a:t> </a:t>
            </a:r>
            <a:r>
              <a:rPr sz="1300" dirty="0">
                <a:solidFill>
                  <a:srgbClr val="3A3535"/>
                </a:solidFill>
                <a:latin typeface="Century Gothic"/>
                <a:cs typeface="Century Gothic"/>
              </a:rPr>
              <a:t>same</a:t>
            </a:r>
            <a:r>
              <a:rPr sz="1300" spc="85" dirty="0">
                <a:solidFill>
                  <a:srgbClr val="3A3535"/>
                </a:solidFill>
                <a:latin typeface="Century Gothic"/>
                <a:cs typeface="Century Gothic"/>
              </a:rPr>
              <a:t> </a:t>
            </a:r>
            <a:r>
              <a:rPr sz="1300" dirty="0">
                <a:solidFill>
                  <a:srgbClr val="3A3535"/>
                </a:solidFill>
                <a:latin typeface="Century Gothic"/>
                <a:cs typeface="Century Gothic"/>
              </a:rPr>
              <a:t>program</a:t>
            </a:r>
            <a:r>
              <a:rPr sz="1300" spc="85" dirty="0">
                <a:solidFill>
                  <a:srgbClr val="3A3535"/>
                </a:solidFill>
                <a:latin typeface="Century Gothic"/>
                <a:cs typeface="Century Gothic"/>
              </a:rPr>
              <a:t> </a:t>
            </a:r>
            <a:r>
              <a:rPr sz="1300" dirty="0">
                <a:solidFill>
                  <a:srgbClr val="3A3535"/>
                </a:solidFill>
                <a:latin typeface="Century Gothic"/>
                <a:cs typeface="Century Gothic"/>
              </a:rPr>
              <a:t>logic</a:t>
            </a:r>
            <a:r>
              <a:rPr sz="1300" spc="85" dirty="0">
                <a:solidFill>
                  <a:srgbClr val="3A3535"/>
                </a:solidFill>
                <a:latin typeface="Century Gothic"/>
                <a:cs typeface="Century Gothic"/>
              </a:rPr>
              <a:t> </a:t>
            </a:r>
            <a:r>
              <a:rPr sz="1300" spc="60" dirty="0">
                <a:solidFill>
                  <a:srgbClr val="3A3535"/>
                </a:solidFill>
                <a:latin typeface="Century Gothic"/>
                <a:cs typeface="Century Gothic"/>
              </a:rPr>
              <a:t>continues</a:t>
            </a:r>
            <a:r>
              <a:rPr sz="1300" spc="90" dirty="0">
                <a:solidFill>
                  <a:srgbClr val="3A3535"/>
                </a:solidFill>
                <a:latin typeface="Century Gothic"/>
                <a:cs typeface="Century Gothic"/>
              </a:rPr>
              <a:t> </a:t>
            </a:r>
            <a:r>
              <a:rPr sz="1300" dirty="0">
                <a:solidFill>
                  <a:srgbClr val="3A3535"/>
                </a:solidFill>
                <a:latin typeface="Century Gothic"/>
                <a:cs typeface="Century Gothic"/>
              </a:rPr>
              <a:t>on</a:t>
            </a:r>
            <a:r>
              <a:rPr sz="1300" spc="85" dirty="0">
                <a:solidFill>
                  <a:srgbClr val="3A3535"/>
                </a:solidFill>
                <a:latin typeface="Century Gothic"/>
                <a:cs typeface="Century Gothic"/>
              </a:rPr>
              <a:t> </a:t>
            </a:r>
            <a:r>
              <a:rPr sz="1300" dirty="0">
                <a:solidFill>
                  <a:srgbClr val="3A3535"/>
                </a:solidFill>
                <a:latin typeface="Century Gothic"/>
                <a:cs typeface="Century Gothic"/>
              </a:rPr>
              <a:t>mobile.</a:t>
            </a:r>
            <a:r>
              <a:rPr sz="1300" spc="85" dirty="0">
                <a:solidFill>
                  <a:srgbClr val="3A3535"/>
                </a:solidFill>
                <a:latin typeface="Century Gothic"/>
                <a:cs typeface="Century Gothic"/>
              </a:rPr>
              <a:t> </a:t>
            </a:r>
            <a:r>
              <a:rPr sz="1300" spc="60" dirty="0">
                <a:solidFill>
                  <a:srgbClr val="3A3535"/>
                </a:solidFill>
                <a:latin typeface="Century Gothic"/>
                <a:cs typeface="Century Gothic"/>
              </a:rPr>
              <a:t>SelfHelp </a:t>
            </a:r>
            <a:r>
              <a:rPr sz="1300" dirty="0">
                <a:solidFill>
                  <a:srgbClr val="3A3535"/>
                </a:solidFill>
                <a:latin typeface="Century Gothic"/>
                <a:cs typeface="Century Gothic"/>
              </a:rPr>
              <a:t>becomes</a:t>
            </a:r>
            <a:r>
              <a:rPr sz="1300" spc="10" dirty="0">
                <a:solidFill>
                  <a:srgbClr val="3A3535"/>
                </a:solidFill>
                <a:latin typeface="Century Gothic"/>
                <a:cs typeface="Century Gothic"/>
              </a:rPr>
              <a:t> </a:t>
            </a:r>
            <a:r>
              <a:rPr sz="1300" dirty="0">
                <a:solidFill>
                  <a:srgbClr val="3A3535"/>
                </a:solidFill>
                <a:latin typeface="Century Gothic"/>
                <a:cs typeface="Century Gothic"/>
              </a:rPr>
              <a:t>part</a:t>
            </a:r>
            <a:r>
              <a:rPr sz="1300" spc="10" dirty="0">
                <a:solidFill>
                  <a:srgbClr val="3A3535"/>
                </a:solidFill>
                <a:latin typeface="Century Gothic"/>
                <a:cs typeface="Century Gothic"/>
              </a:rPr>
              <a:t> </a:t>
            </a:r>
            <a:r>
              <a:rPr sz="1300" spc="60" dirty="0">
                <a:solidFill>
                  <a:srgbClr val="3A3535"/>
                </a:solidFill>
                <a:latin typeface="Century Gothic"/>
                <a:cs typeface="Century Gothic"/>
              </a:rPr>
              <a:t>of</a:t>
            </a:r>
            <a:r>
              <a:rPr sz="1300" spc="10" dirty="0">
                <a:solidFill>
                  <a:srgbClr val="3A3535"/>
                </a:solidFill>
                <a:latin typeface="Century Gothic"/>
                <a:cs typeface="Century Gothic"/>
              </a:rPr>
              <a:t> </a:t>
            </a:r>
            <a:r>
              <a:rPr sz="1300" b="1" spc="-45" dirty="0">
                <a:solidFill>
                  <a:srgbClr val="3A3535"/>
                </a:solidFill>
                <a:latin typeface="Verdana"/>
                <a:cs typeface="Verdana"/>
              </a:rPr>
              <a:t>daily</a:t>
            </a:r>
            <a:r>
              <a:rPr sz="1300" b="1" spc="-110" dirty="0">
                <a:solidFill>
                  <a:srgbClr val="3A3535"/>
                </a:solidFill>
                <a:latin typeface="Verdana"/>
                <a:cs typeface="Verdana"/>
              </a:rPr>
              <a:t> </a:t>
            </a:r>
            <a:r>
              <a:rPr sz="1300" b="1" spc="-50" dirty="0">
                <a:solidFill>
                  <a:srgbClr val="3A3535"/>
                </a:solidFill>
                <a:latin typeface="Verdana"/>
                <a:cs typeface="Verdana"/>
              </a:rPr>
              <a:t>use</a:t>
            </a:r>
            <a:r>
              <a:rPr sz="1300" spc="-50" dirty="0">
                <a:solidFill>
                  <a:srgbClr val="3A3535"/>
                </a:solidFill>
                <a:latin typeface="Century Gothic"/>
                <a:cs typeface="Century Gothic"/>
              </a:rPr>
              <a:t>,</a:t>
            </a:r>
            <a:r>
              <a:rPr sz="1300" spc="10" dirty="0">
                <a:solidFill>
                  <a:srgbClr val="3A3535"/>
                </a:solidFill>
                <a:latin typeface="Century Gothic"/>
                <a:cs typeface="Century Gothic"/>
              </a:rPr>
              <a:t> </a:t>
            </a:r>
            <a:r>
              <a:rPr sz="1300" spc="65" dirty="0">
                <a:solidFill>
                  <a:srgbClr val="3A3535"/>
                </a:solidFill>
                <a:latin typeface="Century Gothic"/>
                <a:cs typeface="Century Gothic"/>
              </a:rPr>
              <a:t>not</a:t>
            </a:r>
            <a:r>
              <a:rPr sz="1300" spc="10" dirty="0">
                <a:solidFill>
                  <a:srgbClr val="3A3535"/>
                </a:solidFill>
                <a:latin typeface="Century Gothic"/>
                <a:cs typeface="Century Gothic"/>
              </a:rPr>
              <a:t> </a:t>
            </a:r>
            <a:r>
              <a:rPr sz="1300" spc="50" dirty="0">
                <a:solidFill>
                  <a:srgbClr val="3A3535"/>
                </a:solidFill>
                <a:latin typeface="Century Gothic"/>
                <a:cs typeface="Century Gothic"/>
              </a:rPr>
              <a:t>only</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desktop</a:t>
            </a:r>
            <a:r>
              <a:rPr sz="1300" spc="10" dirty="0">
                <a:solidFill>
                  <a:srgbClr val="3A3535"/>
                </a:solidFill>
                <a:latin typeface="Century Gothic"/>
                <a:cs typeface="Century Gothic"/>
              </a:rPr>
              <a:t> </a:t>
            </a:r>
            <a:r>
              <a:rPr sz="1300" spc="-20" dirty="0">
                <a:solidFill>
                  <a:srgbClr val="3A3535"/>
                </a:solidFill>
                <a:latin typeface="Century Gothic"/>
                <a:cs typeface="Century Gothic"/>
              </a:rPr>
              <a:t>use.</a:t>
            </a:r>
            <a:endParaRPr sz="1300">
              <a:latin typeface="Century Gothic"/>
              <a:cs typeface="Century Gothic"/>
            </a:endParaRPr>
          </a:p>
        </p:txBody>
      </p:sp>
      <p:sp>
        <p:nvSpPr>
          <p:cNvPr id="4" name="object 4"/>
          <p:cNvSpPr txBox="1"/>
          <p:nvPr/>
        </p:nvSpPr>
        <p:spPr>
          <a:xfrm>
            <a:off x="579622" y="2485047"/>
            <a:ext cx="254317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Already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supported</a:t>
            </a:r>
            <a:r>
              <a:rPr sz="1300" spc="35" dirty="0">
                <a:solidFill>
                  <a:srgbClr val="3A3535"/>
                </a:solidFill>
                <a:latin typeface="Century Gothic"/>
                <a:cs typeface="Century Gothic"/>
              </a:rPr>
              <a:t> </a:t>
            </a:r>
            <a:r>
              <a:rPr sz="1300" dirty="0">
                <a:solidFill>
                  <a:srgbClr val="3A3535"/>
                </a:solidFill>
                <a:latin typeface="Century Gothic"/>
                <a:cs typeface="Century Gothic"/>
              </a:rPr>
              <a:t>on</a:t>
            </a:r>
            <a:r>
              <a:rPr sz="1300" spc="35" dirty="0">
                <a:solidFill>
                  <a:srgbClr val="3A3535"/>
                </a:solidFill>
                <a:latin typeface="Century Gothic"/>
                <a:cs typeface="Century Gothic"/>
              </a:rPr>
              <a:t> </a:t>
            </a:r>
            <a:r>
              <a:rPr sz="1300" spc="-10" dirty="0">
                <a:solidFill>
                  <a:srgbClr val="3A3535"/>
                </a:solidFill>
                <a:latin typeface="Century Gothic"/>
                <a:cs typeface="Century Gothic"/>
              </a:rPr>
              <a:t>mobile:</a:t>
            </a:r>
            <a:endParaRPr sz="1300">
              <a:latin typeface="Century Gothic"/>
              <a:cs typeface="Century Gothic"/>
            </a:endParaRPr>
          </a:p>
        </p:txBody>
      </p:sp>
      <p:sp>
        <p:nvSpPr>
          <p:cNvPr id="5" name="object 5"/>
          <p:cNvSpPr/>
          <p:nvPr/>
        </p:nvSpPr>
        <p:spPr>
          <a:xfrm>
            <a:off x="628650" y="30099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850201" y="2904147"/>
            <a:ext cx="2617470" cy="895350"/>
          </a:xfrm>
          <a:prstGeom prst="rect">
            <a:avLst/>
          </a:prstGeom>
        </p:spPr>
        <p:txBody>
          <a:bodyPr vert="horz" wrap="square" lIns="0" tIns="16510" rIns="0" bIns="0" rtlCol="0">
            <a:spAutoFit/>
          </a:bodyPr>
          <a:lstStyle/>
          <a:p>
            <a:pPr marL="12700">
              <a:lnSpc>
                <a:spcPct val="100000"/>
              </a:lnSpc>
              <a:spcBef>
                <a:spcPts val="130"/>
              </a:spcBef>
            </a:pPr>
            <a:r>
              <a:rPr sz="1300" spc="70" dirty="0">
                <a:solidFill>
                  <a:srgbClr val="3A3535"/>
                </a:solidFill>
                <a:latin typeface="Century Gothic"/>
                <a:cs typeface="Century Gothic"/>
              </a:rPr>
              <a:t>Surveys,</a:t>
            </a:r>
            <a:r>
              <a:rPr sz="1300" spc="-1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5" dirty="0">
                <a:solidFill>
                  <a:srgbClr val="3A3535"/>
                </a:solidFill>
                <a:latin typeface="Century Gothic"/>
                <a:cs typeface="Century Gothic"/>
              </a:rPr>
              <a:t> </a:t>
            </a:r>
            <a:r>
              <a:rPr sz="1300" dirty="0">
                <a:solidFill>
                  <a:srgbClr val="3A3535"/>
                </a:solidFill>
                <a:latin typeface="Century Gothic"/>
                <a:cs typeface="Century Gothic"/>
              </a:rPr>
              <a:t>chat,</a:t>
            </a:r>
            <a:r>
              <a:rPr sz="1300" spc="-5" dirty="0">
                <a:solidFill>
                  <a:srgbClr val="3A3535"/>
                </a:solidFill>
                <a:latin typeface="Century Gothic"/>
                <a:cs typeface="Century Gothic"/>
              </a:rPr>
              <a:t> </a:t>
            </a:r>
            <a:r>
              <a:rPr sz="1300" dirty="0">
                <a:solidFill>
                  <a:srgbClr val="3A3535"/>
                </a:solidFill>
                <a:latin typeface="Century Gothic"/>
                <a:cs typeface="Century Gothic"/>
              </a:rPr>
              <a:t>therapy</a:t>
            </a:r>
            <a:r>
              <a:rPr sz="1300" spc="-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a:p>
            <a:pPr marL="12700">
              <a:lnSpc>
                <a:spcPct val="100000"/>
              </a:lnSpc>
              <a:spcBef>
                <a:spcPts val="1065"/>
              </a:spcBef>
            </a:pPr>
            <a:r>
              <a:rPr sz="1300" spc="85" dirty="0">
                <a:solidFill>
                  <a:srgbClr val="3A3535"/>
                </a:solidFill>
                <a:latin typeface="Century Gothic"/>
                <a:cs typeface="Century Gothic"/>
              </a:rPr>
              <a:t>Push</a:t>
            </a:r>
            <a:r>
              <a:rPr sz="1300" spc="-50" dirty="0">
                <a:solidFill>
                  <a:srgbClr val="3A3535"/>
                </a:solidFill>
                <a:latin typeface="Century Gothic"/>
                <a:cs typeface="Century Gothic"/>
              </a:rPr>
              <a:t> </a:t>
            </a:r>
            <a:r>
              <a:rPr sz="1300" spc="60" dirty="0">
                <a:solidFill>
                  <a:srgbClr val="3A3535"/>
                </a:solidFill>
                <a:latin typeface="Century Gothic"/>
                <a:cs typeface="Century Gothic"/>
              </a:rPr>
              <a:t>notifications</a:t>
            </a:r>
            <a:endParaRPr sz="1300">
              <a:latin typeface="Century Gothic"/>
              <a:cs typeface="Century Gothic"/>
            </a:endParaRPr>
          </a:p>
          <a:p>
            <a:pPr marL="12700">
              <a:lnSpc>
                <a:spcPct val="100000"/>
              </a:lnSpc>
              <a:spcBef>
                <a:spcPts val="1065"/>
              </a:spcBef>
            </a:pPr>
            <a:r>
              <a:rPr sz="1300" spc="-25" dirty="0">
                <a:solidFill>
                  <a:srgbClr val="3A3535"/>
                </a:solidFill>
                <a:latin typeface="Century Gothic"/>
                <a:cs typeface="Century Gothic"/>
              </a:rPr>
              <a:t>Camera</a:t>
            </a:r>
            <a:r>
              <a:rPr sz="1300" spc="9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95" dirty="0">
                <a:solidFill>
                  <a:srgbClr val="3A3535"/>
                </a:solidFill>
                <a:latin typeface="Century Gothic"/>
                <a:cs typeface="Century Gothic"/>
              </a:rPr>
              <a:t> </a:t>
            </a:r>
            <a:r>
              <a:rPr sz="1300" dirty="0">
                <a:solidFill>
                  <a:srgbClr val="3A3535"/>
                </a:solidFill>
                <a:latin typeface="Century Gothic"/>
                <a:cs typeface="Century Gothic"/>
              </a:rPr>
              <a:t>microphone</a:t>
            </a:r>
            <a:r>
              <a:rPr sz="1300" spc="90" dirty="0">
                <a:solidFill>
                  <a:srgbClr val="3A3535"/>
                </a:solidFill>
                <a:latin typeface="Century Gothic"/>
                <a:cs typeface="Century Gothic"/>
              </a:rPr>
              <a:t> </a:t>
            </a:r>
            <a:r>
              <a:rPr sz="1300" spc="65" dirty="0">
                <a:solidFill>
                  <a:srgbClr val="3A3535"/>
                </a:solidFill>
                <a:latin typeface="Century Gothic"/>
                <a:cs typeface="Century Gothic"/>
              </a:rPr>
              <a:t>input</a:t>
            </a:r>
            <a:endParaRPr sz="1300">
              <a:latin typeface="Century Gothic"/>
              <a:cs typeface="Century Gothic"/>
            </a:endParaRPr>
          </a:p>
        </p:txBody>
      </p:sp>
      <p:sp>
        <p:nvSpPr>
          <p:cNvPr id="7" name="object 7"/>
          <p:cNvSpPr/>
          <p:nvPr/>
        </p:nvSpPr>
        <p:spPr>
          <a:xfrm>
            <a:off x="628650" y="334327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8" name="object 8"/>
          <p:cNvSpPr/>
          <p:nvPr/>
        </p:nvSpPr>
        <p:spPr>
          <a:xfrm>
            <a:off x="628650" y="36766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grpSp>
        <p:nvGrpSpPr>
          <p:cNvPr id="9" name="object 9"/>
          <p:cNvGrpSpPr/>
          <p:nvPr/>
        </p:nvGrpSpPr>
        <p:grpSpPr>
          <a:xfrm>
            <a:off x="5934074" y="1819275"/>
            <a:ext cx="2371725" cy="1857375"/>
            <a:chOff x="5934074" y="1819275"/>
            <a:chExt cx="2371725" cy="1857375"/>
          </a:xfrm>
        </p:grpSpPr>
        <p:sp>
          <p:nvSpPr>
            <p:cNvPr id="10" name="object 10"/>
            <p:cNvSpPr/>
            <p:nvPr/>
          </p:nvSpPr>
          <p:spPr>
            <a:xfrm>
              <a:off x="5934062"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1" name="object 11"/>
            <p:cNvSpPr/>
            <p:nvPr/>
          </p:nvSpPr>
          <p:spPr>
            <a:xfrm>
              <a:off x="5934075"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2" name="object 12"/>
          <p:cNvSpPr txBox="1"/>
          <p:nvPr/>
        </p:nvSpPr>
        <p:spPr>
          <a:xfrm>
            <a:off x="7061848" y="1927351"/>
            <a:ext cx="111760" cy="269240"/>
          </a:xfrm>
          <a:prstGeom prst="rect">
            <a:avLst/>
          </a:prstGeom>
        </p:spPr>
        <p:txBody>
          <a:bodyPr vert="horz" wrap="square" lIns="0" tIns="12700" rIns="0" bIns="0" rtlCol="0">
            <a:spAutoFit/>
          </a:bodyPr>
          <a:lstStyle/>
          <a:p>
            <a:pPr marL="12700">
              <a:lnSpc>
                <a:spcPct val="100000"/>
              </a:lnSpc>
              <a:spcBef>
                <a:spcPts val="100"/>
              </a:spcBef>
            </a:pPr>
            <a:r>
              <a:rPr sz="1600" b="1" spc="-520" dirty="0">
                <a:solidFill>
                  <a:srgbClr val="FFFFFF"/>
                </a:solidFill>
                <a:latin typeface="Verdana"/>
                <a:cs typeface="Verdana"/>
              </a:rPr>
              <a:t>1</a:t>
            </a:r>
            <a:endParaRPr sz="1600">
              <a:latin typeface="Verdana"/>
              <a:cs typeface="Verdana"/>
            </a:endParaRPr>
          </a:p>
        </p:txBody>
      </p:sp>
      <p:sp>
        <p:nvSpPr>
          <p:cNvPr id="13" name="object 13"/>
          <p:cNvSpPr txBox="1"/>
          <p:nvPr/>
        </p:nvSpPr>
        <p:spPr>
          <a:xfrm>
            <a:off x="6106515" y="2469705"/>
            <a:ext cx="1620520"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Respond</a:t>
            </a:r>
            <a:endParaRPr sz="1750">
              <a:latin typeface="Verdana"/>
              <a:cs typeface="Verdana"/>
            </a:endParaRPr>
          </a:p>
          <a:p>
            <a:pPr marL="12700" marR="5080">
              <a:lnSpc>
                <a:spcPct val="139400"/>
              </a:lnSpc>
              <a:spcBef>
                <a:spcPts val="1110"/>
              </a:spcBef>
            </a:pPr>
            <a:r>
              <a:rPr sz="1300" dirty="0">
                <a:solidFill>
                  <a:srgbClr val="3A3535"/>
                </a:solidFill>
                <a:latin typeface="Century Gothic"/>
                <a:cs typeface="Century Gothic"/>
              </a:rPr>
              <a:t>Complete</a:t>
            </a:r>
            <a:r>
              <a:rPr sz="1300" spc="150" dirty="0">
                <a:solidFill>
                  <a:srgbClr val="3A3535"/>
                </a:solidFill>
                <a:latin typeface="Century Gothic"/>
                <a:cs typeface="Century Gothic"/>
              </a:rPr>
              <a:t> </a:t>
            </a:r>
            <a:r>
              <a:rPr sz="1300" spc="65" dirty="0">
                <a:solidFill>
                  <a:srgbClr val="3A3535"/>
                </a:solidFill>
                <a:latin typeface="Century Gothic"/>
                <a:cs typeface="Century Gothic"/>
              </a:rPr>
              <a:t>surveys </a:t>
            </a:r>
            <a:r>
              <a:rPr sz="1300" dirty="0">
                <a:solidFill>
                  <a:srgbClr val="3A3535"/>
                </a:solidFill>
                <a:latin typeface="Century Gothic"/>
                <a:cs typeface="Century Gothic"/>
              </a:rPr>
              <a:t>when</a:t>
            </a:r>
            <a:r>
              <a:rPr sz="1300" spc="10" dirty="0">
                <a:solidFill>
                  <a:srgbClr val="3A3535"/>
                </a:solidFill>
                <a:latin typeface="Century Gothic"/>
                <a:cs typeface="Century Gothic"/>
              </a:rPr>
              <a:t> </a:t>
            </a:r>
            <a:r>
              <a:rPr sz="1300" spc="125" dirty="0">
                <a:solidFill>
                  <a:srgbClr val="3A3535"/>
                </a:solidFill>
                <a:latin typeface="Century Gothic"/>
                <a:cs typeface="Century Gothic"/>
              </a:rPr>
              <a:t>it</a:t>
            </a:r>
            <a:r>
              <a:rPr sz="1300" spc="10" dirty="0">
                <a:solidFill>
                  <a:srgbClr val="3A3535"/>
                </a:solidFill>
                <a:latin typeface="Century Gothic"/>
                <a:cs typeface="Century Gothic"/>
              </a:rPr>
              <a:t> </a:t>
            </a:r>
            <a:r>
              <a:rPr sz="1300" spc="130" dirty="0">
                <a:solidFill>
                  <a:srgbClr val="3A3535"/>
                </a:solidFill>
                <a:latin typeface="Century Gothic"/>
                <a:cs typeface="Century Gothic"/>
              </a:rPr>
              <a:t>fits</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0" dirty="0">
                <a:solidFill>
                  <a:srgbClr val="3A3535"/>
                </a:solidFill>
                <a:latin typeface="Century Gothic"/>
                <a:cs typeface="Century Gothic"/>
              </a:rPr>
              <a:t> </a:t>
            </a:r>
            <a:r>
              <a:rPr sz="1300" spc="-45" dirty="0">
                <a:solidFill>
                  <a:srgbClr val="3A3535"/>
                </a:solidFill>
                <a:latin typeface="Century Gothic"/>
                <a:cs typeface="Century Gothic"/>
              </a:rPr>
              <a:t>day</a:t>
            </a:r>
            <a:endParaRPr sz="1300">
              <a:latin typeface="Century Gothic"/>
              <a:cs typeface="Century Gothic"/>
            </a:endParaRPr>
          </a:p>
        </p:txBody>
      </p:sp>
      <p:grpSp>
        <p:nvGrpSpPr>
          <p:cNvPr id="14" name="object 14"/>
          <p:cNvGrpSpPr/>
          <p:nvPr/>
        </p:nvGrpSpPr>
        <p:grpSpPr>
          <a:xfrm>
            <a:off x="8477249" y="1819275"/>
            <a:ext cx="2371725" cy="1857375"/>
            <a:chOff x="8477249" y="1819275"/>
            <a:chExt cx="2371725" cy="1857375"/>
          </a:xfrm>
        </p:grpSpPr>
        <p:sp>
          <p:nvSpPr>
            <p:cNvPr id="15" name="object 15"/>
            <p:cNvSpPr/>
            <p:nvPr/>
          </p:nvSpPr>
          <p:spPr>
            <a:xfrm>
              <a:off x="8477237"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6" name="object 16"/>
            <p:cNvSpPr/>
            <p:nvPr/>
          </p:nvSpPr>
          <p:spPr>
            <a:xfrm>
              <a:off x="8477250"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7" name="object 17"/>
          <p:cNvSpPr txBox="1"/>
          <p:nvPr/>
        </p:nvSpPr>
        <p:spPr>
          <a:xfrm>
            <a:off x="9584029" y="1927351"/>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2</a:t>
            </a:r>
            <a:endParaRPr sz="1600">
              <a:latin typeface="Verdana"/>
              <a:cs typeface="Verdana"/>
            </a:endParaRPr>
          </a:p>
        </p:txBody>
      </p:sp>
      <p:sp>
        <p:nvSpPr>
          <p:cNvPr id="18" name="object 18"/>
          <p:cNvSpPr txBox="1"/>
          <p:nvPr/>
        </p:nvSpPr>
        <p:spPr>
          <a:xfrm>
            <a:off x="8649246" y="2469705"/>
            <a:ext cx="1792605"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Interact</a:t>
            </a:r>
            <a:endParaRPr sz="1750">
              <a:latin typeface="Verdana"/>
              <a:cs typeface="Verdana"/>
            </a:endParaRPr>
          </a:p>
          <a:p>
            <a:pPr marL="12700" marR="5080">
              <a:lnSpc>
                <a:spcPct val="139400"/>
              </a:lnSpc>
              <a:spcBef>
                <a:spcPts val="1110"/>
              </a:spcBef>
            </a:pPr>
            <a:r>
              <a:rPr sz="1300" spc="65" dirty="0">
                <a:solidFill>
                  <a:srgbClr val="3A3535"/>
                </a:solidFill>
                <a:latin typeface="Century Gothic"/>
                <a:cs typeface="Century Gothic"/>
              </a:rPr>
              <a:t>AI</a:t>
            </a:r>
            <a:r>
              <a:rPr sz="1300" spc="-1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10" dirty="0">
                <a:solidFill>
                  <a:srgbClr val="3A3535"/>
                </a:solidFill>
                <a:latin typeface="Century Gothic"/>
                <a:cs typeface="Century Gothic"/>
              </a:rPr>
              <a:t> </a:t>
            </a:r>
            <a:r>
              <a:rPr sz="1300" dirty="0">
                <a:solidFill>
                  <a:srgbClr val="3A3535"/>
                </a:solidFill>
                <a:latin typeface="Century Gothic"/>
                <a:cs typeface="Century Gothic"/>
              </a:rPr>
              <a:t>therapy</a:t>
            </a:r>
            <a:r>
              <a:rPr sz="1300" spc="-10" dirty="0">
                <a:solidFill>
                  <a:srgbClr val="3A3535"/>
                </a:solidFill>
                <a:latin typeface="Century Gothic"/>
                <a:cs typeface="Century Gothic"/>
              </a:rPr>
              <a:t> </a:t>
            </a:r>
            <a:r>
              <a:rPr sz="1300" dirty="0">
                <a:solidFill>
                  <a:srgbClr val="3A3535"/>
                </a:solidFill>
                <a:latin typeface="Century Gothic"/>
                <a:cs typeface="Century Gothic"/>
              </a:rPr>
              <a:t>chat</a:t>
            </a:r>
            <a:r>
              <a:rPr sz="1300" spc="-10" dirty="0">
                <a:solidFill>
                  <a:srgbClr val="3A3535"/>
                </a:solidFill>
                <a:latin typeface="Century Gothic"/>
                <a:cs typeface="Century Gothic"/>
              </a:rPr>
              <a:t> </a:t>
            </a:r>
            <a:r>
              <a:rPr sz="1300" spc="-25" dirty="0">
                <a:solidFill>
                  <a:srgbClr val="3A3535"/>
                </a:solidFill>
                <a:latin typeface="Century Gothic"/>
                <a:cs typeface="Century Gothic"/>
              </a:rPr>
              <a:t>on </a:t>
            </a:r>
            <a:r>
              <a:rPr sz="1300" dirty="0">
                <a:solidFill>
                  <a:srgbClr val="3A3535"/>
                </a:solidFill>
                <a:latin typeface="Century Gothic"/>
                <a:cs typeface="Century Gothic"/>
              </a:rPr>
              <a:t>the</a:t>
            </a:r>
            <a:r>
              <a:rPr sz="1300" spc="70" dirty="0">
                <a:solidFill>
                  <a:srgbClr val="3A3535"/>
                </a:solidFill>
                <a:latin typeface="Century Gothic"/>
                <a:cs typeface="Century Gothic"/>
              </a:rPr>
              <a:t> </a:t>
            </a:r>
            <a:r>
              <a:rPr sz="1300" spc="-25" dirty="0">
                <a:solidFill>
                  <a:srgbClr val="3A3535"/>
                </a:solidFill>
                <a:latin typeface="Century Gothic"/>
                <a:cs typeface="Century Gothic"/>
              </a:rPr>
              <a:t>go</a:t>
            </a:r>
            <a:endParaRPr sz="1300">
              <a:latin typeface="Century Gothic"/>
              <a:cs typeface="Century Gothic"/>
            </a:endParaRPr>
          </a:p>
        </p:txBody>
      </p:sp>
      <p:grpSp>
        <p:nvGrpSpPr>
          <p:cNvPr id="19" name="object 19"/>
          <p:cNvGrpSpPr/>
          <p:nvPr/>
        </p:nvGrpSpPr>
        <p:grpSpPr>
          <a:xfrm>
            <a:off x="5934074" y="3848100"/>
            <a:ext cx="4914900" cy="1581150"/>
            <a:chOff x="5934074" y="3848100"/>
            <a:chExt cx="4914900" cy="1581150"/>
          </a:xfrm>
        </p:grpSpPr>
        <p:sp>
          <p:nvSpPr>
            <p:cNvPr id="20" name="object 20"/>
            <p:cNvSpPr/>
            <p:nvPr/>
          </p:nvSpPr>
          <p:spPr>
            <a:xfrm>
              <a:off x="5934062" y="4096600"/>
              <a:ext cx="4914900" cy="1332865"/>
            </a:xfrm>
            <a:custGeom>
              <a:avLst/>
              <a:gdLst/>
              <a:ahLst/>
              <a:cxnLst/>
              <a:rect l="l" t="t" r="r" b="b"/>
              <a:pathLst>
                <a:path w="4914900" h="1332864">
                  <a:moveTo>
                    <a:pt x="4914900" y="75361"/>
                  </a:moveTo>
                  <a:lnTo>
                    <a:pt x="4902073" y="33020"/>
                  </a:lnTo>
                  <a:lnTo>
                    <a:pt x="4867859" y="4965"/>
                  </a:lnTo>
                  <a:lnTo>
                    <a:pt x="4849457" y="0"/>
                  </a:lnTo>
                  <a:lnTo>
                    <a:pt x="4853571" y="1092"/>
                  </a:lnTo>
                  <a:lnTo>
                    <a:pt x="4867567" y="8826"/>
                  </a:lnTo>
                  <a:lnTo>
                    <a:pt x="4891494" y="46202"/>
                  </a:lnTo>
                  <a:lnTo>
                    <a:pt x="4895850" y="75361"/>
                  </a:lnTo>
                  <a:lnTo>
                    <a:pt x="4895850" y="1273416"/>
                  </a:lnTo>
                  <a:lnTo>
                    <a:pt x="4895139" y="1281264"/>
                  </a:lnTo>
                  <a:lnTo>
                    <a:pt x="4895126" y="1281430"/>
                  </a:lnTo>
                  <a:lnTo>
                    <a:pt x="4892916" y="1288834"/>
                  </a:lnTo>
                  <a:lnTo>
                    <a:pt x="4889233" y="1295641"/>
                  </a:lnTo>
                  <a:lnTo>
                    <a:pt x="4884077" y="1301826"/>
                  </a:lnTo>
                  <a:lnTo>
                    <a:pt x="4883556" y="1302258"/>
                  </a:lnTo>
                  <a:lnTo>
                    <a:pt x="4877892" y="1306982"/>
                  </a:lnTo>
                  <a:lnTo>
                    <a:pt x="4871085" y="1310665"/>
                  </a:lnTo>
                  <a:lnTo>
                    <a:pt x="4863681" y="1312875"/>
                  </a:lnTo>
                  <a:lnTo>
                    <a:pt x="4855654" y="1313611"/>
                  </a:lnTo>
                  <a:lnTo>
                    <a:pt x="59245" y="1313611"/>
                  </a:lnTo>
                  <a:lnTo>
                    <a:pt x="51231" y="1312875"/>
                  </a:lnTo>
                  <a:lnTo>
                    <a:pt x="43815" y="1310665"/>
                  </a:lnTo>
                  <a:lnTo>
                    <a:pt x="37020" y="1306982"/>
                  </a:lnTo>
                  <a:lnTo>
                    <a:pt x="31343" y="1302270"/>
                  </a:lnTo>
                  <a:lnTo>
                    <a:pt x="30835" y="1301826"/>
                  </a:lnTo>
                  <a:lnTo>
                    <a:pt x="25679" y="1295641"/>
                  </a:lnTo>
                  <a:lnTo>
                    <a:pt x="21996" y="1288834"/>
                  </a:lnTo>
                  <a:lnTo>
                    <a:pt x="19786" y="1281430"/>
                  </a:lnTo>
                  <a:lnTo>
                    <a:pt x="19050" y="1273416"/>
                  </a:lnTo>
                  <a:lnTo>
                    <a:pt x="19050" y="75361"/>
                  </a:lnTo>
                  <a:lnTo>
                    <a:pt x="28676" y="33020"/>
                  </a:lnTo>
                  <a:lnTo>
                    <a:pt x="61328" y="1092"/>
                  </a:lnTo>
                  <a:lnTo>
                    <a:pt x="65443" y="0"/>
                  </a:lnTo>
                  <a:lnTo>
                    <a:pt x="61341" y="609"/>
                  </a:lnTo>
                  <a:lnTo>
                    <a:pt x="22313" y="21475"/>
                  </a:lnTo>
                  <a:lnTo>
                    <a:pt x="1460" y="60490"/>
                  </a:lnTo>
                  <a:lnTo>
                    <a:pt x="0" y="75361"/>
                  </a:lnTo>
                  <a:lnTo>
                    <a:pt x="0" y="1281264"/>
                  </a:lnTo>
                  <a:lnTo>
                    <a:pt x="1498" y="1288821"/>
                  </a:lnTo>
                  <a:lnTo>
                    <a:pt x="7518" y="1303337"/>
                  </a:lnTo>
                  <a:lnTo>
                    <a:pt x="11798" y="1309751"/>
                  </a:lnTo>
                  <a:lnTo>
                    <a:pt x="17830" y="1315783"/>
                  </a:lnTo>
                  <a:lnTo>
                    <a:pt x="22910" y="1320863"/>
                  </a:lnTo>
                  <a:lnTo>
                    <a:pt x="29311" y="1325130"/>
                  </a:lnTo>
                  <a:lnTo>
                    <a:pt x="43827" y="1331150"/>
                  </a:lnTo>
                  <a:lnTo>
                    <a:pt x="51384" y="1332661"/>
                  </a:lnTo>
                  <a:lnTo>
                    <a:pt x="4863516" y="1332661"/>
                  </a:lnTo>
                  <a:lnTo>
                    <a:pt x="4871072" y="1331150"/>
                  </a:lnTo>
                  <a:lnTo>
                    <a:pt x="4885588" y="1325130"/>
                  </a:lnTo>
                  <a:lnTo>
                    <a:pt x="4891989" y="1320863"/>
                  </a:lnTo>
                  <a:lnTo>
                    <a:pt x="4897069" y="1315783"/>
                  </a:lnTo>
                  <a:lnTo>
                    <a:pt x="4897552" y="1315300"/>
                  </a:lnTo>
                  <a:lnTo>
                    <a:pt x="4903101" y="1309751"/>
                  </a:lnTo>
                  <a:lnTo>
                    <a:pt x="4907381" y="1303337"/>
                  </a:lnTo>
                  <a:lnTo>
                    <a:pt x="4913401" y="1288834"/>
                  </a:lnTo>
                  <a:lnTo>
                    <a:pt x="4914874" y="1281430"/>
                  </a:lnTo>
                  <a:lnTo>
                    <a:pt x="4914900" y="75361"/>
                  </a:lnTo>
                  <a:close/>
                </a:path>
              </a:pathLst>
            </a:custGeom>
            <a:solidFill>
              <a:srgbClr val="DFB7BB"/>
            </a:solidFill>
          </p:spPr>
          <p:txBody>
            <a:bodyPr wrap="square" lIns="0" tIns="0" rIns="0" bIns="0" rtlCol="0"/>
            <a:lstStyle/>
            <a:p>
              <a:endParaRPr/>
            </a:p>
          </p:txBody>
        </p:sp>
        <p:sp>
          <p:nvSpPr>
            <p:cNvPr id="21" name="object 21"/>
            <p:cNvSpPr/>
            <p:nvPr/>
          </p:nvSpPr>
          <p:spPr>
            <a:xfrm>
              <a:off x="5934075" y="3848099"/>
              <a:ext cx="4914900" cy="504825"/>
            </a:xfrm>
            <a:custGeom>
              <a:avLst/>
              <a:gdLst/>
              <a:ahLst/>
              <a:cxnLst/>
              <a:rect l="l" t="t" r="r" b="b"/>
              <a:pathLst>
                <a:path w="4914900" h="504825">
                  <a:moveTo>
                    <a:pt x="4914900" y="283946"/>
                  </a:moveTo>
                  <a:lnTo>
                    <a:pt x="4900295" y="248704"/>
                  </a:lnTo>
                  <a:lnTo>
                    <a:pt x="4863401" y="228981"/>
                  </a:lnTo>
                  <a:lnTo>
                    <a:pt x="4859540" y="228600"/>
                  </a:lnTo>
                  <a:lnTo>
                    <a:pt x="2707246" y="228600"/>
                  </a:lnTo>
                  <a:lnTo>
                    <a:pt x="2706344" y="219443"/>
                  </a:lnTo>
                  <a:lnTo>
                    <a:pt x="2695105" y="171221"/>
                  </a:lnTo>
                  <a:lnTo>
                    <a:pt x="2674670" y="126136"/>
                  </a:lnTo>
                  <a:lnTo>
                    <a:pt x="2645841" y="85890"/>
                  </a:lnTo>
                  <a:lnTo>
                    <a:pt x="2609697" y="52057"/>
                  </a:lnTo>
                  <a:lnTo>
                    <a:pt x="2567660" y="25908"/>
                  </a:lnTo>
                  <a:lnTo>
                    <a:pt x="2521318" y="8470"/>
                  </a:lnTo>
                  <a:lnTo>
                    <a:pt x="2472474" y="406"/>
                  </a:lnTo>
                  <a:lnTo>
                    <a:pt x="2464231" y="0"/>
                  </a:lnTo>
                  <a:lnTo>
                    <a:pt x="2447696" y="0"/>
                  </a:lnTo>
                  <a:lnTo>
                    <a:pt x="2398611" y="6464"/>
                  </a:lnTo>
                  <a:lnTo>
                    <a:pt x="2351722" y="22377"/>
                  </a:lnTo>
                  <a:lnTo>
                    <a:pt x="2308860" y="47129"/>
                  </a:lnTo>
                  <a:lnTo>
                    <a:pt x="2271636" y="79768"/>
                  </a:lnTo>
                  <a:lnTo>
                    <a:pt x="2241499" y="119049"/>
                  </a:lnTo>
                  <a:lnTo>
                    <a:pt x="2219591" y="163449"/>
                  </a:lnTo>
                  <a:lnTo>
                    <a:pt x="2206790" y="211277"/>
                  </a:lnTo>
                  <a:lnTo>
                    <a:pt x="2204669" y="228600"/>
                  </a:lnTo>
                  <a:lnTo>
                    <a:pt x="55359" y="228600"/>
                  </a:lnTo>
                  <a:lnTo>
                    <a:pt x="20104" y="243205"/>
                  </a:lnTo>
                  <a:lnTo>
                    <a:pt x="381" y="280098"/>
                  </a:lnTo>
                  <a:lnTo>
                    <a:pt x="0" y="283946"/>
                  </a:lnTo>
                  <a:lnTo>
                    <a:pt x="0" y="304800"/>
                  </a:lnTo>
                  <a:lnTo>
                    <a:pt x="2209025" y="304800"/>
                  </a:lnTo>
                  <a:lnTo>
                    <a:pt x="2210016" y="309765"/>
                  </a:lnTo>
                  <a:lnTo>
                    <a:pt x="2225929" y="356641"/>
                  </a:lnTo>
                  <a:lnTo>
                    <a:pt x="2250681" y="399516"/>
                  </a:lnTo>
                  <a:lnTo>
                    <a:pt x="2283320" y="436740"/>
                  </a:lnTo>
                  <a:lnTo>
                    <a:pt x="2322601" y="466877"/>
                  </a:lnTo>
                  <a:lnTo>
                    <a:pt x="2367013" y="488772"/>
                  </a:lnTo>
                  <a:lnTo>
                    <a:pt x="2414828" y="501586"/>
                  </a:lnTo>
                  <a:lnTo>
                    <a:pt x="2447696" y="504825"/>
                  </a:lnTo>
                  <a:lnTo>
                    <a:pt x="2464231" y="504825"/>
                  </a:lnTo>
                  <a:lnTo>
                    <a:pt x="2513304" y="498360"/>
                  </a:lnTo>
                  <a:lnTo>
                    <a:pt x="2560193" y="482447"/>
                  </a:lnTo>
                  <a:lnTo>
                    <a:pt x="2603068" y="457695"/>
                  </a:lnTo>
                  <a:lnTo>
                    <a:pt x="2640292" y="425043"/>
                  </a:lnTo>
                  <a:lnTo>
                    <a:pt x="2670429" y="385775"/>
                  </a:lnTo>
                  <a:lnTo>
                    <a:pt x="2692323" y="341363"/>
                  </a:lnTo>
                  <a:lnTo>
                    <a:pt x="2702890" y="304800"/>
                  </a:lnTo>
                  <a:lnTo>
                    <a:pt x="4914900" y="304800"/>
                  </a:lnTo>
                  <a:lnTo>
                    <a:pt x="4914900" y="283946"/>
                  </a:lnTo>
                  <a:close/>
                </a:path>
              </a:pathLst>
            </a:custGeom>
            <a:solidFill>
              <a:srgbClr val="DA1B2D"/>
            </a:solidFill>
          </p:spPr>
          <p:txBody>
            <a:bodyPr wrap="square" lIns="0" tIns="0" rIns="0" bIns="0" rtlCol="0"/>
            <a:lstStyle/>
            <a:p>
              <a:endParaRPr/>
            </a:p>
          </p:txBody>
        </p:sp>
      </p:grpSp>
      <p:sp>
        <p:nvSpPr>
          <p:cNvPr id="22" name="object 22"/>
          <p:cNvSpPr txBox="1"/>
          <p:nvPr/>
        </p:nvSpPr>
        <p:spPr>
          <a:xfrm>
            <a:off x="8312746" y="3946652"/>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3</a:t>
            </a:r>
            <a:endParaRPr sz="1600">
              <a:latin typeface="Verdana"/>
              <a:cs typeface="Verdana"/>
            </a:endParaRPr>
          </a:p>
        </p:txBody>
      </p:sp>
      <p:sp>
        <p:nvSpPr>
          <p:cNvPr id="23" name="object 23"/>
          <p:cNvSpPr txBox="1"/>
          <p:nvPr/>
        </p:nvSpPr>
        <p:spPr>
          <a:xfrm>
            <a:off x="6106515" y="4498530"/>
            <a:ext cx="3392804" cy="710565"/>
          </a:xfrm>
          <a:prstGeom prst="rect">
            <a:avLst/>
          </a:prstGeom>
        </p:spPr>
        <p:txBody>
          <a:bodyPr vert="horz" wrap="square" lIns="0" tIns="12700" rIns="0" bIns="0" rtlCol="0">
            <a:spAutoFit/>
          </a:bodyPr>
          <a:lstStyle/>
          <a:p>
            <a:pPr marL="12700">
              <a:lnSpc>
                <a:spcPct val="100000"/>
              </a:lnSpc>
              <a:spcBef>
                <a:spcPts val="100"/>
              </a:spcBef>
            </a:pPr>
            <a:r>
              <a:rPr sz="1750" b="1" spc="-114" dirty="0">
                <a:solidFill>
                  <a:srgbClr val="3A3535"/>
                </a:solidFill>
                <a:latin typeface="Verdana"/>
                <a:cs typeface="Verdana"/>
              </a:rPr>
              <a:t>Stay</a:t>
            </a:r>
            <a:r>
              <a:rPr sz="1750" b="1" spc="-195" dirty="0">
                <a:solidFill>
                  <a:srgbClr val="3A3535"/>
                </a:solidFill>
                <a:latin typeface="Verdana"/>
                <a:cs typeface="Verdana"/>
              </a:rPr>
              <a:t> </a:t>
            </a:r>
            <a:r>
              <a:rPr sz="1750" b="1" spc="-10" dirty="0">
                <a:solidFill>
                  <a:srgbClr val="3A3535"/>
                </a:solidFill>
                <a:latin typeface="Verdana"/>
                <a:cs typeface="Verdana"/>
              </a:rPr>
              <a:t>Connected</a:t>
            </a:r>
            <a:endParaRPr sz="1750">
              <a:latin typeface="Verdana"/>
              <a:cs typeface="Verdana"/>
            </a:endParaRPr>
          </a:p>
          <a:p>
            <a:pPr marL="12700">
              <a:lnSpc>
                <a:spcPct val="100000"/>
              </a:lnSpc>
              <a:spcBef>
                <a:spcPts val="1725"/>
              </a:spcBef>
            </a:pPr>
            <a:r>
              <a:rPr sz="1300" spc="80" dirty="0">
                <a:solidFill>
                  <a:srgbClr val="3A3535"/>
                </a:solidFill>
                <a:latin typeface="Century Gothic"/>
                <a:cs typeface="Century Gothic"/>
              </a:rPr>
              <a:t>Notifications</a:t>
            </a:r>
            <a:r>
              <a:rPr sz="1300" spc="40" dirty="0">
                <a:solidFill>
                  <a:srgbClr val="3A3535"/>
                </a:solidFill>
                <a:latin typeface="Century Gothic"/>
                <a:cs typeface="Century Gothic"/>
              </a:rPr>
              <a:t> </a:t>
            </a:r>
            <a:r>
              <a:rPr sz="1300" dirty="0">
                <a:solidFill>
                  <a:srgbClr val="3A3535"/>
                </a:solidFill>
                <a:latin typeface="Century Gothic"/>
                <a:cs typeface="Century Gothic"/>
              </a:rPr>
              <a:t>keep</a:t>
            </a:r>
            <a:r>
              <a:rPr sz="1300" spc="40" dirty="0">
                <a:solidFill>
                  <a:srgbClr val="3A3535"/>
                </a:solidFill>
                <a:latin typeface="Century Gothic"/>
                <a:cs typeface="Century Gothic"/>
              </a:rPr>
              <a:t> </a:t>
            </a:r>
            <a:r>
              <a:rPr sz="1300" dirty="0">
                <a:solidFill>
                  <a:srgbClr val="3A3535"/>
                </a:solidFill>
                <a:latin typeface="Century Gothic"/>
                <a:cs typeface="Century Gothic"/>
              </a:rPr>
              <a:t>the</a:t>
            </a:r>
            <a:r>
              <a:rPr sz="1300" spc="45" dirty="0">
                <a:solidFill>
                  <a:srgbClr val="3A3535"/>
                </a:solidFill>
                <a:latin typeface="Century Gothic"/>
                <a:cs typeface="Century Gothic"/>
              </a:rPr>
              <a:t> </a:t>
            </a:r>
            <a:r>
              <a:rPr sz="1300" dirty="0">
                <a:solidFill>
                  <a:srgbClr val="3A3535"/>
                </a:solidFill>
                <a:latin typeface="Century Gothic"/>
                <a:cs typeface="Century Gothic"/>
              </a:rPr>
              <a:t>program</a:t>
            </a:r>
            <a:r>
              <a:rPr sz="1300" spc="40" dirty="0">
                <a:solidFill>
                  <a:srgbClr val="3A3535"/>
                </a:solidFill>
                <a:latin typeface="Century Gothic"/>
                <a:cs typeface="Century Gothic"/>
              </a:rPr>
              <a:t> </a:t>
            </a:r>
            <a:r>
              <a:rPr sz="1300" spc="55" dirty="0">
                <a:solidFill>
                  <a:srgbClr val="3A3535"/>
                </a:solidFill>
                <a:latin typeface="Century Gothic"/>
                <a:cs typeface="Century Gothic"/>
              </a:rPr>
              <a:t>present</a:t>
            </a:r>
            <a:endParaRPr sz="1300">
              <a:latin typeface="Century Gothic"/>
              <a:cs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00" dirty="0"/>
              <a:t>Compares</a:t>
            </a:r>
          </a:p>
        </p:txBody>
      </p:sp>
      <p:sp>
        <p:nvSpPr>
          <p:cNvPr id="3" name="object 3"/>
          <p:cNvSpPr txBox="1"/>
          <p:nvPr/>
        </p:nvSpPr>
        <p:spPr>
          <a:xfrm>
            <a:off x="579640" y="1713522"/>
            <a:ext cx="8136255" cy="228600"/>
          </a:xfrm>
          <a:prstGeom prst="rect">
            <a:avLst/>
          </a:prstGeom>
        </p:spPr>
        <p:txBody>
          <a:bodyPr vert="horz" wrap="square" lIns="0" tIns="16510" rIns="0" bIns="0" rtlCol="0">
            <a:spAutoFit/>
          </a:bodyPr>
          <a:lstStyle/>
          <a:p>
            <a:pPr marL="12700">
              <a:lnSpc>
                <a:spcPct val="100000"/>
              </a:lnSpc>
              <a:spcBef>
                <a:spcPts val="130"/>
              </a:spcBef>
            </a:pPr>
            <a:r>
              <a:rPr sz="1300" spc="80" dirty="0">
                <a:solidFill>
                  <a:srgbClr val="3A3535"/>
                </a:solidFill>
                <a:latin typeface="Century Gothic"/>
                <a:cs typeface="Century Gothic"/>
              </a:rPr>
              <a:t>SelfHelp</a:t>
            </a:r>
            <a:r>
              <a:rPr sz="1300" dirty="0">
                <a:solidFill>
                  <a:srgbClr val="3A3535"/>
                </a:solidFill>
                <a:latin typeface="Century Gothic"/>
                <a:cs typeface="Century Gothic"/>
              </a:rPr>
              <a:t> </a:t>
            </a:r>
            <a:r>
              <a:rPr sz="1300" spc="165" dirty="0">
                <a:solidFill>
                  <a:srgbClr val="3A3535"/>
                </a:solidFill>
                <a:latin typeface="Century Gothic"/>
                <a:cs typeface="Century Gothic"/>
              </a:rPr>
              <a:t>is</a:t>
            </a:r>
            <a:r>
              <a:rPr sz="1300" dirty="0">
                <a:solidFill>
                  <a:srgbClr val="3A3535"/>
                </a:solidFill>
                <a:latin typeface="Century Gothic"/>
                <a:cs typeface="Century Gothic"/>
              </a:rPr>
              <a:t> </a:t>
            </a:r>
            <a:r>
              <a:rPr sz="1300" spc="90" dirty="0">
                <a:solidFill>
                  <a:srgbClr val="3A3535"/>
                </a:solidFill>
                <a:latin typeface="Century Gothic"/>
                <a:cs typeface="Century Gothic"/>
              </a:rPr>
              <a:t>strongest</a:t>
            </a:r>
            <a:r>
              <a:rPr sz="1300" dirty="0">
                <a:solidFill>
                  <a:srgbClr val="3A3535"/>
                </a:solidFill>
                <a:latin typeface="Century Gothic"/>
                <a:cs typeface="Century Gothic"/>
              </a:rPr>
              <a:t> </a:t>
            </a:r>
            <a:r>
              <a:rPr sz="1300" spc="20" dirty="0">
                <a:solidFill>
                  <a:srgbClr val="3A3535"/>
                </a:solidFill>
                <a:latin typeface="Century Gothic"/>
                <a:cs typeface="Century Gothic"/>
              </a:rPr>
              <a:t>when</a:t>
            </a:r>
            <a:r>
              <a:rPr sz="1300" dirty="0">
                <a:solidFill>
                  <a:srgbClr val="3A3535"/>
                </a:solidFill>
                <a:latin typeface="Century Gothic"/>
                <a:cs typeface="Century Gothic"/>
              </a:rPr>
              <a:t> </a:t>
            </a:r>
            <a:r>
              <a:rPr sz="1300" spc="20" dirty="0">
                <a:solidFill>
                  <a:srgbClr val="3A3535"/>
                </a:solidFill>
                <a:latin typeface="Century Gothic"/>
                <a:cs typeface="Century Gothic"/>
              </a:rPr>
              <a:t>everything</a:t>
            </a:r>
            <a:r>
              <a:rPr sz="1300" dirty="0">
                <a:solidFill>
                  <a:srgbClr val="3A3535"/>
                </a:solidFill>
                <a:latin typeface="Century Gothic"/>
                <a:cs typeface="Century Gothic"/>
              </a:rPr>
              <a:t> </a:t>
            </a:r>
            <a:r>
              <a:rPr sz="1300" spc="20" dirty="0">
                <a:solidFill>
                  <a:srgbClr val="3A3535"/>
                </a:solidFill>
                <a:latin typeface="Century Gothic"/>
                <a:cs typeface="Century Gothic"/>
              </a:rPr>
              <a:t>needs</a:t>
            </a:r>
            <a:r>
              <a:rPr sz="1300" dirty="0">
                <a:solidFill>
                  <a:srgbClr val="3A3535"/>
                </a:solidFill>
                <a:latin typeface="Century Gothic"/>
                <a:cs typeface="Century Gothic"/>
              </a:rPr>
              <a:t> </a:t>
            </a:r>
            <a:r>
              <a:rPr sz="1300" spc="70" dirty="0">
                <a:solidFill>
                  <a:srgbClr val="3A3535"/>
                </a:solidFill>
                <a:latin typeface="Century Gothic"/>
                <a:cs typeface="Century Gothic"/>
              </a:rPr>
              <a:t>to</a:t>
            </a:r>
            <a:r>
              <a:rPr sz="1300" dirty="0">
                <a:solidFill>
                  <a:srgbClr val="3A3535"/>
                </a:solidFill>
                <a:latin typeface="Century Gothic"/>
                <a:cs typeface="Century Gothic"/>
              </a:rPr>
              <a:t> </a:t>
            </a:r>
            <a:r>
              <a:rPr sz="1300" spc="20" dirty="0">
                <a:solidFill>
                  <a:srgbClr val="3A3535"/>
                </a:solidFill>
                <a:latin typeface="Century Gothic"/>
                <a:cs typeface="Century Gothic"/>
              </a:rPr>
              <a:t>stay</a:t>
            </a:r>
            <a:r>
              <a:rPr sz="1300" spc="-10" dirty="0">
                <a:solidFill>
                  <a:srgbClr val="3A3535"/>
                </a:solidFill>
                <a:latin typeface="Century Gothic"/>
                <a:cs typeface="Century Gothic"/>
              </a:rPr>
              <a:t> </a:t>
            </a:r>
            <a:r>
              <a:rPr sz="1300" spc="10" dirty="0">
                <a:solidFill>
                  <a:srgbClr val="3A3535"/>
                </a:solidFill>
                <a:latin typeface="Century Gothic"/>
                <a:cs typeface="Century Gothic"/>
              </a:rPr>
              <a:t>connected</a:t>
            </a:r>
            <a:r>
              <a:rPr sz="1300" dirty="0">
                <a:solidFill>
                  <a:srgbClr val="3A3535"/>
                </a:solidFill>
                <a:latin typeface="Century Gothic"/>
                <a:cs typeface="Century Gothic"/>
              </a:rPr>
              <a:t> </a:t>
            </a:r>
            <a:r>
              <a:rPr sz="1300" spc="90" dirty="0">
                <a:solidFill>
                  <a:srgbClr val="3A3535"/>
                </a:solidFill>
                <a:latin typeface="Century Gothic"/>
                <a:cs typeface="Century Gothic"/>
              </a:rPr>
              <a:t>in</a:t>
            </a:r>
            <a:r>
              <a:rPr sz="1300" dirty="0">
                <a:solidFill>
                  <a:srgbClr val="3A3535"/>
                </a:solidFill>
                <a:latin typeface="Century Gothic"/>
                <a:cs typeface="Century Gothic"/>
              </a:rPr>
              <a:t> </a:t>
            </a:r>
            <a:r>
              <a:rPr sz="1300" spc="20" dirty="0">
                <a:solidFill>
                  <a:srgbClr val="3A3535"/>
                </a:solidFill>
                <a:latin typeface="Century Gothic"/>
                <a:cs typeface="Century Gothic"/>
              </a:rPr>
              <a:t>one</a:t>
            </a:r>
            <a:r>
              <a:rPr sz="1300" dirty="0">
                <a:solidFill>
                  <a:srgbClr val="3A3535"/>
                </a:solidFill>
                <a:latin typeface="Century Gothic"/>
                <a:cs typeface="Century Gothic"/>
              </a:rPr>
              <a:t> </a:t>
            </a:r>
            <a:r>
              <a:rPr sz="1300" spc="20" dirty="0">
                <a:solidFill>
                  <a:srgbClr val="3A3535"/>
                </a:solidFill>
                <a:latin typeface="Century Gothic"/>
                <a:cs typeface="Century Gothic"/>
              </a:rPr>
              <a:t>locally</a:t>
            </a:r>
            <a:r>
              <a:rPr sz="130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dirty="0">
                <a:solidFill>
                  <a:srgbClr val="3A3535"/>
                </a:solidFill>
                <a:latin typeface="Century Gothic"/>
                <a:cs typeface="Century Gothic"/>
              </a:rPr>
              <a:t> </a:t>
            </a:r>
            <a:r>
              <a:rPr sz="1300" spc="60" dirty="0">
                <a:solidFill>
                  <a:srgbClr val="3A3535"/>
                </a:solidFill>
                <a:latin typeface="Century Gothic"/>
                <a:cs typeface="Century Gothic"/>
              </a:rPr>
              <a:t>system.</a:t>
            </a:r>
            <a:endParaRPr sz="1300">
              <a:latin typeface="Century Gothic"/>
              <a:cs typeface="Century Gothic"/>
            </a:endParaRPr>
          </a:p>
        </p:txBody>
      </p:sp>
      <p:grpSp>
        <p:nvGrpSpPr>
          <p:cNvPr id="4" name="object 4"/>
          <p:cNvGrpSpPr/>
          <p:nvPr/>
        </p:nvGrpSpPr>
        <p:grpSpPr>
          <a:xfrm>
            <a:off x="590550" y="2162174"/>
            <a:ext cx="10248900" cy="3467100"/>
            <a:chOff x="590550" y="2162174"/>
            <a:chExt cx="10248900" cy="3467100"/>
          </a:xfrm>
        </p:grpSpPr>
        <p:sp>
          <p:nvSpPr>
            <p:cNvPr id="5" name="object 5"/>
            <p:cNvSpPr/>
            <p:nvPr/>
          </p:nvSpPr>
          <p:spPr>
            <a:xfrm>
              <a:off x="595312" y="2166937"/>
              <a:ext cx="10239375" cy="3457575"/>
            </a:xfrm>
            <a:custGeom>
              <a:avLst/>
              <a:gdLst/>
              <a:ahLst/>
              <a:cxnLst/>
              <a:rect l="l" t="t" r="r" b="b"/>
              <a:pathLst>
                <a:path w="10239375" h="3457575">
                  <a:moveTo>
                    <a:pt x="0" y="3403094"/>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10184892" y="0"/>
                  </a:lnTo>
                  <a:lnTo>
                    <a:pt x="10188473" y="0"/>
                  </a:lnTo>
                  <a:lnTo>
                    <a:pt x="10192016" y="342"/>
                  </a:lnTo>
                  <a:lnTo>
                    <a:pt x="10195522" y="1041"/>
                  </a:lnTo>
                  <a:lnTo>
                    <a:pt x="10199027" y="1739"/>
                  </a:lnTo>
                  <a:lnTo>
                    <a:pt x="10202430" y="2781"/>
                  </a:lnTo>
                  <a:lnTo>
                    <a:pt x="10205745" y="4152"/>
                  </a:lnTo>
                  <a:lnTo>
                    <a:pt x="10209047" y="5511"/>
                  </a:lnTo>
                  <a:lnTo>
                    <a:pt x="10212184" y="7188"/>
                  </a:lnTo>
                  <a:lnTo>
                    <a:pt x="10215156" y="9182"/>
                  </a:lnTo>
                  <a:lnTo>
                    <a:pt x="10218140" y="11163"/>
                  </a:lnTo>
                  <a:lnTo>
                    <a:pt x="10220883" y="13423"/>
                  </a:lnTo>
                  <a:lnTo>
                    <a:pt x="10223411" y="15951"/>
                  </a:lnTo>
                  <a:lnTo>
                    <a:pt x="10225951" y="18491"/>
                  </a:lnTo>
                  <a:lnTo>
                    <a:pt x="10235222" y="33629"/>
                  </a:lnTo>
                  <a:lnTo>
                    <a:pt x="10236593" y="36931"/>
                  </a:lnTo>
                  <a:lnTo>
                    <a:pt x="10237635" y="40347"/>
                  </a:lnTo>
                  <a:lnTo>
                    <a:pt x="10238333" y="43853"/>
                  </a:lnTo>
                  <a:lnTo>
                    <a:pt x="10239032" y="47358"/>
                  </a:lnTo>
                  <a:lnTo>
                    <a:pt x="10239375" y="50901"/>
                  </a:lnTo>
                  <a:lnTo>
                    <a:pt x="10239375" y="54483"/>
                  </a:lnTo>
                  <a:lnTo>
                    <a:pt x="10239375" y="3403094"/>
                  </a:lnTo>
                  <a:lnTo>
                    <a:pt x="10239375" y="3406672"/>
                  </a:lnTo>
                  <a:lnTo>
                    <a:pt x="10239032" y="3410214"/>
                  </a:lnTo>
                  <a:lnTo>
                    <a:pt x="10238333" y="3413721"/>
                  </a:lnTo>
                  <a:lnTo>
                    <a:pt x="10237635" y="3417228"/>
                  </a:lnTo>
                  <a:lnTo>
                    <a:pt x="10236593" y="3420637"/>
                  </a:lnTo>
                  <a:lnTo>
                    <a:pt x="10235222" y="3423940"/>
                  </a:lnTo>
                  <a:lnTo>
                    <a:pt x="10233863" y="3427244"/>
                  </a:lnTo>
                  <a:lnTo>
                    <a:pt x="10232186" y="3430385"/>
                  </a:lnTo>
                  <a:lnTo>
                    <a:pt x="10230193" y="3433361"/>
                  </a:lnTo>
                  <a:lnTo>
                    <a:pt x="10228211" y="3436333"/>
                  </a:lnTo>
                  <a:lnTo>
                    <a:pt x="10225951" y="3439086"/>
                  </a:lnTo>
                  <a:lnTo>
                    <a:pt x="10223411" y="3441616"/>
                  </a:lnTo>
                  <a:lnTo>
                    <a:pt x="10220883" y="3444147"/>
                  </a:lnTo>
                  <a:lnTo>
                    <a:pt x="10218140" y="3446404"/>
                  </a:lnTo>
                  <a:lnTo>
                    <a:pt x="10215156" y="3448392"/>
                  </a:lnTo>
                  <a:lnTo>
                    <a:pt x="10212184" y="3450377"/>
                  </a:lnTo>
                  <a:lnTo>
                    <a:pt x="10195522" y="3456524"/>
                  </a:lnTo>
                  <a:lnTo>
                    <a:pt x="10192016" y="3457223"/>
                  </a:lnTo>
                  <a:lnTo>
                    <a:pt x="10188473" y="3457571"/>
                  </a:lnTo>
                  <a:lnTo>
                    <a:pt x="10184892" y="3457576"/>
                  </a:lnTo>
                  <a:lnTo>
                    <a:pt x="54480" y="3457576"/>
                  </a:lnTo>
                  <a:lnTo>
                    <a:pt x="50904" y="3457571"/>
                  </a:lnTo>
                  <a:lnTo>
                    <a:pt x="47362" y="3457223"/>
                  </a:lnTo>
                  <a:lnTo>
                    <a:pt x="43854" y="3456524"/>
                  </a:lnTo>
                  <a:lnTo>
                    <a:pt x="40342" y="3455830"/>
                  </a:lnTo>
                  <a:lnTo>
                    <a:pt x="36939" y="3454792"/>
                  </a:lnTo>
                  <a:lnTo>
                    <a:pt x="33629" y="3453423"/>
                  </a:lnTo>
                  <a:lnTo>
                    <a:pt x="30326" y="3452059"/>
                  </a:lnTo>
                  <a:lnTo>
                    <a:pt x="15958" y="3441616"/>
                  </a:lnTo>
                  <a:lnTo>
                    <a:pt x="13428" y="3439086"/>
                  </a:lnTo>
                  <a:lnTo>
                    <a:pt x="11167" y="3436333"/>
                  </a:lnTo>
                  <a:lnTo>
                    <a:pt x="9182" y="3433361"/>
                  </a:lnTo>
                  <a:lnTo>
                    <a:pt x="7193" y="3430385"/>
                  </a:lnTo>
                  <a:lnTo>
                    <a:pt x="5516" y="3427244"/>
                  </a:lnTo>
                  <a:lnTo>
                    <a:pt x="4147" y="3423940"/>
                  </a:lnTo>
                  <a:lnTo>
                    <a:pt x="2778" y="3420637"/>
                  </a:lnTo>
                  <a:lnTo>
                    <a:pt x="1746" y="3417228"/>
                  </a:lnTo>
                  <a:lnTo>
                    <a:pt x="1046" y="3413721"/>
                  </a:lnTo>
                  <a:lnTo>
                    <a:pt x="346" y="3410214"/>
                  </a:lnTo>
                  <a:lnTo>
                    <a:pt x="0" y="3406672"/>
                  </a:lnTo>
                  <a:lnTo>
                    <a:pt x="0" y="3403094"/>
                  </a:lnTo>
                  <a:close/>
                </a:path>
              </a:pathLst>
            </a:custGeom>
            <a:ln w="9525">
              <a:solidFill>
                <a:srgbClr val="000000"/>
              </a:solidFill>
            </a:ln>
          </p:spPr>
          <p:txBody>
            <a:bodyPr wrap="square" lIns="0" tIns="0" rIns="0" bIns="0" rtlCol="0"/>
            <a:lstStyle/>
            <a:p>
              <a:endParaRPr/>
            </a:p>
          </p:txBody>
        </p:sp>
        <p:sp>
          <p:nvSpPr>
            <p:cNvPr id="6" name="object 6"/>
            <p:cNvSpPr/>
            <p:nvPr/>
          </p:nvSpPr>
          <p:spPr>
            <a:xfrm>
              <a:off x="600062" y="2171699"/>
              <a:ext cx="10229850" cy="495934"/>
            </a:xfrm>
            <a:custGeom>
              <a:avLst/>
              <a:gdLst/>
              <a:ahLst/>
              <a:cxnLst/>
              <a:rect l="l" t="t" r="r" b="b"/>
              <a:pathLst>
                <a:path w="10229850" h="495935">
                  <a:moveTo>
                    <a:pt x="2857500" y="12"/>
                  </a:moveTo>
                  <a:lnTo>
                    <a:pt x="51396" y="12"/>
                  </a:lnTo>
                  <a:lnTo>
                    <a:pt x="43840" y="1511"/>
                  </a:lnTo>
                  <a:lnTo>
                    <a:pt x="11798" y="22923"/>
                  </a:lnTo>
                  <a:lnTo>
                    <a:pt x="0" y="51396"/>
                  </a:lnTo>
                  <a:lnTo>
                    <a:pt x="0" y="495312"/>
                  </a:lnTo>
                  <a:lnTo>
                    <a:pt x="2857500" y="495312"/>
                  </a:lnTo>
                  <a:lnTo>
                    <a:pt x="2857500" y="12"/>
                  </a:lnTo>
                  <a:close/>
                </a:path>
                <a:path w="10229850" h="495935">
                  <a:moveTo>
                    <a:pt x="4705362" y="0"/>
                  </a:moveTo>
                  <a:lnTo>
                    <a:pt x="2867037" y="0"/>
                  </a:lnTo>
                  <a:lnTo>
                    <a:pt x="2867037" y="495300"/>
                  </a:lnTo>
                  <a:lnTo>
                    <a:pt x="4705362" y="495300"/>
                  </a:lnTo>
                  <a:lnTo>
                    <a:pt x="4705362" y="0"/>
                  </a:lnTo>
                  <a:close/>
                </a:path>
                <a:path w="10229850" h="495935">
                  <a:moveTo>
                    <a:pt x="6543675" y="12"/>
                  </a:moveTo>
                  <a:lnTo>
                    <a:pt x="4714875" y="12"/>
                  </a:lnTo>
                  <a:lnTo>
                    <a:pt x="4714875" y="495312"/>
                  </a:lnTo>
                  <a:lnTo>
                    <a:pt x="6543675" y="495312"/>
                  </a:lnTo>
                  <a:lnTo>
                    <a:pt x="6543675" y="12"/>
                  </a:lnTo>
                  <a:close/>
                </a:path>
                <a:path w="10229850" h="495935">
                  <a:moveTo>
                    <a:pt x="8382000" y="12"/>
                  </a:moveTo>
                  <a:lnTo>
                    <a:pt x="6553200" y="12"/>
                  </a:lnTo>
                  <a:lnTo>
                    <a:pt x="6553200" y="495312"/>
                  </a:lnTo>
                  <a:lnTo>
                    <a:pt x="8382000" y="495312"/>
                  </a:lnTo>
                  <a:lnTo>
                    <a:pt x="8382000" y="12"/>
                  </a:lnTo>
                  <a:close/>
                </a:path>
                <a:path w="10229850" h="495935">
                  <a:moveTo>
                    <a:pt x="10229850" y="51396"/>
                  </a:moveTo>
                  <a:lnTo>
                    <a:pt x="10206939" y="11811"/>
                  </a:lnTo>
                  <a:lnTo>
                    <a:pt x="10178466" y="12"/>
                  </a:lnTo>
                  <a:lnTo>
                    <a:pt x="8391525" y="12"/>
                  </a:lnTo>
                  <a:lnTo>
                    <a:pt x="8391525" y="495312"/>
                  </a:lnTo>
                  <a:lnTo>
                    <a:pt x="10229850" y="495312"/>
                  </a:lnTo>
                  <a:lnTo>
                    <a:pt x="10229850" y="51396"/>
                  </a:lnTo>
                  <a:close/>
                </a:path>
              </a:pathLst>
            </a:custGeom>
            <a:solidFill>
              <a:srgbClr val="FFFFFF">
                <a:alpha val="3919"/>
              </a:srgbClr>
            </a:solidFill>
          </p:spPr>
          <p:txBody>
            <a:bodyPr wrap="square" lIns="0" tIns="0" rIns="0" bIns="0" rtlCol="0"/>
            <a:lstStyle/>
            <a:p>
              <a:endParaRPr/>
            </a:p>
          </p:txBody>
        </p:sp>
        <p:sp>
          <p:nvSpPr>
            <p:cNvPr id="7" name="object 7"/>
            <p:cNvSpPr/>
            <p:nvPr/>
          </p:nvSpPr>
          <p:spPr>
            <a:xfrm>
              <a:off x="600062" y="2666999"/>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12"/>
                  </a:lnTo>
                  <a:lnTo>
                    <a:pt x="4705362" y="495312"/>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12"/>
                  </a:lnTo>
                  <a:lnTo>
                    <a:pt x="10229863" y="495312"/>
                  </a:lnTo>
                  <a:lnTo>
                    <a:pt x="10229863" y="0"/>
                  </a:lnTo>
                  <a:close/>
                </a:path>
              </a:pathLst>
            </a:custGeom>
            <a:solidFill>
              <a:srgbClr val="000000">
                <a:alpha val="3919"/>
              </a:srgbClr>
            </a:solidFill>
          </p:spPr>
          <p:txBody>
            <a:bodyPr wrap="square" lIns="0" tIns="0" rIns="0" bIns="0" rtlCol="0"/>
            <a:lstStyle/>
            <a:p>
              <a:endParaRPr/>
            </a:p>
          </p:txBody>
        </p:sp>
        <p:sp>
          <p:nvSpPr>
            <p:cNvPr id="8" name="object 8"/>
            <p:cNvSpPr/>
            <p:nvPr/>
          </p:nvSpPr>
          <p:spPr>
            <a:xfrm>
              <a:off x="600062" y="3162312"/>
              <a:ext cx="10230485" cy="485775"/>
            </a:xfrm>
            <a:custGeom>
              <a:avLst/>
              <a:gdLst/>
              <a:ahLst/>
              <a:cxnLst/>
              <a:rect l="l" t="t" r="r" b="b"/>
              <a:pathLst>
                <a:path w="10230485" h="485775">
                  <a:moveTo>
                    <a:pt x="2857500" y="0"/>
                  </a:moveTo>
                  <a:lnTo>
                    <a:pt x="0" y="0"/>
                  </a:lnTo>
                  <a:lnTo>
                    <a:pt x="0" y="485775"/>
                  </a:lnTo>
                  <a:lnTo>
                    <a:pt x="2857500" y="485775"/>
                  </a:lnTo>
                  <a:lnTo>
                    <a:pt x="2857500" y="0"/>
                  </a:lnTo>
                  <a:close/>
                </a:path>
                <a:path w="10230485" h="485775">
                  <a:moveTo>
                    <a:pt x="4705362" y="0"/>
                  </a:moveTo>
                  <a:lnTo>
                    <a:pt x="2867037" y="0"/>
                  </a:lnTo>
                  <a:lnTo>
                    <a:pt x="2867037" y="485775"/>
                  </a:lnTo>
                  <a:lnTo>
                    <a:pt x="4705362" y="485775"/>
                  </a:lnTo>
                  <a:lnTo>
                    <a:pt x="4705362" y="0"/>
                  </a:lnTo>
                  <a:close/>
                </a:path>
                <a:path w="10230485" h="485775">
                  <a:moveTo>
                    <a:pt x="6543675" y="0"/>
                  </a:moveTo>
                  <a:lnTo>
                    <a:pt x="4714875" y="0"/>
                  </a:lnTo>
                  <a:lnTo>
                    <a:pt x="4714875" y="485775"/>
                  </a:lnTo>
                  <a:lnTo>
                    <a:pt x="6543675" y="485775"/>
                  </a:lnTo>
                  <a:lnTo>
                    <a:pt x="6543675" y="0"/>
                  </a:lnTo>
                  <a:close/>
                </a:path>
                <a:path w="10230485" h="485775">
                  <a:moveTo>
                    <a:pt x="8382000" y="0"/>
                  </a:moveTo>
                  <a:lnTo>
                    <a:pt x="6553200" y="0"/>
                  </a:lnTo>
                  <a:lnTo>
                    <a:pt x="6553200" y="485775"/>
                  </a:lnTo>
                  <a:lnTo>
                    <a:pt x="8382000" y="485775"/>
                  </a:lnTo>
                  <a:lnTo>
                    <a:pt x="8382000" y="0"/>
                  </a:lnTo>
                  <a:close/>
                </a:path>
                <a:path w="10230485" h="485775">
                  <a:moveTo>
                    <a:pt x="10229863" y="0"/>
                  </a:moveTo>
                  <a:lnTo>
                    <a:pt x="8391538" y="0"/>
                  </a:lnTo>
                  <a:lnTo>
                    <a:pt x="8391538" y="485775"/>
                  </a:lnTo>
                  <a:lnTo>
                    <a:pt x="10229863" y="485775"/>
                  </a:lnTo>
                  <a:lnTo>
                    <a:pt x="10229863" y="0"/>
                  </a:lnTo>
                  <a:close/>
                </a:path>
              </a:pathLst>
            </a:custGeom>
            <a:solidFill>
              <a:srgbClr val="FFFFFF">
                <a:alpha val="3919"/>
              </a:srgbClr>
            </a:solidFill>
          </p:spPr>
          <p:txBody>
            <a:bodyPr wrap="square" lIns="0" tIns="0" rIns="0" bIns="0" rtlCol="0"/>
            <a:lstStyle/>
            <a:p>
              <a:endParaRPr/>
            </a:p>
          </p:txBody>
        </p:sp>
        <p:sp>
          <p:nvSpPr>
            <p:cNvPr id="9" name="object 9"/>
            <p:cNvSpPr/>
            <p:nvPr/>
          </p:nvSpPr>
          <p:spPr>
            <a:xfrm>
              <a:off x="600062" y="3648087"/>
              <a:ext cx="10230485" cy="495300"/>
            </a:xfrm>
            <a:custGeom>
              <a:avLst/>
              <a:gdLst/>
              <a:ahLst/>
              <a:cxnLst/>
              <a:rect l="l" t="t" r="r" b="b"/>
              <a:pathLst>
                <a:path w="10230485" h="495300">
                  <a:moveTo>
                    <a:pt x="2857500" y="0"/>
                  </a:moveTo>
                  <a:lnTo>
                    <a:pt x="0" y="0"/>
                  </a:lnTo>
                  <a:lnTo>
                    <a:pt x="0" y="495300"/>
                  </a:lnTo>
                  <a:lnTo>
                    <a:pt x="2857500" y="495300"/>
                  </a:lnTo>
                  <a:lnTo>
                    <a:pt x="2857500" y="0"/>
                  </a:lnTo>
                  <a:close/>
                </a:path>
                <a:path w="10230485" h="495300">
                  <a:moveTo>
                    <a:pt x="4705362" y="0"/>
                  </a:moveTo>
                  <a:lnTo>
                    <a:pt x="2867037" y="0"/>
                  </a:lnTo>
                  <a:lnTo>
                    <a:pt x="2867037" y="495287"/>
                  </a:lnTo>
                  <a:lnTo>
                    <a:pt x="4705362" y="495287"/>
                  </a:lnTo>
                  <a:lnTo>
                    <a:pt x="4705362" y="0"/>
                  </a:lnTo>
                  <a:close/>
                </a:path>
                <a:path w="10230485" h="495300">
                  <a:moveTo>
                    <a:pt x="6543675" y="0"/>
                  </a:moveTo>
                  <a:lnTo>
                    <a:pt x="4714875" y="0"/>
                  </a:lnTo>
                  <a:lnTo>
                    <a:pt x="4714875" y="495300"/>
                  </a:lnTo>
                  <a:lnTo>
                    <a:pt x="6543675" y="495300"/>
                  </a:lnTo>
                  <a:lnTo>
                    <a:pt x="6543675" y="0"/>
                  </a:lnTo>
                  <a:close/>
                </a:path>
                <a:path w="10230485" h="495300">
                  <a:moveTo>
                    <a:pt x="8382000" y="0"/>
                  </a:moveTo>
                  <a:lnTo>
                    <a:pt x="6553200" y="0"/>
                  </a:lnTo>
                  <a:lnTo>
                    <a:pt x="6553200" y="495300"/>
                  </a:lnTo>
                  <a:lnTo>
                    <a:pt x="8382000" y="495300"/>
                  </a:lnTo>
                  <a:lnTo>
                    <a:pt x="8382000" y="0"/>
                  </a:lnTo>
                  <a:close/>
                </a:path>
                <a:path w="10230485" h="495300">
                  <a:moveTo>
                    <a:pt x="10229863" y="0"/>
                  </a:moveTo>
                  <a:lnTo>
                    <a:pt x="8391538" y="0"/>
                  </a:lnTo>
                  <a:lnTo>
                    <a:pt x="8391538" y="495287"/>
                  </a:lnTo>
                  <a:lnTo>
                    <a:pt x="10229863" y="495287"/>
                  </a:lnTo>
                  <a:lnTo>
                    <a:pt x="10229863" y="0"/>
                  </a:lnTo>
                  <a:close/>
                </a:path>
              </a:pathLst>
            </a:custGeom>
            <a:solidFill>
              <a:srgbClr val="000000">
                <a:alpha val="3919"/>
              </a:srgbClr>
            </a:solidFill>
          </p:spPr>
          <p:txBody>
            <a:bodyPr wrap="square" lIns="0" tIns="0" rIns="0" bIns="0" rtlCol="0"/>
            <a:lstStyle/>
            <a:p>
              <a:endParaRPr/>
            </a:p>
          </p:txBody>
        </p:sp>
        <p:sp>
          <p:nvSpPr>
            <p:cNvPr id="10" name="object 10"/>
            <p:cNvSpPr/>
            <p:nvPr/>
          </p:nvSpPr>
          <p:spPr>
            <a:xfrm>
              <a:off x="600062" y="41433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FFFFFF">
                <a:alpha val="3919"/>
              </a:srgbClr>
            </a:solidFill>
          </p:spPr>
          <p:txBody>
            <a:bodyPr wrap="square" lIns="0" tIns="0" rIns="0" bIns="0" rtlCol="0"/>
            <a:lstStyle/>
            <a:p>
              <a:endParaRPr/>
            </a:p>
          </p:txBody>
        </p:sp>
        <p:sp>
          <p:nvSpPr>
            <p:cNvPr id="11" name="object 11"/>
            <p:cNvSpPr/>
            <p:nvPr/>
          </p:nvSpPr>
          <p:spPr>
            <a:xfrm>
              <a:off x="600062" y="46386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000000">
                <a:alpha val="3919"/>
              </a:srgbClr>
            </a:solidFill>
          </p:spPr>
          <p:txBody>
            <a:bodyPr wrap="square" lIns="0" tIns="0" rIns="0" bIns="0" rtlCol="0"/>
            <a:lstStyle/>
            <a:p>
              <a:endParaRPr/>
            </a:p>
          </p:txBody>
        </p:sp>
        <p:sp>
          <p:nvSpPr>
            <p:cNvPr id="12" name="object 12"/>
            <p:cNvSpPr/>
            <p:nvPr/>
          </p:nvSpPr>
          <p:spPr>
            <a:xfrm>
              <a:off x="600062" y="5133987"/>
              <a:ext cx="10229850" cy="485775"/>
            </a:xfrm>
            <a:custGeom>
              <a:avLst/>
              <a:gdLst/>
              <a:ahLst/>
              <a:cxnLst/>
              <a:rect l="l" t="t" r="r" b="b"/>
              <a:pathLst>
                <a:path w="10229850" h="485775">
                  <a:moveTo>
                    <a:pt x="2857500" y="0"/>
                  </a:moveTo>
                  <a:lnTo>
                    <a:pt x="0" y="0"/>
                  </a:lnTo>
                  <a:lnTo>
                    <a:pt x="0" y="434378"/>
                  </a:lnTo>
                  <a:lnTo>
                    <a:pt x="22910" y="473976"/>
                  </a:lnTo>
                  <a:lnTo>
                    <a:pt x="51396" y="485775"/>
                  </a:lnTo>
                  <a:lnTo>
                    <a:pt x="2857500" y="485775"/>
                  </a:lnTo>
                  <a:lnTo>
                    <a:pt x="2857500" y="0"/>
                  </a:lnTo>
                  <a:close/>
                </a:path>
                <a:path w="10229850" h="485775">
                  <a:moveTo>
                    <a:pt x="4705362" y="0"/>
                  </a:moveTo>
                  <a:lnTo>
                    <a:pt x="2867037" y="0"/>
                  </a:lnTo>
                  <a:lnTo>
                    <a:pt x="2867037" y="485775"/>
                  </a:lnTo>
                  <a:lnTo>
                    <a:pt x="4705362" y="485775"/>
                  </a:lnTo>
                  <a:lnTo>
                    <a:pt x="4705362" y="0"/>
                  </a:lnTo>
                  <a:close/>
                </a:path>
                <a:path w="10229850" h="485775">
                  <a:moveTo>
                    <a:pt x="6543675" y="0"/>
                  </a:moveTo>
                  <a:lnTo>
                    <a:pt x="4714875" y="0"/>
                  </a:lnTo>
                  <a:lnTo>
                    <a:pt x="4714875" y="485775"/>
                  </a:lnTo>
                  <a:lnTo>
                    <a:pt x="6543675" y="485775"/>
                  </a:lnTo>
                  <a:lnTo>
                    <a:pt x="6543675" y="0"/>
                  </a:lnTo>
                  <a:close/>
                </a:path>
                <a:path w="10229850" h="485775">
                  <a:moveTo>
                    <a:pt x="8382000" y="0"/>
                  </a:moveTo>
                  <a:lnTo>
                    <a:pt x="6553200" y="0"/>
                  </a:lnTo>
                  <a:lnTo>
                    <a:pt x="6553200" y="485775"/>
                  </a:lnTo>
                  <a:lnTo>
                    <a:pt x="8382000" y="485775"/>
                  </a:lnTo>
                  <a:lnTo>
                    <a:pt x="8382000" y="0"/>
                  </a:lnTo>
                  <a:close/>
                </a:path>
                <a:path w="10229850" h="485775">
                  <a:moveTo>
                    <a:pt x="10229850" y="0"/>
                  </a:moveTo>
                  <a:lnTo>
                    <a:pt x="8391525" y="0"/>
                  </a:lnTo>
                  <a:lnTo>
                    <a:pt x="8391525" y="485775"/>
                  </a:lnTo>
                  <a:lnTo>
                    <a:pt x="10178466" y="485775"/>
                  </a:lnTo>
                  <a:lnTo>
                    <a:pt x="10186022" y="484263"/>
                  </a:lnTo>
                  <a:lnTo>
                    <a:pt x="10218052" y="462864"/>
                  </a:lnTo>
                  <a:lnTo>
                    <a:pt x="10229850" y="434378"/>
                  </a:lnTo>
                  <a:lnTo>
                    <a:pt x="10229850" y="0"/>
                  </a:lnTo>
                  <a:close/>
                </a:path>
              </a:pathLst>
            </a:custGeom>
            <a:solidFill>
              <a:srgbClr val="FFFFFF">
                <a:alpha val="3919"/>
              </a:srgbClr>
            </a:solidFill>
          </p:spPr>
          <p:txBody>
            <a:bodyPr wrap="square" lIns="0" tIns="0" rIns="0" bIns="0" rtlCol="0"/>
            <a:lstStyle/>
            <a:p>
              <a:endParaRPr/>
            </a:p>
          </p:txBody>
        </p:sp>
      </p:grpSp>
      <p:sp>
        <p:nvSpPr>
          <p:cNvPr id="13" name="object 13"/>
          <p:cNvSpPr txBox="1"/>
          <p:nvPr/>
        </p:nvSpPr>
        <p:spPr>
          <a:xfrm>
            <a:off x="3626599" y="2294547"/>
            <a:ext cx="1044575" cy="228600"/>
          </a:xfrm>
          <a:prstGeom prst="rect">
            <a:avLst/>
          </a:prstGeom>
        </p:spPr>
        <p:txBody>
          <a:bodyPr vert="horz" wrap="square" lIns="0" tIns="16510" rIns="0" bIns="0" rtlCol="0">
            <a:spAutoFit/>
          </a:bodyPr>
          <a:lstStyle/>
          <a:p>
            <a:pPr marL="12700">
              <a:lnSpc>
                <a:spcPct val="100000"/>
              </a:lnSpc>
              <a:spcBef>
                <a:spcPts val="130"/>
              </a:spcBef>
            </a:pPr>
            <a:r>
              <a:rPr sz="1300" b="1" spc="-50" dirty="0">
                <a:solidFill>
                  <a:srgbClr val="3A3535"/>
                </a:solidFill>
                <a:latin typeface="Verdana"/>
                <a:cs typeface="Verdana"/>
              </a:rPr>
              <a:t>LimeSurvey</a:t>
            </a:r>
            <a:endParaRPr sz="1300">
              <a:latin typeface="Verdana"/>
              <a:cs typeface="Verdana"/>
            </a:endParaRPr>
          </a:p>
        </p:txBody>
      </p:sp>
      <p:sp>
        <p:nvSpPr>
          <p:cNvPr id="14" name="object 14"/>
          <p:cNvSpPr txBox="1"/>
          <p:nvPr/>
        </p:nvSpPr>
        <p:spPr>
          <a:xfrm>
            <a:off x="5467400" y="2294547"/>
            <a:ext cx="1239520"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JATOS</a:t>
            </a:r>
            <a:r>
              <a:rPr sz="1300" b="1" spc="-145" dirty="0">
                <a:solidFill>
                  <a:srgbClr val="3A3535"/>
                </a:solidFill>
                <a:latin typeface="Verdana"/>
                <a:cs typeface="Verdana"/>
              </a:rPr>
              <a:t> </a:t>
            </a:r>
            <a:r>
              <a:rPr sz="1300" b="1" spc="-360" dirty="0">
                <a:solidFill>
                  <a:srgbClr val="3A3535"/>
                </a:solidFill>
                <a:latin typeface="Verdana"/>
                <a:cs typeface="Verdana"/>
              </a:rPr>
              <a:t>/</a:t>
            </a:r>
            <a:r>
              <a:rPr sz="1300" b="1" spc="-140" dirty="0">
                <a:solidFill>
                  <a:srgbClr val="3A3535"/>
                </a:solidFill>
                <a:latin typeface="Verdana"/>
                <a:cs typeface="Verdana"/>
              </a:rPr>
              <a:t> </a:t>
            </a:r>
            <a:r>
              <a:rPr sz="1300" b="1" spc="-45" dirty="0">
                <a:solidFill>
                  <a:srgbClr val="3A3535"/>
                </a:solidFill>
                <a:latin typeface="Verdana"/>
                <a:cs typeface="Verdana"/>
              </a:rPr>
              <a:t>formr</a:t>
            </a:r>
            <a:endParaRPr sz="1300">
              <a:latin typeface="Verdana"/>
              <a:cs typeface="Verdana"/>
            </a:endParaRPr>
          </a:p>
        </p:txBody>
      </p:sp>
      <p:sp>
        <p:nvSpPr>
          <p:cNvPr id="15" name="object 15"/>
          <p:cNvSpPr txBox="1"/>
          <p:nvPr/>
        </p:nvSpPr>
        <p:spPr>
          <a:xfrm>
            <a:off x="7308184" y="2294547"/>
            <a:ext cx="698500" cy="228600"/>
          </a:xfrm>
          <a:prstGeom prst="rect">
            <a:avLst/>
          </a:prstGeom>
        </p:spPr>
        <p:txBody>
          <a:bodyPr vert="horz" wrap="square" lIns="0" tIns="16510" rIns="0" bIns="0" rtlCol="0">
            <a:spAutoFit/>
          </a:bodyPr>
          <a:lstStyle/>
          <a:p>
            <a:pPr marL="12700">
              <a:lnSpc>
                <a:spcPct val="100000"/>
              </a:lnSpc>
              <a:spcBef>
                <a:spcPts val="130"/>
              </a:spcBef>
            </a:pPr>
            <a:r>
              <a:rPr sz="1300" b="1" spc="-10" dirty="0">
                <a:solidFill>
                  <a:srgbClr val="3A3535"/>
                </a:solidFill>
                <a:latin typeface="Verdana"/>
                <a:cs typeface="Verdana"/>
              </a:rPr>
              <a:t>Moodle</a:t>
            </a:r>
            <a:endParaRPr sz="1300">
              <a:latin typeface="Verdana"/>
              <a:cs typeface="Verdana"/>
            </a:endParaRPr>
          </a:p>
        </p:txBody>
      </p:sp>
      <p:sp>
        <p:nvSpPr>
          <p:cNvPr id="16" name="object 16"/>
          <p:cNvSpPr txBox="1"/>
          <p:nvPr/>
        </p:nvSpPr>
        <p:spPr>
          <a:xfrm>
            <a:off x="9148711" y="2294547"/>
            <a:ext cx="775335"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SelfHelp</a:t>
            </a:r>
            <a:endParaRPr sz="1300">
              <a:latin typeface="Verdana"/>
              <a:cs typeface="Verdana"/>
            </a:endParaRPr>
          </a:p>
        </p:txBody>
      </p:sp>
      <p:sp>
        <p:nvSpPr>
          <p:cNvPr id="17" name="object 17"/>
          <p:cNvSpPr txBox="1"/>
          <p:nvPr/>
        </p:nvSpPr>
        <p:spPr>
          <a:xfrm>
            <a:off x="758532" y="2789847"/>
            <a:ext cx="69278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Surveys</a:t>
            </a:r>
            <a:endParaRPr sz="1300">
              <a:latin typeface="Century Gothic"/>
              <a:cs typeface="Century Gothic"/>
            </a:endParaRPr>
          </a:p>
        </p:txBody>
      </p:sp>
      <p:sp>
        <p:nvSpPr>
          <p:cNvPr id="18" name="object 18"/>
          <p:cNvSpPr txBox="1"/>
          <p:nvPr/>
        </p:nvSpPr>
        <p:spPr>
          <a:xfrm>
            <a:off x="36265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19" name="object 19"/>
          <p:cNvSpPr txBox="1"/>
          <p:nvPr/>
        </p:nvSpPr>
        <p:spPr>
          <a:xfrm>
            <a:off x="54672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0" name="object 20"/>
          <p:cNvSpPr txBox="1"/>
          <p:nvPr/>
        </p:nvSpPr>
        <p:spPr>
          <a:xfrm>
            <a:off x="7308012" y="2789847"/>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1" name="object 21"/>
          <p:cNvSpPr txBox="1"/>
          <p:nvPr/>
        </p:nvSpPr>
        <p:spPr>
          <a:xfrm>
            <a:off x="9148711" y="277304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2" name="object 22"/>
          <p:cNvSpPr txBox="1"/>
          <p:nvPr/>
        </p:nvSpPr>
        <p:spPr>
          <a:xfrm>
            <a:off x="758532" y="3275622"/>
            <a:ext cx="1280160" cy="228600"/>
          </a:xfrm>
          <a:prstGeom prst="rect">
            <a:avLst/>
          </a:prstGeom>
        </p:spPr>
        <p:txBody>
          <a:bodyPr vert="horz" wrap="square" lIns="0" tIns="16510" rIns="0" bIns="0" rtlCol="0">
            <a:spAutoFit/>
          </a:bodyPr>
          <a:lstStyle/>
          <a:p>
            <a:pPr marL="12700">
              <a:lnSpc>
                <a:spcPct val="100000"/>
              </a:lnSpc>
              <a:spcBef>
                <a:spcPts val="130"/>
              </a:spcBef>
            </a:pPr>
            <a:r>
              <a:rPr sz="1300" spc="50" dirty="0">
                <a:solidFill>
                  <a:srgbClr val="3A3535"/>
                </a:solidFill>
                <a:latin typeface="Century Gothic"/>
                <a:cs typeface="Century Gothic"/>
              </a:rPr>
              <a:t>Online</a:t>
            </a:r>
            <a:r>
              <a:rPr sz="1300" spc="-40" dirty="0">
                <a:solidFill>
                  <a:srgbClr val="3A3535"/>
                </a:solidFill>
                <a:latin typeface="Century Gothic"/>
                <a:cs typeface="Century Gothic"/>
              </a:rPr>
              <a:t> </a:t>
            </a:r>
            <a:r>
              <a:rPr sz="1300" spc="95" dirty="0">
                <a:solidFill>
                  <a:srgbClr val="3A3535"/>
                </a:solidFill>
                <a:latin typeface="Century Gothic"/>
                <a:cs typeface="Century Gothic"/>
              </a:rPr>
              <a:t>Studies</a:t>
            </a:r>
            <a:endParaRPr sz="1300">
              <a:latin typeface="Century Gothic"/>
              <a:cs typeface="Century Gothic"/>
            </a:endParaRPr>
          </a:p>
        </p:txBody>
      </p:sp>
      <p:sp>
        <p:nvSpPr>
          <p:cNvPr id="23" name="object 23"/>
          <p:cNvSpPr txBox="1"/>
          <p:nvPr/>
        </p:nvSpPr>
        <p:spPr>
          <a:xfrm>
            <a:off x="3626599" y="32756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4" name="object 24"/>
          <p:cNvSpPr txBox="1"/>
          <p:nvPr/>
        </p:nvSpPr>
        <p:spPr>
          <a:xfrm>
            <a:off x="5467299" y="32588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5" name="object 25"/>
          <p:cNvSpPr txBox="1"/>
          <p:nvPr/>
        </p:nvSpPr>
        <p:spPr>
          <a:xfrm>
            <a:off x="7308012" y="32756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6" name="object 26"/>
          <p:cNvSpPr txBox="1"/>
          <p:nvPr/>
        </p:nvSpPr>
        <p:spPr>
          <a:xfrm>
            <a:off x="9148711" y="3258824"/>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7" name="object 27"/>
          <p:cNvSpPr txBox="1"/>
          <p:nvPr/>
        </p:nvSpPr>
        <p:spPr>
          <a:xfrm>
            <a:off x="758532" y="3770922"/>
            <a:ext cx="92265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Workflows</a:t>
            </a:r>
            <a:endParaRPr sz="1300">
              <a:latin typeface="Century Gothic"/>
              <a:cs typeface="Century Gothic"/>
            </a:endParaRPr>
          </a:p>
        </p:txBody>
      </p:sp>
      <p:sp>
        <p:nvSpPr>
          <p:cNvPr id="28" name="object 28"/>
          <p:cNvSpPr txBox="1"/>
          <p:nvPr/>
        </p:nvSpPr>
        <p:spPr>
          <a:xfrm>
            <a:off x="36265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9" name="object 29"/>
          <p:cNvSpPr txBox="1"/>
          <p:nvPr/>
        </p:nvSpPr>
        <p:spPr>
          <a:xfrm>
            <a:off x="54672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0" name="object 30"/>
          <p:cNvSpPr txBox="1"/>
          <p:nvPr/>
        </p:nvSpPr>
        <p:spPr>
          <a:xfrm>
            <a:off x="7307998" y="37709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1" name="object 31"/>
          <p:cNvSpPr txBox="1"/>
          <p:nvPr/>
        </p:nvSpPr>
        <p:spPr>
          <a:xfrm>
            <a:off x="9148698" y="37541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2" name="object 32"/>
          <p:cNvSpPr txBox="1"/>
          <p:nvPr/>
        </p:nvSpPr>
        <p:spPr>
          <a:xfrm>
            <a:off x="758520" y="4266222"/>
            <a:ext cx="154876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Mobile</a:t>
            </a:r>
            <a:r>
              <a:rPr sz="1300" spc="190" dirty="0">
                <a:solidFill>
                  <a:srgbClr val="3A3535"/>
                </a:solidFill>
                <a:latin typeface="Century Gothic"/>
                <a:cs typeface="Century Gothic"/>
              </a:rPr>
              <a:t> </a:t>
            </a:r>
            <a:r>
              <a:rPr sz="1300" spc="60" dirty="0">
                <a:solidFill>
                  <a:srgbClr val="3A3535"/>
                </a:solidFill>
                <a:latin typeface="Century Gothic"/>
                <a:cs typeface="Century Gothic"/>
              </a:rPr>
              <a:t>Continuity</a:t>
            </a:r>
            <a:endParaRPr sz="1300">
              <a:latin typeface="Century Gothic"/>
              <a:cs typeface="Century Gothic"/>
            </a:endParaRPr>
          </a:p>
        </p:txBody>
      </p:sp>
      <p:sp>
        <p:nvSpPr>
          <p:cNvPr id="33" name="object 33"/>
          <p:cNvSpPr txBox="1"/>
          <p:nvPr/>
        </p:nvSpPr>
        <p:spPr>
          <a:xfrm>
            <a:off x="36265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4" name="object 34"/>
          <p:cNvSpPr txBox="1"/>
          <p:nvPr/>
        </p:nvSpPr>
        <p:spPr>
          <a:xfrm>
            <a:off x="54672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5" name="object 35"/>
          <p:cNvSpPr txBox="1"/>
          <p:nvPr/>
        </p:nvSpPr>
        <p:spPr>
          <a:xfrm>
            <a:off x="7307998" y="42662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6" name="object 36"/>
          <p:cNvSpPr txBox="1"/>
          <p:nvPr/>
        </p:nvSpPr>
        <p:spPr>
          <a:xfrm>
            <a:off x="9148698" y="42494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7" name="object 37"/>
          <p:cNvSpPr txBox="1"/>
          <p:nvPr/>
        </p:nvSpPr>
        <p:spPr>
          <a:xfrm>
            <a:off x="758520" y="4751997"/>
            <a:ext cx="1197610" cy="228600"/>
          </a:xfrm>
          <a:prstGeom prst="rect">
            <a:avLst/>
          </a:prstGeom>
        </p:spPr>
        <p:txBody>
          <a:bodyPr vert="horz" wrap="square" lIns="0" tIns="16510" rIns="0" bIns="0" rtlCol="0">
            <a:spAutoFit/>
          </a:bodyPr>
          <a:lstStyle/>
          <a:p>
            <a:pPr marL="12700">
              <a:lnSpc>
                <a:spcPct val="100000"/>
              </a:lnSpc>
              <a:spcBef>
                <a:spcPts val="130"/>
              </a:spcBef>
            </a:pPr>
            <a:r>
              <a:rPr sz="1300" spc="65" dirty="0">
                <a:solidFill>
                  <a:srgbClr val="3A3535"/>
                </a:solidFill>
                <a:latin typeface="Century Gothic"/>
                <a:cs typeface="Century Gothic"/>
              </a:rPr>
              <a:t>AI</a:t>
            </a:r>
            <a:r>
              <a:rPr sz="1300" spc="-50" dirty="0">
                <a:solidFill>
                  <a:srgbClr val="3A3535"/>
                </a:solidFill>
                <a:latin typeface="Century Gothic"/>
                <a:cs typeface="Century Gothic"/>
              </a:rPr>
              <a:t> </a:t>
            </a:r>
            <a:r>
              <a:rPr sz="1300" spc="45" dirty="0">
                <a:solidFill>
                  <a:srgbClr val="3A3535"/>
                </a:solidFill>
                <a:latin typeface="Century Gothic"/>
                <a:cs typeface="Century Gothic"/>
              </a:rPr>
              <a:t>Integration</a:t>
            </a:r>
            <a:endParaRPr sz="1300">
              <a:latin typeface="Century Gothic"/>
              <a:cs typeface="Century Gothic"/>
            </a:endParaRPr>
          </a:p>
        </p:txBody>
      </p:sp>
      <p:sp>
        <p:nvSpPr>
          <p:cNvPr id="38" name="object 38"/>
          <p:cNvSpPr txBox="1"/>
          <p:nvPr/>
        </p:nvSpPr>
        <p:spPr>
          <a:xfrm>
            <a:off x="36265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9" name="object 39"/>
          <p:cNvSpPr txBox="1"/>
          <p:nvPr/>
        </p:nvSpPr>
        <p:spPr>
          <a:xfrm>
            <a:off x="54672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0" name="object 40"/>
          <p:cNvSpPr txBox="1"/>
          <p:nvPr/>
        </p:nvSpPr>
        <p:spPr>
          <a:xfrm>
            <a:off x="7307998"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1" name="object 41"/>
          <p:cNvSpPr txBox="1"/>
          <p:nvPr/>
        </p:nvSpPr>
        <p:spPr>
          <a:xfrm>
            <a:off x="9148698" y="473519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42" name="object 42"/>
          <p:cNvSpPr txBox="1"/>
          <p:nvPr/>
        </p:nvSpPr>
        <p:spPr>
          <a:xfrm>
            <a:off x="758520" y="5247297"/>
            <a:ext cx="116713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55" dirty="0">
                <a:solidFill>
                  <a:srgbClr val="3A3535"/>
                </a:solidFill>
                <a:latin typeface="Century Gothic"/>
                <a:cs typeface="Century Gothic"/>
              </a:rPr>
              <a:t>Control</a:t>
            </a:r>
            <a:endParaRPr sz="1300">
              <a:latin typeface="Century Gothic"/>
              <a:cs typeface="Century Gothic"/>
            </a:endParaRPr>
          </a:p>
        </p:txBody>
      </p:sp>
      <p:sp>
        <p:nvSpPr>
          <p:cNvPr id="43" name="object 43"/>
          <p:cNvSpPr txBox="1"/>
          <p:nvPr/>
        </p:nvSpPr>
        <p:spPr>
          <a:xfrm>
            <a:off x="36265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4" name="object 44"/>
          <p:cNvSpPr txBox="1"/>
          <p:nvPr/>
        </p:nvSpPr>
        <p:spPr>
          <a:xfrm>
            <a:off x="54672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5" name="object 45"/>
          <p:cNvSpPr txBox="1"/>
          <p:nvPr/>
        </p:nvSpPr>
        <p:spPr>
          <a:xfrm>
            <a:off x="7308012"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6" name="object 46"/>
          <p:cNvSpPr txBox="1"/>
          <p:nvPr/>
        </p:nvSpPr>
        <p:spPr>
          <a:xfrm>
            <a:off x="9148711"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4058285" cy="560070"/>
          </a:xfrm>
          <a:prstGeom prst="rect">
            <a:avLst/>
          </a:prstGeom>
        </p:spPr>
        <p:txBody>
          <a:bodyPr vert="horz" wrap="square" lIns="0" tIns="13335" rIns="0" bIns="0" rtlCol="0">
            <a:spAutoFit/>
          </a:bodyPr>
          <a:lstStyle/>
          <a:p>
            <a:pPr marL="12700">
              <a:lnSpc>
                <a:spcPct val="100000"/>
              </a:lnSpc>
              <a:spcBef>
                <a:spcPts val="105"/>
              </a:spcBef>
            </a:pPr>
            <a:r>
              <a:rPr spc="-265" dirty="0"/>
              <a:t>Why</a:t>
            </a:r>
            <a:r>
              <a:rPr spc="-430" dirty="0"/>
              <a:t> </a:t>
            </a:r>
            <a:r>
              <a:rPr spc="-150" dirty="0"/>
              <a:t>Use</a:t>
            </a:r>
            <a:r>
              <a:rPr spc="-425" dirty="0"/>
              <a:t> </a:t>
            </a:r>
            <a:r>
              <a:rPr spc="-110" dirty="0"/>
              <a:t>SelfHelp</a:t>
            </a:r>
          </a:p>
        </p:txBody>
      </p:sp>
      <p:pic>
        <p:nvPicPr>
          <p:cNvPr id="3" name="object 3"/>
          <p:cNvPicPr/>
          <p:nvPr/>
        </p:nvPicPr>
        <p:blipFill>
          <a:blip r:embed="rId3" cstate="print"/>
          <a:stretch>
            <a:fillRect/>
          </a:stretch>
        </p:blipFill>
        <p:spPr>
          <a:xfrm>
            <a:off x="586802" y="2684296"/>
            <a:ext cx="176712" cy="153672"/>
          </a:xfrm>
          <a:prstGeom prst="rect">
            <a:avLst/>
          </a:prstGeom>
        </p:spPr>
      </p:pic>
      <p:sp>
        <p:nvSpPr>
          <p:cNvPr id="4" name="object 4"/>
          <p:cNvSpPr/>
          <p:nvPr/>
        </p:nvSpPr>
        <p:spPr>
          <a:xfrm>
            <a:off x="590550"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5" name="object 5"/>
          <p:cNvSpPr txBox="1"/>
          <p:nvPr/>
        </p:nvSpPr>
        <p:spPr>
          <a:xfrm>
            <a:off x="579640" y="3056547"/>
            <a:ext cx="374777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One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10" dirty="0">
                <a:solidFill>
                  <a:srgbClr val="3A3535"/>
                </a:solidFill>
                <a:latin typeface="Century Gothic"/>
                <a:cs typeface="Century Gothic"/>
              </a:rPr>
              <a:t> </a:t>
            </a:r>
            <a:r>
              <a:rPr sz="1300" dirty="0">
                <a:solidFill>
                  <a:srgbClr val="3A3535"/>
                </a:solidFill>
                <a:latin typeface="Century Gothic"/>
                <a:cs typeface="Century Gothic"/>
              </a:rPr>
              <a:t>complete</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digital</a:t>
            </a:r>
            <a:r>
              <a:rPr sz="1300" spc="10" dirty="0">
                <a:solidFill>
                  <a:srgbClr val="3A3535"/>
                </a:solidFill>
                <a:latin typeface="Century Gothic"/>
                <a:cs typeface="Century Gothic"/>
              </a:rPr>
              <a:t> </a:t>
            </a:r>
            <a:r>
              <a:rPr sz="1300" spc="45" dirty="0">
                <a:solidFill>
                  <a:srgbClr val="3A3535"/>
                </a:solidFill>
                <a:latin typeface="Century Gothic"/>
                <a:cs typeface="Century Gothic"/>
              </a:rPr>
              <a:t>programs</a:t>
            </a:r>
            <a:endParaRPr sz="1300">
              <a:latin typeface="Century Gothic"/>
              <a:cs typeface="Century Gothic"/>
            </a:endParaRPr>
          </a:p>
        </p:txBody>
      </p:sp>
      <p:pic>
        <p:nvPicPr>
          <p:cNvPr id="6" name="object 6"/>
          <p:cNvPicPr/>
          <p:nvPr/>
        </p:nvPicPr>
        <p:blipFill>
          <a:blip r:embed="rId4" cstate="print"/>
          <a:stretch>
            <a:fillRect/>
          </a:stretch>
        </p:blipFill>
        <p:spPr>
          <a:xfrm>
            <a:off x="5797081" y="2672767"/>
            <a:ext cx="176450" cy="176729"/>
          </a:xfrm>
          <a:prstGeom prst="rect">
            <a:avLst/>
          </a:prstGeom>
        </p:spPr>
      </p:pic>
      <p:sp>
        <p:nvSpPr>
          <p:cNvPr id="7" name="object 7"/>
          <p:cNvSpPr/>
          <p:nvPr/>
        </p:nvSpPr>
        <p:spPr>
          <a:xfrm>
            <a:off x="5800725"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8" name="object 8"/>
          <p:cNvSpPr txBox="1"/>
          <p:nvPr/>
        </p:nvSpPr>
        <p:spPr>
          <a:xfrm>
            <a:off x="5786831" y="3056547"/>
            <a:ext cx="436181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60" dirty="0">
                <a:solidFill>
                  <a:srgbClr val="3A3535"/>
                </a:solidFill>
                <a:latin typeface="Century Gothic"/>
                <a:cs typeface="Century Gothic"/>
              </a:rPr>
              <a:t>control</a:t>
            </a:r>
            <a:r>
              <a:rPr sz="1300" spc="-25" dirty="0">
                <a:solidFill>
                  <a:srgbClr val="3A3535"/>
                </a:solidFill>
                <a:latin typeface="Century Gothic"/>
                <a:cs typeface="Century Gothic"/>
              </a:rPr>
              <a:t> </a:t>
            </a:r>
            <a:r>
              <a:rPr sz="1300" spc="90" dirty="0">
                <a:solidFill>
                  <a:srgbClr val="3A3535"/>
                </a:solidFill>
                <a:latin typeface="Century Gothic"/>
                <a:cs typeface="Century Gothic"/>
              </a:rPr>
              <a:t>plus</a:t>
            </a:r>
            <a:r>
              <a:rPr sz="1300" spc="-25" dirty="0">
                <a:solidFill>
                  <a:srgbClr val="3A3535"/>
                </a:solidFill>
                <a:latin typeface="Century Gothic"/>
                <a:cs typeface="Century Gothic"/>
              </a:rPr>
              <a:t> </a:t>
            </a:r>
            <a:r>
              <a:rPr sz="1300" spc="80" dirty="0">
                <a:solidFill>
                  <a:srgbClr val="3A3535"/>
                </a:solidFill>
                <a:latin typeface="Century Gothic"/>
                <a:cs typeface="Century Gothic"/>
              </a:rPr>
              <a:t>flexibility</a:t>
            </a:r>
            <a:r>
              <a:rPr sz="1300" spc="-2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25" dirty="0">
                <a:solidFill>
                  <a:srgbClr val="3A3535"/>
                </a:solidFill>
                <a:latin typeface="Century Gothic"/>
                <a:cs typeface="Century Gothic"/>
              </a:rPr>
              <a:t> </a:t>
            </a:r>
            <a:r>
              <a:rPr sz="1300" spc="60" dirty="0">
                <a:solidFill>
                  <a:srgbClr val="3A3535"/>
                </a:solidFill>
                <a:latin typeface="Century Gothic"/>
                <a:cs typeface="Century Gothic"/>
              </a:rPr>
              <a:t>future</a:t>
            </a:r>
            <a:r>
              <a:rPr sz="1300" spc="-25" dirty="0">
                <a:solidFill>
                  <a:srgbClr val="3A3535"/>
                </a:solidFill>
                <a:latin typeface="Century Gothic"/>
                <a:cs typeface="Century Gothic"/>
              </a:rPr>
              <a:t> </a:t>
            </a:r>
            <a:r>
              <a:rPr sz="1300" spc="-10" dirty="0">
                <a:solidFill>
                  <a:srgbClr val="3A3535"/>
                </a:solidFill>
                <a:latin typeface="Century Gothic"/>
                <a:cs typeface="Century Gothic"/>
              </a:rPr>
              <a:t>development</a:t>
            </a:r>
            <a:endParaRPr sz="1300">
              <a:latin typeface="Century Gothic"/>
              <a:cs typeface="Century Gothic"/>
            </a:endParaRPr>
          </a:p>
        </p:txBody>
      </p:sp>
      <p:pic>
        <p:nvPicPr>
          <p:cNvPr id="9" name="object 9"/>
          <p:cNvPicPr/>
          <p:nvPr/>
        </p:nvPicPr>
        <p:blipFill>
          <a:blip r:embed="rId5" cstate="print"/>
          <a:stretch>
            <a:fillRect/>
          </a:stretch>
        </p:blipFill>
        <p:spPr>
          <a:xfrm>
            <a:off x="590188" y="3634800"/>
            <a:ext cx="169835" cy="176714"/>
          </a:xfrm>
          <a:prstGeom prst="rect">
            <a:avLst/>
          </a:prstGeom>
        </p:spPr>
      </p:pic>
      <p:sp>
        <p:nvSpPr>
          <p:cNvPr id="10" name="object 10"/>
          <p:cNvSpPr/>
          <p:nvPr/>
        </p:nvSpPr>
        <p:spPr>
          <a:xfrm>
            <a:off x="590550"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1" name="object 11"/>
          <p:cNvSpPr txBox="1"/>
          <p:nvPr/>
        </p:nvSpPr>
        <p:spPr>
          <a:xfrm>
            <a:off x="579635" y="3954975"/>
            <a:ext cx="5000625" cy="558800"/>
          </a:xfrm>
          <a:prstGeom prst="rect">
            <a:avLst/>
          </a:prstGeom>
        </p:spPr>
        <p:txBody>
          <a:bodyPr vert="horz" wrap="square" lIns="0" tIns="11430" rIns="0" bIns="0" rtlCol="0">
            <a:spAutoFit/>
          </a:bodyPr>
          <a:lstStyle/>
          <a:p>
            <a:pPr marL="12700" marR="5080">
              <a:lnSpc>
                <a:spcPct val="134600"/>
              </a:lnSpc>
              <a:spcBef>
                <a:spcPts val="90"/>
              </a:spcBef>
            </a:pPr>
            <a:r>
              <a:rPr sz="1300" dirty="0">
                <a:solidFill>
                  <a:srgbClr val="3A3535"/>
                </a:solidFill>
                <a:latin typeface="Century Gothic"/>
                <a:cs typeface="Century Gothic"/>
              </a:rPr>
              <a:t>One</a:t>
            </a:r>
            <a:r>
              <a:rPr sz="1300" spc="35" dirty="0">
                <a:solidFill>
                  <a:srgbClr val="3A3535"/>
                </a:solidFill>
                <a:latin typeface="Century Gothic"/>
                <a:cs typeface="Century Gothic"/>
              </a:rPr>
              <a:t> </a:t>
            </a:r>
            <a:r>
              <a:rPr sz="1300" spc="80" dirty="0">
                <a:solidFill>
                  <a:srgbClr val="3A3535"/>
                </a:solidFill>
                <a:latin typeface="Century Gothic"/>
                <a:cs typeface="Century Gothic"/>
              </a:rPr>
              <a:t>structure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across</a:t>
            </a:r>
            <a:r>
              <a:rPr sz="1300" spc="3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35"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spc="-25" dirty="0">
                <a:solidFill>
                  <a:srgbClr val="3A3535"/>
                </a:solidFill>
                <a:latin typeface="Century Gothic"/>
                <a:cs typeface="Century Gothic"/>
              </a:rPr>
              <a:t>and </a:t>
            </a:r>
            <a:r>
              <a:rPr sz="1300" spc="40" dirty="0">
                <a:solidFill>
                  <a:srgbClr val="3A3535"/>
                </a:solidFill>
                <a:latin typeface="Century Gothic"/>
                <a:cs typeface="Century Gothic"/>
              </a:rPr>
              <a:t>AI</a:t>
            </a:r>
            <a:endParaRPr sz="1300">
              <a:latin typeface="Century Gothic"/>
              <a:cs typeface="Century Gothic"/>
            </a:endParaRPr>
          </a:p>
        </p:txBody>
      </p:sp>
      <p:grpSp>
        <p:nvGrpSpPr>
          <p:cNvPr id="12" name="object 12"/>
          <p:cNvGrpSpPr/>
          <p:nvPr/>
        </p:nvGrpSpPr>
        <p:grpSpPr>
          <a:xfrm>
            <a:off x="5822924" y="3634802"/>
            <a:ext cx="125095" cy="173355"/>
            <a:chOff x="5822924" y="3634802"/>
            <a:chExt cx="125095" cy="173355"/>
          </a:xfrm>
        </p:grpSpPr>
        <p:sp>
          <p:nvSpPr>
            <p:cNvPr id="13" name="object 13"/>
            <p:cNvSpPr/>
            <p:nvPr/>
          </p:nvSpPr>
          <p:spPr>
            <a:xfrm>
              <a:off x="5849556" y="3680256"/>
              <a:ext cx="36830" cy="36830"/>
            </a:xfrm>
            <a:custGeom>
              <a:avLst/>
              <a:gdLst/>
              <a:ahLst/>
              <a:cxnLst/>
              <a:rect l="l" t="t" r="r" b="b"/>
              <a:pathLst>
                <a:path w="36829" h="36829">
                  <a:moveTo>
                    <a:pt x="0" y="36258"/>
                  </a:moveTo>
                  <a:lnTo>
                    <a:pt x="36309" y="0"/>
                  </a:lnTo>
                </a:path>
              </a:pathLst>
            </a:custGeom>
            <a:ln w="7494">
              <a:solidFill>
                <a:srgbClr val="3A3535"/>
              </a:solidFill>
            </a:ln>
          </p:spPr>
          <p:txBody>
            <a:bodyPr wrap="square" lIns="0" tIns="0" rIns="0" bIns="0" rtlCol="0"/>
            <a:lstStyle/>
            <a:p>
              <a:endParaRPr/>
            </a:p>
          </p:txBody>
        </p:sp>
        <p:sp>
          <p:nvSpPr>
            <p:cNvPr id="14" name="object 14"/>
            <p:cNvSpPr/>
            <p:nvPr/>
          </p:nvSpPr>
          <p:spPr>
            <a:xfrm>
              <a:off x="5885751" y="3680256"/>
              <a:ext cx="635" cy="127635"/>
            </a:xfrm>
            <a:custGeom>
              <a:avLst/>
              <a:gdLst/>
              <a:ahLst/>
              <a:cxnLst/>
              <a:rect l="l" t="t" r="r" b="b"/>
              <a:pathLst>
                <a:path w="635" h="127635">
                  <a:moveTo>
                    <a:pt x="0" y="127508"/>
                  </a:moveTo>
                  <a:lnTo>
                    <a:pt x="114" y="0"/>
                  </a:lnTo>
                </a:path>
              </a:pathLst>
            </a:custGeom>
            <a:ln w="7494">
              <a:solidFill>
                <a:srgbClr val="3A3535"/>
              </a:solidFill>
            </a:ln>
          </p:spPr>
          <p:txBody>
            <a:bodyPr wrap="square" lIns="0" tIns="0" rIns="0" bIns="0" rtlCol="0"/>
            <a:lstStyle/>
            <a:p>
              <a:endParaRPr/>
            </a:p>
          </p:txBody>
        </p:sp>
        <p:sp>
          <p:nvSpPr>
            <p:cNvPr id="15" name="object 15"/>
            <p:cNvSpPr/>
            <p:nvPr/>
          </p:nvSpPr>
          <p:spPr>
            <a:xfrm>
              <a:off x="5885865" y="3680256"/>
              <a:ext cx="36830" cy="37465"/>
            </a:xfrm>
            <a:custGeom>
              <a:avLst/>
              <a:gdLst/>
              <a:ahLst/>
              <a:cxnLst/>
              <a:rect l="l" t="t" r="r" b="b"/>
              <a:pathLst>
                <a:path w="36829" h="37464">
                  <a:moveTo>
                    <a:pt x="36525" y="36906"/>
                  </a:moveTo>
                  <a:lnTo>
                    <a:pt x="0" y="0"/>
                  </a:lnTo>
                </a:path>
              </a:pathLst>
            </a:custGeom>
            <a:ln w="7494">
              <a:solidFill>
                <a:srgbClr val="3A3535"/>
              </a:solidFill>
            </a:ln>
          </p:spPr>
          <p:txBody>
            <a:bodyPr wrap="square" lIns="0" tIns="0" rIns="0" bIns="0" rtlCol="0"/>
            <a:lstStyle/>
            <a:p>
              <a:endParaRPr/>
            </a:p>
          </p:txBody>
        </p:sp>
        <p:sp>
          <p:nvSpPr>
            <p:cNvPr id="16" name="object 16"/>
            <p:cNvSpPr/>
            <p:nvPr/>
          </p:nvSpPr>
          <p:spPr>
            <a:xfrm>
              <a:off x="5826671" y="3638549"/>
              <a:ext cx="59690" cy="59055"/>
            </a:xfrm>
            <a:custGeom>
              <a:avLst/>
              <a:gdLst/>
              <a:ahLst/>
              <a:cxnLst/>
              <a:rect l="l" t="t" r="r" b="b"/>
              <a:pathLst>
                <a:path w="59689" h="59054">
                  <a:moveTo>
                    <a:pt x="0" y="58889"/>
                  </a:moveTo>
                  <a:lnTo>
                    <a:pt x="59232" y="0"/>
                  </a:lnTo>
                </a:path>
              </a:pathLst>
            </a:custGeom>
            <a:ln w="7494">
              <a:solidFill>
                <a:srgbClr val="3A3535"/>
              </a:solidFill>
            </a:ln>
          </p:spPr>
          <p:txBody>
            <a:bodyPr wrap="square" lIns="0" tIns="0" rIns="0" bIns="0" rtlCol="0"/>
            <a:lstStyle/>
            <a:p>
              <a:endParaRPr/>
            </a:p>
          </p:txBody>
        </p:sp>
        <p:sp>
          <p:nvSpPr>
            <p:cNvPr id="17" name="object 17"/>
            <p:cNvSpPr/>
            <p:nvPr/>
          </p:nvSpPr>
          <p:spPr>
            <a:xfrm>
              <a:off x="5885903" y="3638549"/>
              <a:ext cx="58419" cy="58419"/>
            </a:xfrm>
            <a:custGeom>
              <a:avLst/>
              <a:gdLst/>
              <a:ahLst/>
              <a:cxnLst/>
              <a:rect l="l" t="t" r="r" b="b"/>
              <a:pathLst>
                <a:path w="58420" h="58420">
                  <a:moveTo>
                    <a:pt x="58089" y="57835"/>
                  </a:moveTo>
                  <a:lnTo>
                    <a:pt x="0" y="0"/>
                  </a:lnTo>
                </a:path>
              </a:pathLst>
            </a:custGeom>
            <a:ln w="7494">
              <a:solidFill>
                <a:srgbClr val="3A3535"/>
              </a:solidFill>
            </a:ln>
          </p:spPr>
          <p:txBody>
            <a:bodyPr wrap="square" lIns="0" tIns="0" rIns="0" bIns="0" rtlCol="0"/>
            <a:lstStyle/>
            <a:p>
              <a:endParaRPr/>
            </a:p>
          </p:txBody>
        </p:sp>
      </p:grpSp>
      <p:sp>
        <p:nvSpPr>
          <p:cNvPr id="18" name="object 18"/>
          <p:cNvSpPr/>
          <p:nvPr/>
        </p:nvSpPr>
        <p:spPr>
          <a:xfrm>
            <a:off x="5800725"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9" name="object 19"/>
          <p:cNvSpPr txBox="1"/>
          <p:nvPr/>
        </p:nvSpPr>
        <p:spPr>
          <a:xfrm>
            <a:off x="5786831" y="3954975"/>
            <a:ext cx="5061585" cy="558800"/>
          </a:xfrm>
          <a:prstGeom prst="rect">
            <a:avLst/>
          </a:prstGeom>
        </p:spPr>
        <p:txBody>
          <a:bodyPr vert="horz" wrap="square" lIns="0" tIns="11430" rIns="0" bIns="0" rtlCol="0">
            <a:spAutoFit/>
          </a:bodyPr>
          <a:lstStyle/>
          <a:p>
            <a:pPr marL="12700" marR="5080">
              <a:lnSpc>
                <a:spcPct val="134600"/>
              </a:lnSpc>
              <a:spcBef>
                <a:spcPts val="90"/>
              </a:spcBef>
            </a:pPr>
            <a:r>
              <a:rPr sz="1300" spc="80" dirty="0">
                <a:solidFill>
                  <a:srgbClr val="3A3535"/>
                </a:solidFill>
                <a:latin typeface="Century Gothic"/>
                <a:cs typeface="Century Gothic"/>
              </a:rPr>
              <a:t>SelfHelp</a:t>
            </a:r>
            <a:r>
              <a:rPr sz="1300" spc="-10" dirty="0">
                <a:solidFill>
                  <a:srgbClr val="3A3535"/>
                </a:solidFill>
                <a:latin typeface="Century Gothic"/>
                <a:cs typeface="Century Gothic"/>
              </a:rPr>
              <a:t> </a:t>
            </a:r>
            <a:r>
              <a:rPr sz="1300" spc="85" dirty="0">
                <a:solidFill>
                  <a:srgbClr val="3A3535"/>
                </a:solidFill>
                <a:latin typeface="Century Gothic"/>
                <a:cs typeface="Century Gothic"/>
              </a:rPr>
              <a:t>2</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10" dirty="0">
                <a:solidFill>
                  <a:srgbClr val="3A3535"/>
                </a:solidFill>
                <a:latin typeface="Century Gothic"/>
                <a:cs typeface="Century Gothic"/>
              </a:rPr>
              <a:t> make</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even</a:t>
            </a:r>
            <a:r>
              <a:rPr sz="1300" spc="-5" dirty="0">
                <a:solidFill>
                  <a:srgbClr val="3A3535"/>
                </a:solidFill>
                <a:latin typeface="Century Gothic"/>
                <a:cs typeface="Century Gothic"/>
              </a:rPr>
              <a:t> </a:t>
            </a:r>
            <a:r>
              <a:rPr sz="1300" dirty="0">
                <a:solidFill>
                  <a:srgbClr val="3A3535"/>
                </a:solidFill>
                <a:latin typeface="Century Gothic"/>
                <a:cs typeface="Century Gothic"/>
              </a:rPr>
              <a:t>more</a:t>
            </a:r>
            <a:r>
              <a:rPr sz="1300" spc="-5"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10"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extend</a:t>
            </a:r>
            <a:endParaRPr sz="1300">
              <a:latin typeface="Century Gothic"/>
              <a:cs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34598" y="1526296"/>
            <a:ext cx="2361565" cy="1149985"/>
          </a:xfrm>
          <a:prstGeom prst="rect">
            <a:avLst/>
          </a:prstGeom>
        </p:spPr>
        <p:txBody>
          <a:bodyPr vert="horz" wrap="square" lIns="0" tIns="181610" rIns="0" bIns="0" rtlCol="0">
            <a:spAutoFit/>
          </a:bodyPr>
          <a:lstStyle/>
          <a:p>
            <a:pPr algn="ctr">
              <a:lnSpc>
                <a:spcPct val="100000"/>
              </a:lnSpc>
              <a:spcBef>
                <a:spcPts val="1430"/>
              </a:spcBef>
            </a:pPr>
            <a:r>
              <a:rPr spc="-250" dirty="0"/>
              <a:t>Thank</a:t>
            </a:r>
            <a:r>
              <a:rPr spc="-395" dirty="0"/>
              <a:t> </a:t>
            </a:r>
            <a:r>
              <a:rPr spc="-280" dirty="0"/>
              <a:t>You</a:t>
            </a:r>
          </a:p>
          <a:p>
            <a:pPr algn="ctr">
              <a:lnSpc>
                <a:spcPct val="100000"/>
              </a:lnSpc>
              <a:spcBef>
                <a:spcPts val="800"/>
              </a:spcBef>
            </a:pPr>
            <a:r>
              <a:rPr sz="2100" spc="-10" dirty="0"/>
              <a:t>Questions?</a:t>
            </a:r>
            <a:endParaRPr sz="2100"/>
          </a:p>
        </p:txBody>
      </p:sp>
      <p:sp>
        <p:nvSpPr>
          <p:cNvPr id="3" name="object 3"/>
          <p:cNvSpPr txBox="1"/>
          <p:nvPr/>
        </p:nvSpPr>
        <p:spPr>
          <a:xfrm>
            <a:off x="4529683" y="4490618"/>
            <a:ext cx="2371725" cy="187960"/>
          </a:xfrm>
          <a:prstGeom prst="rect">
            <a:avLst/>
          </a:prstGeom>
        </p:spPr>
        <p:txBody>
          <a:bodyPr vert="horz" wrap="square" lIns="0" tIns="14604" rIns="0" bIns="0" rtlCol="0">
            <a:spAutoFit/>
          </a:bodyPr>
          <a:lstStyle/>
          <a:p>
            <a:pPr marL="12700">
              <a:lnSpc>
                <a:spcPct val="100000"/>
              </a:lnSpc>
              <a:spcBef>
                <a:spcPts val="114"/>
              </a:spcBef>
            </a:pPr>
            <a:r>
              <a:rPr sz="1050" dirty="0">
                <a:solidFill>
                  <a:srgbClr val="3A3535"/>
                </a:solidFill>
                <a:latin typeface="Century Gothic"/>
                <a:cs typeface="Century Gothic"/>
              </a:rPr>
              <a:t>Stefan</a:t>
            </a:r>
            <a:r>
              <a:rPr sz="1050" spc="80" dirty="0">
                <a:solidFill>
                  <a:srgbClr val="3A3535"/>
                </a:solidFill>
                <a:latin typeface="Century Gothic"/>
                <a:cs typeface="Century Gothic"/>
              </a:rPr>
              <a:t> </a:t>
            </a:r>
            <a:r>
              <a:rPr sz="1050" dirty="0">
                <a:solidFill>
                  <a:srgbClr val="3A3535"/>
                </a:solidFill>
                <a:latin typeface="Century Gothic"/>
                <a:cs typeface="Century Gothic"/>
              </a:rPr>
              <a:t>Kodzhabashev</a:t>
            </a:r>
            <a:r>
              <a:rPr sz="1050" spc="85" dirty="0">
                <a:solidFill>
                  <a:srgbClr val="3A3535"/>
                </a:solidFill>
                <a:latin typeface="Century Gothic"/>
                <a:cs typeface="Century Gothic"/>
              </a:rPr>
              <a:t> </a:t>
            </a:r>
            <a:r>
              <a:rPr sz="1050" spc="-85" dirty="0">
                <a:solidFill>
                  <a:srgbClr val="3A3535"/>
                </a:solidFill>
                <a:latin typeface="Century Gothic"/>
                <a:cs typeface="Century Gothic"/>
              </a:rPr>
              <a:t>·</a:t>
            </a:r>
            <a:r>
              <a:rPr sz="1050" spc="85" dirty="0">
                <a:solidFill>
                  <a:srgbClr val="3A3535"/>
                </a:solidFill>
                <a:latin typeface="Century Gothic"/>
                <a:cs typeface="Century Gothic"/>
              </a:rPr>
              <a:t> </a:t>
            </a:r>
            <a:r>
              <a:rPr sz="1050" spc="75" dirty="0">
                <a:solidFill>
                  <a:srgbClr val="3A3535"/>
                </a:solidFill>
                <a:latin typeface="Century Gothic"/>
                <a:cs typeface="Century Gothic"/>
              </a:rPr>
              <a:t>30.03.2026</a:t>
            </a:r>
            <a:endParaRPr sz="1050">
              <a:latin typeface="Century Gothic"/>
              <a:cs typeface="Century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551</TotalTime>
  <Words>2808</Words>
  <Application>Microsoft Office PowerPoint</Application>
  <PresentationFormat>Custom</PresentationFormat>
  <Paragraphs>326</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Century Gothic</vt:lpstr>
      <vt:lpstr>Segoe UI Symbol</vt:lpstr>
      <vt:lpstr>Verdana</vt:lpstr>
      <vt:lpstr>Office Theme</vt:lpstr>
      <vt:lpstr>SelfHelp</vt:lpstr>
      <vt:lpstr>What SelfHelp Is</vt:lpstr>
      <vt:lpstr>How SelfHelp Evolved</vt:lpstr>
      <vt:lpstr>What Teams Can Do With It</vt:lpstr>
      <vt:lpstr>How SelfHelp Expands</vt:lpstr>
      <vt:lpstr>Plugin 1: SurveyJS</vt:lpstr>
      <vt:lpstr>Plugin 2: LLM</vt:lpstr>
      <vt:lpstr>Plugin 3: LLM Therapy Chat</vt:lpstr>
      <vt:lpstr>Mobile App</vt:lpstr>
      <vt:lpstr>How SelfHelp Compares</vt:lpstr>
      <vt:lpstr>Why Use SelfHelp</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Kodzhabashev, Stefan Tiholov (HUMDEK)</cp:lastModifiedBy>
  <cp:revision>105</cp:revision>
  <dcterms:created xsi:type="dcterms:W3CDTF">2026-03-24T15:22:41Z</dcterms:created>
  <dcterms:modified xsi:type="dcterms:W3CDTF">2026-03-28T07:32:50Z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2026-03-24T00:00:00Z</vt:filetime>
  </property>
  <property fmtid="{D5CDD505-2E9C-101B-9397-08002B2CF9AE}" pid="3" name="Creator">
    <vt:lpwstr>pdf-lib (https://github.com/Hopding/pdf-lib)</vt:lpwstr>
  </property>
  <property fmtid="{D5CDD505-2E9C-101B-9397-08002B2CF9AE}" pid="4" name="LastSaved">
    <vt:filetime>2026-03-24T00:00:00Z</vt:filetime>
  </property>
  <property fmtid="{D5CDD505-2E9C-101B-9397-08002B2CF9AE}" pid="5" name="Producer">
    <vt:lpwstr>GPL Ghostscript 9.56.1</vt:lpwstr>
  </property>
</Properties>
</file>