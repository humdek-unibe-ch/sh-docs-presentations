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Lst>
  <p:sldSz cx="11430000" cy="6445250"/>
  <p:notesSz cx="11430000" cy="64452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3450" autoAdjust="0"/>
  </p:normalViewPr>
  <p:slideViewPr>
    <p:cSldViewPr>
      <p:cViewPr varScale="1">
        <p:scale>
          <a:sx n="62" d="100"/>
          <a:sy n="62" d="100"/>
        </p:scale>
        <p:origin x="2000" y="4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3444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Some of you may remember that we presented </a:t>
            </a:r>
            <a:r>
              <a:rPr dirty="0" err="1"/>
              <a:t>SelfHelp</a:t>
            </a:r>
            <a:r>
              <a:rPr dirty="0"/>
              <a:t> here in 2021. Today I want to build on that and show how much the platform has changed since then.</a:t>
            </a:r>
          </a:p>
          <a:p>
            <a:endParaRPr dirty="0"/>
          </a:p>
          <a:p>
            <a:r>
              <a:rPr dirty="0"/>
              <a:t>The main message is simple. </a:t>
            </a:r>
            <a:r>
              <a:rPr dirty="0" err="1"/>
              <a:t>SelfHelp</a:t>
            </a:r>
            <a:r>
              <a:rPr dirty="0"/>
              <a:t> is no longer just a website system. It has grown into a platform for complete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If I had to describe </a:t>
            </a:r>
            <a:r>
              <a:rPr lang="en-US" dirty="0" err="1"/>
              <a:t>SelfHelp</a:t>
            </a:r>
            <a:r>
              <a:rPr lang="en-US" dirty="0"/>
              <a:t> in one sentence, I’d say it’s a platform for running digital programs.</a:t>
            </a:r>
          </a:p>
          <a:p>
            <a:endParaRPr dirty="0"/>
          </a:p>
          <a:p>
            <a:r>
              <a:rPr lang="en-US" dirty="0"/>
              <a:t>What makes it really useful is that it brings everything together in one place. So instead of dealing with separate tools, your content, assessments, workflows, and even mobile delivery all live in the same system.</a:t>
            </a:r>
          </a:p>
          <a:p>
            <a:endParaRPr dirty="0"/>
          </a:p>
          <a:p>
            <a:r>
              <a:rPr lang="en-US" dirty="0"/>
              <a:t>That means it’s much easier to build projects, adjust them when things change, and manage them over time.</a:t>
            </a:r>
          </a:p>
          <a:p>
            <a:endParaRPr lang="en-US" dirty="0"/>
          </a:p>
          <a:p>
            <a:r>
              <a:rPr lang="en-US" dirty="0"/>
              <a:t>And because it can run under university control, it also works really well in environments where governance and data protection are important.</a:t>
            </a:r>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easiest way to understand how </a:t>
            </a:r>
            <a:r>
              <a:rPr lang="en-US" dirty="0" err="1"/>
              <a:t>SelfHelp</a:t>
            </a:r>
            <a:r>
              <a:rPr lang="en-US" dirty="0"/>
              <a:t> evolved is to look at what changed over time.</a:t>
            </a:r>
          </a:p>
          <a:p>
            <a:endParaRPr dirty="0"/>
          </a:p>
          <a:p>
            <a:r>
              <a:rPr lang="en-US" dirty="0"/>
              <a:t>In the beginning, around 2021, it was mainly used for self-help and research websites, so the focus was really on publishing content.</a:t>
            </a:r>
          </a:p>
          <a:p>
            <a:endParaRPr lang="en-US" dirty="0"/>
          </a:p>
          <a:p>
            <a:r>
              <a:rPr lang="en-US" dirty="0"/>
              <a:t>By 2023, it became more modular and more practical to run. Things like better page structures, scheduling, and mobile integration were added.</a:t>
            </a:r>
          </a:p>
          <a:p>
            <a:endParaRPr dirty="0"/>
          </a:p>
          <a:p>
            <a:r>
              <a:rPr lang="en-US" dirty="0"/>
              <a:t>Then from 2024 to 2026, a lot of the improvements happened behind the scenes. The data model got stronger, workflows became more structured, permissions clearer, and features like two-factor authentication were introduced.</a:t>
            </a:r>
          </a:p>
          <a:p>
            <a:endParaRPr dirty="0"/>
          </a:p>
          <a:p>
            <a:r>
              <a:rPr lang="en-US" dirty="0"/>
              <a:t>And once that foundation was in place, it made sense to bring in AI in a more meaningful way. </a:t>
            </a:r>
          </a:p>
          <a:p>
            <a:endParaRPr lang="en-US" dirty="0"/>
          </a:p>
          <a:p>
            <a:r>
              <a:rPr lang="en-US" dirty="0"/>
              <a:t>So overall, you can see the direction: </a:t>
            </a:r>
            <a:r>
              <a:rPr lang="en-US" dirty="0" err="1"/>
              <a:t>SelfHelp</a:t>
            </a:r>
            <a:r>
              <a:rPr lang="en-US" dirty="0"/>
              <a:t> started as a content platform, and is now evolving into a platform for structured digital programs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this means in practice is that a team can take an idea and turn it into a full user journey.</a:t>
            </a:r>
          </a:p>
          <a:p>
            <a:endParaRPr dirty="0"/>
          </a:p>
          <a:p>
            <a:r>
              <a:rPr lang="en-US" dirty="0"/>
              <a:t>With </a:t>
            </a:r>
            <a:r>
              <a:rPr lang="en-US" dirty="0" err="1"/>
              <a:t>SelfHelp</a:t>
            </a:r>
            <a:r>
              <a:rPr lang="en-US" dirty="0"/>
              <a:t>, you’re not just creating content—you can build an entire digital program. That includes onboarding, structured assessments, reminders, and follow-up, all in one place instead of across different tools.</a:t>
            </a:r>
          </a:p>
          <a:p>
            <a:endParaRPr dirty="0"/>
          </a:p>
          <a:p>
            <a:r>
              <a:rPr lang="en-US" dirty="0"/>
              <a:t>Users then move through the program step by step. And along the way, the system can adapt—based on their role, their group, their language, or what they’ve already done.</a:t>
            </a:r>
          </a:p>
          <a:p>
            <a:endParaRPr dirty="0"/>
          </a:p>
          <a:p>
            <a:r>
              <a:rPr lang="en-US" dirty="0"/>
              <a:t>So the real value isn’t just publishing content… it’s being able to run a process over time.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Another important part of the story is how </a:t>
            </a:r>
            <a:r>
              <a:rPr dirty="0" err="1"/>
              <a:t>SelfHelp</a:t>
            </a:r>
            <a:r>
              <a:rPr dirty="0"/>
              <a:t> grows.</a:t>
            </a:r>
          </a:p>
          <a:p>
            <a:endParaRPr dirty="0"/>
          </a:p>
          <a:p>
            <a:r>
              <a:rPr lang="en-US" dirty="0"/>
              <a:t>It expands through plugins. So instead of rebuilding the whole platform every time, you can just add new capabilities when you need them.</a:t>
            </a:r>
          </a:p>
          <a:p>
            <a:endParaRPr dirty="0"/>
          </a:p>
          <a:p>
            <a:r>
              <a:rPr lang="en-US" dirty="0"/>
              <a:t>Some of these plugins work more in the background. For example, external authentication helps with institutional access. Lab.js brings browser-based experiments into the same system. R integration allows more advanced analysis. And custom formulas let you calculate scores and derived values directly inside the platform.</a:t>
            </a:r>
          </a:p>
          <a:p>
            <a:endParaRPr dirty="0"/>
          </a:p>
          <a:p>
            <a:r>
              <a:rPr lang="en-US" dirty="0"/>
              <a:t>And then there are newer plugins that are much more visible to users. Those are the three I want to show you next.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SurveyJS</a:t>
            </a:r>
            <a:r>
              <a:rPr dirty="0"/>
              <a:t> is a good example of how </a:t>
            </a:r>
            <a:r>
              <a:rPr dirty="0" err="1"/>
              <a:t>SelfHelp</a:t>
            </a:r>
            <a:r>
              <a:rPr dirty="0"/>
              <a:t> has moved beyond simple forms.</a:t>
            </a:r>
          </a:p>
          <a:p>
            <a:endParaRPr dirty="0"/>
          </a:p>
          <a:p>
            <a:r>
              <a:rPr dirty="0"/>
              <a:t>The key point is not only that surveys can be created. The key point is that they can be managed properly inside the platform. They can be versioned, scheduled, edited later, and connected to dashboards.</a:t>
            </a:r>
          </a:p>
          <a:p>
            <a:endParaRPr dirty="0"/>
          </a:p>
          <a:p>
            <a:r>
              <a:rPr lang="en-US" dirty="0"/>
              <a:t>That makes a big difference for data quality, especially when you’re running repeated assessments over time. It also makes things more flexible, because responses aren’t limited to just text—you can include files or even voice recordings.</a:t>
            </a:r>
          </a:p>
          <a:p>
            <a:endParaRPr dirty="0"/>
          </a:p>
          <a:p>
            <a:r>
              <a:rPr lang="en-US" dirty="0"/>
              <a:t>So overall, </a:t>
            </a:r>
            <a:r>
              <a:rPr lang="en-US" dirty="0" err="1"/>
              <a:t>SurveyJS</a:t>
            </a:r>
            <a:r>
              <a:rPr lang="en-US" dirty="0"/>
              <a:t> turns </a:t>
            </a:r>
            <a:r>
              <a:rPr lang="en-US" dirty="0" err="1"/>
              <a:t>SelfHelp</a:t>
            </a:r>
            <a:r>
              <a:rPr lang="en-US" dirty="0"/>
              <a:t> into a much stronger environment for structured data collection over time.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LLM plugin is not just a chatbot. It’s better understood as a controlled, testable AI component.</a:t>
            </a:r>
          </a:p>
          <a:p>
            <a:endParaRPr lang="en-US" dirty="0"/>
          </a:p>
          <a:p>
            <a:r>
              <a:rPr lang="en-US" dirty="0"/>
              <a:t>What that means is you can place a purpose-built assistant directly inside a page, with a clear role and a clear context.</a:t>
            </a:r>
          </a:p>
          <a:p>
            <a:endParaRPr lang="en-US" dirty="0"/>
          </a:p>
          <a:p>
            <a:r>
              <a:rPr lang="en-US" dirty="0"/>
              <a:t>A big part of this is prompt management. Prompts can be versioned, tested, and improved before they’re actually used in a real setting.</a:t>
            </a:r>
          </a:p>
          <a:p>
            <a:endParaRPr lang="en-US" dirty="0"/>
          </a:p>
          <a:p>
            <a:r>
              <a:rPr lang="en-US" dirty="0"/>
              <a:t>It also supports different types of input—like text, files, images, or even speech.</a:t>
            </a:r>
          </a:p>
          <a:p>
            <a:endParaRPr lang="en-US" dirty="0"/>
          </a:p>
          <a:p>
            <a:r>
              <a:rPr lang="en-US" dirty="0"/>
              <a:t>And on the output side, it’s not limited to just chat. It can return structured data as well, which makes it much easier to integrate AI results back into the platform.</a:t>
            </a:r>
          </a:p>
          <a:p>
            <a:endParaRPr lang="en-US" dirty="0"/>
          </a:p>
          <a:p>
            <a:r>
              <a:rPr lang="en-US" dirty="0"/>
              <a:t>And importantly, everything can run on the university’s local LLM infrastructure—so the data stays within the university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therapy chat plugin is probably the most distinctive part of the platform.</a:t>
            </a:r>
          </a:p>
          <a:p>
            <a:endParaRPr lang="en-US" dirty="0"/>
          </a:p>
          <a:p>
            <a:r>
              <a:rPr lang="en-US" dirty="0"/>
              <a:t>The key idea here is supervised communication. A user can interact with AI, but therapists are still actively involved through their own dashboard.</a:t>
            </a:r>
          </a:p>
          <a:p>
            <a:endParaRPr lang="en-US" dirty="0"/>
          </a:p>
          <a:p>
            <a:r>
              <a:rPr lang="en-US" dirty="0"/>
              <a:t>They can review conversations, step in when needed, write notes, create drafts, and manage risk.</a:t>
            </a:r>
          </a:p>
          <a:p>
            <a:endParaRPr lang="en-US" dirty="0"/>
          </a:p>
          <a:p>
            <a:r>
              <a:rPr lang="en-US" dirty="0"/>
              <a:t>Another important point is that this setup can also run without AI. So you can use the same framework for both AI-assisted and fully human communication.</a:t>
            </a:r>
          </a:p>
          <a:p>
            <a:endParaRPr lang="en-US" dirty="0"/>
          </a:p>
          <a:p>
            <a:r>
              <a:rPr lang="en-US" dirty="0"/>
              <a:t>And that’s what makes it interesting—not just for service delivery, but also for research, because you can compare different communication approaches within the same system.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mobile app is important because digital programs don’t just live on a desktop.</a:t>
            </a:r>
          </a:p>
          <a:p>
            <a:endParaRPr lang="en-US" dirty="0"/>
          </a:p>
          <a:p>
            <a:r>
              <a:rPr lang="en-US" dirty="0"/>
              <a:t>With </a:t>
            </a:r>
            <a:r>
              <a:rPr lang="en-US" dirty="0" err="1"/>
              <a:t>SelfHelp</a:t>
            </a:r>
            <a:r>
              <a:rPr lang="en-US" dirty="0"/>
              <a:t>, the same program logic continues on mobile—so it becomes part of everyday use, not just something you access occasionally on a computer.</a:t>
            </a:r>
          </a:p>
          <a:p>
            <a:endParaRPr lang="en-US" dirty="0"/>
          </a:p>
          <a:p>
            <a:r>
              <a:rPr lang="en-US" dirty="0"/>
              <a:t>And a lot is already supported: surveys, AI chat, therapy chat, notifications, and even camera and microphone input.</a:t>
            </a:r>
          </a:p>
          <a:p>
            <a:endParaRPr lang="en-US" dirty="0"/>
          </a:p>
          <a:p>
            <a:r>
              <a:rPr lang="en-US" dirty="0"/>
              <a:t>What that means in practice is that people can interact with the program when it fits their day. They can respond, upload something, or continue a conversation—wherever they are.</a:t>
            </a:r>
          </a:p>
          <a:p>
            <a:endParaRPr lang="en-US" dirty="0"/>
          </a:p>
          <a:p>
            <a:r>
              <a:rPr lang="en-US" dirty="0"/>
              <a:t>So instead of being tied to one place, the program stays with the user across different situations.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It’s also helpful to look at how </a:t>
            </a:r>
            <a:r>
              <a:rPr lang="en-US" dirty="0" err="1"/>
              <a:t>SelfHelp</a:t>
            </a:r>
            <a:r>
              <a:rPr lang="en-US" dirty="0"/>
              <a:t> compares to other tools.</a:t>
            </a:r>
          </a:p>
          <a:p>
            <a:endParaRPr lang="en-US" dirty="0"/>
          </a:p>
          <a:p>
            <a:r>
              <a:rPr lang="en-US" dirty="0"/>
              <a:t>Tools like </a:t>
            </a:r>
            <a:r>
              <a:rPr lang="en-US" dirty="0" err="1"/>
              <a:t>LimeSurvey</a:t>
            </a:r>
            <a:r>
              <a:rPr lang="en-US" dirty="0"/>
              <a:t> are very strong when it comes to surveys. JATOS or </a:t>
            </a:r>
            <a:r>
              <a:rPr lang="en-US" dirty="0" err="1"/>
              <a:t>formr</a:t>
            </a:r>
            <a:r>
              <a:rPr lang="en-US" dirty="0"/>
              <a:t> are great for running online studies. And Moodle is strong for learning delivery.</a:t>
            </a:r>
          </a:p>
          <a:p>
            <a:endParaRPr lang="en-US" dirty="0"/>
          </a:p>
          <a:p>
            <a:r>
              <a:rPr lang="en-US" dirty="0"/>
              <a:t>But </a:t>
            </a:r>
            <a:r>
              <a:rPr lang="en-US" dirty="0" err="1"/>
              <a:t>SelfHelp</a:t>
            </a:r>
            <a:r>
              <a:rPr lang="en-US" dirty="0"/>
              <a:t> is strongest in a slightly different kind of use case.</a:t>
            </a:r>
          </a:p>
          <a:p>
            <a:endParaRPr lang="en-US" dirty="0"/>
          </a:p>
          <a:p>
            <a:r>
              <a:rPr lang="en-US" dirty="0"/>
              <a:t>It really becomes valuable when everything needs to work together—content, data collection, workflows, mobile use, permissions, and AI—all in one locally controlled system.</a:t>
            </a:r>
          </a:p>
          <a:p>
            <a:endParaRPr lang="en-US" dirty="0"/>
          </a:p>
          <a:p>
            <a:r>
              <a:rPr lang="en-US" dirty="0"/>
              <a:t>So the goal isn’t to replace every other tool.</a:t>
            </a:r>
          </a:p>
          <a:p>
            <a:endParaRPr lang="en-US" dirty="0"/>
          </a:p>
          <a:p>
            <a:r>
              <a:rPr lang="en-US" dirty="0"/>
              <a:t>The goal is to bring more of the full program into one place, and keep it connected.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 close, I would summarize it like this.</a:t>
            </a:r>
          </a:p>
          <a:p>
            <a:endParaRPr dirty="0"/>
          </a:p>
          <a:p>
            <a:r>
              <a:rPr dirty="0" err="1"/>
              <a:t>SelfHelp</a:t>
            </a:r>
            <a:r>
              <a:rPr dirty="0"/>
              <a:t> gives us one platform where content, assessments, workflows, mobile interaction, and AI can all be part of the same program. That is already useful today.</a:t>
            </a:r>
          </a:p>
          <a:p>
            <a:endParaRPr dirty="0"/>
          </a:p>
          <a:p>
            <a:r>
              <a:rPr dirty="0"/>
              <a:t>At the same time, </a:t>
            </a:r>
            <a:r>
              <a:rPr dirty="0" err="1"/>
              <a:t>SelfHelp</a:t>
            </a:r>
            <a:r>
              <a:rPr dirty="0"/>
              <a:t> 2 is already well underway. It is not just a redesign. The goal is to make the platform more structured, easier to extend, and faster to build with.</a:t>
            </a:r>
          </a:p>
          <a:p>
            <a:endParaRPr dirty="0"/>
          </a:p>
          <a:p>
            <a:r>
              <a:rPr lang="en-US" dirty="0"/>
              <a:t>One especially promising next step is AI-supported content creation. That could reduce the time spent building structures manually, and let teams focus more on study design and content quality.</a:t>
            </a:r>
          </a:p>
          <a:p>
            <a:endParaRPr dirty="0"/>
          </a:p>
          <a:p>
            <a:r>
              <a:rPr dirty="0"/>
              <a:t>And if you see value in this direction, especially in the local university AI infrastructure behind it, I would really encourage you to support ID with a short letter of support so that this local LLM service can become a permanent university service.</a:t>
            </a:r>
          </a:p>
          <a:p>
            <a:endParaRPr dirty="0"/>
          </a:p>
          <a:p>
            <a:r>
              <a:rPr dirty="0"/>
              <a:t>The main message I would leave you with is this: </a:t>
            </a:r>
            <a:r>
              <a:rPr dirty="0" err="1"/>
              <a:t>SelfHelp</a:t>
            </a:r>
            <a:r>
              <a:rPr dirty="0"/>
              <a:t> moves us from isolated digital tools to continuous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very much. I am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857250" y="1998027"/>
            <a:ext cx="9715500" cy="1353502"/>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subTitle" idx="4"/>
          </p:nvPr>
        </p:nvSpPr>
        <p:spPr>
          <a:xfrm>
            <a:off x="1714500" y="3609340"/>
            <a:ext cx="8001000" cy="1611312"/>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sz="half" idx="2"/>
          </p:nvPr>
        </p:nvSpPr>
        <p:spPr>
          <a:xfrm>
            <a:off x="571500" y="1482407"/>
            <a:ext cx="497205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871514" y="1886102"/>
            <a:ext cx="4398645" cy="3514090"/>
          </a:xfrm>
          <a:prstGeom prst="rect">
            <a:avLst/>
          </a:prstGeom>
        </p:spPr>
        <p:txBody>
          <a:bodyPr wrap="square" lIns="0" tIns="0" rIns="0" bIns="0">
            <a:spAutoFit/>
          </a:bodyPr>
          <a:lstStyle>
            <a:lvl1pPr>
              <a:defRPr sz="2000" b="1" i="0">
                <a:solidFill>
                  <a:srgbClr val="3A3535"/>
                </a:solidFill>
                <a:latin typeface="Verdana"/>
                <a:cs typeface="Verdan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79640" y="494411"/>
            <a:ext cx="6170295" cy="864869"/>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a:xfrm>
            <a:off x="571500" y="1482407"/>
            <a:ext cx="1028700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886200" y="5994082"/>
            <a:ext cx="3657600" cy="322262"/>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71500" y="5994082"/>
            <a:ext cx="2628900" cy="32226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6" name="Holder 6"/>
          <p:cNvSpPr>
            <a:spLocks noGrp="1"/>
          </p:cNvSpPr>
          <p:nvPr>
            <p:ph type="sldNum" sz="quarter" idx="7"/>
          </p:nvPr>
        </p:nvSpPr>
        <p:spPr>
          <a:xfrm>
            <a:off x="8229600" y="5994082"/>
            <a:ext cx="2628900" cy="32226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10248900" y="676274"/>
            <a:ext cx="685799" cy="685799"/>
          </a:xfrm>
          <a:prstGeom prst="rect">
            <a:avLst/>
          </a:prstGeom>
        </p:spPr>
      </p:pic>
      <p:sp>
        <p:nvSpPr>
          <p:cNvPr id="3" name="object 3" descr="$PPTXTitle"/>
          <p:cNvSpPr txBox="1">
            <a:spLocks noGrp="1"/>
          </p:cNvSpPr>
          <p:nvPr>
            <p:ph type="title"/>
          </p:nvPr>
        </p:nvSpPr>
        <p:spPr>
          <a:xfrm>
            <a:off x="492721" y="2407602"/>
            <a:ext cx="1709420" cy="481965"/>
          </a:xfrm>
          <a:prstGeom prst="rect">
            <a:avLst/>
          </a:prstGeom>
        </p:spPr>
        <p:txBody>
          <a:bodyPr vert="horz" wrap="square" lIns="0" tIns="11430" rIns="0" bIns="0" rtlCol="0">
            <a:spAutoFit/>
          </a:bodyPr>
          <a:lstStyle/>
          <a:p>
            <a:pPr marL="12700">
              <a:lnSpc>
                <a:spcPct val="100000"/>
              </a:lnSpc>
              <a:spcBef>
                <a:spcPts val="90"/>
              </a:spcBef>
            </a:pPr>
            <a:r>
              <a:rPr sz="3000" spc="-100" dirty="0"/>
              <a:t>SelfHelp</a:t>
            </a:r>
            <a:endParaRPr sz="3000" dirty="0"/>
          </a:p>
        </p:txBody>
      </p:sp>
      <p:sp>
        <p:nvSpPr>
          <p:cNvPr id="4" name="object 4"/>
          <p:cNvSpPr txBox="1"/>
          <p:nvPr/>
        </p:nvSpPr>
        <p:spPr>
          <a:xfrm>
            <a:off x="492721" y="3033776"/>
            <a:ext cx="4536479" cy="217367"/>
          </a:xfrm>
          <a:prstGeom prst="rect">
            <a:avLst/>
          </a:prstGeom>
        </p:spPr>
        <p:txBody>
          <a:bodyPr vert="horz" wrap="square" lIns="0" tIns="17145" rIns="0" bIns="0" rtlCol="0">
            <a:spAutoFit/>
          </a:bodyPr>
          <a:lstStyle/>
          <a:p>
            <a:pPr marL="12700">
              <a:lnSpc>
                <a:spcPct val="100000"/>
              </a:lnSpc>
              <a:spcBef>
                <a:spcPts val="135"/>
              </a:spcBef>
            </a:pPr>
            <a:r>
              <a:rPr sz="1300" spc="70" dirty="0">
                <a:solidFill>
                  <a:srgbClr val="3A3535"/>
                </a:solidFill>
                <a:latin typeface="Century Gothic"/>
                <a:cs typeface="Century Gothic"/>
              </a:rPr>
              <a:t>From</a:t>
            </a:r>
            <a:r>
              <a:rPr sz="1300" spc="20" dirty="0">
                <a:solidFill>
                  <a:srgbClr val="3A3535"/>
                </a:solidFill>
                <a:latin typeface="Century Gothic"/>
                <a:cs typeface="Century Gothic"/>
              </a:rPr>
              <a:t> </a:t>
            </a:r>
            <a:r>
              <a:rPr sz="1300" spc="50" dirty="0">
                <a:solidFill>
                  <a:srgbClr val="3A3535"/>
                </a:solidFill>
                <a:latin typeface="Century Gothic"/>
                <a:cs typeface="Century Gothic"/>
              </a:rPr>
              <a:t>website</a:t>
            </a:r>
            <a:r>
              <a:rPr sz="1300" spc="20" dirty="0">
                <a:solidFill>
                  <a:srgbClr val="3A3535"/>
                </a:solidFill>
                <a:latin typeface="Century Gothic"/>
                <a:cs typeface="Century Gothic"/>
              </a:rPr>
              <a:t> </a:t>
            </a:r>
            <a:r>
              <a:rPr sz="1300" spc="80" dirty="0">
                <a:solidFill>
                  <a:srgbClr val="3A3535"/>
                </a:solidFill>
                <a:latin typeface="Century Gothic"/>
                <a:cs typeface="Century Gothic"/>
              </a:rPr>
              <a:t>system</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to</a:t>
            </a:r>
            <a:r>
              <a:rPr sz="1300" spc="20" dirty="0">
                <a:solidFill>
                  <a:srgbClr val="3A3535"/>
                </a:solidFill>
                <a:latin typeface="Century Gothic"/>
                <a:cs typeface="Century Gothic"/>
              </a:rPr>
              <a:t> digital</a:t>
            </a:r>
            <a:r>
              <a:rPr sz="1300" spc="25" dirty="0">
                <a:solidFill>
                  <a:srgbClr val="3A3535"/>
                </a:solidFill>
                <a:latin typeface="Century Gothic"/>
                <a:cs typeface="Century Gothic"/>
              </a:rPr>
              <a:t> </a:t>
            </a:r>
            <a:r>
              <a:rPr sz="1300" spc="20" dirty="0">
                <a:solidFill>
                  <a:srgbClr val="3A3535"/>
                </a:solidFill>
                <a:latin typeface="Century Gothic"/>
                <a:cs typeface="Century Gothic"/>
              </a:rPr>
              <a:t>program </a:t>
            </a:r>
            <a:r>
              <a:rPr sz="1300" spc="-10" dirty="0">
                <a:solidFill>
                  <a:srgbClr val="3A3535"/>
                </a:solidFill>
                <a:latin typeface="Century Gothic"/>
                <a:cs typeface="Century Gothic"/>
              </a:rPr>
              <a:t>platform</a:t>
            </a:r>
            <a:endParaRPr sz="1300" dirty="0">
              <a:latin typeface="Century Gothic"/>
              <a:cs typeface="Century Gothic"/>
            </a:endParaRPr>
          </a:p>
        </p:txBody>
      </p:sp>
      <p:pic>
        <p:nvPicPr>
          <p:cNvPr id="5" name="object 5"/>
          <p:cNvPicPr/>
          <p:nvPr/>
        </p:nvPicPr>
        <p:blipFill>
          <a:blip r:embed="rId4" cstate="print"/>
          <a:stretch>
            <a:fillRect/>
          </a:stretch>
        </p:blipFill>
        <p:spPr>
          <a:xfrm>
            <a:off x="7191375" y="2133600"/>
            <a:ext cx="2666999" cy="2657474"/>
          </a:xfrm>
          <a:prstGeom prst="rect">
            <a:avLst/>
          </a:prstGeom>
        </p:spPr>
      </p:pic>
      <p:sp>
        <p:nvSpPr>
          <p:cNvPr id="6" name="object 6"/>
          <p:cNvSpPr txBox="1"/>
          <p:nvPr/>
        </p:nvSpPr>
        <p:spPr>
          <a:xfrm>
            <a:off x="2861443" y="5356225"/>
            <a:ext cx="5707113" cy="652743"/>
          </a:xfrm>
          <a:prstGeom prst="rect">
            <a:avLst/>
          </a:prstGeom>
        </p:spPr>
        <p:txBody>
          <a:bodyPr vert="horz" wrap="square" lIns="0" tIns="13970" rIns="0" bIns="0" rtlCol="0">
            <a:spAutoFit/>
          </a:bodyPr>
          <a:lstStyle/>
          <a:p>
            <a:pPr algn="ctr">
              <a:lnSpc>
                <a:spcPct val="100000"/>
              </a:lnSpc>
              <a:spcBef>
                <a:spcPts val="110"/>
              </a:spcBef>
            </a:pPr>
            <a:r>
              <a:rPr sz="1300" dirty="0">
                <a:solidFill>
                  <a:srgbClr val="3A3535"/>
                </a:solidFill>
                <a:latin typeface="Century Gothic"/>
                <a:cs typeface="Century Gothic"/>
              </a:rPr>
              <a:t>Stefan</a:t>
            </a:r>
            <a:r>
              <a:rPr sz="1300" spc="60" dirty="0">
                <a:solidFill>
                  <a:srgbClr val="3A3535"/>
                </a:solidFill>
                <a:latin typeface="Century Gothic"/>
                <a:cs typeface="Century Gothic"/>
              </a:rPr>
              <a:t> </a:t>
            </a:r>
            <a:r>
              <a:rPr sz="1300" dirty="0">
                <a:solidFill>
                  <a:srgbClr val="3A3535"/>
                </a:solidFill>
                <a:latin typeface="Century Gothic"/>
                <a:cs typeface="Century Gothic"/>
              </a:rPr>
              <a:t>Kodzhabashev</a:t>
            </a:r>
            <a:r>
              <a:rPr sz="1300" spc="60" dirty="0">
                <a:solidFill>
                  <a:srgbClr val="3A3535"/>
                </a:solidFill>
                <a:latin typeface="Century Gothic"/>
                <a:cs typeface="Century Gothic"/>
              </a:rPr>
              <a:t> </a:t>
            </a:r>
            <a:r>
              <a:rPr sz="1300" spc="-75" dirty="0">
                <a:solidFill>
                  <a:srgbClr val="3A3535"/>
                </a:solidFill>
                <a:latin typeface="Century Gothic"/>
                <a:cs typeface="Century Gothic"/>
              </a:rPr>
              <a:t>·</a:t>
            </a:r>
            <a:r>
              <a:rPr sz="1300" spc="60" dirty="0">
                <a:solidFill>
                  <a:srgbClr val="3A3535"/>
                </a:solidFill>
                <a:latin typeface="Century Gothic"/>
                <a:cs typeface="Century Gothic"/>
              </a:rPr>
              <a:t> </a:t>
            </a:r>
            <a:r>
              <a:rPr sz="1300" spc="65" dirty="0">
                <a:solidFill>
                  <a:srgbClr val="3A3535"/>
                </a:solidFill>
                <a:latin typeface="Century Gothic"/>
                <a:cs typeface="Century Gothic"/>
              </a:rPr>
              <a:t>30.03.2026</a:t>
            </a:r>
            <a:endParaRPr sz="1300" dirty="0">
              <a:latin typeface="Century Gothic"/>
              <a:cs typeface="Century Gothic"/>
            </a:endParaRPr>
          </a:p>
          <a:p>
            <a:pPr>
              <a:lnSpc>
                <a:spcPct val="100000"/>
              </a:lnSpc>
              <a:spcBef>
                <a:spcPts val="290"/>
              </a:spcBef>
            </a:pPr>
            <a:endParaRPr sz="1300" dirty="0">
              <a:latin typeface="Century Gothic"/>
              <a:cs typeface="Century Gothic"/>
            </a:endParaRPr>
          </a:p>
          <a:p>
            <a:pPr algn="ctr">
              <a:lnSpc>
                <a:spcPct val="100000"/>
              </a:lnSpc>
            </a:pPr>
            <a:r>
              <a:rPr sz="1300" dirty="0">
                <a:solidFill>
                  <a:srgbClr val="3A3535"/>
                </a:solidFill>
                <a:latin typeface="Century Gothic"/>
                <a:cs typeface="Century Gothic"/>
              </a:rPr>
              <a:t>Faculty</a:t>
            </a:r>
            <a:r>
              <a:rPr sz="1300" spc="15" dirty="0">
                <a:solidFill>
                  <a:srgbClr val="3A3535"/>
                </a:solidFill>
                <a:latin typeface="Century Gothic"/>
                <a:cs typeface="Century Gothic"/>
              </a:rPr>
              <a:t> </a:t>
            </a:r>
            <a:r>
              <a:rPr sz="1300" dirty="0">
                <a:solidFill>
                  <a:srgbClr val="3A3535"/>
                </a:solidFill>
                <a:latin typeface="Century Gothic"/>
                <a:cs typeface="Century Gothic"/>
              </a:rPr>
              <a:t>Meeting</a:t>
            </a:r>
            <a:r>
              <a:rPr sz="1300" spc="15" dirty="0">
                <a:solidFill>
                  <a:srgbClr val="3A3535"/>
                </a:solidFill>
                <a:latin typeface="Century Gothic"/>
                <a:cs typeface="Century Gothic"/>
              </a:rPr>
              <a:t> </a:t>
            </a:r>
            <a:r>
              <a:rPr sz="1300" spc="-7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March</a:t>
            </a:r>
            <a:r>
              <a:rPr sz="1300" spc="15" dirty="0">
                <a:solidFill>
                  <a:srgbClr val="3A3535"/>
                </a:solidFill>
                <a:latin typeface="Century Gothic"/>
                <a:cs typeface="Century Gothic"/>
              </a:rPr>
              <a:t> </a:t>
            </a:r>
            <a:r>
              <a:rPr sz="1300" spc="95" dirty="0">
                <a:solidFill>
                  <a:srgbClr val="3A3535"/>
                </a:solidFill>
                <a:latin typeface="Century Gothic"/>
                <a:cs typeface="Century Gothic"/>
              </a:rPr>
              <a:t>2026</a:t>
            </a:r>
            <a:r>
              <a:rPr sz="1300" spc="20" dirty="0">
                <a:solidFill>
                  <a:srgbClr val="3A3535"/>
                </a:solidFill>
                <a:latin typeface="Century Gothic"/>
                <a:cs typeface="Century Gothic"/>
              </a:rPr>
              <a:t> </a:t>
            </a:r>
            <a:r>
              <a:rPr sz="1300" spc="-75" dirty="0">
                <a:solidFill>
                  <a:srgbClr val="3A3535"/>
                </a:solidFill>
                <a:latin typeface="Century Gothic"/>
                <a:cs typeface="Century Gothic"/>
              </a:rPr>
              <a:t>·</a:t>
            </a:r>
            <a:r>
              <a:rPr sz="1300" spc="15" dirty="0">
                <a:solidFill>
                  <a:srgbClr val="3A3535"/>
                </a:solidFill>
                <a:latin typeface="Century Gothic"/>
                <a:cs typeface="Century Gothic"/>
              </a:rPr>
              <a:t> </a:t>
            </a:r>
            <a:r>
              <a:rPr sz="1300" spc="50" dirty="0">
                <a:solidFill>
                  <a:srgbClr val="3A3535"/>
                </a:solidFill>
                <a:latin typeface="Century Gothic"/>
                <a:cs typeface="Century Gothic"/>
              </a:rPr>
              <a:t>Building</a:t>
            </a:r>
            <a:r>
              <a:rPr sz="1300" spc="20" dirty="0">
                <a:solidFill>
                  <a:srgbClr val="3A3535"/>
                </a:solidFill>
                <a:latin typeface="Century Gothic"/>
                <a:cs typeface="Century Gothic"/>
              </a:rPr>
              <a:t> </a:t>
            </a:r>
            <a:r>
              <a:rPr sz="1300" dirty="0">
                <a:solidFill>
                  <a:srgbClr val="3A3535"/>
                </a:solidFill>
                <a:latin typeface="Century Gothic"/>
                <a:cs typeface="Century Gothic"/>
              </a:rPr>
              <a:t>on</a:t>
            </a:r>
            <a:r>
              <a:rPr sz="1300" spc="15" dirty="0">
                <a:solidFill>
                  <a:srgbClr val="3A3535"/>
                </a:solidFill>
                <a:latin typeface="Century Gothic"/>
                <a:cs typeface="Century Gothic"/>
              </a:rPr>
              <a:t> </a:t>
            </a:r>
            <a:r>
              <a:rPr sz="1300" dirty="0">
                <a:solidFill>
                  <a:srgbClr val="3A3535"/>
                </a:solidFill>
                <a:latin typeface="Century Gothic"/>
                <a:cs typeface="Century Gothic"/>
              </a:rPr>
              <a:t>our</a:t>
            </a:r>
            <a:r>
              <a:rPr sz="1300" spc="15" dirty="0">
                <a:solidFill>
                  <a:srgbClr val="3A3535"/>
                </a:solidFill>
                <a:latin typeface="Century Gothic"/>
                <a:cs typeface="Century Gothic"/>
              </a:rPr>
              <a:t> </a:t>
            </a:r>
            <a:r>
              <a:rPr sz="1300" dirty="0">
                <a:solidFill>
                  <a:srgbClr val="3A3535"/>
                </a:solidFill>
                <a:latin typeface="Century Gothic"/>
                <a:cs typeface="Century Gothic"/>
              </a:rPr>
              <a:t>2021</a:t>
            </a:r>
            <a:r>
              <a:rPr sz="1300" spc="20" dirty="0">
                <a:solidFill>
                  <a:srgbClr val="3A3535"/>
                </a:solidFill>
                <a:latin typeface="Century Gothic"/>
                <a:cs typeface="Century Gothic"/>
              </a:rPr>
              <a:t> </a:t>
            </a:r>
            <a:r>
              <a:rPr sz="1300" spc="-10" dirty="0">
                <a:solidFill>
                  <a:srgbClr val="3A3535"/>
                </a:solidFill>
                <a:latin typeface="Century Gothic"/>
                <a:cs typeface="Century Gothic"/>
              </a:rPr>
              <a:t>presentation</a:t>
            </a:r>
            <a:endParaRPr sz="1300" dirty="0">
              <a:latin typeface="Century Gothic"/>
              <a:cs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3785235" cy="560070"/>
          </a:xfrm>
          <a:prstGeom prst="rect">
            <a:avLst/>
          </a:prstGeom>
        </p:spPr>
        <p:txBody>
          <a:bodyPr vert="horz" wrap="square" lIns="0" tIns="13335" rIns="0" bIns="0" rtlCol="0">
            <a:spAutoFit/>
          </a:bodyPr>
          <a:lstStyle/>
          <a:p>
            <a:pPr marL="12700">
              <a:lnSpc>
                <a:spcPct val="100000"/>
              </a:lnSpc>
              <a:spcBef>
                <a:spcPts val="105"/>
              </a:spcBef>
            </a:pPr>
            <a:r>
              <a:rPr spc="-215" dirty="0"/>
              <a:t>What</a:t>
            </a:r>
            <a:r>
              <a:rPr spc="-400" dirty="0"/>
              <a:t> </a:t>
            </a:r>
            <a:r>
              <a:rPr spc="-130" dirty="0"/>
              <a:t>SelfHelp</a:t>
            </a:r>
            <a:r>
              <a:rPr spc="-395" dirty="0"/>
              <a:t> </a:t>
            </a:r>
            <a:r>
              <a:rPr spc="-505" dirty="0"/>
              <a:t>Is</a:t>
            </a:r>
          </a:p>
        </p:txBody>
      </p:sp>
      <p:sp>
        <p:nvSpPr>
          <p:cNvPr id="3" name="object 3"/>
          <p:cNvSpPr txBox="1"/>
          <p:nvPr/>
        </p:nvSpPr>
        <p:spPr>
          <a:xfrm>
            <a:off x="579635" y="2459550"/>
            <a:ext cx="9766300" cy="577850"/>
          </a:xfrm>
          <a:prstGeom prst="rect">
            <a:avLst/>
          </a:prstGeom>
        </p:spPr>
        <p:txBody>
          <a:bodyPr vert="horz" wrap="square" lIns="0" tIns="11430" rIns="0" bIns="0" rtlCol="0">
            <a:spAutoFit/>
          </a:bodyPr>
          <a:lstStyle/>
          <a:p>
            <a:pPr marL="12700" marR="5080">
              <a:lnSpc>
                <a:spcPct val="139400"/>
              </a:lnSpc>
              <a:spcBef>
                <a:spcPts val="90"/>
              </a:spcBef>
            </a:pPr>
            <a:r>
              <a:rPr sz="1300" dirty="0">
                <a:solidFill>
                  <a:srgbClr val="3A3535"/>
                </a:solidFill>
                <a:latin typeface="Century Gothic"/>
                <a:cs typeface="Century Gothic"/>
              </a:rPr>
              <a:t>A</a:t>
            </a:r>
            <a:r>
              <a:rPr sz="1300" spc="40" dirty="0">
                <a:solidFill>
                  <a:srgbClr val="3A3535"/>
                </a:solidFill>
                <a:latin typeface="Century Gothic"/>
                <a:cs typeface="Century Gothic"/>
              </a:rPr>
              <a:t> </a:t>
            </a:r>
            <a:r>
              <a:rPr sz="1300" dirty="0">
                <a:solidFill>
                  <a:srgbClr val="3A3535"/>
                </a:solidFill>
                <a:latin typeface="Century Gothic"/>
                <a:cs typeface="Century Gothic"/>
              </a:rPr>
              <a:t>modular</a:t>
            </a:r>
            <a:r>
              <a:rPr sz="1300" spc="40"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40" dirty="0">
                <a:solidFill>
                  <a:srgbClr val="3A3535"/>
                </a:solidFill>
                <a:latin typeface="Century Gothic"/>
                <a:cs typeface="Century Gothic"/>
              </a:rPr>
              <a:t> </a:t>
            </a:r>
            <a:r>
              <a:rPr sz="1300" dirty="0">
                <a:solidFill>
                  <a:srgbClr val="3A3535"/>
                </a:solidFill>
                <a:latin typeface="Century Gothic"/>
                <a:cs typeface="Century Gothic"/>
              </a:rPr>
              <a:t>that</a:t>
            </a:r>
            <a:r>
              <a:rPr sz="1300" spc="40" dirty="0">
                <a:solidFill>
                  <a:srgbClr val="3A3535"/>
                </a:solidFill>
                <a:latin typeface="Century Gothic"/>
                <a:cs typeface="Century Gothic"/>
              </a:rPr>
              <a:t> </a:t>
            </a:r>
            <a:r>
              <a:rPr sz="1300" spc="95" dirty="0">
                <a:solidFill>
                  <a:srgbClr val="3A3535"/>
                </a:solidFill>
                <a:latin typeface="Century Gothic"/>
                <a:cs typeface="Century Gothic"/>
              </a:rPr>
              <a:t>brings</a:t>
            </a:r>
            <a:r>
              <a:rPr sz="1300" spc="4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80" dirty="0">
                <a:solidFill>
                  <a:srgbClr val="3A3535"/>
                </a:solidFill>
                <a:latin typeface="Century Gothic"/>
                <a:cs typeface="Century Gothic"/>
              </a:rPr>
              <a:t>assessments,</a:t>
            </a:r>
            <a:r>
              <a:rPr sz="1300" spc="30"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5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dirty="0">
                <a:solidFill>
                  <a:srgbClr val="3A3535"/>
                </a:solidFill>
                <a:latin typeface="Century Gothic"/>
                <a:cs typeface="Century Gothic"/>
              </a:rPr>
              <a:t>delivery</a:t>
            </a:r>
            <a:r>
              <a:rPr sz="1300" spc="40" dirty="0">
                <a:solidFill>
                  <a:srgbClr val="3A3535"/>
                </a:solidFill>
                <a:latin typeface="Century Gothic"/>
                <a:cs typeface="Century Gothic"/>
              </a:rPr>
              <a:t> </a:t>
            </a:r>
            <a:r>
              <a:rPr sz="1300" spc="80" dirty="0">
                <a:solidFill>
                  <a:srgbClr val="3A3535"/>
                </a:solidFill>
                <a:latin typeface="Century Gothic"/>
                <a:cs typeface="Century Gothic"/>
              </a:rPr>
              <a:t>into</a:t>
            </a:r>
            <a:r>
              <a:rPr sz="1300" spc="45" dirty="0">
                <a:solidFill>
                  <a:srgbClr val="3A3535"/>
                </a:solidFill>
                <a:latin typeface="Century Gothic"/>
                <a:cs typeface="Century Gothic"/>
              </a:rPr>
              <a:t> </a:t>
            </a:r>
            <a:r>
              <a:rPr sz="1300" dirty="0">
                <a:solidFill>
                  <a:srgbClr val="3A3535"/>
                </a:solidFill>
                <a:latin typeface="Century Gothic"/>
                <a:cs typeface="Century Gothic"/>
              </a:rPr>
              <a:t>one</a:t>
            </a:r>
            <a:r>
              <a:rPr sz="1300" spc="40" dirty="0">
                <a:solidFill>
                  <a:srgbClr val="3A3535"/>
                </a:solidFill>
                <a:latin typeface="Century Gothic"/>
                <a:cs typeface="Century Gothic"/>
              </a:rPr>
              <a:t> </a:t>
            </a:r>
            <a:r>
              <a:rPr sz="1300" dirty="0">
                <a:solidFill>
                  <a:srgbClr val="3A3535"/>
                </a:solidFill>
                <a:latin typeface="Century Gothic"/>
                <a:cs typeface="Century Gothic"/>
              </a:rPr>
              <a:t>connected</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system</a:t>
            </a:r>
            <a:r>
              <a:rPr sz="1300" spc="40" dirty="0">
                <a:solidFill>
                  <a:srgbClr val="3A3535"/>
                </a:solidFill>
                <a:latin typeface="Century Gothic"/>
                <a:cs typeface="Century Gothic"/>
              </a:rPr>
              <a:t> </a:t>
            </a:r>
            <a:r>
              <a:rPr sz="1300" spc="-50" dirty="0">
                <a:solidFill>
                  <a:srgbClr val="3A3535"/>
                </a:solidFill>
                <a:latin typeface="Century Gothic"/>
                <a:cs typeface="Century Gothic"/>
              </a:rPr>
              <a:t>— </a:t>
            </a:r>
            <a:r>
              <a:rPr sz="1300" spc="10" dirty="0">
                <a:solidFill>
                  <a:srgbClr val="3A3535"/>
                </a:solidFill>
                <a:latin typeface="Century Gothic"/>
                <a:cs typeface="Century Gothic"/>
              </a:rPr>
              <a:t>hostable</a:t>
            </a:r>
            <a:r>
              <a:rPr sz="1300" spc="105" dirty="0">
                <a:solidFill>
                  <a:srgbClr val="3A3535"/>
                </a:solidFill>
                <a:latin typeface="Century Gothic"/>
                <a:cs typeface="Century Gothic"/>
              </a:rPr>
              <a:t> </a:t>
            </a:r>
            <a:r>
              <a:rPr sz="1300" spc="10" dirty="0">
                <a:solidFill>
                  <a:srgbClr val="3A3535"/>
                </a:solidFill>
                <a:latin typeface="Century Gothic"/>
                <a:cs typeface="Century Gothic"/>
              </a:rPr>
              <a:t>under</a:t>
            </a:r>
            <a:r>
              <a:rPr sz="1300" spc="105" dirty="0">
                <a:solidFill>
                  <a:srgbClr val="3A3535"/>
                </a:solidFill>
                <a:latin typeface="Century Gothic"/>
                <a:cs typeface="Century Gothic"/>
              </a:rPr>
              <a:t> </a:t>
            </a:r>
            <a:r>
              <a:rPr sz="1300" spc="75" dirty="0">
                <a:solidFill>
                  <a:srgbClr val="3A3535"/>
                </a:solidFill>
                <a:latin typeface="Century Gothic"/>
                <a:cs typeface="Century Gothic"/>
              </a:rPr>
              <a:t>university</a:t>
            </a:r>
            <a:r>
              <a:rPr sz="1300" spc="110" dirty="0">
                <a:solidFill>
                  <a:srgbClr val="3A3535"/>
                </a:solidFill>
                <a:latin typeface="Century Gothic"/>
                <a:cs typeface="Century Gothic"/>
              </a:rPr>
              <a:t> </a:t>
            </a:r>
            <a:r>
              <a:rPr sz="1300" spc="40" dirty="0">
                <a:solidFill>
                  <a:srgbClr val="3A3535"/>
                </a:solidFill>
                <a:latin typeface="Century Gothic"/>
                <a:cs typeface="Century Gothic"/>
              </a:rPr>
              <a:t>control.</a:t>
            </a:r>
            <a:endParaRPr sz="1300" dirty="0">
              <a:latin typeface="Century Gothic"/>
              <a:cs typeface="Century Gothic"/>
            </a:endParaRPr>
          </a:p>
        </p:txBody>
      </p:sp>
      <p:grpSp>
        <p:nvGrpSpPr>
          <p:cNvPr id="4" name="object 4"/>
          <p:cNvGrpSpPr/>
          <p:nvPr/>
        </p:nvGrpSpPr>
        <p:grpSpPr>
          <a:xfrm>
            <a:off x="590550" y="3257550"/>
            <a:ext cx="3305175" cy="1552575"/>
            <a:chOff x="590550" y="3257550"/>
            <a:chExt cx="3305175" cy="1552575"/>
          </a:xfrm>
        </p:grpSpPr>
        <p:sp>
          <p:nvSpPr>
            <p:cNvPr id="5" name="object 5"/>
            <p:cNvSpPr/>
            <p:nvPr/>
          </p:nvSpPr>
          <p:spPr>
            <a:xfrm>
              <a:off x="595312" y="3262312"/>
              <a:ext cx="3295650" cy="1543050"/>
            </a:xfrm>
            <a:custGeom>
              <a:avLst/>
              <a:gdLst/>
              <a:ahLst/>
              <a:cxnLst/>
              <a:rect l="l" t="t" r="r" b="b"/>
              <a:pathLst>
                <a:path w="3295650" h="1543050">
                  <a:moveTo>
                    <a:pt x="3244748" y="0"/>
                  </a:moveTo>
                  <a:lnTo>
                    <a:pt x="50904" y="0"/>
                  </a:lnTo>
                  <a:lnTo>
                    <a:pt x="47362" y="342"/>
                  </a:lnTo>
                  <a:lnTo>
                    <a:pt x="13428" y="18491"/>
                  </a:lnTo>
                  <a:lnTo>
                    <a:pt x="0" y="50901"/>
                  </a:lnTo>
                  <a:lnTo>
                    <a:pt x="0" y="1488567"/>
                  </a:lnTo>
                  <a:lnTo>
                    <a:pt x="0" y="1492148"/>
                  </a:lnTo>
                  <a:lnTo>
                    <a:pt x="18484" y="1529626"/>
                  </a:lnTo>
                  <a:lnTo>
                    <a:pt x="50904"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262312"/>
              <a:ext cx="3295650" cy="1543050"/>
            </a:xfrm>
            <a:custGeom>
              <a:avLst/>
              <a:gdLst/>
              <a:ahLst/>
              <a:cxnLst/>
              <a:rect l="l" t="t" r="r" b="b"/>
              <a:pathLst>
                <a:path w="3295650" h="1543050">
                  <a:moveTo>
                    <a:pt x="0" y="1488567"/>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0" y="1543050"/>
                  </a:lnTo>
                  <a:lnTo>
                    <a:pt x="50904" y="1543050"/>
                  </a:lnTo>
                  <a:lnTo>
                    <a:pt x="47362" y="1542694"/>
                  </a:lnTo>
                  <a:lnTo>
                    <a:pt x="15958" y="1527086"/>
                  </a:lnTo>
                  <a:lnTo>
                    <a:pt x="13428" y="1524558"/>
                  </a:lnTo>
                  <a:lnTo>
                    <a:pt x="11167" y="1521802"/>
                  </a:lnTo>
                  <a:lnTo>
                    <a:pt x="9182" y="1518831"/>
                  </a:lnTo>
                  <a:lnTo>
                    <a:pt x="7193" y="1515859"/>
                  </a:lnTo>
                  <a:lnTo>
                    <a:pt x="1046" y="1499196"/>
                  </a:lnTo>
                  <a:lnTo>
                    <a:pt x="346"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412680"/>
            <a:ext cx="2436495"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Modular</a:t>
            </a:r>
            <a:endParaRPr sz="1750" dirty="0">
              <a:latin typeface="Verdana"/>
              <a:cs typeface="Verdana"/>
            </a:endParaRPr>
          </a:p>
          <a:p>
            <a:pPr marL="12700" marR="5080" algn="just">
              <a:lnSpc>
                <a:spcPct val="137000"/>
              </a:lnSpc>
              <a:spcBef>
                <a:spcPts val="625"/>
              </a:spcBef>
            </a:pPr>
            <a:r>
              <a:rPr sz="1300" spc="20" dirty="0">
                <a:solidFill>
                  <a:srgbClr val="3A3535"/>
                </a:solidFill>
                <a:latin typeface="Century Gothic"/>
                <a:cs typeface="Century Gothic"/>
              </a:rPr>
              <a:t>Reusable</a:t>
            </a:r>
            <a:r>
              <a:rPr sz="1300" spc="145" dirty="0">
                <a:solidFill>
                  <a:srgbClr val="3A3535"/>
                </a:solidFill>
                <a:latin typeface="Century Gothic"/>
                <a:cs typeface="Century Gothic"/>
              </a:rPr>
              <a:t> </a:t>
            </a:r>
            <a:r>
              <a:rPr sz="1300" spc="20" dirty="0">
                <a:solidFill>
                  <a:srgbClr val="3A3535"/>
                </a:solidFill>
                <a:latin typeface="Century Gothic"/>
                <a:cs typeface="Century Gothic"/>
              </a:rPr>
              <a:t>components</a:t>
            </a:r>
            <a:r>
              <a:rPr sz="1300" spc="150" dirty="0">
                <a:solidFill>
                  <a:srgbClr val="3A3535"/>
                </a:solidFill>
                <a:latin typeface="Century Gothic"/>
                <a:cs typeface="Century Gothic"/>
              </a:rPr>
              <a:t> </a:t>
            </a:r>
            <a:r>
              <a:rPr sz="1300" spc="-20" dirty="0">
                <a:solidFill>
                  <a:srgbClr val="3A3535"/>
                </a:solidFill>
                <a:latin typeface="Century Gothic"/>
                <a:cs typeface="Century Gothic"/>
              </a:rPr>
              <a:t>make </a:t>
            </a:r>
            <a:r>
              <a:rPr sz="1300" spc="55" dirty="0">
                <a:solidFill>
                  <a:srgbClr val="3A3535"/>
                </a:solidFill>
                <a:latin typeface="Century Gothic"/>
                <a:cs typeface="Century Gothic"/>
              </a:rPr>
              <a:t>programs</a:t>
            </a:r>
            <a:r>
              <a:rPr sz="1300" spc="-35" dirty="0">
                <a:solidFill>
                  <a:srgbClr val="3A3535"/>
                </a:solidFill>
                <a:latin typeface="Century Gothic"/>
                <a:cs typeface="Century Gothic"/>
              </a:rPr>
              <a:t> </a:t>
            </a:r>
            <a:r>
              <a:rPr sz="1300" spc="55" dirty="0">
                <a:solidFill>
                  <a:srgbClr val="3A3535"/>
                </a:solidFill>
                <a:latin typeface="Century Gothic"/>
                <a:cs typeface="Century Gothic"/>
              </a:rPr>
              <a:t>faster</a:t>
            </a:r>
            <a:r>
              <a:rPr sz="1300" spc="-35" dirty="0">
                <a:solidFill>
                  <a:srgbClr val="3A3535"/>
                </a:solidFill>
                <a:latin typeface="Century Gothic"/>
                <a:cs typeface="Century Gothic"/>
              </a:rPr>
              <a:t> </a:t>
            </a:r>
            <a:r>
              <a:rPr sz="1300" spc="70" dirty="0">
                <a:solidFill>
                  <a:srgbClr val="3A3535"/>
                </a:solidFill>
                <a:latin typeface="Century Gothic"/>
                <a:cs typeface="Century Gothic"/>
              </a:rPr>
              <a:t>to</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a:t>
            </a:r>
            <a:r>
              <a:rPr sz="1300" spc="-35"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adapt</a:t>
            </a:r>
            <a:endParaRPr sz="1300" dirty="0">
              <a:latin typeface="Century Gothic"/>
              <a:cs typeface="Century Gothic"/>
            </a:endParaRPr>
          </a:p>
        </p:txBody>
      </p:sp>
      <p:grpSp>
        <p:nvGrpSpPr>
          <p:cNvPr id="8" name="object 8"/>
          <p:cNvGrpSpPr/>
          <p:nvPr/>
        </p:nvGrpSpPr>
        <p:grpSpPr>
          <a:xfrm>
            <a:off x="4067175" y="3257550"/>
            <a:ext cx="3295650" cy="1552575"/>
            <a:chOff x="4067175" y="3257550"/>
            <a:chExt cx="3295650" cy="1552575"/>
          </a:xfrm>
        </p:grpSpPr>
        <p:sp>
          <p:nvSpPr>
            <p:cNvPr id="9" name="object 9"/>
            <p:cNvSpPr/>
            <p:nvPr/>
          </p:nvSpPr>
          <p:spPr>
            <a:xfrm>
              <a:off x="4071937" y="3262312"/>
              <a:ext cx="3286125" cy="1543050"/>
            </a:xfrm>
            <a:custGeom>
              <a:avLst/>
              <a:gdLst/>
              <a:ahLst/>
              <a:cxnLst/>
              <a:rect l="l" t="t" r="r" b="b"/>
              <a:pathLst>
                <a:path w="3286125" h="1543050">
                  <a:moveTo>
                    <a:pt x="3235223" y="0"/>
                  </a:moveTo>
                  <a:lnTo>
                    <a:pt x="50901" y="0"/>
                  </a:lnTo>
                  <a:lnTo>
                    <a:pt x="47358" y="342"/>
                  </a:lnTo>
                  <a:lnTo>
                    <a:pt x="13423" y="18491"/>
                  </a:lnTo>
                  <a:lnTo>
                    <a:pt x="0" y="50901"/>
                  </a:lnTo>
                  <a:lnTo>
                    <a:pt x="0" y="1488567"/>
                  </a:lnTo>
                  <a:lnTo>
                    <a:pt x="0" y="1492148"/>
                  </a:lnTo>
                  <a:lnTo>
                    <a:pt x="15963" y="1527086"/>
                  </a:lnTo>
                  <a:lnTo>
                    <a:pt x="18478" y="1529626"/>
                  </a:lnTo>
                  <a:lnTo>
                    <a:pt x="50901" y="1543050"/>
                  </a:lnTo>
                  <a:lnTo>
                    <a:pt x="3235223" y="1543050"/>
                  </a:lnTo>
                  <a:lnTo>
                    <a:pt x="3272701" y="1524558"/>
                  </a:lnTo>
                  <a:lnTo>
                    <a:pt x="3286125" y="14921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262312"/>
              <a:ext cx="3286125" cy="1543050"/>
            </a:xfrm>
            <a:custGeom>
              <a:avLst/>
              <a:gdLst/>
              <a:ahLst/>
              <a:cxnLst/>
              <a:rect l="l" t="t" r="r" b="b"/>
              <a:pathLst>
                <a:path w="3286125"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488567"/>
                  </a:lnTo>
                  <a:lnTo>
                    <a:pt x="3286125" y="1492148"/>
                  </a:lnTo>
                  <a:lnTo>
                    <a:pt x="3285782" y="1495691"/>
                  </a:lnTo>
                  <a:lnTo>
                    <a:pt x="3285083" y="1499196"/>
                  </a:lnTo>
                  <a:lnTo>
                    <a:pt x="3284385" y="1502702"/>
                  </a:lnTo>
                  <a:lnTo>
                    <a:pt x="3283343" y="1506105"/>
                  </a:lnTo>
                  <a:lnTo>
                    <a:pt x="3281972" y="1509420"/>
                  </a:lnTo>
                  <a:lnTo>
                    <a:pt x="3280613" y="1512722"/>
                  </a:lnTo>
                  <a:lnTo>
                    <a:pt x="3278936" y="1515859"/>
                  </a:lnTo>
                  <a:lnTo>
                    <a:pt x="3276942" y="1518831"/>
                  </a:lnTo>
                  <a:lnTo>
                    <a:pt x="3274949" y="1521802"/>
                  </a:lnTo>
                  <a:lnTo>
                    <a:pt x="3272701" y="1524558"/>
                  </a:lnTo>
                  <a:lnTo>
                    <a:pt x="3270161" y="1527086"/>
                  </a:lnTo>
                  <a:lnTo>
                    <a:pt x="3267633" y="1529626"/>
                  </a:lnTo>
                  <a:lnTo>
                    <a:pt x="3235223" y="1543050"/>
                  </a:lnTo>
                  <a:lnTo>
                    <a:pt x="3231642" y="1543050"/>
                  </a:lnTo>
                  <a:lnTo>
                    <a:pt x="54483" y="1543050"/>
                  </a:lnTo>
                  <a:lnTo>
                    <a:pt x="50901" y="1543050"/>
                  </a:lnTo>
                  <a:lnTo>
                    <a:pt x="47358" y="1542694"/>
                  </a:lnTo>
                  <a:lnTo>
                    <a:pt x="15963"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412680"/>
            <a:ext cx="2832100" cy="9105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Connected</a:t>
            </a:r>
            <a:endParaRPr sz="1750">
              <a:latin typeface="Verdana"/>
              <a:cs typeface="Verdana"/>
            </a:endParaRPr>
          </a:p>
          <a:p>
            <a:pPr marL="12700" marR="5080">
              <a:lnSpc>
                <a:spcPct val="134600"/>
              </a:lnSpc>
              <a:spcBef>
                <a:spcPts val="660"/>
              </a:spcBef>
            </a:pPr>
            <a:r>
              <a:rPr sz="1300" dirty="0">
                <a:solidFill>
                  <a:srgbClr val="3A3535"/>
                </a:solidFill>
                <a:latin typeface="Century Gothic"/>
                <a:cs typeface="Century Gothic"/>
              </a:rPr>
              <a:t>Content,</a:t>
            </a:r>
            <a:r>
              <a:rPr sz="1300" spc="25"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2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spc="75" dirty="0">
                <a:solidFill>
                  <a:srgbClr val="3A3535"/>
                </a:solidFill>
                <a:latin typeface="Century Gothic"/>
                <a:cs typeface="Century Gothic"/>
              </a:rPr>
              <a:t>workflows</a:t>
            </a:r>
            <a:r>
              <a:rPr sz="1300" spc="25" dirty="0">
                <a:solidFill>
                  <a:srgbClr val="3A3535"/>
                </a:solidFill>
                <a:latin typeface="Century Gothic"/>
                <a:cs typeface="Century Gothic"/>
              </a:rPr>
              <a:t> </a:t>
            </a:r>
            <a:r>
              <a:rPr sz="1300" spc="-20" dirty="0">
                <a:solidFill>
                  <a:srgbClr val="3A3535"/>
                </a:solidFill>
                <a:latin typeface="Century Gothic"/>
                <a:cs typeface="Century Gothic"/>
              </a:rPr>
              <a:t>live </a:t>
            </a:r>
            <a:r>
              <a:rPr sz="1300" spc="90" dirty="0">
                <a:solidFill>
                  <a:srgbClr val="3A3535"/>
                </a:solidFill>
                <a:latin typeface="Century Gothic"/>
                <a:cs typeface="Century Gothic"/>
              </a:rPr>
              <a:t>in</a:t>
            </a:r>
            <a:r>
              <a:rPr sz="1300" spc="-25" dirty="0">
                <a:solidFill>
                  <a:srgbClr val="3A3535"/>
                </a:solidFill>
                <a:latin typeface="Century Gothic"/>
                <a:cs typeface="Century Gothic"/>
              </a:rPr>
              <a:t> </a:t>
            </a:r>
            <a:r>
              <a:rPr sz="1300" dirty="0">
                <a:solidFill>
                  <a:srgbClr val="3A3535"/>
                </a:solidFill>
                <a:latin typeface="Century Gothic"/>
                <a:cs typeface="Century Gothic"/>
              </a:rPr>
              <a:t>one</a:t>
            </a:r>
            <a:r>
              <a:rPr sz="1300" spc="-20" dirty="0">
                <a:solidFill>
                  <a:srgbClr val="3A3535"/>
                </a:solidFill>
                <a:latin typeface="Century Gothic"/>
                <a:cs typeface="Century Gothic"/>
              </a:rPr>
              <a:t> </a:t>
            </a:r>
            <a:r>
              <a:rPr sz="1300" spc="40" dirty="0">
                <a:solidFill>
                  <a:srgbClr val="3A3535"/>
                </a:solidFill>
                <a:latin typeface="Century Gothic"/>
                <a:cs typeface="Century Gothic"/>
              </a:rPr>
              <a:t>environment</a:t>
            </a:r>
            <a:endParaRPr sz="1300">
              <a:latin typeface="Century Gothic"/>
              <a:cs typeface="Century Gothic"/>
            </a:endParaRPr>
          </a:p>
        </p:txBody>
      </p:sp>
      <p:grpSp>
        <p:nvGrpSpPr>
          <p:cNvPr id="12" name="object 12"/>
          <p:cNvGrpSpPr/>
          <p:nvPr/>
        </p:nvGrpSpPr>
        <p:grpSpPr>
          <a:xfrm>
            <a:off x="7534275" y="3257550"/>
            <a:ext cx="3305175" cy="1552575"/>
            <a:chOff x="7534275" y="3257550"/>
            <a:chExt cx="3305175" cy="1552575"/>
          </a:xfrm>
        </p:grpSpPr>
        <p:sp>
          <p:nvSpPr>
            <p:cNvPr id="13" name="object 13"/>
            <p:cNvSpPr/>
            <p:nvPr/>
          </p:nvSpPr>
          <p:spPr>
            <a:xfrm>
              <a:off x="7539037" y="3262312"/>
              <a:ext cx="3295650" cy="1543050"/>
            </a:xfrm>
            <a:custGeom>
              <a:avLst/>
              <a:gdLst/>
              <a:ahLst/>
              <a:cxnLst/>
              <a:rect l="l" t="t" r="r" b="b"/>
              <a:pathLst>
                <a:path w="3295650" h="1543050">
                  <a:moveTo>
                    <a:pt x="3244748" y="0"/>
                  </a:moveTo>
                  <a:lnTo>
                    <a:pt x="50901" y="0"/>
                  </a:lnTo>
                  <a:lnTo>
                    <a:pt x="47358" y="342"/>
                  </a:lnTo>
                  <a:lnTo>
                    <a:pt x="13423" y="18491"/>
                  </a:lnTo>
                  <a:lnTo>
                    <a:pt x="0" y="50901"/>
                  </a:lnTo>
                  <a:lnTo>
                    <a:pt x="0" y="1488567"/>
                  </a:lnTo>
                  <a:lnTo>
                    <a:pt x="0" y="1492148"/>
                  </a:lnTo>
                  <a:lnTo>
                    <a:pt x="18478" y="1529626"/>
                  </a:lnTo>
                  <a:lnTo>
                    <a:pt x="50901"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262312"/>
              <a:ext cx="3295650" cy="1543050"/>
            </a:xfrm>
            <a:custGeom>
              <a:avLst/>
              <a:gdLst/>
              <a:ahLst/>
              <a:cxnLst/>
              <a:rect l="l" t="t" r="r" b="b"/>
              <a:pathLst>
                <a:path w="3295650"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3" y="1543050"/>
                  </a:lnTo>
                  <a:lnTo>
                    <a:pt x="50901" y="1543050"/>
                  </a:lnTo>
                  <a:lnTo>
                    <a:pt x="47358" y="1542694"/>
                  </a:lnTo>
                  <a:lnTo>
                    <a:pt x="15951"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412680"/>
            <a:ext cx="2760980"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Controlled</a:t>
            </a:r>
            <a:endParaRPr sz="1750">
              <a:latin typeface="Verdana"/>
              <a:cs typeface="Verdana"/>
            </a:endParaRPr>
          </a:p>
          <a:p>
            <a:pPr marL="12700" marR="5080">
              <a:lnSpc>
                <a:spcPct val="137000"/>
              </a:lnSpc>
              <a:spcBef>
                <a:spcPts val="625"/>
              </a:spcBef>
            </a:pPr>
            <a:r>
              <a:rPr sz="1300" spc="-35" dirty="0">
                <a:solidFill>
                  <a:srgbClr val="3A3535"/>
                </a:solidFill>
                <a:latin typeface="Century Gothic"/>
                <a:cs typeface="Century Gothic"/>
              </a:rPr>
              <a:t>Can</a:t>
            </a:r>
            <a:r>
              <a:rPr sz="1300" spc="25" dirty="0">
                <a:solidFill>
                  <a:srgbClr val="3A3535"/>
                </a:solidFill>
                <a:latin typeface="Century Gothic"/>
                <a:cs typeface="Century Gothic"/>
              </a:rPr>
              <a:t> </a:t>
            </a:r>
            <a:r>
              <a:rPr sz="1300" spc="75" dirty="0">
                <a:solidFill>
                  <a:srgbClr val="3A3535"/>
                </a:solidFill>
                <a:latin typeface="Century Gothic"/>
                <a:cs typeface="Century Gothic"/>
              </a:rPr>
              <a:t>run</a:t>
            </a:r>
            <a:r>
              <a:rPr sz="1300" spc="30" dirty="0">
                <a:solidFill>
                  <a:srgbClr val="3A3535"/>
                </a:solidFill>
                <a:latin typeface="Century Gothic"/>
                <a:cs typeface="Century Gothic"/>
              </a:rPr>
              <a:t> </a:t>
            </a:r>
            <a:r>
              <a:rPr sz="1300" dirty="0">
                <a:solidFill>
                  <a:srgbClr val="3A3535"/>
                </a:solidFill>
                <a:latin typeface="Century Gothic"/>
                <a:cs typeface="Century Gothic"/>
              </a:rPr>
              <a:t>under</a:t>
            </a:r>
            <a:r>
              <a:rPr sz="1300" spc="30" dirty="0">
                <a:solidFill>
                  <a:srgbClr val="3A3535"/>
                </a:solidFill>
                <a:latin typeface="Century Gothic"/>
                <a:cs typeface="Century Gothic"/>
              </a:rPr>
              <a:t> </a:t>
            </a:r>
            <a:r>
              <a:rPr sz="1300" spc="65" dirty="0">
                <a:solidFill>
                  <a:srgbClr val="3A3535"/>
                </a:solidFill>
                <a:latin typeface="Century Gothic"/>
                <a:cs typeface="Century Gothic"/>
              </a:rPr>
              <a:t>university </a:t>
            </a:r>
            <a:r>
              <a:rPr sz="1300" dirty="0">
                <a:solidFill>
                  <a:srgbClr val="3A3535"/>
                </a:solidFill>
                <a:latin typeface="Century Gothic"/>
                <a:cs typeface="Century Gothic"/>
              </a:rPr>
              <a:t>governance</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40" dirty="0">
                <a:solidFill>
                  <a:srgbClr val="3A3535"/>
                </a:solidFill>
                <a:latin typeface="Century Gothic"/>
                <a:cs typeface="Century Gothic"/>
              </a:rPr>
              <a:t>data </a:t>
            </a:r>
            <a:r>
              <a:rPr sz="1300" spc="45" dirty="0">
                <a:solidFill>
                  <a:srgbClr val="3A3535"/>
                </a:solidFill>
                <a:latin typeface="Century Gothic"/>
                <a:cs typeface="Century Gothic"/>
              </a:rPr>
              <a:t>protection </a:t>
            </a:r>
            <a:r>
              <a:rPr sz="1300" spc="50" dirty="0">
                <a:solidFill>
                  <a:srgbClr val="3A3535"/>
                </a:solidFill>
                <a:latin typeface="Century Gothic"/>
                <a:cs typeface="Century Gothic"/>
              </a:rPr>
              <a:t>requirements</a:t>
            </a:r>
            <a:endParaRPr sz="1300">
              <a:latin typeface="Century Gothic"/>
              <a:cs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132586"/>
            <a:ext cx="5031740" cy="560070"/>
          </a:xfrm>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50" dirty="0"/>
              <a:t>Evolved</a:t>
            </a:r>
          </a:p>
        </p:txBody>
      </p:sp>
      <p:grpSp>
        <p:nvGrpSpPr>
          <p:cNvPr id="3" name="object 3"/>
          <p:cNvGrpSpPr/>
          <p:nvPr/>
        </p:nvGrpSpPr>
        <p:grpSpPr>
          <a:xfrm>
            <a:off x="590550" y="3162223"/>
            <a:ext cx="10248900" cy="695325"/>
            <a:chOff x="590550" y="3162223"/>
            <a:chExt cx="10248900" cy="695325"/>
          </a:xfrm>
        </p:grpSpPr>
        <p:sp>
          <p:nvSpPr>
            <p:cNvPr id="4" name="object 4"/>
            <p:cNvSpPr/>
            <p:nvPr/>
          </p:nvSpPr>
          <p:spPr>
            <a:xfrm>
              <a:off x="590550" y="3162223"/>
              <a:ext cx="10248900" cy="524510"/>
            </a:xfrm>
            <a:custGeom>
              <a:avLst/>
              <a:gdLst/>
              <a:ahLst/>
              <a:cxnLst/>
              <a:rect l="l" t="t" r="r" b="b"/>
              <a:pathLst>
                <a:path w="10248900" h="524510">
                  <a:moveTo>
                    <a:pt x="2000250" y="6896"/>
                  </a:moveTo>
                  <a:lnTo>
                    <a:pt x="1999322" y="4648"/>
                  </a:lnTo>
                  <a:lnTo>
                    <a:pt x="1995601" y="927"/>
                  </a:lnTo>
                  <a:lnTo>
                    <a:pt x="1993353" y="0"/>
                  </a:lnTo>
                  <a:lnTo>
                    <a:pt x="1988096" y="0"/>
                  </a:lnTo>
                  <a:lnTo>
                    <a:pt x="1985848" y="927"/>
                  </a:lnTo>
                  <a:lnTo>
                    <a:pt x="1982127" y="4648"/>
                  </a:lnTo>
                  <a:lnTo>
                    <a:pt x="1981200" y="6896"/>
                  </a:lnTo>
                  <a:lnTo>
                    <a:pt x="1981200" y="495300"/>
                  </a:lnTo>
                  <a:lnTo>
                    <a:pt x="1981200" y="497928"/>
                  </a:lnTo>
                  <a:lnTo>
                    <a:pt x="1982127" y="500176"/>
                  </a:lnTo>
                  <a:lnTo>
                    <a:pt x="1985848" y="503897"/>
                  </a:lnTo>
                  <a:lnTo>
                    <a:pt x="1988096" y="504825"/>
                  </a:lnTo>
                  <a:lnTo>
                    <a:pt x="1993353" y="504825"/>
                  </a:lnTo>
                  <a:lnTo>
                    <a:pt x="1995601" y="503897"/>
                  </a:lnTo>
                  <a:lnTo>
                    <a:pt x="1999322" y="500176"/>
                  </a:lnTo>
                  <a:lnTo>
                    <a:pt x="2000250" y="497928"/>
                  </a:lnTo>
                  <a:lnTo>
                    <a:pt x="2000250" y="6896"/>
                  </a:lnTo>
                  <a:close/>
                </a:path>
                <a:path w="10248900" h="524510">
                  <a:moveTo>
                    <a:pt x="10248900" y="511797"/>
                  </a:moveTo>
                  <a:lnTo>
                    <a:pt x="10247973" y="509549"/>
                  </a:lnTo>
                  <a:lnTo>
                    <a:pt x="10244252" y="505828"/>
                  </a:lnTo>
                  <a:lnTo>
                    <a:pt x="10242004" y="504901"/>
                  </a:lnTo>
                  <a:lnTo>
                    <a:pt x="6896" y="504901"/>
                  </a:lnTo>
                  <a:lnTo>
                    <a:pt x="4648" y="505828"/>
                  </a:lnTo>
                  <a:lnTo>
                    <a:pt x="927" y="509549"/>
                  </a:lnTo>
                  <a:lnTo>
                    <a:pt x="0" y="511797"/>
                  </a:lnTo>
                  <a:lnTo>
                    <a:pt x="0" y="514426"/>
                  </a:lnTo>
                  <a:lnTo>
                    <a:pt x="0" y="517055"/>
                  </a:lnTo>
                  <a:lnTo>
                    <a:pt x="927" y="519303"/>
                  </a:lnTo>
                  <a:lnTo>
                    <a:pt x="4648" y="523024"/>
                  </a:lnTo>
                  <a:lnTo>
                    <a:pt x="6896" y="523951"/>
                  </a:lnTo>
                  <a:lnTo>
                    <a:pt x="10242004" y="523951"/>
                  </a:lnTo>
                  <a:lnTo>
                    <a:pt x="10244252" y="523024"/>
                  </a:lnTo>
                  <a:lnTo>
                    <a:pt x="10247973" y="519303"/>
                  </a:lnTo>
                  <a:lnTo>
                    <a:pt x="10248900" y="517055"/>
                  </a:lnTo>
                  <a:lnTo>
                    <a:pt x="10248900" y="511797"/>
                  </a:lnTo>
                  <a:close/>
                </a:path>
              </a:pathLst>
            </a:custGeom>
            <a:solidFill>
              <a:srgbClr val="DFB7BB"/>
            </a:solidFill>
          </p:spPr>
          <p:txBody>
            <a:bodyPr wrap="square" lIns="0" tIns="0" rIns="0" bIns="0" rtlCol="0"/>
            <a:lstStyle/>
            <a:p>
              <a:endParaRPr/>
            </a:p>
          </p:txBody>
        </p:sp>
        <p:sp>
          <p:nvSpPr>
            <p:cNvPr id="5" name="object 5"/>
            <p:cNvSpPr/>
            <p:nvPr/>
          </p:nvSpPr>
          <p:spPr>
            <a:xfrm>
              <a:off x="2395537"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96" y="13423"/>
                  </a:lnTo>
                  <a:lnTo>
                    <a:pt x="324116" y="355"/>
                  </a:lnTo>
                  <a:lnTo>
                    <a:pt x="320573" y="0"/>
                  </a:lnTo>
                  <a:close/>
                </a:path>
              </a:pathLst>
            </a:custGeom>
            <a:solidFill>
              <a:srgbClr val="F9D2D6"/>
            </a:solidFill>
          </p:spPr>
          <p:txBody>
            <a:bodyPr wrap="square" lIns="0" tIns="0" rIns="0" bIns="0" rtlCol="0"/>
            <a:lstStyle/>
            <a:p>
              <a:endParaRPr/>
            </a:p>
          </p:txBody>
        </p:sp>
        <p:sp>
          <p:nvSpPr>
            <p:cNvPr id="6" name="object 6"/>
            <p:cNvSpPr/>
            <p:nvPr/>
          </p:nvSpPr>
          <p:spPr>
            <a:xfrm>
              <a:off x="2395537"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96"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18478" y="358051"/>
                  </a:lnTo>
                  <a:lnTo>
                    <a:pt x="15963" y="355523"/>
                  </a:lnTo>
                  <a:lnTo>
                    <a:pt x="13423" y="352983"/>
                  </a:lnTo>
                  <a:lnTo>
                    <a:pt x="11163" y="350240"/>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2508224" y="3467836"/>
            <a:ext cx="139065" cy="346075"/>
          </a:xfrm>
          <a:prstGeom prst="rect">
            <a:avLst/>
          </a:prstGeom>
        </p:spPr>
        <p:txBody>
          <a:bodyPr vert="horz" wrap="square" lIns="0" tIns="12700" rIns="0" bIns="0" rtlCol="0">
            <a:spAutoFit/>
          </a:bodyPr>
          <a:lstStyle/>
          <a:p>
            <a:pPr marL="12700">
              <a:lnSpc>
                <a:spcPct val="100000"/>
              </a:lnSpc>
              <a:spcBef>
                <a:spcPts val="100"/>
              </a:spcBef>
            </a:pPr>
            <a:r>
              <a:rPr sz="2100" b="1" spc="-645" dirty="0">
                <a:solidFill>
                  <a:srgbClr val="3A3535"/>
                </a:solidFill>
                <a:latin typeface="Verdana"/>
                <a:cs typeface="Verdana"/>
              </a:rPr>
              <a:t>1</a:t>
            </a:r>
            <a:endParaRPr sz="2100">
              <a:latin typeface="Verdana"/>
              <a:cs typeface="Verdana"/>
            </a:endParaRPr>
          </a:p>
        </p:txBody>
      </p:sp>
      <p:sp>
        <p:nvSpPr>
          <p:cNvPr id="8" name="object 8"/>
          <p:cNvSpPr txBox="1"/>
          <p:nvPr/>
        </p:nvSpPr>
        <p:spPr>
          <a:xfrm>
            <a:off x="2293988" y="2041080"/>
            <a:ext cx="567690" cy="29273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3A3535"/>
                </a:solidFill>
                <a:latin typeface="Verdana"/>
                <a:cs typeface="Verdana"/>
              </a:rPr>
              <a:t>2021</a:t>
            </a:r>
            <a:endParaRPr sz="1750">
              <a:latin typeface="Verdana"/>
              <a:cs typeface="Verdana"/>
            </a:endParaRPr>
          </a:p>
        </p:txBody>
      </p:sp>
      <p:sp>
        <p:nvSpPr>
          <p:cNvPr id="9" name="object 9"/>
          <p:cNvSpPr txBox="1"/>
          <p:nvPr/>
        </p:nvSpPr>
        <p:spPr>
          <a:xfrm>
            <a:off x="752424" y="2392875"/>
            <a:ext cx="3651885" cy="558800"/>
          </a:xfrm>
          <a:prstGeom prst="rect">
            <a:avLst/>
          </a:prstGeom>
        </p:spPr>
        <p:txBody>
          <a:bodyPr vert="horz" wrap="square" lIns="0" tIns="11430" rIns="0" bIns="0" rtlCol="0">
            <a:spAutoFit/>
          </a:bodyPr>
          <a:lstStyle/>
          <a:p>
            <a:pPr marL="1118235" marR="5080" indent="-1106170">
              <a:lnSpc>
                <a:spcPct val="134600"/>
              </a:lnSpc>
              <a:spcBef>
                <a:spcPts val="90"/>
              </a:spcBef>
            </a:pPr>
            <a:r>
              <a:rPr sz="1300" spc="85" dirty="0">
                <a:solidFill>
                  <a:srgbClr val="3A3535"/>
                </a:solidFill>
                <a:latin typeface="Century Gothic"/>
                <a:cs typeface="Century Gothic"/>
              </a:rPr>
              <a:t>Self-</a:t>
            </a:r>
            <a:r>
              <a:rPr sz="1300" spc="75" dirty="0">
                <a:solidFill>
                  <a:srgbClr val="3A3535"/>
                </a:solidFill>
                <a:latin typeface="Century Gothic"/>
                <a:cs typeface="Century Gothic"/>
              </a:rPr>
              <a:t>help</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dirty="0">
                <a:solidFill>
                  <a:srgbClr val="3A3535"/>
                </a:solidFill>
                <a:latin typeface="Century Gothic"/>
                <a:cs typeface="Century Gothic"/>
              </a:rPr>
              <a:t>research</a:t>
            </a:r>
            <a:r>
              <a:rPr sz="1300" spc="20" dirty="0">
                <a:solidFill>
                  <a:srgbClr val="3A3535"/>
                </a:solidFill>
                <a:latin typeface="Century Gothic"/>
                <a:cs typeface="Century Gothic"/>
              </a:rPr>
              <a:t> </a:t>
            </a:r>
            <a:r>
              <a:rPr sz="1300" spc="70" dirty="0">
                <a:solidFill>
                  <a:srgbClr val="3A3535"/>
                </a:solidFill>
                <a:latin typeface="Century Gothic"/>
                <a:cs typeface="Century Gothic"/>
              </a:rPr>
              <a:t>websites</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content </a:t>
            </a:r>
            <a:r>
              <a:rPr sz="1300" spc="75" dirty="0">
                <a:solidFill>
                  <a:srgbClr val="3A3535"/>
                </a:solidFill>
                <a:latin typeface="Century Gothic"/>
                <a:cs typeface="Century Gothic"/>
              </a:rPr>
              <a:t>publishing</a:t>
            </a:r>
            <a:r>
              <a:rPr sz="1300" spc="-45" dirty="0">
                <a:solidFill>
                  <a:srgbClr val="3A3535"/>
                </a:solidFill>
                <a:latin typeface="Century Gothic"/>
                <a:cs typeface="Century Gothic"/>
              </a:rPr>
              <a:t> </a:t>
            </a:r>
            <a:r>
              <a:rPr sz="1300" spc="50" dirty="0">
                <a:solidFill>
                  <a:srgbClr val="3A3535"/>
                </a:solidFill>
                <a:latin typeface="Century Gothic"/>
                <a:cs typeface="Century Gothic"/>
              </a:rPr>
              <a:t>focus</a:t>
            </a:r>
            <a:endParaRPr sz="1300">
              <a:latin typeface="Century Gothic"/>
              <a:cs typeface="Century Gothic"/>
            </a:endParaRPr>
          </a:p>
        </p:txBody>
      </p:sp>
      <p:grpSp>
        <p:nvGrpSpPr>
          <p:cNvPr id="10" name="object 10"/>
          <p:cNvGrpSpPr/>
          <p:nvPr/>
        </p:nvGrpSpPr>
        <p:grpSpPr>
          <a:xfrm>
            <a:off x="4476750" y="3476700"/>
            <a:ext cx="381000" cy="695325"/>
            <a:chOff x="4476750" y="3476700"/>
            <a:chExt cx="381000" cy="695325"/>
          </a:xfrm>
        </p:grpSpPr>
        <p:sp>
          <p:nvSpPr>
            <p:cNvPr id="11" name="object 11"/>
            <p:cNvSpPr/>
            <p:nvPr/>
          </p:nvSpPr>
          <p:spPr>
            <a:xfrm>
              <a:off x="4657725"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2" name="object 12"/>
            <p:cNvSpPr/>
            <p:nvPr/>
          </p:nvSpPr>
          <p:spPr>
            <a:xfrm>
              <a:off x="4481512"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5963" y="355511"/>
                  </a:lnTo>
                  <a:lnTo>
                    <a:pt x="18478" y="358051"/>
                  </a:lnTo>
                  <a:lnTo>
                    <a:pt x="50901" y="371475"/>
                  </a:lnTo>
                  <a:lnTo>
                    <a:pt x="320573" y="371475"/>
                  </a:lnTo>
                  <a:lnTo>
                    <a:pt x="355511" y="355511"/>
                  </a:lnTo>
                  <a:lnTo>
                    <a:pt x="358051" y="352983"/>
                  </a:lnTo>
                  <a:lnTo>
                    <a:pt x="371475" y="320573"/>
                  </a:lnTo>
                  <a:lnTo>
                    <a:pt x="371475" y="50901"/>
                  </a:lnTo>
                  <a:lnTo>
                    <a:pt x="352996" y="13423"/>
                  </a:lnTo>
                  <a:lnTo>
                    <a:pt x="324116" y="342"/>
                  </a:lnTo>
                  <a:lnTo>
                    <a:pt x="320573" y="0"/>
                  </a:lnTo>
                  <a:close/>
                </a:path>
              </a:pathLst>
            </a:custGeom>
            <a:solidFill>
              <a:srgbClr val="F9D2D6"/>
            </a:solidFill>
          </p:spPr>
          <p:txBody>
            <a:bodyPr wrap="square" lIns="0" tIns="0" rIns="0" bIns="0" rtlCol="0"/>
            <a:lstStyle/>
            <a:p>
              <a:endParaRPr/>
            </a:p>
          </p:txBody>
        </p:sp>
        <p:sp>
          <p:nvSpPr>
            <p:cNvPr id="13" name="object 13"/>
            <p:cNvSpPr/>
            <p:nvPr/>
          </p:nvSpPr>
          <p:spPr>
            <a:xfrm>
              <a:off x="4481512"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13423" y="18478"/>
                  </a:lnTo>
                  <a:lnTo>
                    <a:pt x="15963" y="15951"/>
                  </a:lnTo>
                  <a:lnTo>
                    <a:pt x="18478" y="13423"/>
                  </a:lnTo>
                  <a:lnTo>
                    <a:pt x="21234" y="11163"/>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96"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96"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63"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14" name="object 14"/>
          <p:cNvSpPr txBox="1"/>
          <p:nvPr/>
        </p:nvSpPr>
        <p:spPr>
          <a:xfrm>
            <a:off x="4572469" y="346797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2</a:t>
            </a:r>
            <a:endParaRPr sz="2100">
              <a:latin typeface="Verdana"/>
              <a:cs typeface="Verdana"/>
            </a:endParaRPr>
          </a:p>
        </p:txBody>
      </p:sp>
      <p:sp>
        <p:nvSpPr>
          <p:cNvPr id="15" name="object 15"/>
          <p:cNvSpPr txBox="1"/>
          <p:nvPr/>
        </p:nvSpPr>
        <p:spPr>
          <a:xfrm>
            <a:off x="3000768" y="4317555"/>
            <a:ext cx="3337560" cy="910590"/>
          </a:xfrm>
          <a:prstGeom prst="rect">
            <a:avLst/>
          </a:prstGeom>
        </p:spPr>
        <p:txBody>
          <a:bodyPr vert="horz" wrap="square" lIns="0" tIns="12700" rIns="0" bIns="0" rtlCol="0">
            <a:spAutoFit/>
          </a:bodyPr>
          <a:lstStyle/>
          <a:p>
            <a:pPr algn="ctr">
              <a:lnSpc>
                <a:spcPct val="100000"/>
              </a:lnSpc>
              <a:spcBef>
                <a:spcPts val="100"/>
              </a:spcBef>
            </a:pPr>
            <a:r>
              <a:rPr sz="1750" b="1" spc="-20" dirty="0">
                <a:solidFill>
                  <a:srgbClr val="3A3535"/>
                </a:solidFill>
                <a:latin typeface="Verdana"/>
                <a:cs typeface="Verdana"/>
              </a:rPr>
              <a:t>2023</a:t>
            </a:r>
            <a:endParaRPr sz="1750" dirty="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Modular</a:t>
            </a:r>
            <a:r>
              <a:rPr sz="1300" spc="130" dirty="0">
                <a:solidFill>
                  <a:srgbClr val="3A3535"/>
                </a:solidFill>
                <a:latin typeface="Century Gothic"/>
                <a:cs typeface="Century Gothic"/>
              </a:rPr>
              <a:t> </a:t>
            </a:r>
            <a:r>
              <a:rPr sz="1300" dirty="0">
                <a:solidFill>
                  <a:srgbClr val="3A3535"/>
                </a:solidFill>
                <a:latin typeface="Century Gothic"/>
                <a:cs typeface="Century Gothic"/>
              </a:rPr>
              <a:t>pages,</a:t>
            </a:r>
            <a:r>
              <a:rPr sz="1300" spc="135" dirty="0">
                <a:solidFill>
                  <a:srgbClr val="3A3535"/>
                </a:solidFill>
                <a:latin typeface="Century Gothic"/>
                <a:cs typeface="Century Gothic"/>
              </a:rPr>
              <a:t> </a:t>
            </a:r>
            <a:r>
              <a:rPr sz="1300" dirty="0">
                <a:solidFill>
                  <a:srgbClr val="3A3535"/>
                </a:solidFill>
                <a:latin typeface="Century Gothic"/>
                <a:cs typeface="Century Gothic"/>
              </a:rPr>
              <a:t>scheduling,</a:t>
            </a:r>
            <a:r>
              <a:rPr sz="1300" spc="13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35" dirty="0">
                <a:solidFill>
                  <a:srgbClr val="3A3535"/>
                </a:solidFill>
                <a:latin typeface="Century Gothic"/>
                <a:cs typeface="Century Gothic"/>
              </a:rPr>
              <a:t> </a:t>
            </a:r>
            <a:r>
              <a:rPr sz="1300" spc="40" dirty="0">
                <a:solidFill>
                  <a:srgbClr val="3A3535"/>
                </a:solidFill>
                <a:latin typeface="Century Gothic"/>
                <a:cs typeface="Century Gothic"/>
              </a:rPr>
              <a:t>mobile </a:t>
            </a:r>
            <a:r>
              <a:rPr sz="1300" spc="45" dirty="0">
                <a:solidFill>
                  <a:srgbClr val="3A3535"/>
                </a:solidFill>
                <a:latin typeface="Century Gothic"/>
                <a:cs typeface="Century Gothic"/>
              </a:rPr>
              <a:t>integration</a:t>
            </a:r>
            <a:endParaRPr sz="1300" dirty="0">
              <a:latin typeface="Century Gothic"/>
              <a:cs typeface="Century Gothic"/>
            </a:endParaRPr>
          </a:p>
        </p:txBody>
      </p:sp>
      <p:grpSp>
        <p:nvGrpSpPr>
          <p:cNvPr id="16" name="object 16"/>
          <p:cNvGrpSpPr/>
          <p:nvPr/>
        </p:nvGrpSpPr>
        <p:grpSpPr>
          <a:xfrm>
            <a:off x="6572250" y="3162223"/>
            <a:ext cx="381000" cy="695325"/>
            <a:chOff x="6572250" y="3162223"/>
            <a:chExt cx="381000" cy="695325"/>
          </a:xfrm>
        </p:grpSpPr>
        <p:sp>
          <p:nvSpPr>
            <p:cNvPr id="17" name="object 17"/>
            <p:cNvSpPr/>
            <p:nvPr/>
          </p:nvSpPr>
          <p:spPr>
            <a:xfrm>
              <a:off x="6753225" y="3162223"/>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97"/>
                  </a:lnTo>
                  <a:lnTo>
                    <a:pt x="6896" y="504825"/>
                  </a:lnTo>
                  <a:lnTo>
                    <a:pt x="12153" y="504825"/>
                  </a:lnTo>
                  <a:lnTo>
                    <a:pt x="14401" y="503897"/>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8" name="object 18"/>
            <p:cNvSpPr/>
            <p:nvPr/>
          </p:nvSpPr>
          <p:spPr>
            <a:xfrm>
              <a:off x="6577012"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55"/>
                  </a:lnTo>
                  <a:lnTo>
                    <a:pt x="320573" y="0"/>
                  </a:lnTo>
                  <a:close/>
                </a:path>
              </a:pathLst>
            </a:custGeom>
            <a:solidFill>
              <a:srgbClr val="F9D2D6"/>
            </a:solidFill>
          </p:spPr>
          <p:txBody>
            <a:bodyPr wrap="square" lIns="0" tIns="0" rIns="0" bIns="0" rtlCol="0"/>
            <a:lstStyle/>
            <a:p>
              <a:endParaRPr/>
            </a:p>
          </p:txBody>
        </p:sp>
        <p:sp>
          <p:nvSpPr>
            <p:cNvPr id="19" name="object 19"/>
            <p:cNvSpPr/>
            <p:nvPr/>
          </p:nvSpPr>
          <p:spPr>
            <a:xfrm>
              <a:off x="6577012"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83"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0" name="object 20"/>
          <p:cNvSpPr txBox="1"/>
          <p:nvPr/>
        </p:nvSpPr>
        <p:spPr>
          <a:xfrm>
            <a:off x="6663956" y="346783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3</a:t>
            </a:r>
            <a:endParaRPr sz="2100">
              <a:latin typeface="Verdana"/>
              <a:cs typeface="Verdana"/>
            </a:endParaRPr>
          </a:p>
        </p:txBody>
      </p:sp>
      <p:sp>
        <p:nvSpPr>
          <p:cNvPr id="21" name="object 21"/>
          <p:cNvSpPr txBox="1"/>
          <p:nvPr/>
        </p:nvSpPr>
        <p:spPr>
          <a:xfrm>
            <a:off x="6093129" y="2041080"/>
            <a:ext cx="1335405" cy="292735"/>
          </a:xfrm>
          <a:prstGeom prst="rect">
            <a:avLst/>
          </a:prstGeom>
        </p:spPr>
        <p:txBody>
          <a:bodyPr vert="horz" wrap="square" lIns="0" tIns="12700" rIns="0" bIns="0" rtlCol="0">
            <a:spAutoFit/>
          </a:bodyPr>
          <a:lstStyle/>
          <a:p>
            <a:pPr marL="12700">
              <a:lnSpc>
                <a:spcPct val="100000"/>
              </a:lnSpc>
              <a:spcBef>
                <a:spcPts val="100"/>
              </a:spcBef>
            </a:pPr>
            <a:r>
              <a:rPr sz="1750" b="1" spc="-120" dirty="0">
                <a:solidFill>
                  <a:srgbClr val="3A3535"/>
                </a:solidFill>
                <a:latin typeface="Verdana"/>
                <a:cs typeface="Verdana"/>
              </a:rPr>
              <a:t>2024–</a:t>
            </a:r>
            <a:r>
              <a:rPr sz="1750" b="1" spc="-85" dirty="0">
                <a:solidFill>
                  <a:srgbClr val="3A3535"/>
                </a:solidFill>
                <a:latin typeface="Verdana"/>
                <a:cs typeface="Verdana"/>
              </a:rPr>
              <a:t>2026</a:t>
            </a:r>
            <a:endParaRPr sz="1750">
              <a:latin typeface="Verdana"/>
              <a:cs typeface="Verdana"/>
            </a:endParaRPr>
          </a:p>
        </p:txBody>
      </p:sp>
      <p:sp>
        <p:nvSpPr>
          <p:cNvPr id="22" name="object 22"/>
          <p:cNvSpPr txBox="1"/>
          <p:nvPr/>
        </p:nvSpPr>
        <p:spPr>
          <a:xfrm>
            <a:off x="4977206" y="2392875"/>
            <a:ext cx="3567429" cy="558800"/>
          </a:xfrm>
          <a:prstGeom prst="rect">
            <a:avLst/>
          </a:prstGeom>
        </p:spPr>
        <p:txBody>
          <a:bodyPr vert="horz" wrap="square" lIns="0" tIns="11430" rIns="0" bIns="0" rtlCol="0">
            <a:spAutoFit/>
          </a:bodyPr>
          <a:lstStyle/>
          <a:p>
            <a:pPr marL="12700" marR="5080" indent="394970">
              <a:lnSpc>
                <a:spcPct val="134600"/>
              </a:lnSpc>
              <a:spcBef>
                <a:spcPts val="90"/>
              </a:spcBef>
            </a:pPr>
            <a:r>
              <a:rPr sz="1300" spc="95" dirty="0">
                <a:solidFill>
                  <a:srgbClr val="3A3535"/>
                </a:solidFill>
                <a:latin typeface="Century Gothic"/>
                <a:cs typeface="Century Gothic"/>
              </a:rPr>
              <a:t>Stronger</a:t>
            </a:r>
            <a:r>
              <a:rPr sz="1300" dirty="0">
                <a:solidFill>
                  <a:srgbClr val="3A3535"/>
                </a:solidFill>
                <a:latin typeface="Century Gothic"/>
                <a:cs typeface="Century Gothic"/>
              </a:rPr>
              <a:t> </a:t>
            </a:r>
            <a:r>
              <a:rPr sz="1300" spc="-40" dirty="0">
                <a:solidFill>
                  <a:srgbClr val="3A3535"/>
                </a:solidFill>
                <a:latin typeface="Century Gothic"/>
                <a:cs typeface="Century Gothic"/>
              </a:rPr>
              <a:t>data</a:t>
            </a:r>
            <a:r>
              <a:rPr sz="1300" dirty="0">
                <a:solidFill>
                  <a:srgbClr val="3A3535"/>
                </a:solidFill>
                <a:latin typeface="Century Gothic"/>
                <a:cs typeface="Century Gothic"/>
              </a:rPr>
              <a:t> model,</a:t>
            </a:r>
            <a:r>
              <a:rPr sz="1300" spc="5" dirty="0">
                <a:solidFill>
                  <a:srgbClr val="3A3535"/>
                </a:solidFill>
                <a:latin typeface="Century Gothic"/>
                <a:cs typeface="Century Gothic"/>
              </a:rPr>
              <a:t> </a:t>
            </a:r>
            <a:r>
              <a:rPr sz="1300" spc="55" dirty="0">
                <a:solidFill>
                  <a:srgbClr val="3A3535"/>
                </a:solidFill>
                <a:latin typeface="Century Gothic"/>
                <a:cs typeface="Century Gothic"/>
              </a:rPr>
              <a:t>workflows, </a:t>
            </a:r>
            <a:r>
              <a:rPr sz="1300" spc="90" dirty="0">
                <a:solidFill>
                  <a:srgbClr val="3A3535"/>
                </a:solidFill>
                <a:latin typeface="Century Gothic"/>
                <a:cs typeface="Century Gothic"/>
              </a:rPr>
              <a:t>permissions,</a:t>
            </a:r>
            <a:r>
              <a:rPr sz="1300" spc="70" dirty="0">
                <a:solidFill>
                  <a:srgbClr val="3A3535"/>
                </a:solidFill>
                <a:latin typeface="Century Gothic"/>
                <a:cs typeface="Century Gothic"/>
              </a:rPr>
              <a:t> </a:t>
            </a:r>
            <a:r>
              <a:rPr sz="1300" dirty="0">
                <a:solidFill>
                  <a:srgbClr val="3A3535"/>
                </a:solidFill>
                <a:latin typeface="Century Gothic"/>
                <a:cs typeface="Century Gothic"/>
              </a:rPr>
              <a:t>2FA,</a:t>
            </a:r>
            <a:r>
              <a:rPr sz="1300" spc="70" dirty="0">
                <a:solidFill>
                  <a:srgbClr val="3A3535"/>
                </a:solidFill>
                <a:latin typeface="Century Gothic"/>
                <a:cs typeface="Century Gothic"/>
              </a:rPr>
              <a:t> </a:t>
            </a:r>
            <a:r>
              <a:rPr sz="1300" dirty="0">
                <a:solidFill>
                  <a:srgbClr val="3A3535"/>
                </a:solidFill>
                <a:latin typeface="Century Gothic"/>
                <a:cs typeface="Century Gothic"/>
              </a:rPr>
              <a:t>background</a:t>
            </a:r>
            <a:r>
              <a:rPr sz="1300" spc="75" dirty="0">
                <a:solidFill>
                  <a:srgbClr val="3A3535"/>
                </a:solidFill>
                <a:latin typeface="Century Gothic"/>
                <a:cs typeface="Century Gothic"/>
              </a:rPr>
              <a:t> </a:t>
            </a:r>
            <a:r>
              <a:rPr sz="1300" spc="60" dirty="0">
                <a:solidFill>
                  <a:srgbClr val="3A3535"/>
                </a:solidFill>
                <a:latin typeface="Century Gothic"/>
                <a:cs typeface="Century Gothic"/>
              </a:rPr>
              <a:t>processing</a:t>
            </a:r>
            <a:endParaRPr sz="1300">
              <a:latin typeface="Century Gothic"/>
              <a:cs typeface="Century Gothic"/>
            </a:endParaRPr>
          </a:p>
        </p:txBody>
      </p:sp>
      <p:grpSp>
        <p:nvGrpSpPr>
          <p:cNvPr id="23" name="object 23"/>
          <p:cNvGrpSpPr/>
          <p:nvPr/>
        </p:nvGrpSpPr>
        <p:grpSpPr>
          <a:xfrm>
            <a:off x="8658225" y="3476700"/>
            <a:ext cx="381000" cy="695325"/>
            <a:chOff x="8658225" y="3476700"/>
            <a:chExt cx="381000" cy="695325"/>
          </a:xfrm>
        </p:grpSpPr>
        <p:sp>
          <p:nvSpPr>
            <p:cNvPr id="24" name="object 24"/>
            <p:cNvSpPr/>
            <p:nvPr/>
          </p:nvSpPr>
          <p:spPr>
            <a:xfrm>
              <a:off x="8839200"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25" name="object 25"/>
            <p:cNvSpPr/>
            <p:nvPr/>
          </p:nvSpPr>
          <p:spPr>
            <a:xfrm>
              <a:off x="8662987"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42"/>
                  </a:lnTo>
                  <a:lnTo>
                    <a:pt x="320573" y="0"/>
                  </a:lnTo>
                  <a:close/>
                </a:path>
              </a:pathLst>
            </a:custGeom>
            <a:solidFill>
              <a:srgbClr val="F9D2D6"/>
            </a:solidFill>
          </p:spPr>
          <p:txBody>
            <a:bodyPr wrap="square" lIns="0" tIns="0" rIns="0" bIns="0" rtlCol="0"/>
            <a:lstStyle/>
            <a:p>
              <a:endParaRPr/>
            </a:p>
          </p:txBody>
        </p:sp>
        <p:sp>
          <p:nvSpPr>
            <p:cNvPr id="26" name="object 26"/>
            <p:cNvSpPr/>
            <p:nvPr/>
          </p:nvSpPr>
          <p:spPr>
            <a:xfrm>
              <a:off x="8662987"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83"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83"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51"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7" name="object 27"/>
          <p:cNvSpPr txBox="1"/>
          <p:nvPr/>
        </p:nvSpPr>
        <p:spPr>
          <a:xfrm>
            <a:off x="8750668" y="3467976"/>
            <a:ext cx="202565" cy="346075"/>
          </a:xfrm>
          <a:prstGeom prst="rect">
            <a:avLst/>
          </a:prstGeom>
        </p:spPr>
        <p:txBody>
          <a:bodyPr vert="horz" wrap="square" lIns="0" tIns="12700" rIns="0" bIns="0" rtlCol="0">
            <a:spAutoFit/>
          </a:bodyPr>
          <a:lstStyle/>
          <a:p>
            <a:pPr marL="12700">
              <a:lnSpc>
                <a:spcPct val="100000"/>
              </a:lnSpc>
              <a:spcBef>
                <a:spcPts val="100"/>
              </a:spcBef>
            </a:pPr>
            <a:r>
              <a:rPr sz="2100" b="1" spc="-50" dirty="0">
                <a:solidFill>
                  <a:srgbClr val="3A3535"/>
                </a:solidFill>
                <a:latin typeface="Verdana"/>
                <a:cs typeface="Verdana"/>
              </a:rPr>
              <a:t>4</a:t>
            </a:r>
            <a:endParaRPr sz="2100">
              <a:latin typeface="Verdana"/>
              <a:cs typeface="Verdana"/>
            </a:endParaRPr>
          </a:p>
        </p:txBody>
      </p:sp>
      <p:sp>
        <p:nvSpPr>
          <p:cNvPr id="28" name="object 28"/>
          <p:cNvSpPr txBox="1"/>
          <p:nvPr/>
        </p:nvSpPr>
        <p:spPr>
          <a:xfrm>
            <a:off x="7292378" y="4317555"/>
            <a:ext cx="3119755" cy="910590"/>
          </a:xfrm>
          <a:prstGeom prst="rect">
            <a:avLst/>
          </a:prstGeom>
        </p:spPr>
        <p:txBody>
          <a:bodyPr vert="horz" wrap="square" lIns="0" tIns="12700" rIns="0" bIns="0" rtlCol="0">
            <a:spAutoFit/>
          </a:bodyPr>
          <a:lstStyle/>
          <a:p>
            <a:pPr algn="ctr">
              <a:lnSpc>
                <a:spcPct val="100000"/>
              </a:lnSpc>
              <a:spcBef>
                <a:spcPts val="100"/>
              </a:spcBef>
            </a:pPr>
            <a:r>
              <a:rPr sz="1750" b="1" spc="-25" dirty="0">
                <a:solidFill>
                  <a:srgbClr val="3A3535"/>
                </a:solidFill>
                <a:latin typeface="Verdana"/>
                <a:cs typeface="Verdana"/>
              </a:rPr>
              <a:t>Now</a:t>
            </a:r>
            <a:endParaRPr sz="175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General</a:t>
            </a:r>
            <a:r>
              <a:rPr sz="1300" spc="-45" dirty="0">
                <a:solidFill>
                  <a:srgbClr val="3A3535"/>
                </a:solidFill>
                <a:latin typeface="Century Gothic"/>
                <a:cs typeface="Century Gothic"/>
              </a:rPr>
              <a:t> </a:t>
            </a:r>
            <a:r>
              <a:rPr sz="1300" spc="80" dirty="0">
                <a:solidFill>
                  <a:srgbClr val="3A3535"/>
                </a:solidFill>
                <a:latin typeface="Century Gothic"/>
                <a:cs typeface="Century Gothic"/>
              </a:rPr>
              <a:t>LLM</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support</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60" dirty="0">
                <a:solidFill>
                  <a:srgbClr val="3A3535"/>
                </a:solidFill>
                <a:latin typeface="Century Gothic"/>
                <a:cs typeface="Century Gothic"/>
              </a:rPr>
              <a:t>supervised </a:t>
            </a:r>
            <a:r>
              <a:rPr sz="1300" dirty="0">
                <a:solidFill>
                  <a:srgbClr val="3A3535"/>
                </a:solidFill>
                <a:latin typeface="Century Gothic"/>
                <a:cs typeface="Century Gothic"/>
              </a:rPr>
              <a:t>therapy-</a:t>
            </a:r>
            <a:r>
              <a:rPr sz="1300" spc="100" dirty="0">
                <a:solidFill>
                  <a:srgbClr val="3A3535"/>
                </a:solidFill>
                <a:latin typeface="Century Gothic"/>
                <a:cs typeface="Century Gothic"/>
              </a:rPr>
              <a:t>style</a:t>
            </a:r>
            <a:r>
              <a:rPr sz="1300" spc="7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7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18135" rIns="0" bIns="0" rtlCol="0">
            <a:spAutoFit/>
          </a:bodyPr>
          <a:lstStyle/>
          <a:p>
            <a:pPr marL="12700">
              <a:lnSpc>
                <a:spcPct val="100000"/>
              </a:lnSpc>
              <a:spcBef>
                <a:spcPts val="105"/>
              </a:spcBef>
            </a:pPr>
            <a:r>
              <a:rPr spc="-215" dirty="0"/>
              <a:t>What</a:t>
            </a:r>
            <a:r>
              <a:rPr spc="-420" dirty="0"/>
              <a:t> </a:t>
            </a:r>
            <a:r>
              <a:rPr spc="-280" dirty="0"/>
              <a:t>Teams</a:t>
            </a:r>
            <a:r>
              <a:rPr spc="-420" dirty="0"/>
              <a:t> </a:t>
            </a:r>
            <a:r>
              <a:rPr spc="-105" dirty="0"/>
              <a:t>Can</a:t>
            </a:r>
            <a:r>
              <a:rPr spc="-420" dirty="0"/>
              <a:t> </a:t>
            </a:r>
            <a:r>
              <a:rPr spc="-114" dirty="0"/>
              <a:t>Do</a:t>
            </a:r>
            <a:r>
              <a:rPr spc="-420" dirty="0"/>
              <a:t> </a:t>
            </a:r>
            <a:r>
              <a:rPr spc="-170" dirty="0"/>
              <a:t>With</a:t>
            </a:r>
            <a:r>
              <a:rPr spc="-420" dirty="0"/>
              <a:t> </a:t>
            </a:r>
            <a:r>
              <a:rPr spc="-465" dirty="0"/>
              <a:t>It</a:t>
            </a:r>
          </a:p>
        </p:txBody>
      </p:sp>
      <p:grpSp>
        <p:nvGrpSpPr>
          <p:cNvPr id="3" name="object 3"/>
          <p:cNvGrpSpPr/>
          <p:nvPr/>
        </p:nvGrpSpPr>
        <p:grpSpPr>
          <a:xfrm>
            <a:off x="585152" y="1728152"/>
            <a:ext cx="5133975" cy="688340"/>
            <a:chOff x="585152" y="1728152"/>
            <a:chExt cx="5133975" cy="688340"/>
          </a:xfrm>
        </p:grpSpPr>
        <p:sp>
          <p:nvSpPr>
            <p:cNvPr id="4" name="object 4"/>
            <p:cNvSpPr/>
            <p:nvPr/>
          </p:nvSpPr>
          <p:spPr>
            <a:xfrm>
              <a:off x="590550" y="1733549"/>
              <a:ext cx="5123180" cy="677545"/>
            </a:xfrm>
            <a:custGeom>
              <a:avLst/>
              <a:gdLst/>
              <a:ahLst/>
              <a:cxnLst/>
              <a:rect l="l" t="t" r="r" b="b"/>
              <a:pathLst>
                <a:path w="5123180" h="677544">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5" name="object 5"/>
            <p:cNvSpPr/>
            <p:nvPr/>
          </p:nvSpPr>
          <p:spPr>
            <a:xfrm>
              <a:off x="590550" y="1733549"/>
              <a:ext cx="5123180" cy="677545"/>
            </a:xfrm>
            <a:custGeom>
              <a:avLst/>
              <a:gdLst/>
              <a:ahLst/>
              <a:cxnLst/>
              <a:rect l="l" t="t" r="r" b="b"/>
              <a:pathLst>
                <a:path w="5123180" h="677544">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6" name="object 6"/>
          <p:cNvSpPr txBox="1"/>
          <p:nvPr/>
        </p:nvSpPr>
        <p:spPr>
          <a:xfrm>
            <a:off x="748842" y="1886102"/>
            <a:ext cx="3919854" cy="1304290"/>
          </a:xfrm>
          <a:prstGeom prst="rect">
            <a:avLst/>
          </a:prstGeom>
        </p:spPr>
        <p:txBody>
          <a:bodyPr vert="horz" wrap="square" lIns="0" tIns="12065" rIns="0" bIns="0" rtlCol="0">
            <a:spAutoFit/>
          </a:bodyPr>
          <a:lstStyle/>
          <a:p>
            <a:pPr marL="889635" algn="ctr">
              <a:lnSpc>
                <a:spcPct val="100000"/>
              </a:lnSpc>
              <a:spcBef>
                <a:spcPts val="95"/>
              </a:spcBef>
            </a:pPr>
            <a:r>
              <a:rPr sz="2000" b="1" spc="-635" dirty="0">
                <a:solidFill>
                  <a:srgbClr val="3A3535"/>
                </a:solidFill>
                <a:latin typeface="Verdana"/>
                <a:cs typeface="Verdana"/>
              </a:rPr>
              <a:t>1</a:t>
            </a:r>
            <a:endParaRPr sz="2000">
              <a:latin typeface="Verdana"/>
              <a:cs typeface="Verdana"/>
            </a:endParaRPr>
          </a:p>
          <a:p>
            <a:pPr>
              <a:lnSpc>
                <a:spcPct val="100000"/>
              </a:lnSpc>
              <a:spcBef>
                <a:spcPts val="445"/>
              </a:spcBef>
            </a:pPr>
            <a:endParaRPr sz="2000">
              <a:latin typeface="Verdana"/>
              <a:cs typeface="Verdana"/>
            </a:endParaRPr>
          </a:p>
          <a:p>
            <a:pPr marL="12700">
              <a:lnSpc>
                <a:spcPct val="100000"/>
              </a:lnSpc>
            </a:pPr>
            <a:r>
              <a:rPr sz="1750" b="1" spc="-10" dirty="0">
                <a:solidFill>
                  <a:srgbClr val="3A3535"/>
                </a:solidFill>
                <a:latin typeface="Verdana"/>
                <a:cs typeface="Verdana"/>
              </a:rPr>
              <a:t>Onboard</a:t>
            </a:r>
            <a:endParaRPr sz="1750">
              <a:latin typeface="Verdana"/>
              <a:cs typeface="Verdana"/>
            </a:endParaRPr>
          </a:p>
          <a:p>
            <a:pPr marL="12700">
              <a:lnSpc>
                <a:spcPct val="100000"/>
              </a:lnSpc>
              <a:spcBef>
                <a:spcPts val="1125"/>
              </a:spcBef>
            </a:pPr>
            <a:r>
              <a:rPr sz="1300" spc="100" dirty="0">
                <a:solidFill>
                  <a:srgbClr val="3A3535"/>
                </a:solidFill>
                <a:latin typeface="Century Gothic"/>
                <a:cs typeface="Century Gothic"/>
              </a:rPr>
              <a:t>Turn</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concept </a:t>
            </a:r>
            <a:r>
              <a:rPr sz="1300" spc="80" dirty="0">
                <a:solidFill>
                  <a:srgbClr val="3A3535"/>
                </a:solidFill>
                <a:latin typeface="Century Gothic"/>
                <a:cs typeface="Century Gothic"/>
              </a:rPr>
              <a:t>into</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guided </a:t>
            </a:r>
            <a:r>
              <a:rPr sz="1300" spc="55" dirty="0">
                <a:solidFill>
                  <a:srgbClr val="3A3535"/>
                </a:solidFill>
                <a:latin typeface="Century Gothic"/>
                <a:cs typeface="Century Gothic"/>
              </a:rPr>
              <a:t>entry</a:t>
            </a:r>
            <a:r>
              <a:rPr sz="1300" dirty="0">
                <a:solidFill>
                  <a:srgbClr val="3A3535"/>
                </a:solidFill>
                <a:latin typeface="Century Gothic"/>
                <a:cs typeface="Century Gothic"/>
              </a:rPr>
              <a:t> </a:t>
            </a:r>
            <a:r>
              <a:rPr sz="1300" spc="-10" dirty="0">
                <a:solidFill>
                  <a:srgbClr val="3A3535"/>
                </a:solidFill>
                <a:latin typeface="Century Gothic"/>
                <a:cs typeface="Century Gothic"/>
              </a:rPr>
              <a:t>experience</a:t>
            </a:r>
            <a:endParaRPr sz="1300">
              <a:latin typeface="Century Gothic"/>
              <a:cs typeface="Century Gothic"/>
            </a:endParaRPr>
          </a:p>
        </p:txBody>
      </p:sp>
      <p:grpSp>
        <p:nvGrpSpPr>
          <p:cNvPr id="7" name="object 7"/>
          <p:cNvGrpSpPr/>
          <p:nvPr/>
        </p:nvGrpSpPr>
        <p:grpSpPr>
          <a:xfrm>
            <a:off x="5709710" y="1728260"/>
            <a:ext cx="5133340" cy="687705"/>
            <a:chOff x="5709710" y="1728260"/>
            <a:chExt cx="5133340" cy="687705"/>
          </a:xfrm>
        </p:grpSpPr>
        <p:sp>
          <p:nvSpPr>
            <p:cNvPr id="8" name="object 8"/>
            <p:cNvSpPr/>
            <p:nvPr/>
          </p:nvSpPr>
          <p:spPr>
            <a:xfrm>
              <a:off x="5714999" y="1733549"/>
              <a:ext cx="5123180" cy="677545"/>
            </a:xfrm>
            <a:custGeom>
              <a:avLst/>
              <a:gdLst/>
              <a:ahLst/>
              <a:cxnLst/>
              <a:rect l="l" t="t" r="r" b="b"/>
              <a:pathLst>
                <a:path w="5123180" h="677544">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9" name="object 9"/>
            <p:cNvSpPr/>
            <p:nvPr/>
          </p:nvSpPr>
          <p:spPr>
            <a:xfrm>
              <a:off x="5714999" y="1733549"/>
              <a:ext cx="5123180" cy="677545"/>
            </a:xfrm>
            <a:custGeom>
              <a:avLst/>
              <a:gdLst/>
              <a:ahLst/>
              <a:cxnLst/>
              <a:rect l="l" t="t" r="r" b="b"/>
              <a:pathLst>
                <a:path w="5123180" h="677544">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grpSp>
        <p:nvGrpSpPr>
          <p:cNvPr id="10" name="object 10"/>
          <p:cNvGrpSpPr/>
          <p:nvPr/>
        </p:nvGrpSpPr>
        <p:grpSpPr>
          <a:xfrm>
            <a:off x="585152" y="3661727"/>
            <a:ext cx="5133975" cy="688340"/>
            <a:chOff x="585152" y="3661727"/>
            <a:chExt cx="5133975" cy="688340"/>
          </a:xfrm>
        </p:grpSpPr>
        <p:sp>
          <p:nvSpPr>
            <p:cNvPr id="11" name="object 11"/>
            <p:cNvSpPr/>
            <p:nvPr/>
          </p:nvSpPr>
          <p:spPr>
            <a:xfrm>
              <a:off x="590550" y="3667124"/>
              <a:ext cx="5123180" cy="677545"/>
            </a:xfrm>
            <a:custGeom>
              <a:avLst/>
              <a:gdLst/>
              <a:ahLst/>
              <a:cxnLst/>
              <a:rect l="l" t="t" r="r" b="b"/>
              <a:pathLst>
                <a:path w="5123180" h="677545">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2" name="object 12"/>
            <p:cNvSpPr/>
            <p:nvPr/>
          </p:nvSpPr>
          <p:spPr>
            <a:xfrm>
              <a:off x="590550" y="3667124"/>
              <a:ext cx="5123180" cy="677545"/>
            </a:xfrm>
            <a:custGeom>
              <a:avLst/>
              <a:gdLst/>
              <a:ahLst/>
              <a:cxnLst/>
              <a:rect l="l" t="t" r="r" b="b"/>
              <a:pathLst>
                <a:path w="5123180" h="677545">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3" name="object 13"/>
          <p:cNvSpPr txBox="1"/>
          <p:nvPr/>
        </p:nvSpPr>
        <p:spPr>
          <a:xfrm>
            <a:off x="748855" y="3819677"/>
            <a:ext cx="4589145" cy="1580515"/>
          </a:xfrm>
          <a:prstGeom prst="rect">
            <a:avLst/>
          </a:prstGeom>
        </p:spPr>
        <p:txBody>
          <a:bodyPr vert="horz" wrap="square" lIns="0" tIns="12065" rIns="0" bIns="0" rtlCol="0">
            <a:spAutoFit/>
          </a:bodyPr>
          <a:lstStyle/>
          <a:p>
            <a:pPr marL="220345" algn="ctr">
              <a:lnSpc>
                <a:spcPct val="100000"/>
              </a:lnSpc>
              <a:spcBef>
                <a:spcPts val="95"/>
              </a:spcBef>
            </a:pPr>
            <a:r>
              <a:rPr sz="2000" b="1" spc="-50" dirty="0">
                <a:solidFill>
                  <a:srgbClr val="3A3535"/>
                </a:solidFill>
                <a:latin typeface="Verdana"/>
                <a:cs typeface="Verdana"/>
              </a:rPr>
              <a:t>3</a:t>
            </a:r>
            <a:endParaRPr sz="2000" dirty="0">
              <a:latin typeface="Verdana"/>
              <a:cs typeface="Verdana"/>
            </a:endParaRPr>
          </a:p>
          <a:p>
            <a:pPr>
              <a:lnSpc>
                <a:spcPct val="100000"/>
              </a:lnSpc>
              <a:spcBef>
                <a:spcPts val="445"/>
              </a:spcBef>
            </a:pPr>
            <a:endParaRPr sz="2000" dirty="0">
              <a:latin typeface="Verdana"/>
              <a:cs typeface="Verdana"/>
            </a:endParaRPr>
          </a:p>
          <a:p>
            <a:pPr marL="12700">
              <a:lnSpc>
                <a:spcPct val="100000"/>
              </a:lnSpc>
            </a:pPr>
            <a:r>
              <a:rPr sz="1750" b="1" spc="-10" dirty="0">
                <a:solidFill>
                  <a:srgbClr val="3A3535"/>
                </a:solidFill>
                <a:latin typeface="Verdana"/>
                <a:cs typeface="Verdana"/>
              </a:rPr>
              <a:t>Adapt</a:t>
            </a:r>
            <a:endParaRPr sz="1750" dirty="0">
              <a:latin typeface="Verdana"/>
              <a:cs typeface="Verdana"/>
            </a:endParaRPr>
          </a:p>
          <a:p>
            <a:pPr marL="12700" marR="5080">
              <a:lnSpc>
                <a:spcPct val="134600"/>
              </a:lnSpc>
              <a:spcBef>
                <a:spcPts val="660"/>
              </a:spcBef>
            </a:pPr>
            <a:r>
              <a:rPr sz="1300" spc="85" dirty="0">
                <a:solidFill>
                  <a:srgbClr val="3A3535"/>
                </a:solidFill>
                <a:latin typeface="Century Gothic"/>
                <a:cs typeface="Century Gothic"/>
              </a:rPr>
              <a:t>Adjust</a:t>
            </a:r>
            <a:r>
              <a:rPr sz="1300" spc="40"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40" dirty="0">
                <a:solidFill>
                  <a:srgbClr val="3A3535"/>
                </a:solidFill>
                <a:latin typeface="Century Gothic"/>
                <a:cs typeface="Century Gothic"/>
              </a:rPr>
              <a:t> </a:t>
            </a:r>
            <a:r>
              <a:rPr sz="1300" dirty="0">
                <a:solidFill>
                  <a:srgbClr val="3A3535"/>
                </a:solidFill>
                <a:latin typeface="Century Gothic"/>
                <a:cs typeface="Century Gothic"/>
              </a:rPr>
              <a:t>by</a:t>
            </a:r>
            <a:r>
              <a:rPr sz="1300" spc="40" dirty="0">
                <a:solidFill>
                  <a:srgbClr val="3A3535"/>
                </a:solidFill>
                <a:latin typeface="Century Gothic"/>
                <a:cs typeface="Century Gothic"/>
              </a:rPr>
              <a:t> </a:t>
            </a:r>
            <a:r>
              <a:rPr sz="1300" dirty="0">
                <a:solidFill>
                  <a:srgbClr val="3A3535"/>
                </a:solidFill>
                <a:latin typeface="Century Gothic"/>
                <a:cs typeface="Century Gothic"/>
              </a:rPr>
              <a:t>role,</a:t>
            </a:r>
            <a:r>
              <a:rPr sz="1300" spc="45" dirty="0">
                <a:solidFill>
                  <a:srgbClr val="3A3535"/>
                </a:solidFill>
                <a:latin typeface="Century Gothic"/>
                <a:cs typeface="Century Gothic"/>
              </a:rPr>
              <a:t> </a:t>
            </a:r>
            <a:r>
              <a:rPr sz="1300" dirty="0">
                <a:solidFill>
                  <a:srgbClr val="3A3535"/>
                </a:solidFill>
                <a:latin typeface="Century Gothic"/>
                <a:cs typeface="Century Gothic"/>
              </a:rPr>
              <a:t>group,</a:t>
            </a:r>
            <a:r>
              <a:rPr sz="1300" spc="40" dirty="0">
                <a:solidFill>
                  <a:srgbClr val="3A3535"/>
                </a:solidFill>
                <a:latin typeface="Century Gothic"/>
                <a:cs typeface="Century Gothic"/>
              </a:rPr>
              <a:t> </a:t>
            </a:r>
            <a:r>
              <a:rPr sz="1300" spc="-10" dirty="0">
                <a:solidFill>
                  <a:srgbClr val="3A3535"/>
                </a:solidFill>
                <a:latin typeface="Century Gothic"/>
                <a:cs typeface="Century Gothic"/>
              </a:rPr>
              <a:t>language,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or </a:t>
            </a:r>
            <a:r>
              <a:rPr sz="1300" spc="85" dirty="0">
                <a:solidFill>
                  <a:srgbClr val="3A3535"/>
                </a:solidFill>
                <a:latin typeface="Century Gothic"/>
                <a:cs typeface="Century Gothic"/>
              </a:rPr>
              <a:t>user</a:t>
            </a:r>
            <a:r>
              <a:rPr sz="1300" spc="-40" dirty="0">
                <a:solidFill>
                  <a:srgbClr val="3A3535"/>
                </a:solidFill>
                <a:latin typeface="Century Gothic"/>
                <a:cs typeface="Century Gothic"/>
              </a:rPr>
              <a:t> </a:t>
            </a:r>
            <a:r>
              <a:rPr sz="1300" spc="40" dirty="0">
                <a:solidFill>
                  <a:srgbClr val="3A3535"/>
                </a:solidFill>
                <a:latin typeface="Century Gothic"/>
                <a:cs typeface="Century Gothic"/>
              </a:rPr>
              <a:t>state</a:t>
            </a:r>
            <a:endParaRPr sz="1300" dirty="0">
              <a:latin typeface="Century Gothic"/>
              <a:cs typeface="Century Gothic"/>
            </a:endParaRPr>
          </a:p>
        </p:txBody>
      </p:sp>
      <p:grpSp>
        <p:nvGrpSpPr>
          <p:cNvPr id="14" name="object 14"/>
          <p:cNvGrpSpPr/>
          <p:nvPr/>
        </p:nvGrpSpPr>
        <p:grpSpPr>
          <a:xfrm>
            <a:off x="5709710" y="3661835"/>
            <a:ext cx="5133340" cy="687705"/>
            <a:chOff x="5709710" y="3661835"/>
            <a:chExt cx="5133340" cy="687705"/>
          </a:xfrm>
        </p:grpSpPr>
        <p:sp>
          <p:nvSpPr>
            <p:cNvPr id="15" name="object 15"/>
            <p:cNvSpPr/>
            <p:nvPr/>
          </p:nvSpPr>
          <p:spPr>
            <a:xfrm>
              <a:off x="5714999" y="3667124"/>
              <a:ext cx="5123180" cy="677545"/>
            </a:xfrm>
            <a:custGeom>
              <a:avLst/>
              <a:gdLst/>
              <a:ahLst/>
              <a:cxnLst/>
              <a:rect l="l" t="t" r="r" b="b"/>
              <a:pathLst>
                <a:path w="5123180" h="677545">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6" name="object 16"/>
            <p:cNvSpPr/>
            <p:nvPr/>
          </p:nvSpPr>
          <p:spPr>
            <a:xfrm>
              <a:off x="5714999" y="3667124"/>
              <a:ext cx="5123180" cy="677545"/>
            </a:xfrm>
            <a:custGeom>
              <a:avLst/>
              <a:gdLst/>
              <a:ahLst/>
              <a:cxnLst/>
              <a:rect l="l" t="t" r="r" b="b"/>
              <a:pathLst>
                <a:path w="5123180" h="677545">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7" name="object 17"/>
          <p:cNvSpPr txBox="1">
            <a:spLocks noGrp="1"/>
          </p:cNvSpPr>
          <p:nvPr>
            <p:ph sz="half" idx="3"/>
          </p:nvPr>
        </p:nvSpPr>
        <p:spPr>
          <a:prstGeom prst="rect">
            <a:avLst/>
          </a:prstGeom>
        </p:spPr>
        <p:txBody>
          <a:bodyPr vert="horz" wrap="square" lIns="0" tIns="12065" rIns="0" bIns="0" rtlCol="0">
            <a:spAutoFit/>
          </a:bodyPr>
          <a:lstStyle/>
          <a:p>
            <a:pPr marL="410845" algn="ctr">
              <a:lnSpc>
                <a:spcPct val="100000"/>
              </a:lnSpc>
              <a:spcBef>
                <a:spcPts val="95"/>
              </a:spcBef>
            </a:pPr>
            <a:r>
              <a:rPr spc="-50" dirty="0"/>
              <a:t>2</a:t>
            </a:r>
          </a:p>
          <a:p>
            <a:pPr>
              <a:lnSpc>
                <a:spcPct val="100000"/>
              </a:lnSpc>
              <a:spcBef>
                <a:spcPts val="445"/>
              </a:spcBef>
            </a:pPr>
            <a:endParaRPr spc="-50" dirty="0"/>
          </a:p>
          <a:p>
            <a:pPr marL="12700">
              <a:lnSpc>
                <a:spcPct val="100000"/>
              </a:lnSpc>
            </a:pPr>
            <a:r>
              <a:rPr sz="1750" spc="-10" dirty="0"/>
              <a:t>Assess</a:t>
            </a:r>
            <a:endParaRPr sz="1750"/>
          </a:p>
          <a:p>
            <a:pPr marL="12700" marR="5080">
              <a:lnSpc>
                <a:spcPct val="139400"/>
              </a:lnSpc>
              <a:spcBef>
                <a:spcPts val="509"/>
              </a:spcBef>
            </a:pPr>
            <a:r>
              <a:rPr sz="1300" b="0" spc="70" dirty="0">
                <a:latin typeface="Century Gothic"/>
                <a:cs typeface="Century Gothic"/>
              </a:rPr>
              <a:t>Run</a:t>
            </a:r>
            <a:r>
              <a:rPr sz="1300" b="0" dirty="0">
                <a:latin typeface="Century Gothic"/>
                <a:cs typeface="Century Gothic"/>
              </a:rPr>
              <a:t> repeated</a:t>
            </a:r>
            <a:r>
              <a:rPr sz="1300" b="0" spc="5" dirty="0">
                <a:latin typeface="Century Gothic"/>
                <a:cs typeface="Century Gothic"/>
              </a:rPr>
              <a:t> </a:t>
            </a:r>
            <a:r>
              <a:rPr sz="1300" b="0" spc="90" dirty="0">
                <a:latin typeface="Century Gothic"/>
                <a:cs typeface="Century Gothic"/>
              </a:rPr>
              <a:t>assessments</a:t>
            </a:r>
            <a:r>
              <a:rPr sz="1300" b="0" spc="5" dirty="0">
                <a:latin typeface="Century Gothic"/>
                <a:cs typeface="Century Gothic"/>
              </a:rPr>
              <a:t> </a:t>
            </a:r>
            <a:r>
              <a:rPr sz="1300" b="0" spc="-10" dirty="0">
                <a:latin typeface="Century Gothic"/>
                <a:cs typeface="Century Gothic"/>
              </a:rPr>
              <a:t>and</a:t>
            </a:r>
            <a:r>
              <a:rPr sz="1300" b="0" dirty="0">
                <a:latin typeface="Century Gothic"/>
                <a:cs typeface="Century Gothic"/>
              </a:rPr>
              <a:t> collect</a:t>
            </a:r>
            <a:r>
              <a:rPr sz="1300" b="0" spc="5" dirty="0">
                <a:latin typeface="Century Gothic"/>
                <a:cs typeface="Century Gothic"/>
              </a:rPr>
              <a:t> </a:t>
            </a:r>
            <a:r>
              <a:rPr sz="1300" b="0" spc="70" dirty="0">
                <a:latin typeface="Century Gothic"/>
                <a:cs typeface="Century Gothic"/>
              </a:rPr>
              <a:t>richer</a:t>
            </a:r>
            <a:r>
              <a:rPr sz="1300" b="0" spc="5" dirty="0">
                <a:latin typeface="Century Gothic"/>
                <a:cs typeface="Century Gothic"/>
              </a:rPr>
              <a:t> </a:t>
            </a:r>
            <a:r>
              <a:rPr sz="1300" b="0" spc="85" dirty="0">
                <a:latin typeface="Century Gothic"/>
                <a:cs typeface="Century Gothic"/>
              </a:rPr>
              <a:t>inputs </a:t>
            </a:r>
            <a:r>
              <a:rPr sz="1300" b="0" dirty="0">
                <a:latin typeface="Century Gothic"/>
                <a:cs typeface="Century Gothic"/>
              </a:rPr>
              <a:t>over</a:t>
            </a:r>
            <a:r>
              <a:rPr sz="1300" b="0" spc="50" dirty="0">
                <a:latin typeface="Century Gothic"/>
                <a:cs typeface="Century Gothic"/>
              </a:rPr>
              <a:t> </a:t>
            </a:r>
            <a:r>
              <a:rPr sz="1300" b="0" spc="45" dirty="0">
                <a:latin typeface="Century Gothic"/>
                <a:cs typeface="Century Gothic"/>
              </a:rPr>
              <a:t>time</a:t>
            </a:r>
            <a:endParaRPr sz="1300">
              <a:latin typeface="Century Gothic"/>
              <a:cs typeface="Century Gothic"/>
            </a:endParaRPr>
          </a:p>
          <a:p>
            <a:pPr>
              <a:lnSpc>
                <a:spcPct val="100000"/>
              </a:lnSpc>
              <a:spcBef>
                <a:spcPts val="1395"/>
              </a:spcBef>
            </a:pPr>
            <a:endParaRPr sz="1300">
              <a:latin typeface="Century Gothic"/>
              <a:cs typeface="Century Gothic"/>
            </a:endParaRPr>
          </a:p>
          <a:p>
            <a:pPr marL="410845" algn="ctr">
              <a:lnSpc>
                <a:spcPct val="100000"/>
              </a:lnSpc>
              <a:spcBef>
                <a:spcPts val="5"/>
              </a:spcBef>
            </a:pPr>
            <a:r>
              <a:rPr spc="-50" dirty="0"/>
              <a:t>4</a:t>
            </a:r>
          </a:p>
          <a:p>
            <a:pPr>
              <a:lnSpc>
                <a:spcPct val="100000"/>
              </a:lnSpc>
              <a:spcBef>
                <a:spcPts val="440"/>
              </a:spcBef>
            </a:pPr>
            <a:endParaRPr spc="-50" dirty="0"/>
          </a:p>
          <a:p>
            <a:pPr marL="12700">
              <a:lnSpc>
                <a:spcPct val="100000"/>
              </a:lnSpc>
            </a:pPr>
            <a:r>
              <a:rPr sz="1750" spc="-100" dirty="0"/>
              <a:t>Follow</a:t>
            </a:r>
            <a:r>
              <a:rPr sz="1750" spc="-165" dirty="0"/>
              <a:t> </a:t>
            </a:r>
            <a:r>
              <a:rPr sz="1750" spc="-25" dirty="0"/>
              <a:t>Up</a:t>
            </a:r>
            <a:endParaRPr sz="1750"/>
          </a:p>
          <a:p>
            <a:pPr marL="12700" marR="236220">
              <a:lnSpc>
                <a:spcPct val="134600"/>
              </a:lnSpc>
              <a:spcBef>
                <a:spcPts val="665"/>
              </a:spcBef>
            </a:pPr>
            <a:r>
              <a:rPr sz="1300" b="0" dirty="0">
                <a:latin typeface="Century Gothic"/>
                <a:cs typeface="Century Gothic"/>
              </a:rPr>
              <a:t>Automate</a:t>
            </a:r>
            <a:r>
              <a:rPr sz="1300" b="0" spc="-10" dirty="0">
                <a:latin typeface="Century Gothic"/>
                <a:cs typeface="Century Gothic"/>
              </a:rPr>
              <a:t> </a:t>
            </a:r>
            <a:r>
              <a:rPr sz="1300" b="0" spc="60" dirty="0">
                <a:latin typeface="Century Gothic"/>
                <a:cs typeface="Century Gothic"/>
              </a:rPr>
              <a:t>reminders,</a:t>
            </a:r>
            <a:r>
              <a:rPr sz="1300" b="0" spc="-5" dirty="0">
                <a:latin typeface="Century Gothic"/>
                <a:cs typeface="Century Gothic"/>
              </a:rPr>
              <a:t> </a:t>
            </a:r>
            <a:r>
              <a:rPr sz="1300" b="0" spc="65" dirty="0">
                <a:latin typeface="Century Gothic"/>
                <a:cs typeface="Century Gothic"/>
              </a:rPr>
              <a:t>tasks,</a:t>
            </a:r>
            <a:r>
              <a:rPr sz="1300" b="0" spc="-5" dirty="0">
                <a:latin typeface="Century Gothic"/>
                <a:cs typeface="Century Gothic"/>
              </a:rPr>
              <a:t> </a:t>
            </a:r>
            <a:r>
              <a:rPr sz="1300" b="0" spc="-10" dirty="0">
                <a:latin typeface="Century Gothic"/>
                <a:cs typeface="Century Gothic"/>
              </a:rPr>
              <a:t>and </a:t>
            </a:r>
            <a:r>
              <a:rPr sz="1300" b="0" spc="55" dirty="0">
                <a:latin typeface="Century Gothic"/>
                <a:cs typeface="Century Gothic"/>
              </a:rPr>
              <a:t>next</a:t>
            </a:r>
            <a:r>
              <a:rPr sz="1300" b="0" spc="-5" dirty="0">
                <a:latin typeface="Century Gothic"/>
                <a:cs typeface="Century Gothic"/>
              </a:rPr>
              <a:t> </a:t>
            </a:r>
            <a:r>
              <a:rPr sz="1300" b="0" spc="95" dirty="0">
                <a:latin typeface="Century Gothic"/>
                <a:cs typeface="Century Gothic"/>
              </a:rPr>
              <a:t>steps</a:t>
            </a:r>
            <a:r>
              <a:rPr sz="1300" b="0" spc="-5" dirty="0">
                <a:latin typeface="Century Gothic"/>
                <a:cs typeface="Century Gothic"/>
              </a:rPr>
              <a:t> </a:t>
            </a:r>
            <a:r>
              <a:rPr sz="1300" b="0" dirty="0">
                <a:latin typeface="Century Gothic"/>
                <a:cs typeface="Century Gothic"/>
              </a:rPr>
              <a:t>as</a:t>
            </a:r>
            <a:r>
              <a:rPr sz="1300" b="0" spc="-10" dirty="0">
                <a:latin typeface="Century Gothic"/>
                <a:cs typeface="Century Gothic"/>
              </a:rPr>
              <a:t> </a:t>
            </a:r>
            <a:r>
              <a:rPr sz="1300" b="0" spc="-25" dirty="0">
                <a:latin typeface="Century Gothic"/>
                <a:cs typeface="Century Gothic"/>
              </a:rPr>
              <a:t>the </a:t>
            </a:r>
            <a:r>
              <a:rPr sz="1300" b="0" dirty="0">
                <a:latin typeface="Century Gothic"/>
                <a:cs typeface="Century Gothic"/>
              </a:rPr>
              <a:t>program</a:t>
            </a:r>
            <a:r>
              <a:rPr sz="1300" b="0" spc="204" dirty="0">
                <a:latin typeface="Century Gothic"/>
                <a:cs typeface="Century Gothic"/>
              </a:rPr>
              <a:t> </a:t>
            </a:r>
            <a:r>
              <a:rPr sz="1300" b="0" spc="70" dirty="0">
                <a:latin typeface="Century Gothic"/>
                <a:cs typeface="Century Gothic"/>
              </a:rPr>
              <a:t>progresses</a:t>
            </a:r>
            <a:endParaRPr sz="1300">
              <a:latin typeface="Century Gothic"/>
              <a:cs typeface="Century Goth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60" dirty="0"/>
              <a:t>Expands</a:t>
            </a:r>
          </a:p>
        </p:txBody>
      </p:sp>
      <p:sp>
        <p:nvSpPr>
          <p:cNvPr id="3" name="object 3"/>
          <p:cNvSpPr txBox="1"/>
          <p:nvPr/>
        </p:nvSpPr>
        <p:spPr>
          <a:xfrm>
            <a:off x="579640" y="1437297"/>
            <a:ext cx="7090409"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New</a:t>
            </a:r>
            <a:r>
              <a:rPr sz="1300" spc="25" dirty="0">
                <a:solidFill>
                  <a:srgbClr val="3A3535"/>
                </a:solidFill>
                <a:latin typeface="Century Gothic"/>
                <a:cs typeface="Century Gothic"/>
              </a:rPr>
              <a:t> </a:t>
            </a:r>
            <a:r>
              <a:rPr sz="1300" dirty="0">
                <a:solidFill>
                  <a:srgbClr val="3A3535"/>
                </a:solidFill>
                <a:latin typeface="Century Gothic"/>
                <a:cs typeface="Century Gothic"/>
              </a:rPr>
              <a:t>capabilities</a:t>
            </a:r>
            <a:r>
              <a:rPr sz="1300" spc="30" dirty="0">
                <a:solidFill>
                  <a:srgbClr val="3A3535"/>
                </a:solidFill>
                <a:latin typeface="Century Gothic"/>
                <a:cs typeface="Century Gothic"/>
              </a:rPr>
              <a:t> </a:t>
            </a:r>
            <a:r>
              <a:rPr sz="1300" dirty="0">
                <a:solidFill>
                  <a:srgbClr val="3A3535"/>
                </a:solidFill>
                <a:latin typeface="Century Gothic"/>
                <a:cs typeface="Century Gothic"/>
              </a:rPr>
              <a:t>are</a:t>
            </a:r>
            <a:r>
              <a:rPr sz="1300" spc="30" dirty="0">
                <a:solidFill>
                  <a:srgbClr val="3A3535"/>
                </a:solidFill>
                <a:latin typeface="Century Gothic"/>
                <a:cs typeface="Century Gothic"/>
              </a:rPr>
              <a:t> </a:t>
            </a:r>
            <a:r>
              <a:rPr sz="1300" spc="-25" dirty="0">
                <a:solidFill>
                  <a:srgbClr val="3A3535"/>
                </a:solidFill>
                <a:latin typeface="Century Gothic"/>
                <a:cs typeface="Century Gothic"/>
              </a:rPr>
              <a:t>added</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through</a:t>
            </a:r>
            <a:r>
              <a:rPr sz="1300" spc="30" dirty="0">
                <a:solidFill>
                  <a:srgbClr val="3A3535"/>
                </a:solidFill>
                <a:latin typeface="Century Gothic"/>
                <a:cs typeface="Century Gothic"/>
              </a:rPr>
              <a:t> </a:t>
            </a:r>
            <a:r>
              <a:rPr sz="1300" spc="80" dirty="0">
                <a:solidFill>
                  <a:srgbClr val="3A3535"/>
                </a:solidFill>
                <a:latin typeface="Century Gothic"/>
                <a:cs typeface="Century Gothic"/>
              </a:rPr>
              <a:t>plugins</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15" dirty="0">
                <a:solidFill>
                  <a:srgbClr val="3A3535"/>
                </a:solidFill>
                <a:latin typeface="Century Gothic"/>
                <a:cs typeface="Century Gothic"/>
              </a:rPr>
              <a:t> </a:t>
            </a:r>
            <a:r>
              <a:rPr sz="1300" spc="60" dirty="0">
                <a:solidFill>
                  <a:srgbClr val="3A3535"/>
                </a:solidFill>
                <a:latin typeface="Century Gothic"/>
                <a:cs typeface="Century Gothic"/>
              </a:rPr>
              <a:t>rebuilding</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25" dirty="0">
                <a:solidFill>
                  <a:srgbClr val="3A3535"/>
                </a:solidFill>
                <a:latin typeface="Century Gothic"/>
                <a:cs typeface="Century Gothic"/>
              </a:rPr>
              <a:t> </a:t>
            </a:r>
            <a:r>
              <a:rPr sz="1300" dirty="0">
                <a:solidFill>
                  <a:srgbClr val="3A3535"/>
                </a:solidFill>
                <a:latin typeface="Century Gothic"/>
                <a:cs typeface="Century Gothic"/>
              </a:rPr>
              <a:t>core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p:txBody>
      </p:sp>
      <p:sp>
        <p:nvSpPr>
          <p:cNvPr id="4" name="object 4"/>
          <p:cNvSpPr txBox="1"/>
          <p:nvPr/>
        </p:nvSpPr>
        <p:spPr>
          <a:xfrm>
            <a:off x="579635" y="2041080"/>
            <a:ext cx="2844165" cy="292735"/>
          </a:xfrm>
          <a:prstGeom prst="rect">
            <a:avLst/>
          </a:prstGeom>
        </p:spPr>
        <p:txBody>
          <a:bodyPr vert="horz" wrap="square" lIns="0" tIns="12700" rIns="0" bIns="0" rtlCol="0">
            <a:spAutoFit/>
          </a:bodyPr>
          <a:lstStyle/>
          <a:p>
            <a:pPr marL="12700">
              <a:lnSpc>
                <a:spcPct val="100000"/>
              </a:lnSpc>
              <a:spcBef>
                <a:spcPts val="100"/>
              </a:spcBef>
            </a:pPr>
            <a:r>
              <a:rPr sz="1750" b="1" spc="-40" dirty="0">
                <a:solidFill>
                  <a:srgbClr val="1F1E1E"/>
                </a:solidFill>
                <a:latin typeface="Verdana"/>
                <a:cs typeface="Verdana"/>
              </a:rPr>
              <a:t>Core</a:t>
            </a:r>
            <a:r>
              <a:rPr sz="1750" b="1" spc="-160" dirty="0">
                <a:solidFill>
                  <a:srgbClr val="1F1E1E"/>
                </a:solidFill>
                <a:latin typeface="Verdana"/>
                <a:cs typeface="Verdana"/>
              </a:rPr>
              <a:t> </a:t>
            </a:r>
            <a:r>
              <a:rPr sz="1750" b="1" spc="-65" dirty="0">
                <a:solidFill>
                  <a:srgbClr val="1F1E1E"/>
                </a:solidFill>
                <a:latin typeface="Verdana"/>
                <a:cs typeface="Verdana"/>
              </a:rPr>
              <a:t>Supporting</a:t>
            </a:r>
            <a:r>
              <a:rPr sz="1750" b="1" spc="-160" dirty="0">
                <a:solidFill>
                  <a:srgbClr val="1F1E1E"/>
                </a:solidFill>
                <a:latin typeface="Verdana"/>
                <a:cs typeface="Verdana"/>
              </a:rPr>
              <a:t> </a:t>
            </a:r>
            <a:r>
              <a:rPr sz="1750" b="1" spc="-75" dirty="0">
                <a:solidFill>
                  <a:srgbClr val="1F1E1E"/>
                </a:solidFill>
                <a:latin typeface="Verdana"/>
                <a:cs typeface="Verdana"/>
              </a:rPr>
              <a:t>Plugins</a:t>
            </a:r>
            <a:endParaRPr sz="1750">
              <a:latin typeface="Verdana"/>
              <a:cs typeface="Verdana"/>
            </a:endParaRPr>
          </a:p>
        </p:txBody>
      </p:sp>
      <p:sp>
        <p:nvSpPr>
          <p:cNvPr id="5" name="object 5"/>
          <p:cNvSpPr/>
          <p:nvPr/>
        </p:nvSpPr>
        <p:spPr>
          <a:xfrm>
            <a:off x="600075" y="2543174"/>
            <a:ext cx="2352675" cy="1343025"/>
          </a:xfrm>
          <a:custGeom>
            <a:avLst/>
            <a:gdLst/>
            <a:ahLst/>
            <a:cxnLst/>
            <a:rect l="l" t="t" r="r" b="b"/>
            <a:pathLst>
              <a:path w="2352675" h="1343025">
                <a:moveTo>
                  <a:pt x="0" y="1293304"/>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293304"/>
                </a:lnTo>
                <a:lnTo>
                  <a:pt x="2352675" y="1299895"/>
                </a:lnTo>
                <a:lnTo>
                  <a:pt x="2351417" y="1306245"/>
                </a:lnTo>
                <a:lnTo>
                  <a:pt x="2348890" y="1312329"/>
                </a:lnTo>
                <a:lnTo>
                  <a:pt x="2346363" y="1318425"/>
                </a:lnTo>
                <a:lnTo>
                  <a:pt x="2315895" y="1341755"/>
                </a:lnTo>
                <a:lnTo>
                  <a:pt x="2309545" y="1343025"/>
                </a:lnTo>
                <a:lnTo>
                  <a:pt x="2302954" y="1343025"/>
                </a:lnTo>
                <a:lnTo>
                  <a:pt x="49717" y="1343025"/>
                </a:lnTo>
                <a:lnTo>
                  <a:pt x="43125" y="1343025"/>
                </a:lnTo>
                <a:lnTo>
                  <a:pt x="36785" y="1341755"/>
                </a:lnTo>
                <a:lnTo>
                  <a:pt x="6305" y="1318425"/>
                </a:lnTo>
                <a:lnTo>
                  <a:pt x="3784" y="1312329"/>
                </a:lnTo>
                <a:lnTo>
                  <a:pt x="1259"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6" name="object 6"/>
          <p:cNvSpPr txBox="1"/>
          <p:nvPr/>
        </p:nvSpPr>
        <p:spPr>
          <a:xfrm>
            <a:off x="767902" y="2698305"/>
            <a:ext cx="2022475" cy="977265"/>
          </a:xfrm>
          <a:prstGeom prst="rect">
            <a:avLst/>
          </a:prstGeom>
        </p:spPr>
        <p:txBody>
          <a:bodyPr vert="horz" wrap="square" lIns="0" tIns="12700" rIns="0" bIns="0" rtlCol="0">
            <a:spAutoFit/>
          </a:bodyPr>
          <a:lstStyle/>
          <a:p>
            <a:pPr marL="12700">
              <a:lnSpc>
                <a:spcPct val="100000"/>
              </a:lnSpc>
              <a:spcBef>
                <a:spcPts val="100"/>
              </a:spcBef>
            </a:pPr>
            <a:r>
              <a:rPr sz="1750" b="1" spc="-125" dirty="0">
                <a:solidFill>
                  <a:srgbClr val="3A3535"/>
                </a:solidFill>
                <a:latin typeface="Verdana"/>
                <a:cs typeface="Verdana"/>
              </a:rPr>
              <a:t>External</a:t>
            </a:r>
            <a:r>
              <a:rPr sz="1750" b="1" spc="-155" dirty="0">
                <a:solidFill>
                  <a:srgbClr val="3A3535"/>
                </a:solidFill>
                <a:latin typeface="Verdana"/>
                <a:cs typeface="Verdana"/>
              </a:rPr>
              <a:t> </a:t>
            </a:r>
            <a:r>
              <a:rPr sz="1750" b="1" spc="-20" dirty="0">
                <a:solidFill>
                  <a:srgbClr val="3A3535"/>
                </a:solidFill>
                <a:latin typeface="Verdana"/>
                <a:cs typeface="Verdana"/>
              </a:rPr>
              <a:t>Auth</a:t>
            </a:r>
            <a:endParaRPr sz="1750">
              <a:latin typeface="Verdana"/>
              <a:cs typeface="Verdana"/>
            </a:endParaRPr>
          </a:p>
          <a:p>
            <a:pPr marL="12700" marR="5080">
              <a:lnSpc>
                <a:spcPct val="134600"/>
              </a:lnSpc>
              <a:spcBef>
                <a:spcPts val="1185"/>
              </a:spcBef>
            </a:pPr>
            <a:r>
              <a:rPr sz="1300" spc="135" dirty="0">
                <a:solidFill>
                  <a:srgbClr val="3A3535"/>
                </a:solidFill>
                <a:latin typeface="Century Gothic"/>
                <a:cs typeface="Century Gothic"/>
              </a:rPr>
              <a:t>Fits</a:t>
            </a:r>
            <a:r>
              <a:rPr sz="1300" spc="-40" dirty="0">
                <a:solidFill>
                  <a:srgbClr val="3A3535"/>
                </a:solidFill>
                <a:latin typeface="Century Gothic"/>
                <a:cs typeface="Century Gothic"/>
              </a:rPr>
              <a:t> </a:t>
            </a:r>
            <a:r>
              <a:rPr sz="1300" spc="85" dirty="0">
                <a:solidFill>
                  <a:srgbClr val="3A3535"/>
                </a:solidFill>
                <a:latin typeface="Century Gothic"/>
                <a:cs typeface="Century Gothic"/>
              </a:rPr>
              <a:t>institutional</a:t>
            </a:r>
            <a:r>
              <a:rPr sz="1300" spc="-35" dirty="0">
                <a:solidFill>
                  <a:srgbClr val="3A3535"/>
                </a:solidFill>
                <a:latin typeface="Century Gothic"/>
                <a:cs typeface="Century Gothic"/>
              </a:rPr>
              <a:t> </a:t>
            </a:r>
            <a:r>
              <a:rPr sz="1300" spc="-10" dirty="0">
                <a:solidFill>
                  <a:srgbClr val="3A3535"/>
                </a:solidFill>
                <a:latin typeface="Century Gothic"/>
                <a:cs typeface="Century Gothic"/>
              </a:rPr>
              <a:t>access </a:t>
            </a:r>
            <a:r>
              <a:rPr sz="1300" spc="50" dirty="0">
                <a:solidFill>
                  <a:srgbClr val="3A3535"/>
                </a:solidFill>
                <a:latin typeface="Century Gothic"/>
                <a:cs typeface="Century Gothic"/>
              </a:rPr>
              <a:t>models</a:t>
            </a:r>
            <a:endParaRPr sz="1300">
              <a:latin typeface="Century Gothic"/>
              <a:cs typeface="Century Gothic"/>
            </a:endParaRPr>
          </a:p>
        </p:txBody>
      </p:sp>
      <p:sp>
        <p:nvSpPr>
          <p:cNvPr id="7" name="object 7"/>
          <p:cNvSpPr/>
          <p:nvPr/>
        </p:nvSpPr>
        <p:spPr>
          <a:xfrm>
            <a:off x="3143250" y="2543174"/>
            <a:ext cx="2352675" cy="1343025"/>
          </a:xfrm>
          <a:custGeom>
            <a:avLst/>
            <a:gdLst/>
            <a:ahLst/>
            <a:cxnLst/>
            <a:rect l="l" t="t" r="r" b="b"/>
            <a:pathLst>
              <a:path w="2352675" h="1343025">
                <a:moveTo>
                  <a:pt x="0" y="1293304"/>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293304"/>
                </a:lnTo>
                <a:lnTo>
                  <a:pt x="2352675" y="1299895"/>
                </a:lnTo>
                <a:lnTo>
                  <a:pt x="2351405" y="1306245"/>
                </a:lnTo>
                <a:lnTo>
                  <a:pt x="2328075" y="1336713"/>
                </a:lnTo>
                <a:lnTo>
                  <a:pt x="2309545" y="1343025"/>
                </a:lnTo>
                <a:lnTo>
                  <a:pt x="2302954" y="1343025"/>
                </a:lnTo>
                <a:lnTo>
                  <a:pt x="49720" y="1343025"/>
                </a:lnTo>
                <a:lnTo>
                  <a:pt x="43129" y="1343025"/>
                </a:lnTo>
                <a:lnTo>
                  <a:pt x="36779" y="1341755"/>
                </a:lnTo>
                <a:lnTo>
                  <a:pt x="6299" y="1318425"/>
                </a:lnTo>
                <a:lnTo>
                  <a:pt x="3784" y="1312329"/>
                </a:lnTo>
                <a:lnTo>
                  <a:pt x="1257"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8" name="object 8"/>
          <p:cNvSpPr txBox="1"/>
          <p:nvPr/>
        </p:nvSpPr>
        <p:spPr>
          <a:xfrm>
            <a:off x="3310635" y="2698305"/>
            <a:ext cx="1322070" cy="9772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Lab.js</a:t>
            </a:r>
            <a:endParaRPr sz="1750" dirty="0">
              <a:latin typeface="Verdana"/>
              <a:cs typeface="Verdana"/>
            </a:endParaRPr>
          </a:p>
          <a:p>
            <a:pPr marL="12700" marR="5080">
              <a:lnSpc>
                <a:spcPct val="134600"/>
              </a:lnSpc>
              <a:spcBef>
                <a:spcPts val="1185"/>
              </a:spcBef>
            </a:pPr>
            <a:r>
              <a:rPr sz="1300" spc="75" dirty="0">
                <a:solidFill>
                  <a:srgbClr val="3A3535"/>
                </a:solidFill>
                <a:latin typeface="Century Gothic"/>
                <a:cs typeface="Century Gothic"/>
              </a:rPr>
              <a:t>Browser-</a:t>
            </a:r>
            <a:r>
              <a:rPr sz="1300" spc="45" dirty="0">
                <a:solidFill>
                  <a:srgbClr val="3A3535"/>
                </a:solidFill>
                <a:latin typeface="Century Gothic"/>
                <a:cs typeface="Century Gothic"/>
              </a:rPr>
              <a:t>based </a:t>
            </a:r>
            <a:r>
              <a:rPr sz="1300" spc="55" dirty="0">
                <a:solidFill>
                  <a:srgbClr val="3A3535"/>
                </a:solidFill>
                <a:latin typeface="Century Gothic"/>
                <a:cs typeface="Century Gothic"/>
              </a:rPr>
              <a:t>experiments</a:t>
            </a:r>
            <a:endParaRPr sz="1300" dirty="0">
              <a:latin typeface="Century Gothic"/>
              <a:cs typeface="Century Gothic"/>
            </a:endParaRPr>
          </a:p>
        </p:txBody>
      </p:sp>
      <p:sp>
        <p:nvSpPr>
          <p:cNvPr id="9" name="object 9"/>
          <p:cNvSpPr/>
          <p:nvPr/>
        </p:nvSpPr>
        <p:spPr>
          <a:xfrm>
            <a:off x="600075" y="4076700"/>
            <a:ext cx="2352675" cy="1628775"/>
          </a:xfrm>
          <a:custGeom>
            <a:avLst/>
            <a:gdLst/>
            <a:ahLst/>
            <a:cxnLst/>
            <a:rect l="l" t="t" r="r" b="b"/>
            <a:pathLst>
              <a:path w="2352675" h="1628775">
                <a:moveTo>
                  <a:pt x="0" y="1579057"/>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579057"/>
                </a:lnTo>
                <a:lnTo>
                  <a:pt x="2352675" y="1585650"/>
                </a:lnTo>
                <a:lnTo>
                  <a:pt x="2351417" y="1591990"/>
                </a:lnTo>
                <a:lnTo>
                  <a:pt x="2348890" y="1598082"/>
                </a:lnTo>
                <a:lnTo>
                  <a:pt x="2346363" y="1604175"/>
                </a:lnTo>
                <a:lnTo>
                  <a:pt x="2321979" y="1624990"/>
                </a:lnTo>
                <a:lnTo>
                  <a:pt x="2315895" y="1627511"/>
                </a:lnTo>
                <a:lnTo>
                  <a:pt x="2309545" y="1628771"/>
                </a:lnTo>
                <a:lnTo>
                  <a:pt x="2302954" y="1628776"/>
                </a:lnTo>
                <a:lnTo>
                  <a:pt x="49717" y="1628776"/>
                </a:lnTo>
                <a:lnTo>
                  <a:pt x="9902" y="1609547"/>
                </a:lnTo>
                <a:lnTo>
                  <a:pt x="3784" y="1598082"/>
                </a:lnTo>
                <a:lnTo>
                  <a:pt x="1259"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0" name="object 10"/>
          <p:cNvSpPr txBox="1"/>
          <p:nvPr/>
        </p:nvSpPr>
        <p:spPr>
          <a:xfrm>
            <a:off x="767902" y="4231830"/>
            <a:ext cx="1871980" cy="977265"/>
          </a:xfrm>
          <a:prstGeom prst="rect">
            <a:avLst/>
          </a:prstGeom>
        </p:spPr>
        <p:txBody>
          <a:bodyPr vert="horz" wrap="square" lIns="0" tIns="12700" rIns="0" bIns="0" rtlCol="0">
            <a:spAutoFit/>
          </a:bodyPr>
          <a:lstStyle/>
          <a:p>
            <a:pPr marL="12700">
              <a:lnSpc>
                <a:spcPct val="100000"/>
              </a:lnSpc>
              <a:spcBef>
                <a:spcPts val="100"/>
              </a:spcBef>
            </a:pPr>
            <a:r>
              <a:rPr sz="1750" b="1" spc="-130" dirty="0">
                <a:solidFill>
                  <a:srgbClr val="3A3535"/>
                </a:solidFill>
                <a:latin typeface="Verdana"/>
                <a:cs typeface="Verdana"/>
              </a:rPr>
              <a:t>R</a:t>
            </a:r>
            <a:r>
              <a:rPr sz="1750" b="1" spc="-215" dirty="0">
                <a:solidFill>
                  <a:srgbClr val="3A3535"/>
                </a:solidFill>
                <a:latin typeface="Verdana"/>
                <a:cs typeface="Verdana"/>
              </a:rPr>
              <a:t> </a:t>
            </a:r>
            <a:r>
              <a:rPr sz="1750" b="1" spc="-25" dirty="0">
                <a:solidFill>
                  <a:srgbClr val="3A3535"/>
                </a:solidFill>
                <a:latin typeface="Verdana"/>
                <a:cs typeface="Verdana"/>
              </a:rPr>
              <a:t>Integration</a:t>
            </a:r>
            <a:endParaRPr sz="1750">
              <a:latin typeface="Verdana"/>
              <a:cs typeface="Verdana"/>
            </a:endParaRPr>
          </a:p>
          <a:p>
            <a:pPr marL="12700" marR="5080">
              <a:lnSpc>
                <a:spcPct val="134600"/>
              </a:lnSpc>
              <a:spcBef>
                <a:spcPts val="1185"/>
              </a:spcBef>
            </a:pPr>
            <a:r>
              <a:rPr sz="1300" spc="-10" dirty="0">
                <a:solidFill>
                  <a:srgbClr val="3A3535"/>
                </a:solidFill>
                <a:latin typeface="Century Gothic"/>
                <a:cs typeface="Century Gothic"/>
              </a:rPr>
              <a:t>Advanced</a:t>
            </a:r>
            <a:r>
              <a:rPr sz="1300" spc="-65" dirty="0">
                <a:solidFill>
                  <a:srgbClr val="3A3535"/>
                </a:solidFill>
                <a:latin typeface="Century Gothic"/>
                <a:cs typeface="Century Gothic"/>
              </a:rPr>
              <a:t> </a:t>
            </a:r>
            <a:r>
              <a:rPr sz="1300" spc="50" dirty="0">
                <a:solidFill>
                  <a:srgbClr val="3A3535"/>
                </a:solidFill>
                <a:latin typeface="Century Gothic"/>
                <a:cs typeface="Century Gothic"/>
              </a:rPr>
              <a:t>analysis</a:t>
            </a:r>
            <a:r>
              <a:rPr sz="1300" spc="-65" dirty="0">
                <a:solidFill>
                  <a:srgbClr val="3A3535"/>
                </a:solidFill>
                <a:latin typeface="Century Gothic"/>
                <a:cs typeface="Century Gothic"/>
              </a:rPr>
              <a:t> </a:t>
            </a:r>
            <a:r>
              <a:rPr sz="1300" spc="110" dirty="0">
                <a:solidFill>
                  <a:srgbClr val="3A3535"/>
                </a:solidFill>
                <a:latin typeface="Century Gothic"/>
                <a:cs typeface="Century Gothic"/>
              </a:rPr>
              <a:t>in-</a:t>
            </a:r>
            <a:r>
              <a:rPr sz="1300" spc="40" dirty="0">
                <a:solidFill>
                  <a:srgbClr val="3A3535"/>
                </a:solidFill>
                <a:latin typeface="Century Gothic"/>
                <a:cs typeface="Century Gothic"/>
              </a:rPr>
              <a:t>platform</a:t>
            </a:r>
            <a:endParaRPr sz="1300">
              <a:latin typeface="Century Gothic"/>
              <a:cs typeface="Century Gothic"/>
            </a:endParaRPr>
          </a:p>
        </p:txBody>
      </p:sp>
      <p:sp>
        <p:nvSpPr>
          <p:cNvPr id="11" name="object 11"/>
          <p:cNvSpPr/>
          <p:nvPr/>
        </p:nvSpPr>
        <p:spPr>
          <a:xfrm>
            <a:off x="3143250" y="4076700"/>
            <a:ext cx="2352675" cy="1628775"/>
          </a:xfrm>
          <a:custGeom>
            <a:avLst/>
            <a:gdLst/>
            <a:ahLst/>
            <a:cxnLst/>
            <a:rect l="l" t="t" r="r" b="b"/>
            <a:pathLst>
              <a:path w="2352675" h="1628775">
                <a:moveTo>
                  <a:pt x="0" y="1579057"/>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579057"/>
                </a:lnTo>
                <a:lnTo>
                  <a:pt x="2352675" y="1585650"/>
                </a:lnTo>
                <a:lnTo>
                  <a:pt x="2351405" y="1591990"/>
                </a:lnTo>
                <a:lnTo>
                  <a:pt x="2328075" y="1622465"/>
                </a:lnTo>
                <a:lnTo>
                  <a:pt x="2321979" y="1624990"/>
                </a:lnTo>
                <a:lnTo>
                  <a:pt x="2315895" y="1627511"/>
                </a:lnTo>
                <a:lnTo>
                  <a:pt x="2309545" y="1628771"/>
                </a:lnTo>
                <a:lnTo>
                  <a:pt x="2302954" y="1628776"/>
                </a:lnTo>
                <a:lnTo>
                  <a:pt x="49720" y="1628776"/>
                </a:lnTo>
                <a:lnTo>
                  <a:pt x="43129" y="1628771"/>
                </a:lnTo>
                <a:lnTo>
                  <a:pt x="36779" y="1627511"/>
                </a:lnTo>
                <a:lnTo>
                  <a:pt x="30695" y="1624990"/>
                </a:lnTo>
                <a:lnTo>
                  <a:pt x="24599" y="1622465"/>
                </a:lnTo>
                <a:lnTo>
                  <a:pt x="3784" y="1598082"/>
                </a:lnTo>
                <a:lnTo>
                  <a:pt x="1257"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2" name="object 12"/>
          <p:cNvSpPr txBox="1"/>
          <p:nvPr/>
        </p:nvSpPr>
        <p:spPr>
          <a:xfrm>
            <a:off x="3310635" y="4231830"/>
            <a:ext cx="1744980" cy="1253490"/>
          </a:xfrm>
          <a:prstGeom prst="rect">
            <a:avLst/>
          </a:prstGeom>
        </p:spPr>
        <p:txBody>
          <a:bodyPr vert="horz" wrap="square" lIns="0" tIns="3175" rIns="0" bIns="0" rtlCol="0">
            <a:spAutoFit/>
          </a:bodyPr>
          <a:lstStyle/>
          <a:p>
            <a:pPr marL="12700" marR="676910">
              <a:lnSpc>
                <a:spcPct val="103600"/>
              </a:lnSpc>
              <a:spcBef>
                <a:spcPts val="25"/>
              </a:spcBef>
            </a:pPr>
            <a:r>
              <a:rPr sz="1750" b="1" spc="-10" dirty="0">
                <a:solidFill>
                  <a:srgbClr val="3A3535"/>
                </a:solidFill>
                <a:latin typeface="Verdana"/>
                <a:cs typeface="Verdana"/>
              </a:rPr>
              <a:t>Custom </a:t>
            </a:r>
            <a:r>
              <a:rPr sz="1750" b="1" spc="-120" dirty="0">
                <a:solidFill>
                  <a:srgbClr val="3A3535"/>
                </a:solidFill>
                <a:latin typeface="Verdana"/>
                <a:cs typeface="Verdana"/>
              </a:rPr>
              <a:t>Formulas</a:t>
            </a:r>
            <a:endParaRPr sz="1750">
              <a:latin typeface="Verdana"/>
              <a:cs typeface="Verdana"/>
            </a:endParaRPr>
          </a:p>
          <a:p>
            <a:pPr marL="12700" marR="5080">
              <a:lnSpc>
                <a:spcPct val="134600"/>
              </a:lnSpc>
              <a:spcBef>
                <a:spcPts val="1185"/>
              </a:spcBef>
            </a:pPr>
            <a:r>
              <a:rPr sz="1300" spc="90" dirty="0">
                <a:solidFill>
                  <a:srgbClr val="3A3535"/>
                </a:solidFill>
                <a:latin typeface="Century Gothic"/>
                <a:cs typeface="Century Gothic"/>
              </a:rPr>
              <a:t>Scoring</a:t>
            </a:r>
            <a:r>
              <a:rPr sz="1300" spc="-5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10" dirty="0">
                <a:solidFill>
                  <a:srgbClr val="3A3535"/>
                </a:solidFill>
                <a:latin typeface="Century Gothic"/>
                <a:cs typeface="Century Gothic"/>
              </a:rPr>
              <a:t>derived values</a:t>
            </a:r>
            <a:endParaRPr sz="1300">
              <a:latin typeface="Century Gothic"/>
              <a:cs typeface="Century Gothic"/>
            </a:endParaRPr>
          </a:p>
        </p:txBody>
      </p:sp>
      <p:sp>
        <p:nvSpPr>
          <p:cNvPr id="13" name="object 13"/>
          <p:cNvSpPr/>
          <p:nvPr/>
        </p:nvSpPr>
        <p:spPr>
          <a:xfrm>
            <a:off x="5810250" y="1895474"/>
            <a:ext cx="5162550" cy="4010025"/>
          </a:xfrm>
          <a:custGeom>
            <a:avLst/>
            <a:gdLst/>
            <a:ahLst/>
            <a:cxnLst/>
            <a:rect l="l" t="t" r="r" b="b"/>
            <a:pathLst>
              <a:path w="5162550" h="4010025">
                <a:moveTo>
                  <a:pt x="5067655" y="0"/>
                </a:moveTo>
                <a:lnTo>
                  <a:pt x="94894" y="0"/>
                </a:lnTo>
                <a:lnTo>
                  <a:pt x="88290" y="647"/>
                </a:lnTo>
                <a:lnTo>
                  <a:pt x="50685" y="13411"/>
                </a:lnTo>
                <a:lnTo>
                  <a:pt x="20815" y="39585"/>
                </a:lnTo>
                <a:lnTo>
                  <a:pt x="3251" y="75209"/>
                </a:lnTo>
                <a:lnTo>
                  <a:pt x="0" y="94894"/>
                </a:lnTo>
                <a:lnTo>
                  <a:pt x="0" y="3908465"/>
                </a:lnTo>
                <a:lnTo>
                  <a:pt x="0" y="3915133"/>
                </a:lnTo>
                <a:lnTo>
                  <a:pt x="10287" y="3953491"/>
                </a:lnTo>
                <a:lnTo>
                  <a:pt x="34467" y="3984993"/>
                </a:lnTo>
                <a:lnTo>
                  <a:pt x="68846" y="4004847"/>
                </a:lnTo>
                <a:lnTo>
                  <a:pt x="94894" y="4010026"/>
                </a:lnTo>
                <a:lnTo>
                  <a:pt x="5067655" y="4010026"/>
                </a:lnTo>
                <a:lnTo>
                  <a:pt x="5106009" y="3999741"/>
                </a:lnTo>
                <a:lnTo>
                  <a:pt x="5137518" y="3975562"/>
                </a:lnTo>
                <a:lnTo>
                  <a:pt x="5157368" y="3941168"/>
                </a:lnTo>
                <a:lnTo>
                  <a:pt x="5162550" y="3915133"/>
                </a:lnTo>
                <a:lnTo>
                  <a:pt x="5162550" y="94894"/>
                </a:lnTo>
                <a:lnTo>
                  <a:pt x="5152263" y="56527"/>
                </a:lnTo>
                <a:lnTo>
                  <a:pt x="5128082" y="25031"/>
                </a:lnTo>
                <a:lnTo>
                  <a:pt x="5093690" y="5181"/>
                </a:lnTo>
                <a:lnTo>
                  <a:pt x="5074259" y="647"/>
                </a:lnTo>
                <a:lnTo>
                  <a:pt x="5067655" y="0"/>
                </a:lnTo>
                <a:close/>
              </a:path>
            </a:pathLst>
          </a:custGeom>
          <a:solidFill>
            <a:srgbClr val="F9D2D6"/>
          </a:solidFill>
        </p:spPr>
        <p:txBody>
          <a:bodyPr wrap="square" lIns="0" tIns="0" rIns="0" bIns="0" rtlCol="0"/>
          <a:lstStyle/>
          <a:p>
            <a:endParaRPr/>
          </a:p>
        </p:txBody>
      </p:sp>
      <p:sp>
        <p:nvSpPr>
          <p:cNvPr id="14" name="object 14"/>
          <p:cNvSpPr txBox="1"/>
          <p:nvPr/>
        </p:nvSpPr>
        <p:spPr>
          <a:xfrm>
            <a:off x="5965571" y="2041080"/>
            <a:ext cx="4077335" cy="71056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1F1E1E"/>
                </a:solidFill>
                <a:latin typeface="Verdana"/>
                <a:cs typeface="Verdana"/>
              </a:rPr>
              <a:t>3</a:t>
            </a:r>
            <a:r>
              <a:rPr sz="1750" b="1" spc="-195" dirty="0">
                <a:solidFill>
                  <a:srgbClr val="1F1E1E"/>
                </a:solidFill>
                <a:latin typeface="Verdana"/>
                <a:cs typeface="Verdana"/>
              </a:rPr>
              <a:t> </a:t>
            </a:r>
            <a:r>
              <a:rPr sz="1750" b="1" spc="-114" dirty="0">
                <a:solidFill>
                  <a:srgbClr val="1F1E1E"/>
                </a:solidFill>
                <a:latin typeface="Verdana"/>
                <a:cs typeface="Verdana"/>
              </a:rPr>
              <a:t>Featured</a:t>
            </a:r>
            <a:r>
              <a:rPr sz="1750" b="1" spc="-190" dirty="0">
                <a:solidFill>
                  <a:srgbClr val="1F1E1E"/>
                </a:solidFill>
                <a:latin typeface="Verdana"/>
                <a:cs typeface="Verdana"/>
              </a:rPr>
              <a:t> </a:t>
            </a:r>
            <a:r>
              <a:rPr sz="1750" b="1" spc="-10" dirty="0">
                <a:solidFill>
                  <a:srgbClr val="1F1E1E"/>
                </a:solidFill>
                <a:latin typeface="Verdana"/>
                <a:cs typeface="Verdana"/>
              </a:rPr>
              <a:t>Plugins</a:t>
            </a:r>
            <a:endParaRPr sz="1750" dirty="0">
              <a:latin typeface="Verdana"/>
              <a:cs typeface="Verdana"/>
            </a:endParaRPr>
          </a:p>
          <a:p>
            <a:pPr marL="12700">
              <a:lnSpc>
                <a:spcPct val="100000"/>
              </a:lnSpc>
              <a:spcBef>
                <a:spcPts val="1725"/>
              </a:spcBef>
            </a:pPr>
            <a:r>
              <a:rPr sz="1300" b="1" spc="-45" dirty="0">
                <a:solidFill>
                  <a:srgbClr val="3A3535"/>
                </a:solidFill>
                <a:latin typeface="Verdana"/>
                <a:cs typeface="Verdana"/>
              </a:rPr>
              <a:t>SurveyJS</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20" dirty="0">
                <a:solidFill>
                  <a:srgbClr val="3A3535"/>
                </a:solidFill>
                <a:latin typeface="Century Gothic"/>
                <a:cs typeface="Century Gothic"/>
              </a:rPr>
              <a:t> </a:t>
            </a:r>
            <a:r>
              <a:rPr sz="1300" spc="55" dirty="0">
                <a:solidFill>
                  <a:srgbClr val="3A3535"/>
                </a:solidFill>
                <a:latin typeface="Century Gothic"/>
                <a:cs typeface="Century Gothic"/>
              </a:rPr>
              <a:t>longitudinal</a:t>
            </a:r>
            <a:r>
              <a:rPr sz="1300" spc="-25" dirty="0">
                <a:solidFill>
                  <a:srgbClr val="3A3535"/>
                </a:solidFill>
                <a:latin typeface="Century Gothic"/>
                <a:cs typeface="Century Gothic"/>
              </a:rPr>
              <a:t> </a:t>
            </a:r>
            <a:r>
              <a:rPr sz="1300" spc="70" dirty="0">
                <a:solidFill>
                  <a:srgbClr val="3A3535"/>
                </a:solidFill>
                <a:latin typeface="Century Gothic"/>
                <a:cs typeface="Century Gothic"/>
              </a:rPr>
              <a:t>assessment</a:t>
            </a:r>
            <a:endParaRPr sz="1300" dirty="0">
              <a:latin typeface="Century Gothic"/>
              <a:cs typeface="Century Gothic"/>
            </a:endParaRPr>
          </a:p>
        </p:txBody>
      </p:sp>
      <p:sp>
        <p:nvSpPr>
          <p:cNvPr id="15" name="object 15"/>
          <p:cNvSpPr txBox="1"/>
          <p:nvPr/>
        </p:nvSpPr>
        <p:spPr>
          <a:xfrm>
            <a:off x="5965571" y="2942247"/>
            <a:ext cx="2603500"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2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5" dirty="0">
                <a:solidFill>
                  <a:srgbClr val="3A3535"/>
                </a:solidFill>
                <a:latin typeface="Century Gothic"/>
                <a:cs typeface="Century Gothic"/>
              </a:rPr>
              <a:t> </a:t>
            </a:r>
            <a:r>
              <a:rPr sz="1300" spc="85" dirty="0">
                <a:solidFill>
                  <a:srgbClr val="3A3535"/>
                </a:solidFill>
                <a:latin typeface="Century Gothic"/>
                <a:cs typeface="Century Gothic"/>
              </a:rPr>
              <a:t>assistants</a:t>
            </a:r>
            <a:endParaRPr sz="1300">
              <a:latin typeface="Century Gothic"/>
              <a:cs typeface="Century Gothic"/>
            </a:endParaRPr>
          </a:p>
        </p:txBody>
      </p:sp>
      <p:sp>
        <p:nvSpPr>
          <p:cNvPr id="16" name="object 16"/>
          <p:cNvSpPr txBox="1"/>
          <p:nvPr/>
        </p:nvSpPr>
        <p:spPr>
          <a:xfrm>
            <a:off x="5965571" y="3361347"/>
            <a:ext cx="4125595"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50" dirty="0">
                <a:solidFill>
                  <a:srgbClr val="3A3535"/>
                </a:solidFill>
                <a:latin typeface="Verdana"/>
                <a:cs typeface="Verdana"/>
              </a:rPr>
              <a:t> </a:t>
            </a:r>
            <a:r>
              <a:rPr sz="1300" b="1" spc="-70" dirty="0">
                <a:solidFill>
                  <a:srgbClr val="3A3535"/>
                </a:solidFill>
                <a:latin typeface="Verdana"/>
                <a:cs typeface="Verdana"/>
              </a:rPr>
              <a:t>Therapy</a:t>
            </a:r>
            <a:r>
              <a:rPr sz="1300" b="1" spc="-145" dirty="0">
                <a:solidFill>
                  <a:srgbClr val="3A3535"/>
                </a:solidFill>
                <a:latin typeface="Verdana"/>
                <a:cs typeface="Verdana"/>
              </a:rPr>
              <a:t> </a:t>
            </a:r>
            <a:r>
              <a:rPr sz="1300" b="1" spc="-10" dirty="0">
                <a:solidFill>
                  <a:srgbClr val="3A3535"/>
                </a:solidFill>
                <a:latin typeface="Verdana"/>
                <a:cs typeface="Verdana"/>
              </a:rPr>
              <a:t>Chat</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supervised</a:t>
            </a:r>
            <a:r>
              <a:rPr sz="1300" spc="-30" dirty="0">
                <a:solidFill>
                  <a:srgbClr val="3A3535"/>
                </a:solidFill>
                <a:latin typeface="Century Gothic"/>
                <a:cs typeface="Century Gothic"/>
              </a:rPr>
              <a:t> </a:t>
            </a:r>
            <a:r>
              <a:rPr sz="1300" spc="-10" dirty="0">
                <a:solidFill>
                  <a:srgbClr val="3A3535"/>
                </a:solidFill>
                <a:latin typeface="Century Gothic"/>
                <a:cs typeface="Century Gothic"/>
              </a:rPr>
              <a:t>communication</a:t>
            </a:r>
            <a:endParaRPr sz="1300">
              <a:latin typeface="Century Gothic"/>
              <a:cs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75" dirty="0"/>
              <a:t>Plugin</a:t>
            </a:r>
            <a:r>
              <a:rPr spc="-409" dirty="0"/>
              <a:t> </a:t>
            </a:r>
            <a:r>
              <a:rPr spc="-745" dirty="0"/>
              <a:t>1:</a:t>
            </a:r>
            <a:r>
              <a:rPr spc="-405" dirty="0"/>
              <a:t> </a:t>
            </a:r>
            <a:r>
              <a:rPr spc="-140" dirty="0"/>
              <a:t>SurveyJS</a:t>
            </a:r>
          </a:p>
        </p:txBody>
      </p:sp>
      <p:sp>
        <p:nvSpPr>
          <p:cNvPr id="3" name="object 3"/>
          <p:cNvSpPr/>
          <p:nvPr/>
        </p:nvSpPr>
        <p:spPr>
          <a:xfrm>
            <a:off x="628650" y="28575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4" name="object 4"/>
          <p:cNvSpPr/>
          <p:nvPr/>
        </p:nvSpPr>
        <p:spPr>
          <a:xfrm>
            <a:off x="628650" y="31813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5" name="object 5"/>
          <p:cNvSpPr/>
          <p:nvPr/>
        </p:nvSpPr>
        <p:spPr>
          <a:xfrm>
            <a:off x="628650" y="351472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579635" y="1707075"/>
            <a:ext cx="4725670" cy="2197100"/>
          </a:xfrm>
          <a:prstGeom prst="rect">
            <a:avLst/>
          </a:prstGeom>
        </p:spPr>
        <p:txBody>
          <a:bodyPr vert="horz" wrap="square" lIns="0" tIns="16510" rIns="0" bIns="0" rtlCol="0">
            <a:spAutoFit/>
          </a:bodyPr>
          <a:lstStyle/>
          <a:p>
            <a:pPr marL="12700" marR="5080">
              <a:lnSpc>
                <a:spcPct val="137000"/>
              </a:lnSpc>
              <a:spcBef>
                <a:spcPts val="130"/>
              </a:spcBef>
            </a:pPr>
            <a:r>
              <a:rPr sz="1300" spc="114" dirty="0">
                <a:solidFill>
                  <a:srgbClr val="3A3535"/>
                </a:solidFill>
                <a:latin typeface="Century Gothic"/>
                <a:cs typeface="Century Gothic"/>
              </a:rPr>
              <a:t>SurveyJS</a:t>
            </a:r>
            <a:r>
              <a:rPr sz="1300" spc="-5" dirty="0">
                <a:solidFill>
                  <a:srgbClr val="3A3535"/>
                </a:solidFill>
                <a:latin typeface="Century Gothic"/>
                <a:cs typeface="Century Gothic"/>
              </a:rPr>
              <a:t> </a:t>
            </a:r>
            <a:r>
              <a:rPr sz="1300" dirty="0">
                <a:solidFill>
                  <a:srgbClr val="3A3535"/>
                </a:solidFill>
                <a:latin typeface="Century Gothic"/>
                <a:cs typeface="Century Gothic"/>
              </a:rPr>
              <a:t>moves</a:t>
            </a:r>
            <a:r>
              <a:rPr sz="1300" spc="-5" dirty="0">
                <a:solidFill>
                  <a:srgbClr val="3A3535"/>
                </a:solidFill>
                <a:latin typeface="Century Gothic"/>
                <a:cs typeface="Century Gothic"/>
              </a:rPr>
              <a:t> </a:t>
            </a:r>
            <a:r>
              <a:rPr sz="1300" dirty="0">
                <a:solidFill>
                  <a:srgbClr val="3A3535"/>
                </a:solidFill>
                <a:latin typeface="Century Gothic"/>
                <a:cs typeface="Century Gothic"/>
              </a:rPr>
              <a:t>beyond</a:t>
            </a:r>
            <a:r>
              <a:rPr sz="1300" spc="-5" dirty="0">
                <a:solidFill>
                  <a:srgbClr val="3A3535"/>
                </a:solidFill>
                <a:latin typeface="Century Gothic"/>
                <a:cs typeface="Century Gothic"/>
              </a:rPr>
              <a:t> </a:t>
            </a:r>
            <a:r>
              <a:rPr sz="1300" spc="75" dirty="0">
                <a:solidFill>
                  <a:srgbClr val="3A3535"/>
                </a:solidFill>
                <a:latin typeface="Century Gothic"/>
                <a:cs typeface="Century Gothic"/>
              </a:rPr>
              <a:t>simple</a:t>
            </a:r>
            <a:r>
              <a:rPr sz="1300" spc="-5" dirty="0">
                <a:solidFill>
                  <a:srgbClr val="3A3535"/>
                </a:solidFill>
                <a:latin typeface="Century Gothic"/>
                <a:cs typeface="Century Gothic"/>
              </a:rPr>
              <a:t> </a:t>
            </a:r>
            <a:r>
              <a:rPr sz="1300" spc="100" dirty="0">
                <a:solidFill>
                  <a:srgbClr val="3A3535"/>
                </a:solidFill>
                <a:latin typeface="Century Gothic"/>
                <a:cs typeface="Century Gothic"/>
              </a:rPr>
              <a:t>forms</a:t>
            </a:r>
            <a:r>
              <a:rPr sz="1300"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75" dirty="0">
                <a:solidFill>
                  <a:srgbClr val="3A3535"/>
                </a:solidFill>
                <a:latin typeface="Century Gothic"/>
                <a:cs typeface="Century Gothic"/>
              </a:rPr>
              <a:t>surveys</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5" dirty="0">
                <a:solidFill>
                  <a:srgbClr val="3A3535"/>
                </a:solidFill>
                <a:latin typeface="Century Gothic"/>
                <a:cs typeface="Century Gothic"/>
              </a:rPr>
              <a:t> </a:t>
            </a:r>
            <a:r>
              <a:rPr sz="1300" spc="-25" dirty="0">
                <a:solidFill>
                  <a:srgbClr val="3A3535"/>
                </a:solidFill>
                <a:latin typeface="Century Gothic"/>
                <a:cs typeface="Century Gothic"/>
              </a:rPr>
              <a:t>be </a:t>
            </a:r>
            <a:r>
              <a:rPr sz="1300" b="1" spc="-50" dirty="0">
                <a:solidFill>
                  <a:srgbClr val="3A3535"/>
                </a:solidFill>
                <a:latin typeface="Verdana"/>
                <a:cs typeface="Verdana"/>
              </a:rPr>
              <a:t>versioned,</a:t>
            </a:r>
            <a:r>
              <a:rPr sz="1300" b="1" spc="-120" dirty="0">
                <a:solidFill>
                  <a:srgbClr val="3A3535"/>
                </a:solidFill>
                <a:latin typeface="Verdana"/>
                <a:cs typeface="Verdana"/>
              </a:rPr>
              <a:t> </a:t>
            </a:r>
            <a:r>
              <a:rPr sz="1300" b="1" spc="-40" dirty="0">
                <a:solidFill>
                  <a:srgbClr val="3A3535"/>
                </a:solidFill>
                <a:latin typeface="Verdana"/>
                <a:cs typeface="Verdana"/>
              </a:rPr>
              <a:t>scheduled,</a:t>
            </a:r>
            <a:r>
              <a:rPr sz="1300" b="1" spc="-114" dirty="0">
                <a:solidFill>
                  <a:srgbClr val="3A3535"/>
                </a:solidFill>
                <a:latin typeface="Verdana"/>
                <a:cs typeface="Verdana"/>
              </a:rPr>
              <a:t> </a:t>
            </a:r>
            <a:r>
              <a:rPr sz="1300" b="1" spc="-30" dirty="0">
                <a:solidFill>
                  <a:srgbClr val="3A3535"/>
                </a:solidFill>
                <a:latin typeface="Verdana"/>
                <a:cs typeface="Verdana"/>
              </a:rPr>
              <a:t>edited,</a:t>
            </a:r>
            <a:r>
              <a:rPr sz="1300" b="1" spc="-114" dirty="0">
                <a:solidFill>
                  <a:srgbClr val="3A3535"/>
                </a:solidFill>
                <a:latin typeface="Verdana"/>
                <a:cs typeface="Verdana"/>
              </a:rPr>
              <a:t> </a:t>
            </a:r>
            <a:r>
              <a:rPr sz="1300" b="1" spc="-45" dirty="0">
                <a:solidFill>
                  <a:srgbClr val="3A3535"/>
                </a:solidFill>
                <a:latin typeface="Verdana"/>
                <a:cs typeface="Verdana"/>
              </a:rPr>
              <a:t>and</a:t>
            </a:r>
            <a:r>
              <a:rPr sz="1300" b="1" spc="-114" dirty="0">
                <a:solidFill>
                  <a:srgbClr val="3A3535"/>
                </a:solidFill>
                <a:latin typeface="Verdana"/>
                <a:cs typeface="Verdana"/>
              </a:rPr>
              <a:t> </a:t>
            </a:r>
            <a:r>
              <a:rPr sz="1300" b="1" spc="-10" dirty="0">
                <a:solidFill>
                  <a:srgbClr val="3A3535"/>
                </a:solidFill>
                <a:latin typeface="Verdana"/>
                <a:cs typeface="Verdana"/>
              </a:rPr>
              <a:t>connected</a:t>
            </a:r>
            <a:r>
              <a:rPr sz="1300" b="1" spc="-114" dirty="0">
                <a:solidFill>
                  <a:srgbClr val="3A3535"/>
                </a:solidFill>
                <a:latin typeface="Verdana"/>
                <a:cs typeface="Verdana"/>
              </a:rPr>
              <a:t> </a:t>
            </a:r>
            <a:r>
              <a:rPr sz="1300" b="1" spc="-25" dirty="0">
                <a:solidFill>
                  <a:srgbClr val="3A3535"/>
                </a:solidFill>
                <a:latin typeface="Verdana"/>
                <a:cs typeface="Verdana"/>
              </a:rPr>
              <a:t>to </a:t>
            </a:r>
            <a:r>
              <a:rPr sz="1300" b="1" spc="-35" dirty="0">
                <a:solidFill>
                  <a:srgbClr val="3A3535"/>
                </a:solidFill>
                <a:latin typeface="Verdana"/>
                <a:cs typeface="Verdana"/>
              </a:rPr>
              <a:t>dashboards</a:t>
            </a:r>
            <a:r>
              <a:rPr sz="1300" b="1" spc="-70" dirty="0">
                <a:solidFill>
                  <a:srgbClr val="3A3535"/>
                </a:solidFill>
                <a:latin typeface="Verdana"/>
                <a:cs typeface="Verdana"/>
              </a:rPr>
              <a:t> </a:t>
            </a:r>
            <a:r>
              <a:rPr sz="1300" spc="80" dirty="0">
                <a:solidFill>
                  <a:srgbClr val="3A3535"/>
                </a:solidFill>
                <a:latin typeface="Century Gothic"/>
                <a:cs typeface="Century Gothic"/>
              </a:rPr>
              <a:t>inside</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a:p>
            <a:pPr>
              <a:lnSpc>
                <a:spcPct val="100000"/>
              </a:lnSpc>
              <a:spcBef>
                <a:spcPts val="220"/>
              </a:spcBef>
            </a:pPr>
            <a:endParaRPr sz="1300">
              <a:latin typeface="Century Gothic"/>
              <a:cs typeface="Century Gothic"/>
            </a:endParaRPr>
          </a:p>
          <a:p>
            <a:pPr marL="283210">
              <a:lnSpc>
                <a:spcPct val="100000"/>
              </a:lnSpc>
            </a:pPr>
            <a:r>
              <a:rPr sz="1300" dirty="0">
                <a:solidFill>
                  <a:srgbClr val="3A3535"/>
                </a:solidFill>
                <a:latin typeface="Century Gothic"/>
                <a:cs typeface="Century Gothic"/>
              </a:rPr>
              <a:t>Autosave,</a:t>
            </a:r>
            <a:r>
              <a:rPr sz="1300" spc="-5" dirty="0">
                <a:solidFill>
                  <a:srgbClr val="3A3535"/>
                </a:solidFill>
                <a:latin typeface="Century Gothic"/>
                <a:cs typeface="Century Gothic"/>
              </a:rPr>
              <a:t> </a:t>
            </a:r>
            <a:r>
              <a:rPr sz="1300" spc="60" dirty="0">
                <a:solidFill>
                  <a:srgbClr val="3A3535"/>
                </a:solidFill>
                <a:latin typeface="Century Gothic"/>
                <a:cs typeface="Century Gothic"/>
              </a:rPr>
              <a:t>edit</a:t>
            </a:r>
            <a:r>
              <a:rPr sz="1300" spc="-5" dirty="0">
                <a:solidFill>
                  <a:srgbClr val="3A3535"/>
                </a:solidFill>
                <a:latin typeface="Century Gothic"/>
                <a:cs typeface="Century Gothic"/>
              </a:rPr>
              <a:t> </a:t>
            </a:r>
            <a:r>
              <a:rPr sz="1300" dirty="0">
                <a:solidFill>
                  <a:srgbClr val="3A3535"/>
                </a:solidFill>
                <a:latin typeface="Century Gothic"/>
                <a:cs typeface="Century Gothic"/>
              </a:rPr>
              <a:t>mode,</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a:t>
            </a:r>
            <a:r>
              <a:rPr sz="1300"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5" dirty="0">
                <a:solidFill>
                  <a:srgbClr val="3A3535"/>
                </a:solidFill>
                <a:latin typeface="Century Gothic"/>
                <a:cs typeface="Century Gothic"/>
              </a:rPr>
              <a:t> </a:t>
            </a:r>
            <a:r>
              <a:rPr sz="1300" spc="-10" dirty="0">
                <a:solidFill>
                  <a:srgbClr val="3A3535"/>
                </a:solidFill>
                <a:latin typeface="Century Gothic"/>
                <a:cs typeface="Century Gothic"/>
              </a:rPr>
              <a:t>metadata</a:t>
            </a:r>
            <a:endParaRPr sz="1300">
              <a:latin typeface="Century Gothic"/>
              <a:cs typeface="Century Gothic"/>
            </a:endParaRPr>
          </a:p>
          <a:p>
            <a:pPr marL="283210">
              <a:lnSpc>
                <a:spcPct val="100000"/>
              </a:lnSpc>
              <a:spcBef>
                <a:spcPts val="990"/>
              </a:spcBef>
            </a:pPr>
            <a:r>
              <a:rPr sz="1300" spc="70" dirty="0">
                <a:solidFill>
                  <a:srgbClr val="3A3535"/>
                </a:solidFill>
                <a:latin typeface="Century Gothic"/>
                <a:cs typeface="Century Gothic"/>
              </a:rPr>
              <a:t>File</a:t>
            </a:r>
            <a:r>
              <a:rPr sz="1300" spc="-10" dirty="0">
                <a:solidFill>
                  <a:srgbClr val="3A3535"/>
                </a:solidFill>
                <a:latin typeface="Century Gothic"/>
                <a:cs typeface="Century Gothic"/>
              </a:rPr>
              <a:t> </a:t>
            </a:r>
            <a:r>
              <a:rPr sz="1300" dirty="0">
                <a:solidFill>
                  <a:srgbClr val="3A3535"/>
                </a:solidFill>
                <a:latin typeface="Century Gothic"/>
                <a:cs typeface="Century Gothic"/>
              </a:rPr>
              <a:t>upload,</a:t>
            </a:r>
            <a:r>
              <a:rPr sz="1300" spc="-10" dirty="0">
                <a:solidFill>
                  <a:srgbClr val="3A3535"/>
                </a:solidFill>
                <a:latin typeface="Century Gothic"/>
                <a:cs typeface="Century Gothic"/>
              </a:rPr>
              <a:t> </a:t>
            </a:r>
            <a:r>
              <a:rPr sz="1300" spc="85" dirty="0">
                <a:solidFill>
                  <a:srgbClr val="3A3535"/>
                </a:solidFill>
                <a:latin typeface="Century Gothic"/>
                <a:cs typeface="Century Gothic"/>
              </a:rPr>
              <a:t>PDF</a:t>
            </a:r>
            <a:r>
              <a:rPr sz="1300" spc="-10" dirty="0">
                <a:solidFill>
                  <a:srgbClr val="3A3535"/>
                </a:solidFill>
                <a:latin typeface="Century Gothic"/>
                <a:cs typeface="Century Gothic"/>
              </a:rPr>
              <a:t> </a:t>
            </a:r>
            <a:r>
              <a:rPr sz="1300" spc="50" dirty="0">
                <a:solidFill>
                  <a:srgbClr val="3A3535"/>
                </a:solidFill>
                <a:latin typeface="Century Gothic"/>
                <a:cs typeface="Century Gothic"/>
              </a:rPr>
              <a:t>export,</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 </a:t>
            </a:r>
            <a:r>
              <a:rPr sz="1300" spc="65" dirty="0">
                <a:solidFill>
                  <a:srgbClr val="3A3535"/>
                </a:solidFill>
                <a:latin typeface="Century Gothic"/>
                <a:cs typeface="Century Gothic"/>
              </a:rPr>
              <a:t>voice-</a:t>
            </a:r>
            <a:r>
              <a:rPr sz="1300" dirty="0">
                <a:solidFill>
                  <a:srgbClr val="3A3535"/>
                </a:solidFill>
                <a:latin typeface="Century Gothic"/>
                <a:cs typeface="Century Gothic"/>
              </a:rPr>
              <a:t>record</a:t>
            </a:r>
            <a:r>
              <a:rPr sz="1300" spc="-1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a:p>
            <a:pPr marL="283210" marR="120014">
              <a:lnSpc>
                <a:spcPct val="134600"/>
              </a:lnSpc>
              <a:spcBef>
                <a:spcPts val="525"/>
              </a:spcBef>
            </a:pPr>
            <a:r>
              <a:rPr sz="1300" spc="95" dirty="0">
                <a:solidFill>
                  <a:srgbClr val="3A3535"/>
                </a:solidFill>
                <a:latin typeface="Century Gothic"/>
                <a:cs typeface="Century Gothic"/>
              </a:rPr>
              <a:t>Stronger</a:t>
            </a:r>
            <a:r>
              <a:rPr sz="1300" spc="5" dirty="0">
                <a:solidFill>
                  <a:srgbClr val="3A3535"/>
                </a:solidFill>
                <a:latin typeface="Century Gothic"/>
                <a:cs typeface="Century Gothic"/>
              </a:rPr>
              <a:t> </a:t>
            </a:r>
            <a:r>
              <a:rPr sz="1300" spc="-40" dirty="0">
                <a:solidFill>
                  <a:srgbClr val="3A3535"/>
                </a:solidFill>
                <a:latin typeface="Century Gothic"/>
                <a:cs typeface="Century Gothic"/>
              </a:rPr>
              <a:t>data</a:t>
            </a:r>
            <a:r>
              <a:rPr sz="1300" spc="5" dirty="0">
                <a:solidFill>
                  <a:srgbClr val="3A3535"/>
                </a:solidFill>
                <a:latin typeface="Century Gothic"/>
                <a:cs typeface="Century Gothic"/>
              </a:rPr>
              <a:t> </a:t>
            </a:r>
            <a:r>
              <a:rPr sz="1300" dirty="0">
                <a:solidFill>
                  <a:srgbClr val="3A3535"/>
                </a:solidFill>
                <a:latin typeface="Century Gothic"/>
                <a:cs typeface="Century Gothic"/>
              </a:rPr>
              <a:t>quality</a:t>
            </a:r>
            <a:r>
              <a:rPr sz="1300" spc="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5" dirty="0">
                <a:solidFill>
                  <a:srgbClr val="3A3535"/>
                </a:solidFill>
                <a:latin typeface="Century Gothic"/>
                <a:cs typeface="Century Gothic"/>
              </a:rPr>
              <a:t> </a:t>
            </a:r>
            <a:r>
              <a:rPr sz="1300" dirty="0">
                <a:solidFill>
                  <a:srgbClr val="3A3535"/>
                </a:solidFill>
                <a:latin typeface="Century Gothic"/>
                <a:cs typeface="Century Gothic"/>
              </a:rPr>
              <a:t>repeated</a:t>
            </a:r>
            <a:r>
              <a:rPr sz="1300" spc="1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spc="45" dirty="0">
                <a:solidFill>
                  <a:srgbClr val="3A3535"/>
                </a:solidFill>
                <a:latin typeface="Century Gothic"/>
                <a:cs typeface="Century Gothic"/>
              </a:rPr>
              <a:t>longitudinal </a:t>
            </a:r>
            <a:r>
              <a:rPr sz="1300" spc="65" dirty="0">
                <a:solidFill>
                  <a:srgbClr val="3A3535"/>
                </a:solidFill>
                <a:latin typeface="Century Gothic"/>
                <a:cs typeface="Century Gothic"/>
              </a:rPr>
              <a:t>assessment</a:t>
            </a:r>
            <a:endParaRPr sz="1300">
              <a:latin typeface="Century Gothic"/>
              <a:cs typeface="Century Gothic"/>
            </a:endParaRPr>
          </a:p>
        </p:txBody>
      </p:sp>
      <p:grpSp>
        <p:nvGrpSpPr>
          <p:cNvPr id="7" name="object 7"/>
          <p:cNvGrpSpPr/>
          <p:nvPr/>
        </p:nvGrpSpPr>
        <p:grpSpPr>
          <a:xfrm>
            <a:off x="5915025" y="1809749"/>
            <a:ext cx="4933950" cy="1095375"/>
            <a:chOff x="5915025" y="1809749"/>
            <a:chExt cx="4933950" cy="1095375"/>
          </a:xfrm>
        </p:grpSpPr>
        <p:sp>
          <p:nvSpPr>
            <p:cNvPr id="8" name="object 8"/>
            <p:cNvSpPr/>
            <p:nvPr/>
          </p:nvSpPr>
          <p:spPr>
            <a:xfrm>
              <a:off x="5934913" y="180976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44"/>
                  </a:lnTo>
                  <a:lnTo>
                    <a:pt x="609" y="1034046"/>
                  </a:lnTo>
                  <a:lnTo>
                    <a:pt x="2413" y="1041247"/>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9" name="object 9"/>
            <p:cNvSpPr/>
            <p:nvPr/>
          </p:nvSpPr>
          <p:spPr>
            <a:xfrm>
              <a:off x="5915025" y="1809749"/>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0" name="object 10"/>
          <p:cNvSpPr txBox="1"/>
          <p:nvPr/>
        </p:nvSpPr>
        <p:spPr>
          <a:xfrm>
            <a:off x="6163665" y="1974405"/>
            <a:ext cx="351091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Create</a:t>
            </a:r>
            <a:endParaRPr sz="1750">
              <a:latin typeface="Verdana"/>
              <a:cs typeface="Verdana"/>
            </a:endParaRPr>
          </a:p>
          <a:p>
            <a:pPr marL="12700">
              <a:lnSpc>
                <a:spcPct val="100000"/>
              </a:lnSpc>
              <a:spcBef>
                <a:spcPts val="1725"/>
              </a:spcBef>
            </a:pPr>
            <a:r>
              <a:rPr sz="1300" spc="55" dirty="0">
                <a:solidFill>
                  <a:srgbClr val="3A3535"/>
                </a:solidFill>
                <a:latin typeface="Century Gothic"/>
                <a:cs typeface="Century Gothic"/>
              </a:rPr>
              <a:t>Versioned</a:t>
            </a:r>
            <a:r>
              <a:rPr sz="1300" spc="-40" dirty="0">
                <a:solidFill>
                  <a:srgbClr val="3A3535"/>
                </a:solidFill>
                <a:latin typeface="Century Gothic"/>
                <a:cs typeface="Century Gothic"/>
              </a:rPr>
              <a:t> </a:t>
            </a:r>
            <a:r>
              <a:rPr sz="1300" spc="55" dirty="0">
                <a:solidFill>
                  <a:srgbClr val="3A3535"/>
                </a:solidFill>
                <a:latin typeface="Century Gothic"/>
                <a:cs typeface="Century Gothic"/>
              </a:rPr>
              <a:t>survey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builder</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35" dirty="0">
                <a:solidFill>
                  <a:srgbClr val="3A3535"/>
                </a:solidFill>
                <a:latin typeface="Century Gothic"/>
                <a:cs typeface="Century Gothic"/>
              </a:rPr>
              <a:t> </a:t>
            </a:r>
            <a:r>
              <a:rPr sz="1300" spc="40" dirty="0">
                <a:solidFill>
                  <a:srgbClr val="3A3535"/>
                </a:solidFill>
                <a:latin typeface="Century Gothic"/>
                <a:cs typeface="Century Gothic"/>
              </a:rPr>
              <a:t>scheduling</a:t>
            </a:r>
            <a:endParaRPr sz="1300">
              <a:latin typeface="Century Gothic"/>
              <a:cs typeface="Century Gothic"/>
            </a:endParaRPr>
          </a:p>
        </p:txBody>
      </p:sp>
      <p:grpSp>
        <p:nvGrpSpPr>
          <p:cNvPr id="11" name="object 11"/>
          <p:cNvGrpSpPr/>
          <p:nvPr/>
        </p:nvGrpSpPr>
        <p:grpSpPr>
          <a:xfrm>
            <a:off x="5915025" y="3076575"/>
            <a:ext cx="4933950" cy="1095375"/>
            <a:chOff x="5915025" y="3076575"/>
            <a:chExt cx="4933950" cy="1095375"/>
          </a:xfrm>
        </p:grpSpPr>
        <p:sp>
          <p:nvSpPr>
            <p:cNvPr id="12" name="object 12"/>
            <p:cNvSpPr/>
            <p:nvPr/>
          </p:nvSpPr>
          <p:spPr>
            <a:xfrm>
              <a:off x="5934913" y="3076587"/>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31"/>
                  </a:lnTo>
                  <a:lnTo>
                    <a:pt x="609" y="1034046"/>
                  </a:lnTo>
                  <a:lnTo>
                    <a:pt x="2413" y="1041260"/>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13" name="object 13"/>
            <p:cNvSpPr/>
            <p:nvPr/>
          </p:nvSpPr>
          <p:spPr>
            <a:xfrm>
              <a:off x="5915025" y="3076575"/>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4" name="object 14"/>
          <p:cNvSpPr txBox="1"/>
          <p:nvPr/>
        </p:nvSpPr>
        <p:spPr>
          <a:xfrm>
            <a:off x="6163665" y="3241230"/>
            <a:ext cx="3206750"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Collect</a:t>
            </a:r>
            <a:endParaRPr sz="1750">
              <a:latin typeface="Verdana"/>
              <a:cs typeface="Verdana"/>
            </a:endParaRPr>
          </a:p>
          <a:p>
            <a:pPr marL="12700">
              <a:lnSpc>
                <a:spcPct val="100000"/>
              </a:lnSpc>
              <a:spcBef>
                <a:spcPts val="1725"/>
              </a:spcBef>
            </a:pPr>
            <a:r>
              <a:rPr sz="1300" spc="75" dirty="0">
                <a:solidFill>
                  <a:srgbClr val="3A3535"/>
                </a:solidFill>
                <a:latin typeface="Century Gothic"/>
                <a:cs typeface="Century Gothic"/>
              </a:rPr>
              <a:t>Files,</a:t>
            </a:r>
            <a:r>
              <a:rPr sz="1300" spc="-35" dirty="0">
                <a:solidFill>
                  <a:srgbClr val="3A3535"/>
                </a:solidFill>
                <a:latin typeface="Century Gothic"/>
                <a:cs typeface="Century Gothic"/>
              </a:rPr>
              <a:t> </a:t>
            </a:r>
            <a:r>
              <a:rPr sz="1300" dirty="0">
                <a:solidFill>
                  <a:srgbClr val="3A3535"/>
                </a:solidFill>
                <a:latin typeface="Century Gothic"/>
                <a:cs typeface="Century Gothic"/>
              </a:rPr>
              <a:t>voice,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3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p:txBody>
      </p:sp>
      <p:grpSp>
        <p:nvGrpSpPr>
          <p:cNvPr id="15" name="object 15"/>
          <p:cNvGrpSpPr/>
          <p:nvPr/>
        </p:nvGrpSpPr>
        <p:grpSpPr>
          <a:xfrm>
            <a:off x="5915025" y="4343400"/>
            <a:ext cx="4933950" cy="1095375"/>
            <a:chOff x="5915025" y="4343400"/>
            <a:chExt cx="4933950" cy="1095375"/>
          </a:xfrm>
        </p:grpSpPr>
        <p:sp>
          <p:nvSpPr>
            <p:cNvPr id="16" name="object 16"/>
            <p:cNvSpPr/>
            <p:nvPr/>
          </p:nvSpPr>
          <p:spPr>
            <a:xfrm>
              <a:off x="5934913" y="434341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393"/>
                  </a:lnTo>
                  <a:lnTo>
                    <a:pt x="75349" y="19050"/>
                  </a:lnTo>
                  <a:lnTo>
                    <a:pt x="4854803" y="19050"/>
                  </a:lnTo>
                  <a:lnTo>
                    <a:pt x="4892065" y="43827"/>
                  </a:lnTo>
                  <a:lnTo>
                    <a:pt x="4894999" y="59245"/>
                  </a:lnTo>
                  <a:lnTo>
                    <a:pt x="4894999" y="1036129"/>
                  </a:lnTo>
                  <a:lnTo>
                    <a:pt x="4894288" y="1043978"/>
                  </a:lnTo>
                  <a:lnTo>
                    <a:pt x="4894275" y="1044143"/>
                  </a:lnTo>
                  <a:lnTo>
                    <a:pt x="4892065" y="1051547"/>
                  </a:lnTo>
                  <a:lnTo>
                    <a:pt x="4888382" y="1058354"/>
                  </a:lnTo>
                  <a:lnTo>
                    <a:pt x="4883658" y="1064018"/>
                  </a:lnTo>
                  <a:lnTo>
                    <a:pt x="4883226" y="1064539"/>
                  </a:lnTo>
                  <a:lnTo>
                    <a:pt x="4877041" y="1069695"/>
                  </a:lnTo>
                  <a:lnTo>
                    <a:pt x="4870234" y="1073378"/>
                  </a:lnTo>
                  <a:lnTo>
                    <a:pt x="4862830" y="1075588"/>
                  </a:lnTo>
                  <a:lnTo>
                    <a:pt x="4854803" y="1076325"/>
                  </a:lnTo>
                  <a:lnTo>
                    <a:pt x="75349" y="1076325"/>
                  </a:lnTo>
                  <a:lnTo>
                    <a:pt x="33007" y="1066698"/>
                  </a:lnTo>
                  <a:lnTo>
                    <a:pt x="1079" y="1034034"/>
                  </a:lnTo>
                  <a:lnTo>
                    <a:pt x="0" y="1029931"/>
                  </a:lnTo>
                  <a:lnTo>
                    <a:pt x="609" y="1034034"/>
                  </a:lnTo>
                  <a:lnTo>
                    <a:pt x="2413" y="1041260"/>
                  </a:lnTo>
                  <a:lnTo>
                    <a:pt x="4851" y="1048042"/>
                  </a:lnTo>
                  <a:lnTo>
                    <a:pt x="4953" y="1048334"/>
                  </a:lnTo>
                  <a:lnTo>
                    <a:pt x="33007" y="1082535"/>
                  </a:lnTo>
                  <a:lnTo>
                    <a:pt x="75349" y="1095375"/>
                  </a:lnTo>
                  <a:lnTo>
                    <a:pt x="4862665" y="1095375"/>
                  </a:lnTo>
                  <a:lnTo>
                    <a:pt x="4869942" y="1093914"/>
                  </a:lnTo>
                  <a:lnTo>
                    <a:pt x="4870094" y="1093914"/>
                  </a:lnTo>
                  <a:lnTo>
                    <a:pt x="4884737" y="1087843"/>
                  </a:lnTo>
                  <a:lnTo>
                    <a:pt x="4891138" y="1083576"/>
                  </a:lnTo>
                  <a:lnTo>
                    <a:pt x="4896701" y="1078014"/>
                  </a:lnTo>
                  <a:lnTo>
                    <a:pt x="4897171" y="1077544"/>
                  </a:lnTo>
                  <a:lnTo>
                    <a:pt x="4902251" y="1072464"/>
                  </a:lnTo>
                  <a:lnTo>
                    <a:pt x="4906530" y="1066050"/>
                  </a:lnTo>
                  <a:lnTo>
                    <a:pt x="4912550" y="1051547"/>
                  </a:lnTo>
                  <a:lnTo>
                    <a:pt x="4914023" y="1044143"/>
                  </a:lnTo>
                  <a:lnTo>
                    <a:pt x="4914023" y="51219"/>
                  </a:lnTo>
                  <a:close/>
                </a:path>
              </a:pathLst>
            </a:custGeom>
            <a:solidFill>
              <a:srgbClr val="DFB7BB"/>
            </a:solidFill>
          </p:spPr>
          <p:txBody>
            <a:bodyPr wrap="square" lIns="0" tIns="0" rIns="0" bIns="0" rtlCol="0"/>
            <a:lstStyle/>
            <a:p>
              <a:endParaRPr/>
            </a:p>
          </p:txBody>
        </p:sp>
        <p:sp>
          <p:nvSpPr>
            <p:cNvPr id="17" name="object 17"/>
            <p:cNvSpPr/>
            <p:nvPr/>
          </p:nvSpPr>
          <p:spPr>
            <a:xfrm>
              <a:off x="5915025" y="4343400"/>
              <a:ext cx="76200" cy="1095375"/>
            </a:xfrm>
            <a:custGeom>
              <a:avLst/>
              <a:gdLst/>
              <a:ahLst/>
              <a:cxnLst/>
              <a:rect l="l" t="t" r="r" b="b"/>
              <a:pathLst>
                <a:path w="76200" h="1095375">
                  <a:moveTo>
                    <a:pt x="76200" y="0"/>
                  </a:moveTo>
                  <a:lnTo>
                    <a:pt x="55359" y="0"/>
                  </a:lnTo>
                  <a:lnTo>
                    <a:pt x="51498" y="381"/>
                  </a:lnTo>
                  <a:lnTo>
                    <a:pt x="14605" y="20104"/>
                  </a:lnTo>
                  <a:lnTo>
                    <a:pt x="0" y="55346"/>
                  </a:lnTo>
                  <a:lnTo>
                    <a:pt x="0" y="1036132"/>
                  </a:lnTo>
                  <a:lnTo>
                    <a:pt x="0" y="1040022"/>
                  </a:lnTo>
                  <a:lnTo>
                    <a:pt x="14605" y="1075269"/>
                  </a:lnTo>
                  <a:lnTo>
                    <a:pt x="51498" y="1094994"/>
                  </a:lnTo>
                  <a:lnTo>
                    <a:pt x="55359" y="1095376"/>
                  </a:lnTo>
                  <a:lnTo>
                    <a:pt x="76200" y="1095376"/>
                  </a:lnTo>
                  <a:lnTo>
                    <a:pt x="76200" y="0"/>
                  </a:lnTo>
                  <a:close/>
                </a:path>
              </a:pathLst>
            </a:custGeom>
            <a:solidFill>
              <a:srgbClr val="DA1B2D"/>
            </a:solidFill>
          </p:spPr>
          <p:txBody>
            <a:bodyPr wrap="square" lIns="0" tIns="0" rIns="0" bIns="0" rtlCol="0"/>
            <a:lstStyle/>
            <a:p>
              <a:endParaRPr/>
            </a:p>
          </p:txBody>
        </p:sp>
      </p:grpSp>
      <p:sp>
        <p:nvSpPr>
          <p:cNvPr id="18" name="object 18"/>
          <p:cNvSpPr txBox="1"/>
          <p:nvPr/>
        </p:nvSpPr>
        <p:spPr>
          <a:xfrm>
            <a:off x="6163665" y="4508055"/>
            <a:ext cx="267906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Analyze</a:t>
            </a:r>
            <a:endParaRPr sz="1750">
              <a:latin typeface="Verdana"/>
              <a:cs typeface="Verdana"/>
            </a:endParaRPr>
          </a:p>
          <a:p>
            <a:pPr marL="12700">
              <a:lnSpc>
                <a:spcPct val="100000"/>
              </a:lnSpc>
              <a:spcBef>
                <a:spcPts val="1725"/>
              </a:spcBef>
            </a:pPr>
            <a:r>
              <a:rPr sz="1300" spc="50" dirty="0">
                <a:solidFill>
                  <a:srgbClr val="3A3535"/>
                </a:solidFill>
                <a:latin typeface="Century Gothic"/>
                <a:cs typeface="Century Gothic"/>
              </a:rPr>
              <a:t>Dashboards</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filtered</a:t>
            </a:r>
            <a:r>
              <a:rPr sz="1300" spc="-50" dirty="0">
                <a:solidFill>
                  <a:srgbClr val="3A3535"/>
                </a:solidFill>
                <a:latin typeface="Century Gothic"/>
                <a:cs typeface="Century Gothic"/>
              </a:rPr>
              <a:t> </a:t>
            </a:r>
            <a:r>
              <a:rPr sz="1300" spc="95" dirty="0">
                <a:solidFill>
                  <a:srgbClr val="3A3535"/>
                </a:solidFill>
                <a:latin typeface="Century Gothic"/>
                <a:cs typeface="Century Gothic"/>
              </a:rPr>
              <a:t>results</a:t>
            </a:r>
            <a:endParaRPr sz="1300">
              <a:latin typeface="Century Gothic"/>
              <a:cs typeface="Century Goth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298577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15" dirty="0"/>
              <a:t> </a:t>
            </a:r>
            <a:r>
              <a:rPr spc="-390" dirty="0"/>
              <a:t>2:</a:t>
            </a:r>
            <a:r>
              <a:rPr spc="-409" dirty="0"/>
              <a:t> </a:t>
            </a:r>
            <a:r>
              <a:rPr spc="-155" dirty="0"/>
              <a:t>LLM</a:t>
            </a:r>
          </a:p>
        </p:txBody>
      </p:sp>
      <p:sp>
        <p:nvSpPr>
          <p:cNvPr id="3" name="object 3"/>
          <p:cNvSpPr txBox="1"/>
          <p:nvPr/>
        </p:nvSpPr>
        <p:spPr>
          <a:xfrm>
            <a:off x="579635" y="2469075"/>
            <a:ext cx="10014585" cy="558800"/>
          </a:xfrm>
          <a:prstGeom prst="rect">
            <a:avLst/>
          </a:prstGeom>
        </p:spPr>
        <p:txBody>
          <a:bodyPr vert="horz" wrap="square" lIns="0" tIns="11430" rIns="0" bIns="0" rtlCol="0">
            <a:spAutoFit/>
          </a:bodyPr>
          <a:lstStyle/>
          <a:p>
            <a:pPr marL="12700" marR="5080">
              <a:lnSpc>
                <a:spcPct val="134600"/>
              </a:lnSpc>
              <a:spcBef>
                <a:spcPts val="90"/>
              </a:spcBef>
            </a:pPr>
            <a:r>
              <a:rPr sz="1300" spc="105" dirty="0">
                <a:solidFill>
                  <a:srgbClr val="3A3535"/>
                </a:solidFill>
                <a:latin typeface="Century Gothic"/>
                <a:cs typeface="Century Gothic"/>
              </a:rPr>
              <a:t>Not</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just</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chatbot</a:t>
            </a:r>
            <a:r>
              <a:rPr sz="1300" spc="-5"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b="1" spc="-35" dirty="0">
                <a:solidFill>
                  <a:srgbClr val="3A3535"/>
                </a:solidFill>
                <a:latin typeface="Verdana"/>
                <a:cs typeface="Verdana"/>
              </a:rPr>
              <a:t>controlled,</a:t>
            </a:r>
            <a:r>
              <a:rPr sz="1300" b="1" spc="-125" dirty="0">
                <a:solidFill>
                  <a:srgbClr val="3A3535"/>
                </a:solidFill>
                <a:latin typeface="Verdana"/>
                <a:cs typeface="Verdana"/>
              </a:rPr>
              <a:t> </a:t>
            </a:r>
            <a:r>
              <a:rPr sz="1300" b="1" spc="-35" dirty="0">
                <a:solidFill>
                  <a:srgbClr val="3A3535"/>
                </a:solidFill>
                <a:latin typeface="Verdana"/>
                <a:cs typeface="Verdana"/>
              </a:rPr>
              <a:t>testable</a:t>
            </a:r>
            <a:r>
              <a:rPr sz="1300" b="1" spc="-125" dirty="0">
                <a:solidFill>
                  <a:srgbClr val="3A3535"/>
                </a:solidFill>
                <a:latin typeface="Verdana"/>
                <a:cs typeface="Verdana"/>
              </a:rPr>
              <a:t> </a:t>
            </a:r>
            <a:r>
              <a:rPr sz="1300" b="1" spc="-130" dirty="0">
                <a:solidFill>
                  <a:srgbClr val="3A3535"/>
                </a:solidFill>
                <a:latin typeface="Verdana"/>
                <a:cs typeface="Verdana"/>
              </a:rPr>
              <a:t>AI</a:t>
            </a:r>
            <a:r>
              <a:rPr sz="1300" b="1" spc="-120" dirty="0">
                <a:solidFill>
                  <a:srgbClr val="3A3535"/>
                </a:solidFill>
                <a:latin typeface="Verdana"/>
                <a:cs typeface="Verdana"/>
              </a:rPr>
              <a:t> </a:t>
            </a:r>
            <a:r>
              <a:rPr sz="1300" b="1" spc="-25" dirty="0">
                <a:solidFill>
                  <a:srgbClr val="3A3535"/>
                </a:solidFill>
                <a:latin typeface="Verdana"/>
                <a:cs typeface="Verdana"/>
              </a:rPr>
              <a:t>component</a:t>
            </a:r>
            <a:r>
              <a:rPr sz="1300" b="1" spc="-90" dirty="0">
                <a:solidFill>
                  <a:srgbClr val="3A3535"/>
                </a:solidFill>
                <a:latin typeface="Verdana"/>
                <a:cs typeface="Verdana"/>
              </a:rPr>
              <a:t> </a:t>
            </a:r>
            <a:r>
              <a:rPr sz="1300" spc="-20" dirty="0">
                <a:solidFill>
                  <a:srgbClr val="3A3535"/>
                </a:solidFill>
                <a:latin typeface="Century Gothic"/>
                <a:cs typeface="Century Gothic"/>
              </a:rPr>
              <a:t>placed</a:t>
            </a:r>
            <a:r>
              <a:rPr sz="1300" spc="-5" dirty="0">
                <a:solidFill>
                  <a:srgbClr val="3A3535"/>
                </a:solidFill>
                <a:latin typeface="Century Gothic"/>
                <a:cs typeface="Century Gothic"/>
              </a:rPr>
              <a:t> </a:t>
            </a:r>
            <a:r>
              <a:rPr sz="1300" spc="80" dirty="0">
                <a:solidFill>
                  <a:srgbClr val="3A3535"/>
                </a:solidFill>
                <a:latin typeface="Century Gothic"/>
                <a:cs typeface="Century Gothic"/>
              </a:rPr>
              <a:t>inside</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spc="-40" dirty="0">
                <a:solidFill>
                  <a:srgbClr val="3A3535"/>
                </a:solidFill>
                <a:latin typeface="Century Gothic"/>
                <a:cs typeface="Century Gothic"/>
              </a:rPr>
              <a:t>page</a:t>
            </a:r>
            <a:r>
              <a:rPr sz="1300" spc="-5"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clear</a:t>
            </a:r>
            <a:r>
              <a:rPr sz="1300" spc="-5" dirty="0">
                <a:solidFill>
                  <a:srgbClr val="3A3535"/>
                </a:solidFill>
                <a:latin typeface="Century Gothic"/>
                <a:cs typeface="Century Gothic"/>
              </a:rPr>
              <a:t> </a:t>
            </a:r>
            <a:r>
              <a:rPr sz="1300" spc="55" dirty="0">
                <a:solidFill>
                  <a:srgbClr val="3A3535"/>
                </a:solidFill>
                <a:latin typeface="Century Gothic"/>
                <a:cs typeface="Century Gothic"/>
              </a:rPr>
              <a:t>role</a:t>
            </a:r>
            <a:r>
              <a:rPr sz="130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dirty="0">
                <a:solidFill>
                  <a:srgbClr val="3A3535"/>
                </a:solidFill>
                <a:latin typeface="Century Gothic"/>
                <a:cs typeface="Century Gothic"/>
              </a:rPr>
              <a:t>context.</a:t>
            </a:r>
            <a:r>
              <a:rPr sz="1300" spc="-5" dirty="0">
                <a:solidFill>
                  <a:srgbClr val="3A3535"/>
                </a:solidFill>
                <a:latin typeface="Century Gothic"/>
                <a:cs typeface="Century Gothic"/>
              </a:rPr>
              <a:t> </a:t>
            </a:r>
            <a:r>
              <a:rPr sz="1300" spc="40" dirty="0">
                <a:solidFill>
                  <a:srgbClr val="3A3535"/>
                </a:solidFill>
                <a:latin typeface="Century Gothic"/>
                <a:cs typeface="Century Gothic"/>
              </a:rPr>
              <a:t>Currently </a:t>
            </a:r>
            <a:r>
              <a:rPr sz="1300" spc="90" dirty="0">
                <a:solidFill>
                  <a:srgbClr val="3A3535"/>
                </a:solidFill>
                <a:latin typeface="Century Gothic"/>
                <a:cs typeface="Century Gothic"/>
              </a:rPr>
              <a:t>using</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80" dirty="0">
                <a:solidFill>
                  <a:srgbClr val="3A3535"/>
                </a:solidFill>
                <a:latin typeface="Century Gothic"/>
                <a:cs typeface="Century Gothic"/>
              </a:rPr>
              <a:t>university's</a:t>
            </a:r>
            <a:r>
              <a:rPr sz="1300" spc="-5" dirty="0">
                <a:solidFill>
                  <a:srgbClr val="3A3535"/>
                </a:solidFill>
                <a:latin typeface="Century Gothic"/>
                <a:cs typeface="Century Gothic"/>
              </a:rPr>
              <a:t> </a:t>
            </a:r>
            <a:r>
              <a:rPr sz="1300" dirty="0">
                <a:solidFill>
                  <a:srgbClr val="3A3535"/>
                </a:solidFill>
                <a:latin typeface="Century Gothic"/>
                <a:cs typeface="Century Gothic"/>
              </a:rPr>
              <a:t>local</a:t>
            </a:r>
            <a:r>
              <a:rPr sz="1300" spc="-5" dirty="0">
                <a:solidFill>
                  <a:srgbClr val="3A3535"/>
                </a:solidFill>
                <a:latin typeface="Century Gothic"/>
                <a:cs typeface="Century Gothic"/>
              </a:rPr>
              <a:t> </a:t>
            </a:r>
            <a:r>
              <a:rPr sz="1300" spc="80" dirty="0">
                <a:solidFill>
                  <a:srgbClr val="3A3535"/>
                </a:solidFill>
                <a:latin typeface="Century Gothic"/>
                <a:cs typeface="Century Gothic"/>
              </a:rPr>
              <a:t>LLM</a:t>
            </a:r>
            <a:r>
              <a:rPr sz="1300" dirty="0">
                <a:solidFill>
                  <a:srgbClr val="3A3535"/>
                </a:solidFill>
                <a:latin typeface="Century Gothic"/>
                <a:cs typeface="Century Gothic"/>
              </a:rPr>
              <a:t> </a:t>
            </a:r>
            <a:r>
              <a:rPr sz="1300" spc="55" dirty="0">
                <a:solidFill>
                  <a:srgbClr val="3A3535"/>
                </a:solidFill>
                <a:latin typeface="Century Gothic"/>
                <a:cs typeface="Century Gothic"/>
              </a:rPr>
              <a:t>infrastructure.</a:t>
            </a:r>
            <a:endParaRPr sz="1300" dirty="0">
              <a:latin typeface="Century Gothic"/>
              <a:cs typeface="Century Gothic"/>
            </a:endParaRPr>
          </a:p>
        </p:txBody>
      </p:sp>
      <p:pic>
        <p:nvPicPr>
          <p:cNvPr id="4" name="object 4"/>
          <p:cNvPicPr/>
          <p:nvPr/>
        </p:nvPicPr>
        <p:blipFill>
          <a:blip r:embed="rId3" cstate="print"/>
          <a:stretch>
            <a:fillRect/>
          </a:stretch>
        </p:blipFill>
        <p:spPr>
          <a:xfrm>
            <a:off x="581181" y="3272007"/>
            <a:ext cx="441854" cy="394199"/>
          </a:xfrm>
          <a:prstGeom prst="rect">
            <a:avLst/>
          </a:prstGeom>
        </p:spPr>
      </p:pic>
      <p:sp>
        <p:nvSpPr>
          <p:cNvPr id="5" name="object 5"/>
          <p:cNvSpPr txBox="1"/>
          <p:nvPr/>
        </p:nvSpPr>
        <p:spPr>
          <a:xfrm>
            <a:off x="579640" y="3860355"/>
            <a:ext cx="3086735" cy="643890"/>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Flexible</a:t>
            </a:r>
            <a:r>
              <a:rPr sz="1750" b="1" spc="-170" dirty="0">
                <a:solidFill>
                  <a:srgbClr val="3A3535"/>
                </a:solidFill>
                <a:latin typeface="Verdana"/>
                <a:cs typeface="Verdana"/>
              </a:rPr>
              <a:t> </a:t>
            </a:r>
            <a:r>
              <a:rPr sz="1750" b="1" spc="-10" dirty="0">
                <a:solidFill>
                  <a:srgbClr val="3A3535"/>
                </a:solidFill>
                <a:latin typeface="Verdana"/>
                <a:cs typeface="Verdana"/>
              </a:rPr>
              <a:t>Input</a:t>
            </a:r>
            <a:endParaRPr sz="1750" dirty="0">
              <a:latin typeface="Verdana"/>
              <a:cs typeface="Verdana"/>
            </a:endParaRPr>
          </a:p>
          <a:p>
            <a:pPr marL="12700">
              <a:lnSpc>
                <a:spcPct val="100000"/>
              </a:lnSpc>
              <a:spcBef>
                <a:spcPts val="1200"/>
              </a:spcBef>
            </a:pPr>
            <a:r>
              <a:rPr sz="1300" spc="55" dirty="0">
                <a:solidFill>
                  <a:srgbClr val="3A3535"/>
                </a:solidFill>
                <a:latin typeface="Century Gothic"/>
                <a:cs typeface="Century Gothic"/>
              </a:rPr>
              <a:t>Text,</a:t>
            </a:r>
            <a:r>
              <a:rPr sz="1300" spc="15" dirty="0">
                <a:solidFill>
                  <a:srgbClr val="3A3535"/>
                </a:solidFill>
                <a:latin typeface="Century Gothic"/>
                <a:cs typeface="Century Gothic"/>
              </a:rPr>
              <a:t> </a:t>
            </a:r>
            <a:r>
              <a:rPr sz="1300" dirty="0">
                <a:solidFill>
                  <a:srgbClr val="3A3535"/>
                </a:solidFill>
                <a:latin typeface="Century Gothic"/>
                <a:cs typeface="Century Gothic"/>
              </a:rPr>
              <a:t>file,</a:t>
            </a:r>
            <a:r>
              <a:rPr sz="1300" spc="15" dirty="0">
                <a:solidFill>
                  <a:srgbClr val="3A3535"/>
                </a:solidFill>
                <a:latin typeface="Century Gothic"/>
                <a:cs typeface="Century Gothic"/>
              </a:rPr>
              <a:t> </a:t>
            </a:r>
            <a:r>
              <a:rPr sz="1300" dirty="0">
                <a:solidFill>
                  <a:srgbClr val="3A3535"/>
                </a:solidFill>
                <a:latin typeface="Century Gothic"/>
                <a:cs typeface="Century Gothic"/>
              </a:rPr>
              <a:t>image,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spc="65" dirty="0">
                <a:solidFill>
                  <a:srgbClr val="3A3535"/>
                </a:solidFill>
                <a:latin typeface="Century Gothic"/>
                <a:cs typeface="Century Gothic"/>
              </a:rPr>
              <a:t>speech-</a:t>
            </a:r>
            <a:r>
              <a:rPr sz="1300" spc="100" dirty="0">
                <a:solidFill>
                  <a:srgbClr val="3A3535"/>
                </a:solidFill>
                <a:latin typeface="Century Gothic"/>
                <a:cs typeface="Century Gothic"/>
              </a:rPr>
              <a:t>to-</a:t>
            </a:r>
            <a:r>
              <a:rPr sz="1300" spc="40" dirty="0">
                <a:solidFill>
                  <a:srgbClr val="3A3535"/>
                </a:solidFill>
                <a:latin typeface="Century Gothic"/>
                <a:cs typeface="Century Gothic"/>
              </a:rPr>
              <a:t>text</a:t>
            </a:r>
            <a:endParaRPr sz="1300" dirty="0">
              <a:latin typeface="Century Gothic"/>
              <a:cs typeface="Century Gothic"/>
            </a:endParaRPr>
          </a:p>
        </p:txBody>
      </p:sp>
      <p:grpSp>
        <p:nvGrpSpPr>
          <p:cNvPr id="6" name="object 6"/>
          <p:cNvGrpSpPr/>
          <p:nvPr/>
        </p:nvGrpSpPr>
        <p:grpSpPr>
          <a:xfrm>
            <a:off x="4067327" y="3250322"/>
            <a:ext cx="441959" cy="438150"/>
            <a:chOff x="4067327" y="3250322"/>
            <a:chExt cx="441959" cy="438150"/>
          </a:xfrm>
        </p:grpSpPr>
        <p:sp>
          <p:nvSpPr>
            <p:cNvPr id="7" name="object 7"/>
            <p:cNvSpPr/>
            <p:nvPr/>
          </p:nvSpPr>
          <p:spPr>
            <a:xfrm>
              <a:off x="4076699" y="3288461"/>
              <a:ext cx="300990" cy="390525"/>
            </a:xfrm>
            <a:custGeom>
              <a:avLst/>
              <a:gdLst/>
              <a:ahLst/>
              <a:cxnLst/>
              <a:rect l="l" t="t" r="r" b="b"/>
              <a:pathLst>
                <a:path w="300989" h="390525">
                  <a:moveTo>
                    <a:pt x="103047" y="0"/>
                  </a:moveTo>
                  <a:lnTo>
                    <a:pt x="71882" y="22364"/>
                  </a:lnTo>
                  <a:lnTo>
                    <a:pt x="41657" y="55133"/>
                  </a:lnTo>
                  <a:lnTo>
                    <a:pt x="20948" y="88813"/>
                  </a:lnTo>
                  <a:lnTo>
                    <a:pt x="6112" y="129952"/>
                  </a:lnTo>
                  <a:lnTo>
                    <a:pt x="206" y="173550"/>
                  </a:lnTo>
                  <a:lnTo>
                    <a:pt x="0" y="180657"/>
                  </a:lnTo>
                  <a:lnTo>
                    <a:pt x="311" y="188182"/>
                  </a:lnTo>
                  <a:lnTo>
                    <a:pt x="5641" y="227703"/>
                  </a:lnTo>
                  <a:lnTo>
                    <a:pt x="19507" y="268274"/>
                  </a:lnTo>
                  <a:lnTo>
                    <a:pt x="39865" y="302615"/>
                  </a:lnTo>
                  <a:lnTo>
                    <a:pt x="65263" y="331483"/>
                  </a:lnTo>
                  <a:lnTo>
                    <a:pt x="98026" y="356923"/>
                  </a:lnTo>
                  <a:lnTo>
                    <a:pt x="137380" y="376861"/>
                  </a:lnTo>
                  <a:lnTo>
                    <a:pt x="179908" y="387934"/>
                  </a:lnTo>
                  <a:lnTo>
                    <a:pt x="209435" y="390093"/>
                  </a:lnTo>
                  <a:lnTo>
                    <a:pt x="219031" y="389649"/>
                  </a:lnTo>
                  <a:lnTo>
                    <a:pt x="259377" y="384365"/>
                  </a:lnTo>
                  <a:lnTo>
                    <a:pt x="294208" y="373405"/>
                  </a:lnTo>
                  <a:lnTo>
                    <a:pt x="300710" y="370674"/>
                  </a:lnTo>
                </a:path>
              </a:pathLst>
            </a:custGeom>
            <a:ln w="18745">
              <a:solidFill>
                <a:srgbClr val="DA1B2D"/>
              </a:solidFill>
            </a:ln>
          </p:spPr>
          <p:txBody>
            <a:bodyPr wrap="square" lIns="0" tIns="0" rIns="0" bIns="0" rtlCol="0"/>
            <a:lstStyle/>
            <a:p>
              <a:endParaRPr/>
            </a:p>
          </p:txBody>
        </p:sp>
        <p:sp>
          <p:nvSpPr>
            <p:cNvPr id="8" name="object 8"/>
            <p:cNvSpPr/>
            <p:nvPr/>
          </p:nvSpPr>
          <p:spPr>
            <a:xfrm>
              <a:off x="4179747" y="3259694"/>
              <a:ext cx="120014" cy="29209"/>
            </a:xfrm>
            <a:custGeom>
              <a:avLst/>
              <a:gdLst/>
              <a:ahLst/>
              <a:cxnLst/>
              <a:rect l="l" t="t" r="r" b="b"/>
              <a:pathLst>
                <a:path w="120014" h="29210">
                  <a:moveTo>
                    <a:pt x="119811" y="39"/>
                  </a:moveTo>
                  <a:lnTo>
                    <a:pt x="71907" y="2541"/>
                  </a:lnTo>
                  <a:lnTo>
                    <a:pt x="28041" y="14961"/>
                  </a:lnTo>
                  <a:lnTo>
                    <a:pt x="6938" y="25116"/>
                  </a:lnTo>
                  <a:lnTo>
                    <a:pt x="0" y="28766"/>
                  </a:lnTo>
                </a:path>
              </a:pathLst>
            </a:custGeom>
            <a:ln w="18745">
              <a:solidFill>
                <a:srgbClr val="DA1B2D"/>
              </a:solidFill>
            </a:ln>
          </p:spPr>
          <p:txBody>
            <a:bodyPr wrap="square" lIns="0" tIns="0" rIns="0" bIns="0" rtlCol="0"/>
            <a:lstStyle/>
            <a:p>
              <a:endParaRPr/>
            </a:p>
          </p:txBody>
        </p:sp>
        <p:sp>
          <p:nvSpPr>
            <p:cNvPr id="9" name="object 9"/>
            <p:cNvSpPr/>
            <p:nvPr/>
          </p:nvSpPr>
          <p:spPr>
            <a:xfrm>
              <a:off x="4342358" y="3382124"/>
              <a:ext cx="85090" cy="85725"/>
            </a:xfrm>
            <a:custGeom>
              <a:avLst/>
              <a:gdLst/>
              <a:ahLst/>
              <a:cxnLst/>
              <a:rect l="l" t="t" r="r" b="b"/>
              <a:pathLst>
                <a:path w="85089" h="85725">
                  <a:moveTo>
                    <a:pt x="0" y="0"/>
                  </a:moveTo>
                  <a:lnTo>
                    <a:pt x="84543" y="85636"/>
                  </a:lnTo>
                </a:path>
              </a:pathLst>
            </a:custGeom>
            <a:ln w="18745">
              <a:solidFill>
                <a:srgbClr val="DA1B2D"/>
              </a:solidFill>
            </a:ln>
          </p:spPr>
          <p:txBody>
            <a:bodyPr wrap="square" lIns="0" tIns="0" rIns="0" bIns="0" rtlCol="0"/>
            <a:lstStyle/>
            <a:p>
              <a:endParaRPr/>
            </a:p>
          </p:txBody>
        </p:sp>
        <p:sp>
          <p:nvSpPr>
            <p:cNvPr id="10" name="object 10"/>
            <p:cNvSpPr/>
            <p:nvPr/>
          </p:nvSpPr>
          <p:spPr>
            <a:xfrm>
              <a:off x="4342396" y="3467760"/>
              <a:ext cx="85090" cy="83820"/>
            </a:xfrm>
            <a:custGeom>
              <a:avLst/>
              <a:gdLst/>
              <a:ahLst/>
              <a:cxnLst/>
              <a:rect l="l" t="t" r="r" b="b"/>
              <a:pathLst>
                <a:path w="85089" h="83820">
                  <a:moveTo>
                    <a:pt x="0" y="83693"/>
                  </a:moveTo>
                  <a:lnTo>
                    <a:pt x="84505" y="0"/>
                  </a:lnTo>
                </a:path>
              </a:pathLst>
            </a:custGeom>
            <a:ln w="18745">
              <a:solidFill>
                <a:srgbClr val="DA1B2D"/>
              </a:solidFill>
            </a:ln>
          </p:spPr>
          <p:txBody>
            <a:bodyPr wrap="square" lIns="0" tIns="0" rIns="0" bIns="0" rtlCol="0"/>
            <a:lstStyle/>
            <a:p>
              <a:endParaRPr/>
            </a:p>
          </p:txBody>
        </p:sp>
        <p:sp>
          <p:nvSpPr>
            <p:cNvPr id="11" name="object 11"/>
            <p:cNvSpPr/>
            <p:nvPr/>
          </p:nvSpPr>
          <p:spPr>
            <a:xfrm>
              <a:off x="4150207" y="3382708"/>
              <a:ext cx="85090" cy="168275"/>
            </a:xfrm>
            <a:custGeom>
              <a:avLst/>
              <a:gdLst/>
              <a:ahLst/>
              <a:cxnLst/>
              <a:rect l="l" t="t" r="r" b="b"/>
              <a:pathLst>
                <a:path w="85089" h="168275">
                  <a:moveTo>
                    <a:pt x="84759" y="0"/>
                  </a:moveTo>
                  <a:lnTo>
                    <a:pt x="0" y="84785"/>
                  </a:lnTo>
                  <a:lnTo>
                    <a:pt x="83756" y="167830"/>
                  </a:lnTo>
                </a:path>
              </a:pathLst>
            </a:custGeom>
            <a:ln w="18745">
              <a:solidFill>
                <a:srgbClr val="DA1B2D"/>
              </a:solidFill>
            </a:ln>
          </p:spPr>
          <p:txBody>
            <a:bodyPr wrap="square" lIns="0" tIns="0" rIns="0" bIns="0" rtlCol="0"/>
            <a:lstStyle/>
            <a:p>
              <a:endParaRPr/>
            </a:p>
          </p:txBody>
        </p:sp>
        <p:sp>
          <p:nvSpPr>
            <p:cNvPr id="12" name="object 12"/>
            <p:cNvSpPr/>
            <p:nvPr/>
          </p:nvSpPr>
          <p:spPr>
            <a:xfrm>
              <a:off x="4377410" y="3459848"/>
              <a:ext cx="122555" cy="199390"/>
            </a:xfrm>
            <a:custGeom>
              <a:avLst/>
              <a:gdLst/>
              <a:ahLst/>
              <a:cxnLst/>
              <a:rect l="l" t="t" r="r" b="b"/>
              <a:pathLst>
                <a:path w="122554" h="199389">
                  <a:moveTo>
                    <a:pt x="0" y="199301"/>
                  </a:moveTo>
                  <a:lnTo>
                    <a:pt x="33667" y="180140"/>
                  </a:lnTo>
                  <a:lnTo>
                    <a:pt x="63198" y="155084"/>
                  </a:lnTo>
                  <a:lnTo>
                    <a:pt x="87562" y="124984"/>
                  </a:lnTo>
                  <a:lnTo>
                    <a:pt x="105930" y="90881"/>
                  </a:lnTo>
                  <a:lnTo>
                    <a:pt x="117654" y="53960"/>
                  </a:lnTo>
                  <a:lnTo>
                    <a:pt x="122329" y="15519"/>
                  </a:lnTo>
                  <a:lnTo>
                    <a:pt x="122398" y="7765"/>
                  </a:lnTo>
                  <a:lnTo>
                    <a:pt x="122174" y="0"/>
                  </a:lnTo>
                </a:path>
              </a:pathLst>
            </a:custGeom>
            <a:ln w="18745">
              <a:solidFill>
                <a:srgbClr val="DA1B2D"/>
              </a:solidFill>
            </a:ln>
          </p:spPr>
          <p:txBody>
            <a:bodyPr wrap="square" lIns="0" tIns="0" rIns="0" bIns="0" rtlCol="0"/>
            <a:lstStyle/>
            <a:p>
              <a:endParaRPr/>
            </a:p>
          </p:txBody>
        </p:sp>
        <p:sp>
          <p:nvSpPr>
            <p:cNvPr id="13" name="object 13"/>
            <p:cNvSpPr/>
            <p:nvPr/>
          </p:nvSpPr>
          <p:spPr>
            <a:xfrm>
              <a:off x="4492561" y="3412655"/>
              <a:ext cx="7620" cy="47625"/>
            </a:xfrm>
            <a:custGeom>
              <a:avLst/>
              <a:gdLst/>
              <a:ahLst/>
              <a:cxnLst/>
              <a:rect l="l" t="t" r="r" b="b"/>
              <a:pathLst>
                <a:path w="7620" h="47625">
                  <a:moveTo>
                    <a:pt x="7213" y="47193"/>
                  </a:moveTo>
                  <a:lnTo>
                    <a:pt x="0" y="0"/>
                  </a:lnTo>
                </a:path>
              </a:pathLst>
            </a:custGeom>
            <a:ln w="18745">
              <a:solidFill>
                <a:srgbClr val="DA1B2D"/>
              </a:solidFill>
            </a:ln>
          </p:spPr>
          <p:txBody>
            <a:bodyPr wrap="square" lIns="0" tIns="0" rIns="0" bIns="0" rtlCol="0"/>
            <a:lstStyle/>
            <a:p>
              <a:endParaRPr/>
            </a:p>
          </p:txBody>
        </p:sp>
        <p:sp>
          <p:nvSpPr>
            <p:cNvPr id="14" name="object 14"/>
            <p:cNvSpPr/>
            <p:nvPr/>
          </p:nvSpPr>
          <p:spPr>
            <a:xfrm>
              <a:off x="4299546" y="3259950"/>
              <a:ext cx="193675" cy="153035"/>
            </a:xfrm>
            <a:custGeom>
              <a:avLst/>
              <a:gdLst/>
              <a:ahLst/>
              <a:cxnLst/>
              <a:rect l="l" t="t" r="r" b="b"/>
              <a:pathLst>
                <a:path w="193675" h="153035">
                  <a:moveTo>
                    <a:pt x="193128" y="152679"/>
                  </a:moveTo>
                  <a:lnTo>
                    <a:pt x="178080" y="114516"/>
                  </a:lnTo>
                  <a:lnTo>
                    <a:pt x="155929" y="80002"/>
                  </a:lnTo>
                  <a:lnTo>
                    <a:pt x="127519" y="50434"/>
                  </a:lnTo>
                  <a:lnTo>
                    <a:pt x="93903" y="26924"/>
                  </a:lnTo>
                  <a:lnTo>
                    <a:pt x="56382" y="10359"/>
                  </a:lnTo>
                  <a:lnTo>
                    <a:pt x="16375" y="1385"/>
                  </a:lnTo>
                  <a:lnTo>
                    <a:pt x="8208" y="536"/>
                  </a:lnTo>
                  <a:lnTo>
                    <a:pt x="0" y="0"/>
                  </a:lnTo>
                </a:path>
              </a:pathLst>
            </a:custGeom>
            <a:ln w="18745">
              <a:solidFill>
                <a:srgbClr val="DA1B2D"/>
              </a:solidFill>
            </a:ln>
          </p:spPr>
          <p:txBody>
            <a:bodyPr wrap="square" lIns="0" tIns="0" rIns="0" bIns="0" rtlCol="0"/>
            <a:lstStyle/>
            <a:p>
              <a:endParaRPr/>
            </a:p>
          </p:txBody>
        </p:sp>
      </p:grpSp>
      <p:sp>
        <p:nvSpPr>
          <p:cNvPr id="15" name="object 15"/>
          <p:cNvSpPr txBox="1"/>
          <p:nvPr/>
        </p:nvSpPr>
        <p:spPr>
          <a:xfrm>
            <a:off x="4065193" y="3860355"/>
            <a:ext cx="2828290" cy="920115"/>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Structured</a:t>
            </a:r>
            <a:r>
              <a:rPr sz="1750" b="1" spc="-125" dirty="0">
                <a:solidFill>
                  <a:srgbClr val="3A3535"/>
                </a:solidFill>
                <a:latin typeface="Verdana"/>
                <a:cs typeface="Verdana"/>
              </a:rPr>
              <a:t> </a:t>
            </a:r>
            <a:r>
              <a:rPr sz="1750" b="1" spc="-10" dirty="0">
                <a:solidFill>
                  <a:srgbClr val="3A3535"/>
                </a:solidFill>
                <a:latin typeface="Verdana"/>
                <a:cs typeface="Verdana"/>
              </a:rPr>
              <a:t>Output</a:t>
            </a:r>
            <a:endParaRPr sz="1750">
              <a:latin typeface="Verdana"/>
              <a:cs typeface="Verdana"/>
            </a:endParaRPr>
          </a:p>
          <a:p>
            <a:pPr marL="12700" marR="5080">
              <a:lnSpc>
                <a:spcPct val="139400"/>
              </a:lnSpc>
              <a:spcBef>
                <a:spcPts val="585"/>
              </a:spcBef>
            </a:pPr>
            <a:r>
              <a:rPr sz="1300" spc="50" dirty="0">
                <a:solidFill>
                  <a:srgbClr val="3A3535"/>
                </a:solidFill>
                <a:latin typeface="Century Gothic"/>
                <a:cs typeface="Century Gothic"/>
              </a:rPr>
              <a:t>Conversation</a:t>
            </a:r>
            <a:r>
              <a:rPr sz="1300" spc="-4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30" dirty="0">
                <a:solidFill>
                  <a:srgbClr val="3A3535"/>
                </a:solidFill>
                <a:latin typeface="Century Gothic"/>
                <a:cs typeface="Century Gothic"/>
              </a:rPr>
              <a:t>JSON,</a:t>
            </a:r>
            <a:r>
              <a:rPr sz="1300" spc="-40" dirty="0">
                <a:solidFill>
                  <a:srgbClr val="3A3535"/>
                </a:solidFill>
                <a:latin typeface="Century Gothic"/>
                <a:cs typeface="Century Gothic"/>
              </a:rPr>
              <a:t> </a:t>
            </a:r>
            <a:r>
              <a:rPr sz="1300" spc="45" dirty="0">
                <a:solidFill>
                  <a:srgbClr val="3A3535"/>
                </a:solidFill>
                <a:latin typeface="Century Gothic"/>
                <a:cs typeface="Century Gothic"/>
              </a:rPr>
              <a:t>including </a:t>
            </a:r>
            <a:r>
              <a:rPr sz="1300" spc="75" dirty="0">
                <a:solidFill>
                  <a:srgbClr val="3A3535"/>
                </a:solidFill>
                <a:latin typeface="Century Gothic"/>
                <a:cs typeface="Century Gothic"/>
              </a:rPr>
              <a:t>OpenAI-</a:t>
            </a:r>
            <a:r>
              <a:rPr sz="1300" spc="55" dirty="0">
                <a:solidFill>
                  <a:srgbClr val="3A3535"/>
                </a:solidFill>
                <a:latin typeface="Century Gothic"/>
                <a:cs typeface="Century Gothic"/>
              </a:rPr>
              <a:t>style</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formats</a:t>
            </a:r>
            <a:endParaRPr sz="1300">
              <a:latin typeface="Century Gothic"/>
              <a:cs typeface="Century Gothic"/>
            </a:endParaRPr>
          </a:p>
        </p:txBody>
      </p:sp>
      <p:grpSp>
        <p:nvGrpSpPr>
          <p:cNvPr id="16" name="object 16"/>
          <p:cNvGrpSpPr/>
          <p:nvPr/>
        </p:nvGrpSpPr>
        <p:grpSpPr>
          <a:xfrm>
            <a:off x="7577672" y="3248178"/>
            <a:ext cx="393700" cy="441959"/>
            <a:chOff x="7577672" y="3248178"/>
            <a:chExt cx="393700" cy="441959"/>
          </a:xfrm>
        </p:grpSpPr>
        <p:sp>
          <p:nvSpPr>
            <p:cNvPr id="17" name="object 17"/>
            <p:cNvSpPr/>
            <p:nvPr/>
          </p:nvSpPr>
          <p:spPr>
            <a:xfrm>
              <a:off x="7656715" y="3488664"/>
              <a:ext cx="236220" cy="31750"/>
            </a:xfrm>
            <a:custGeom>
              <a:avLst/>
              <a:gdLst/>
              <a:ahLst/>
              <a:cxnLst/>
              <a:rect l="l" t="t" r="r" b="b"/>
              <a:pathLst>
                <a:path w="236220" h="31750">
                  <a:moveTo>
                    <a:pt x="235737" y="11747"/>
                  </a:moveTo>
                  <a:lnTo>
                    <a:pt x="196045" y="28254"/>
                  </a:lnTo>
                  <a:lnTo>
                    <a:pt x="168935" y="31711"/>
                  </a:lnTo>
                  <a:lnTo>
                    <a:pt x="160629" y="31457"/>
                  </a:lnTo>
                  <a:lnTo>
                    <a:pt x="117790" y="16610"/>
                  </a:lnTo>
                  <a:lnTo>
                    <a:pt x="108265" y="11267"/>
                  </a:lnTo>
                  <a:lnTo>
                    <a:pt x="69172" y="175"/>
                  </a:lnTo>
                  <a:lnTo>
                    <a:pt x="62812" y="0"/>
                  </a:lnTo>
                  <a:lnTo>
                    <a:pt x="56211" y="53"/>
                  </a:lnTo>
                  <a:lnTo>
                    <a:pt x="49250" y="342"/>
                  </a:lnTo>
                  <a:lnTo>
                    <a:pt x="40553" y="1648"/>
                  </a:lnTo>
                  <a:lnTo>
                    <a:pt x="29802" y="3865"/>
                  </a:lnTo>
                  <a:lnTo>
                    <a:pt x="16462" y="7270"/>
                  </a:lnTo>
                  <a:lnTo>
                    <a:pt x="0" y="12141"/>
                  </a:lnTo>
                </a:path>
              </a:pathLst>
            </a:custGeom>
            <a:ln w="18742">
              <a:solidFill>
                <a:srgbClr val="DA1B2D"/>
              </a:solidFill>
            </a:ln>
          </p:spPr>
          <p:txBody>
            <a:bodyPr wrap="square" lIns="0" tIns="0" rIns="0" bIns="0" rtlCol="0"/>
            <a:lstStyle/>
            <a:p>
              <a:endParaRPr/>
            </a:p>
          </p:txBody>
        </p:sp>
        <p:pic>
          <p:nvPicPr>
            <p:cNvPr id="18" name="object 18"/>
            <p:cNvPicPr/>
            <p:nvPr/>
          </p:nvPicPr>
          <p:blipFill>
            <a:blip r:embed="rId4" cstate="print"/>
            <a:stretch>
              <a:fillRect/>
            </a:stretch>
          </p:blipFill>
          <p:spPr>
            <a:xfrm>
              <a:off x="7577672" y="3248178"/>
              <a:ext cx="393532" cy="441855"/>
            </a:xfrm>
            <a:prstGeom prst="rect">
              <a:avLst/>
            </a:prstGeom>
          </p:spPr>
        </p:pic>
      </p:grpSp>
      <p:sp>
        <p:nvSpPr>
          <p:cNvPr id="19" name="object 19"/>
          <p:cNvSpPr txBox="1"/>
          <p:nvPr/>
        </p:nvSpPr>
        <p:spPr>
          <a:xfrm>
            <a:off x="7550746" y="3860355"/>
            <a:ext cx="2836545" cy="920115"/>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Prompt</a:t>
            </a:r>
            <a:r>
              <a:rPr sz="1750" b="1" spc="-180" dirty="0">
                <a:solidFill>
                  <a:srgbClr val="3A3535"/>
                </a:solidFill>
                <a:latin typeface="Verdana"/>
                <a:cs typeface="Verdana"/>
              </a:rPr>
              <a:t> </a:t>
            </a:r>
            <a:r>
              <a:rPr sz="1750" b="1" spc="-25" dirty="0">
                <a:solidFill>
                  <a:srgbClr val="3A3535"/>
                </a:solidFill>
                <a:latin typeface="Verdana"/>
                <a:cs typeface="Verdana"/>
              </a:rPr>
              <a:t>Lab</a:t>
            </a:r>
            <a:endParaRPr sz="1750">
              <a:latin typeface="Verdana"/>
              <a:cs typeface="Verdana"/>
            </a:endParaRPr>
          </a:p>
          <a:p>
            <a:pPr marL="12700" marR="5080">
              <a:lnSpc>
                <a:spcPct val="139400"/>
              </a:lnSpc>
              <a:spcBef>
                <a:spcPts val="585"/>
              </a:spcBef>
            </a:pPr>
            <a:r>
              <a:rPr sz="1300" spc="60" dirty="0">
                <a:solidFill>
                  <a:srgbClr val="3A3535"/>
                </a:solidFill>
                <a:latin typeface="Century Gothic"/>
                <a:cs typeface="Century Gothic"/>
              </a:rPr>
              <a:t>Version,</a:t>
            </a:r>
            <a:r>
              <a:rPr sz="1300" spc="-50" dirty="0">
                <a:solidFill>
                  <a:srgbClr val="3A3535"/>
                </a:solidFill>
                <a:latin typeface="Century Gothic"/>
                <a:cs typeface="Century Gothic"/>
              </a:rPr>
              <a:t> </a:t>
            </a:r>
            <a:r>
              <a:rPr sz="1300" spc="70" dirty="0">
                <a:solidFill>
                  <a:srgbClr val="3A3535"/>
                </a:solidFill>
                <a:latin typeface="Century Gothic"/>
                <a:cs typeface="Century Gothic"/>
              </a:rPr>
              <a:t>test,</a:t>
            </a:r>
            <a:r>
              <a:rPr sz="1300" spc="-45" dirty="0">
                <a:solidFill>
                  <a:srgbClr val="3A3535"/>
                </a:solidFill>
                <a:latin typeface="Century Gothic"/>
                <a:cs typeface="Century Gothic"/>
              </a:rPr>
              <a:t> </a:t>
            </a:r>
            <a:r>
              <a:rPr sz="1300" dirty="0">
                <a:solidFill>
                  <a:srgbClr val="3A3535"/>
                </a:solidFill>
                <a:latin typeface="Century Gothic"/>
                <a:cs typeface="Century Gothic"/>
              </a:rPr>
              <a:t>replay,</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10" dirty="0">
                <a:solidFill>
                  <a:srgbClr val="3A3535"/>
                </a:solidFill>
                <a:latin typeface="Century Gothic"/>
                <a:cs typeface="Century Gothic"/>
              </a:rPr>
              <a:t>evaluate </a:t>
            </a:r>
            <a:r>
              <a:rPr sz="1300" dirty="0">
                <a:solidFill>
                  <a:srgbClr val="3A3535"/>
                </a:solidFill>
                <a:latin typeface="Century Gothic"/>
                <a:cs typeface="Century Gothic"/>
              </a:rPr>
              <a:t>before</a:t>
            </a:r>
            <a:r>
              <a:rPr sz="1300" spc="135" dirty="0">
                <a:solidFill>
                  <a:srgbClr val="3A3535"/>
                </a:solidFill>
                <a:latin typeface="Century Gothic"/>
                <a:cs typeface="Century Gothic"/>
              </a:rPr>
              <a:t> </a:t>
            </a:r>
            <a:r>
              <a:rPr sz="1300" spc="70" dirty="0">
                <a:solidFill>
                  <a:srgbClr val="3A3535"/>
                </a:solidFill>
                <a:latin typeface="Century Gothic"/>
                <a:cs typeface="Century Gothic"/>
              </a:rPr>
              <a:t>rollout</a:t>
            </a:r>
            <a:endParaRPr sz="1300">
              <a:latin typeface="Century Gothic"/>
              <a:cs typeface="Century Goth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611505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09" dirty="0"/>
              <a:t> </a:t>
            </a:r>
            <a:r>
              <a:rPr spc="-390" dirty="0"/>
              <a:t>3:</a:t>
            </a:r>
            <a:r>
              <a:rPr spc="-405" dirty="0"/>
              <a:t> </a:t>
            </a:r>
            <a:r>
              <a:rPr spc="-190" dirty="0"/>
              <a:t>LLM</a:t>
            </a:r>
            <a:r>
              <a:rPr spc="-405" dirty="0"/>
              <a:t> </a:t>
            </a:r>
            <a:r>
              <a:rPr spc="-229" dirty="0"/>
              <a:t>Therapy</a:t>
            </a:r>
            <a:r>
              <a:rPr spc="-405" dirty="0"/>
              <a:t> </a:t>
            </a:r>
            <a:r>
              <a:rPr spc="-50" dirty="0"/>
              <a:t>Chat</a:t>
            </a:r>
          </a:p>
        </p:txBody>
      </p:sp>
      <p:sp>
        <p:nvSpPr>
          <p:cNvPr id="3" name="object 3"/>
          <p:cNvSpPr txBox="1"/>
          <p:nvPr/>
        </p:nvSpPr>
        <p:spPr>
          <a:xfrm>
            <a:off x="579635" y="2592900"/>
            <a:ext cx="9813290" cy="577850"/>
          </a:xfrm>
          <a:prstGeom prst="rect">
            <a:avLst/>
          </a:prstGeom>
        </p:spPr>
        <p:txBody>
          <a:bodyPr vert="horz" wrap="square" lIns="0" tIns="11430" rIns="0" bIns="0" rtlCol="0">
            <a:spAutoFit/>
          </a:bodyPr>
          <a:lstStyle/>
          <a:p>
            <a:pPr marL="12700" marR="5080">
              <a:lnSpc>
                <a:spcPct val="139400"/>
              </a:lnSpc>
              <a:spcBef>
                <a:spcPts val="90"/>
              </a:spcBef>
            </a:pPr>
            <a:r>
              <a:rPr sz="1300" spc="75" dirty="0">
                <a:solidFill>
                  <a:srgbClr val="3A3535"/>
                </a:solidFill>
                <a:latin typeface="Century Gothic"/>
                <a:cs typeface="Century Gothic"/>
              </a:rPr>
              <a:t>Supervised</a:t>
            </a:r>
            <a:r>
              <a:rPr sz="1300" spc="25" dirty="0">
                <a:solidFill>
                  <a:srgbClr val="3A3535"/>
                </a:solidFill>
                <a:latin typeface="Century Gothic"/>
                <a:cs typeface="Century Gothic"/>
              </a:rPr>
              <a:t> </a:t>
            </a:r>
            <a:r>
              <a:rPr sz="1300" dirty="0">
                <a:solidFill>
                  <a:srgbClr val="3A3535"/>
                </a:solidFill>
                <a:latin typeface="Century Gothic"/>
                <a:cs typeface="Century Gothic"/>
              </a:rPr>
              <a:t>communication</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dirty="0">
                <a:solidFill>
                  <a:srgbClr val="3A3535"/>
                </a:solidFill>
                <a:latin typeface="Century Gothic"/>
                <a:cs typeface="Century Gothic"/>
              </a:rPr>
              <a:t>human</a:t>
            </a:r>
            <a:r>
              <a:rPr sz="1300" spc="30" dirty="0">
                <a:solidFill>
                  <a:srgbClr val="3A3535"/>
                </a:solidFill>
                <a:latin typeface="Century Gothic"/>
                <a:cs typeface="Century Gothic"/>
              </a:rPr>
              <a:t> </a:t>
            </a:r>
            <a:r>
              <a:rPr sz="1300" spc="90" dirty="0">
                <a:solidFill>
                  <a:srgbClr val="3A3535"/>
                </a:solidFill>
                <a:latin typeface="Century Gothic"/>
                <a:cs typeface="Century Gothic"/>
              </a:rPr>
              <a:t>in</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30" dirty="0">
                <a:solidFill>
                  <a:srgbClr val="3A3535"/>
                </a:solidFill>
                <a:latin typeface="Century Gothic"/>
                <a:cs typeface="Century Gothic"/>
              </a:rPr>
              <a:t> </a:t>
            </a:r>
            <a:r>
              <a:rPr sz="1300" dirty="0">
                <a:solidFill>
                  <a:srgbClr val="3A3535"/>
                </a:solidFill>
                <a:latin typeface="Century Gothic"/>
                <a:cs typeface="Century Gothic"/>
              </a:rPr>
              <a:t>same</a:t>
            </a:r>
            <a:r>
              <a:rPr sz="1300" spc="15" dirty="0">
                <a:solidFill>
                  <a:srgbClr val="3A3535"/>
                </a:solidFill>
                <a:latin typeface="Century Gothic"/>
                <a:cs typeface="Century Gothic"/>
              </a:rPr>
              <a:t> </a:t>
            </a:r>
            <a:r>
              <a:rPr sz="1300" dirty="0">
                <a:solidFill>
                  <a:srgbClr val="3A3535"/>
                </a:solidFill>
                <a:latin typeface="Century Gothic"/>
                <a:cs typeface="Century Gothic"/>
              </a:rPr>
              <a:t>framework.</a:t>
            </a:r>
            <a:r>
              <a:rPr sz="1300" spc="30" dirty="0">
                <a:solidFill>
                  <a:srgbClr val="3A3535"/>
                </a:solidFill>
                <a:latin typeface="Century Gothic"/>
                <a:cs typeface="Century Gothic"/>
              </a:rPr>
              <a:t> </a:t>
            </a:r>
            <a:r>
              <a:rPr sz="1300" spc="95" dirty="0">
                <a:solidFill>
                  <a:srgbClr val="3A3535"/>
                </a:solidFill>
                <a:latin typeface="Century Gothic"/>
                <a:cs typeface="Century Gothic"/>
              </a:rPr>
              <a:t>Useful</a:t>
            </a:r>
            <a:r>
              <a:rPr sz="1300" spc="3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30" dirty="0">
                <a:solidFill>
                  <a:srgbClr val="3A3535"/>
                </a:solidFill>
                <a:latin typeface="Century Gothic"/>
                <a:cs typeface="Century Gothic"/>
              </a:rPr>
              <a:t> </a:t>
            </a:r>
            <a:r>
              <a:rPr sz="1300" spc="55" dirty="0">
                <a:solidFill>
                  <a:srgbClr val="3A3535"/>
                </a:solidFill>
                <a:latin typeface="Century Gothic"/>
                <a:cs typeface="Century Gothic"/>
              </a:rPr>
              <a:t>both</a:t>
            </a:r>
            <a:r>
              <a:rPr sz="1300" spc="25" dirty="0">
                <a:solidFill>
                  <a:srgbClr val="3A3535"/>
                </a:solidFill>
                <a:latin typeface="Century Gothic"/>
                <a:cs typeface="Century Gothic"/>
              </a:rPr>
              <a:t> </a:t>
            </a:r>
            <a:r>
              <a:rPr sz="1300" b="1" spc="-35" dirty="0">
                <a:solidFill>
                  <a:srgbClr val="3A3535"/>
                </a:solidFill>
                <a:latin typeface="Verdana"/>
                <a:cs typeface="Verdana"/>
              </a:rPr>
              <a:t>service</a:t>
            </a:r>
            <a:r>
              <a:rPr sz="1300" b="1" spc="-90" dirty="0">
                <a:solidFill>
                  <a:srgbClr val="3A3535"/>
                </a:solidFill>
                <a:latin typeface="Verdana"/>
                <a:cs typeface="Verdana"/>
              </a:rPr>
              <a:t> </a:t>
            </a:r>
            <a:r>
              <a:rPr sz="1300" b="1" spc="-50" dirty="0">
                <a:solidFill>
                  <a:srgbClr val="3A3535"/>
                </a:solidFill>
                <a:latin typeface="Verdana"/>
                <a:cs typeface="Verdana"/>
              </a:rPr>
              <a:t>delivery</a:t>
            </a:r>
            <a:r>
              <a:rPr sz="1300" b="1" spc="-55" dirty="0">
                <a:solidFill>
                  <a:srgbClr val="3A3535"/>
                </a:solidFill>
                <a:latin typeface="Verdana"/>
                <a:cs typeface="Verdana"/>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b="1" spc="-10" dirty="0">
                <a:solidFill>
                  <a:srgbClr val="3A3535"/>
                </a:solidFill>
                <a:latin typeface="Verdana"/>
                <a:cs typeface="Verdana"/>
              </a:rPr>
              <a:t>controlled </a:t>
            </a:r>
            <a:r>
              <a:rPr sz="1300" b="1" spc="-35" dirty="0">
                <a:solidFill>
                  <a:srgbClr val="3A3535"/>
                </a:solidFill>
                <a:latin typeface="Verdana"/>
                <a:cs typeface="Verdana"/>
              </a:rPr>
              <a:t>comparison</a:t>
            </a:r>
            <a:r>
              <a:rPr sz="1300" b="1" spc="-70" dirty="0">
                <a:solidFill>
                  <a:srgbClr val="3A3535"/>
                </a:solidFill>
                <a:latin typeface="Verdana"/>
                <a:cs typeface="Verdana"/>
              </a:rPr>
              <a:t> </a:t>
            </a:r>
            <a:r>
              <a:rPr sz="1300" b="1" spc="-10" dirty="0">
                <a:solidFill>
                  <a:srgbClr val="3A3535"/>
                </a:solidFill>
                <a:latin typeface="Verdana"/>
                <a:cs typeface="Verdana"/>
              </a:rPr>
              <a:t>studies</a:t>
            </a:r>
            <a:r>
              <a:rPr sz="1300" spc="-10" dirty="0">
                <a:solidFill>
                  <a:srgbClr val="3A3535"/>
                </a:solidFill>
                <a:latin typeface="Century Gothic"/>
                <a:cs typeface="Century Gothic"/>
              </a:rPr>
              <a:t>.</a:t>
            </a:r>
            <a:endParaRPr sz="1300">
              <a:latin typeface="Century Gothic"/>
              <a:cs typeface="Century Gothic"/>
            </a:endParaRPr>
          </a:p>
        </p:txBody>
      </p:sp>
      <p:grpSp>
        <p:nvGrpSpPr>
          <p:cNvPr id="4" name="object 4"/>
          <p:cNvGrpSpPr/>
          <p:nvPr/>
        </p:nvGrpSpPr>
        <p:grpSpPr>
          <a:xfrm>
            <a:off x="590550" y="3390900"/>
            <a:ext cx="3305175" cy="1285875"/>
            <a:chOff x="590550" y="3390900"/>
            <a:chExt cx="3305175" cy="1285875"/>
          </a:xfrm>
        </p:grpSpPr>
        <p:sp>
          <p:nvSpPr>
            <p:cNvPr id="5" name="object 5"/>
            <p:cNvSpPr/>
            <p:nvPr/>
          </p:nvSpPr>
          <p:spPr>
            <a:xfrm>
              <a:off x="595312" y="3395662"/>
              <a:ext cx="3295650" cy="1276350"/>
            </a:xfrm>
            <a:custGeom>
              <a:avLst/>
              <a:gdLst/>
              <a:ahLst/>
              <a:cxnLst/>
              <a:rect l="l" t="t" r="r" b="b"/>
              <a:pathLst>
                <a:path w="3295650" h="1276350">
                  <a:moveTo>
                    <a:pt x="3244748" y="0"/>
                  </a:moveTo>
                  <a:lnTo>
                    <a:pt x="50904" y="0"/>
                  </a:lnTo>
                  <a:lnTo>
                    <a:pt x="47362" y="342"/>
                  </a:lnTo>
                  <a:lnTo>
                    <a:pt x="13428" y="18491"/>
                  </a:lnTo>
                  <a:lnTo>
                    <a:pt x="0" y="50901"/>
                  </a:lnTo>
                  <a:lnTo>
                    <a:pt x="0" y="1221867"/>
                  </a:lnTo>
                  <a:lnTo>
                    <a:pt x="0" y="1225448"/>
                  </a:lnTo>
                  <a:lnTo>
                    <a:pt x="18484" y="1262926"/>
                  </a:lnTo>
                  <a:lnTo>
                    <a:pt x="50904"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395662"/>
              <a:ext cx="3295650" cy="1276350"/>
            </a:xfrm>
            <a:custGeom>
              <a:avLst/>
              <a:gdLst/>
              <a:ahLst/>
              <a:cxnLst/>
              <a:rect l="l" t="t" r="r" b="b"/>
              <a:pathLst>
                <a:path w="3295650" h="1276350">
                  <a:moveTo>
                    <a:pt x="0" y="1221867"/>
                  </a:moveTo>
                  <a:lnTo>
                    <a:pt x="0" y="54483"/>
                  </a:lnTo>
                  <a:lnTo>
                    <a:pt x="0" y="50901"/>
                  </a:lnTo>
                  <a:lnTo>
                    <a:pt x="346" y="47358"/>
                  </a:lnTo>
                  <a:lnTo>
                    <a:pt x="18484" y="13423"/>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0" y="1276350"/>
                  </a:lnTo>
                  <a:lnTo>
                    <a:pt x="50904" y="1276350"/>
                  </a:lnTo>
                  <a:lnTo>
                    <a:pt x="47362" y="1275994"/>
                  </a:lnTo>
                  <a:lnTo>
                    <a:pt x="15958" y="1260386"/>
                  </a:lnTo>
                  <a:lnTo>
                    <a:pt x="13428" y="1257858"/>
                  </a:lnTo>
                  <a:lnTo>
                    <a:pt x="11167" y="1255102"/>
                  </a:lnTo>
                  <a:lnTo>
                    <a:pt x="9182" y="1252131"/>
                  </a:lnTo>
                  <a:lnTo>
                    <a:pt x="7193" y="1249159"/>
                  </a:lnTo>
                  <a:lnTo>
                    <a:pt x="1046" y="1232496"/>
                  </a:lnTo>
                  <a:lnTo>
                    <a:pt x="346"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546030"/>
            <a:ext cx="2616835" cy="910590"/>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User</a:t>
            </a:r>
            <a:r>
              <a:rPr sz="1750" b="1" spc="-220" dirty="0">
                <a:solidFill>
                  <a:srgbClr val="3A3535"/>
                </a:solidFill>
                <a:latin typeface="Verdana"/>
                <a:cs typeface="Verdana"/>
              </a:rPr>
              <a:t> </a:t>
            </a:r>
            <a:r>
              <a:rPr sz="1750" b="1" spc="-20" dirty="0">
                <a:solidFill>
                  <a:srgbClr val="3A3535"/>
                </a:solidFill>
                <a:latin typeface="Verdana"/>
                <a:cs typeface="Verdana"/>
              </a:rPr>
              <a:t>Side</a:t>
            </a:r>
            <a:endParaRPr sz="1750">
              <a:latin typeface="Verdana"/>
              <a:cs typeface="Verdana"/>
            </a:endParaRPr>
          </a:p>
          <a:p>
            <a:pPr marL="12700" marR="5080">
              <a:lnSpc>
                <a:spcPct val="134600"/>
              </a:lnSpc>
              <a:spcBef>
                <a:spcPts val="660"/>
              </a:spcBef>
            </a:pPr>
            <a:r>
              <a:rPr sz="1300" spc="55" dirty="0">
                <a:solidFill>
                  <a:srgbClr val="3A3535"/>
                </a:solidFill>
                <a:latin typeface="Century Gothic"/>
                <a:cs typeface="Century Gothic"/>
              </a:rPr>
              <a:t>Interacts</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40"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0" dirty="0">
                <a:solidFill>
                  <a:srgbClr val="3A3535"/>
                </a:solidFill>
                <a:latin typeface="Century Gothic"/>
                <a:cs typeface="Century Gothic"/>
              </a:rPr>
              <a:t>human </a:t>
            </a:r>
            <a:r>
              <a:rPr sz="1300" spc="60" dirty="0">
                <a:solidFill>
                  <a:srgbClr val="3A3535"/>
                </a:solidFill>
                <a:latin typeface="Century Gothic"/>
                <a:cs typeface="Century Gothic"/>
              </a:rPr>
              <a:t>through</a:t>
            </a:r>
            <a:r>
              <a:rPr sz="1300" spc="-4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40" dirty="0">
                <a:solidFill>
                  <a:srgbClr val="3A3535"/>
                </a:solidFill>
                <a:latin typeface="Century Gothic"/>
                <a:cs typeface="Century Gothic"/>
              </a:rPr>
              <a:t> </a:t>
            </a:r>
            <a:r>
              <a:rPr sz="1300" spc="75" dirty="0">
                <a:solidFill>
                  <a:srgbClr val="3A3535"/>
                </a:solidFill>
                <a:latin typeface="Century Gothic"/>
                <a:cs typeface="Century Gothic"/>
              </a:rPr>
              <a:t>single</a:t>
            </a:r>
            <a:r>
              <a:rPr sz="1300" spc="-40" dirty="0">
                <a:solidFill>
                  <a:srgbClr val="3A3535"/>
                </a:solidFill>
                <a:latin typeface="Century Gothic"/>
                <a:cs typeface="Century Gothic"/>
              </a:rPr>
              <a:t> </a:t>
            </a:r>
            <a:r>
              <a:rPr sz="1300" dirty="0">
                <a:solidFill>
                  <a:srgbClr val="3A3535"/>
                </a:solidFill>
                <a:latin typeface="Century Gothic"/>
                <a:cs typeface="Century Gothic"/>
              </a:rPr>
              <a:t>chat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interface</a:t>
            </a:r>
            <a:endParaRPr sz="1300">
              <a:latin typeface="Century Gothic"/>
              <a:cs typeface="Century Gothic"/>
            </a:endParaRPr>
          </a:p>
        </p:txBody>
      </p:sp>
      <p:grpSp>
        <p:nvGrpSpPr>
          <p:cNvPr id="8" name="object 8"/>
          <p:cNvGrpSpPr/>
          <p:nvPr/>
        </p:nvGrpSpPr>
        <p:grpSpPr>
          <a:xfrm>
            <a:off x="4067175" y="3390900"/>
            <a:ext cx="3295650" cy="1285875"/>
            <a:chOff x="4067175" y="3390900"/>
            <a:chExt cx="3295650" cy="1285875"/>
          </a:xfrm>
        </p:grpSpPr>
        <p:sp>
          <p:nvSpPr>
            <p:cNvPr id="9" name="object 9"/>
            <p:cNvSpPr/>
            <p:nvPr/>
          </p:nvSpPr>
          <p:spPr>
            <a:xfrm>
              <a:off x="4071937" y="3395662"/>
              <a:ext cx="3286125" cy="1276350"/>
            </a:xfrm>
            <a:custGeom>
              <a:avLst/>
              <a:gdLst/>
              <a:ahLst/>
              <a:cxnLst/>
              <a:rect l="l" t="t" r="r" b="b"/>
              <a:pathLst>
                <a:path w="3286125" h="1276350">
                  <a:moveTo>
                    <a:pt x="3235223" y="0"/>
                  </a:moveTo>
                  <a:lnTo>
                    <a:pt x="50901" y="0"/>
                  </a:lnTo>
                  <a:lnTo>
                    <a:pt x="47358" y="342"/>
                  </a:lnTo>
                  <a:lnTo>
                    <a:pt x="13423" y="18491"/>
                  </a:lnTo>
                  <a:lnTo>
                    <a:pt x="0" y="50901"/>
                  </a:lnTo>
                  <a:lnTo>
                    <a:pt x="0" y="1221867"/>
                  </a:lnTo>
                  <a:lnTo>
                    <a:pt x="0" y="1225448"/>
                  </a:lnTo>
                  <a:lnTo>
                    <a:pt x="15963" y="1260386"/>
                  </a:lnTo>
                  <a:lnTo>
                    <a:pt x="18478" y="1262926"/>
                  </a:lnTo>
                  <a:lnTo>
                    <a:pt x="50901" y="1276350"/>
                  </a:lnTo>
                  <a:lnTo>
                    <a:pt x="3235223" y="1276350"/>
                  </a:lnTo>
                  <a:lnTo>
                    <a:pt x="3272701" y="1257858"/>
                  </a:lnTo>
                  <a:lnTo>
                    <a:pt x="3286125" y="12254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395662"/>
              <a:ext cx="3286125" cy="1276350"/>
            </a:xfrm>
            <a:custGeom>
              <a:avLst/>
              <a:gdLst/>
              <a:ahLst/>
              <a:cxnLst/>
              <a:rect l="l" t="t" r="r" b="b"/>
              <a:pathLst>
                <a:path w="3286125"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221867"/>
                  </a:lnTo>
                  <a:lnTo>
                    <a:pt x="3286125" y="1225448"/>
                  </a:lnTo>
                  <a:lnTo>
                    <a:pt x="3285782" y="1228991"/>
                  </a:lnTo>
                  <a:lnTo>
                    <a:pt x="3285083" y="1232496"/>
                  </a:lnTo>
                  <a:lnTo>
                    <a:pt x="3284385" y="1236002"/>
                  </a:lnTo>
                  <a:lnTo>
                    <a:pt x="3283343" y="1239405"/>
                  </a:lnTo>
                  <a:lnTo>
                    <a:pt x="3281972" y="1242720"/>
                  </a:lnTo>
                  <a:lnTo>
                    <a:pt x="3280613" y="1246022"/>
                  </a:lnTo>
                  <a:lnTo>
                    <a:pt x="3278936" y="1249159"/>
                  </a:lnTo>
                  <a:lnTo>
                    <a:pt x="3276942" y="1252131"/>
                  </a:lnTo>
                  <a:lnTo>
                    <a:pt x="3274949" y="1255102"/>
                  </a:lnTo>
                  <a:lnTo>
                    <a:pt x="3272701" y="1257858"/>
                  </a:lnTo>
                  <a:lnTo>
                    <a:pt x="3270161" y="1260386"/>
                  </a:lnTo>
                  <a:lnTo>
                    <a:pt x="3267633" y="1262926"/>
                  </a:lnTo>
                  <a:lnTo>
                    <a:pt x="3235223" y="1276350"/>
                  </a:lnTo>
                  <a:lnTo>
                    <a:pt x="3231642" y="1276350"/>
                  </a:lnTo>
                  <a:lnTo>
                    <a:pt x="54483" y="1276350"/>
                  </a:lnTo>
                  <a:lnTo>
                    <a:pt x="50901" y="1276350"/>
                  </a:lnTo>
                  <a:lnTo>
                    <a:pt x="47358" y="1275994"/>
                  </a:lnTo>
                  <a:lnTo>
                    <a:pt x="15963"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546030"/>
            <a:ext cx="2733675"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Therapist</a:t>
            </a:r>
            <a:r>
              <a:rPr sz="1750" b="1" spc="-165" dirty="0">
                <a:solidFill>
                  <a:srgbClr val="3A3535"/>
                </a:solidFill>
                <a:latin typeface="Verdana"/>
                <a:cs typeface="Verdana"/>
              </a:rPr>
              <a:t> </a:t>
            </a:r>
            <a:r>
              <a:rPr sz="1750" b="1" spc="-10" dirty="0">
                <a:solidFill>
                  <a:srgbClr val="3A3535"/>
                </a:solidFill>
                <a:latin typeface="Verdana"/>
                <a:cs typeface="Verdana"/>
              </a:rPr>
              <a:t>Dashboard</a:t>
            </a:r>
            <a:endParaRPr sz="1750">
              <a:latin typeface="Verdana"/>
              <a:cs typeface="Verdana"/>
            </a:endParaRPr>
          </a:p>
          <a:p>
            <a:pPr marL="12700" marR="5080">
              <a:lnSpc>
                <a:spcPct val="134600"/>
              </a:lnSpc>
              <a:spcBef>
                <a:spcPts val="660"/>
              </a:spcBef>
            </a:pPr>
            <a:r>
              <a:rPr sz="1300" spc="70" dirty="0">
                <a:solidFill>
                  <a:srgbClr val="3A3535"/>
                </a:solidFill>
                <a:latin typeface="Century Gothic"/>
                <a:cs typeface="Century Gothic"/>
              </a:rPr>
              <a:t>Alerts,</a:t>
            </a:r>
            <a:r>
              <a:rPr sz="1300" spc="-25" dirty="0">
                <a:solidFill>
                  <a:srgbClr val="3A3535"/>
                </a:solidFill>
                <a:latin typeface="Century Gothic"/>
                <a:cs typeface="Century Gothic"/>
              </a:rPr>
              <a:t> </a:t>
            </a:r>
            <a:r>
              <a:rPr sz="1300" spc="50" dirty="0">
                <a:solidFill>
                  <a:srgbClr val="3A3535"/>
                </a:solidFill>
                <a:latin typeface="Century Gothic"/>
                <a:cs typeface="Century Gothic"/>
              </a:rPr>
              <a:t>notes,</a:t>
            </a:r>
            <a:r>
              <a:rPr sz="1300" spc="-25" dirty="0">
                <a:solidFill>
                  <a:srgbClr val="3A3535"/>
                </a:solidFill>
                <a:latin typeface="Century Gothic"/>
                <a:cs typeface="Century Gothic"/>
              </a:rPr>
              <a:t> </a:t>
            </a:r>
            <a:r>
              <a:rPr sz="1300" spc="60" dirty="0">
                <a:solidFill>
                  <a:srgbClr val="3A3535"/>
                </a:solidFill>
                <a:latin typeface="Century Gothic"/>
                <a:cs typeface="Century Gothic"/>
              </a:rPr>
              <a:t>summaries,</a:t>
            </a:r>
            <a:r>
              <a:rPr sz="1300" spc="-25" dirty="0">
                <a:solidFill>
                  <a:srgbClr val="3A3535"/>
                </a:solidFill>
                <a:latin typeface="Century Gothic"/>
                <a:cs typeface="Century Gothic"/>
              </a:rPr>
              <a:t> </a:t>
            </a:r>
            <a:r>
              <a:rPr sz="1300" spc="45" dirty="0">
                <a:solidFill>
                  <a:srgbClr val="3A3535"/>
                </a:solidFill>
                <a:latin typeface="Century Gothic"/>
                <a:cs typeface="Century Gothic"/>
              </a:rPr>
              <a:t>drafts, </a:t>
            </a:r>
            <a:r>
              <a:rPr sz="1300" spc="-10" dirty="0">
                <a:solidFill>
                  <a:srgbClr val="3A3535"/>
                </a:solidFill>
                <a:latin typeface="Century Gothic"/>
                <a:cs typeface="Century Gothic"/>
              </a:rPr>
              <a:t>and</a:t>
            </a:r>
            <a:r>
              <a:rPr sz="1300" spc="-60" dirty="0">
                <a:solidFill>
                  <a:srgbClr val="3A3535"/>
                </a:solidFill>
                <a:latin typeface="Century Gothic"/>
                <a:cs typeface="Century Gothic"/>
              </a:rPr>
              <a:t> </a:t>
            </a:r>
            <a:r>
              <a:rPr sz="1300" spc="55" dirty="0">
                <a:solidFill>
                  <a:srgbClr val="3A3535"/>
                </a:solidFill>
                <a:latin typeface="Century Gothic"/>
                <a:cs typeface="Century Gothic"/>
              </a:rPr>
              <a:t>direct</a:t>
            </a:r>
            <a:r>
              <a:rPr sz="1300" spc="-55" dirty="0">
                <a:solidFill>
                  <a:srgbClr val="3A3535"/>
                </a:solidFill>
                <a:latin typeface="Century Gothic"/>
                <a:cs typeface="Century Gothic"/>
              </a:rPr>
              <a:t> </a:t>
            </a:r>
            <a:r>
              <a:rPr sz="1300" spc="-10" dirty="0">
                <a:solidFill>
                  <a:srgbClr val="3A3535"/>
                </a:solidFill>
                <a:latin typeface="Century Gothic"/>
                <a:cs typeface="Century Gothic"/>
              </a:rPr>
              <a:t>escalation</a:t>
            </a:r>
            <a:endParaRPr sz="1300">
              <a:latin typeface="Century Gothic"/>
              <a:cs typeface="Century Gothic"/>
            </a:endParaRPr>
          </a:p>
        </p:txBody>
      </p:sp>
      <p:grpSp>
        <p:nvGrpSpPr>
          <p:cNvPr id="12" name="object 12"/>
          <p:cNvGrpSpPr/>
          <p:nvPr/>
        </p:nvGrpSpPr>
        <p:grpSpPr>
          <a:xfrm>
            <a:off x="7534275" y="3390900"/>
            <a:ext cx="3305175" cy="1285875"/>
            <a:chOff x="7534275" y="3390900"/>
            <a:chExt cx="3305175" cy="1285875"/>
          </a:xfrm>
        </p:grpSpPr>
        <p:sp>
          <p:nvSpPr>
            <p:cNvPr id="13" name="object 13"/>
            <p:cNvSpPr/>
            <p:nvPr/>
          </p:nvSpPr>
          <p:spPr>
            <a:xfrm>
              <a:off x="7539037" y="3395662"/>
              <a:ext cx="3295650" cy="1276350"/>
            </a:xfrm>
            <a:custGeom>
              <a:avLst/>
              <a:gdLst/>
              <a:ahLst/>
              <a:cxnLst/>
              <a:rect l="l" t="t" r="r" b="b"/>
              <a:pathLst>
                <a:path w="3295650" h="1276350">
                  <a:moveTo>
                    <a:pt x="3244748" y="0"/>
                  </a:moveTo>
                  <a:lnTo>
                    <a:pt x="50901" y="0"/>
                  </a:lnTo>
                  <a:lnTo>
                    <a:pt x="47358" y="342"/>
                  </a:lnTo>
                  <a:lnTo>
                    <a:pt x="13423" y="18491"/>
                  </a:lnTo>
                  <a:lnTo>
                    <a:pt x="0" y="50901"/>
                  </a:lnTo>
                  <a:lnTo>
                    <a:pt x="0" y="1221867"/>
                  </a:lnTo>
                  <a:lnTo>
                    <a:pt x="0" y="1225448"/>
                  </a:lnTo>
                  <a:lnTo>
                    <a:pt x="18478" y="1262926"/>
                  </a:lnTo>
                  <a:lnTo>
                    <a:pt x="50901"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395662"/>
              <a:ext cx="3295650" cy="1276350"/>
            </a:xfrm>
            <a:custGeom>
              <a:avLst/>
              <a:gdLst/>
              <a:ahLst/>
              <a:cxnLst/>
              <a:rect l="l" t="t" r="r" b="b"/>
              <a:pathLst>
                <a:path w="3295650"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3" y="1276350"/>
                  </a:lnTo>
                  <a:lnTo>
                    <a:pt x="50901" y="1276350"/>
                  </a:lnTo>
                  <a:lnTo>
                    <a:pt x="47358" y="1275994"/>
                  </a:lnTo>
                  <a:lnTo>
                    <a:pt x="15951"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546030"/>
            <a:ext cx="2966720"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Human-</a:t>
            </a:r>
            <a:r>
              <a:rPr sz="1750" b="1" spc="-85" dirty="0">
                <a:solidFill>
                  <a:srgbClr val="3A3535"/>
                </a:solidFill>
                <a:latin typeface="Verdana"/>
                <a:cs typeface="Verdana"/>
              </a:rPr>
              <a:t>Only</a:t>
            </a:r>
            <a:r>
              <a:rPr sz="1750" b="1" spc="-155" dirty="0">
                <a:solidFill>
                  <a:srgbClr val="3A3535"/>
                </a:solidFill>
                <a:latin typeface="Verdana"/>
                <a:cs typeface="Verdana"/>
              </a:rPr>
              <a:t> </a:t>
            </a:r>
            <a:r>
              <a:rPr sz="1750" b="1" spc="-20" dirty="0">
                <a:solidFill>
                  <a:srgbClr val="3A3535"/>
                </a:solidFill>
                <a:latin typeface="Verdana"/>
                <a:cs typeface="Verdana"/>
              </a:rPr>
              <a:t>Mode</a:t>
            </a:r>
            <a:endParaRPr sz="1750">
              <a:latin typeface="Verdana"/>
              <a:cs typeface="Verdana"/>
            </a:endParaRPr>
          </a:p>
          <a:p>
            <a:pPr marL="12700" marR="5080">
              <a:lnSpc>
                <a:spcPct val="134600"/>
              </a:lnSpc>
              <a:spcBef>
                <a:spcPts val="660"/>
              </a:spcBef>
            </a:pPr>
            <a:r>
              <a:rPr sz="1300" spc="10" dirty="0">
                <a:solidFill>
                  <a:srgbClr val="3A3535"/>
                </a:solidFill>
                <a:latin typeface="Century Gothic"/>
                <a:cs typeface="Century Gothic"/>
              </a:rPr>
              <a:t>Same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framework</a:t>
            </a:r>
            <a:r>
              <a:rPr sz="1300" spc="35" dirty="0">
                <a:solidFill>
                  <a:srgbClr val="3A3535"/>
                </a:solidFill>
                <a:latin typeface="Century Gothic"/>
                <a:cs typeface="Century Gothic"/>
              </a:rPr>
              <a:t> </a:t>
            </a:r>
            <a:r>
              <a:rPr sz="1300" spc="110" dirty="0">
                <a:solidFill>
                  <a:srgbClr val="3A3535"/>
                </a:solidFill>
                <a:latin typeface="Century Gothic"/>
                <a:cs typeface="Century Gothic"/>
              </a:rPr>
              <a:t>runs</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35"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50" dirty="0">
                <a:solidFill>
                  <a:srgbClr val="3A3535"/>
                </a:solidFill>
                <a:latin typeface="Century Gothic"/>
                <a:cs typeface="Century Gothic"/>
              </a:rPr>
              <a:t>— </a:t>
            </a:r>
            <a:r>
              <a:rPr sz="1300" dirty="0">
                <a:solidFill>
                  <a:srgbClr val="3A3535"/>
                </a:solidFill>
                <a:latin typeface="Century Gothic"/>
                <a:cs typeface="Century Gothic"/>
              </a:rPr>
              <a:t>enabling</a:t>
            </a:r>
            <a:r>
              <a:rPr sz="1300" spc="8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80" dirty="0">
                <a:solidFill>
                  <a:srgbClr val="3A3535"/>
                </a:solidFill>
                <a:latin typeface="Century Gothic"/>
                <a:cs typeface="Century Gothic"/>
              </a:rPr>
              <a:t> </a:t>
            </a:r>
            <a:r>
              <a:rPr sz="1300" spc="55" dirty="0">
                <a:solidFill>
                  <a:srgbClr val="3A3535"/>
                </a:solidFill>
                <a:latin typeface="Century Gothic"/>
                <a:cs typeface="Century Gothic"/>
              </a:rPr>
              <a:t>comparisons</a:t>
            </a:r>
            <a:endParaRPr sz="1300">
              <a:latin typeface="Century Gothic"/>
              <a:cs typeface="Century Gothi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99085" rIns="0" bIns="0" rtlCol="0">
            <a:spAutoFit/>
          </a:bodyPr>
          <a:lstStyle/>
          <a:p>
            <a:pPr marL="12700">
              <a:lnSpc>
                <a:spcPct val="100000"/>
              </a:lnSpc>
              <a:spcBef>
                <a:spcPts val="105"/>
              </a:spcBef>
            </a:pPr>
            <a:r>
              <a:rPr spc="-70" dirty="0"/>
              <a:t>Mobile</a:t>
            </a:r>
            <a:r>
              <a:rPr spc="-409" dirty="0"/>
              <a:t> </a:t>
            </a:r>
            <a:r>
              <a:rPr spc="-25" dirty="0"/>
              <a:t>App</a:t>
            </a:r>
          </a:p>
        </p:txBody>
      </p:sp>
      <p:sp>
        <p:nvSpPr>
          <p:cNvPr id="3" name="object 3"/>
          <p:cNvSpPr txBox="1"/>
          <p:nvPr/>
        </p:nvSpPr>
        <p:spPr>
          <a:xfrm>
            <a:off x="579635" y="1716600"/>
            <a:ext cx="4663440" cy="577850"/>
          </a:xfrm>
          <a:prstGeom prst="rect">
            <a:avLst/>
          </a:prstGeom>
        </p:spPr>
        <p:txBody>
          <a:bodyPr vert="horz" wrap="square" lIns="0" tIns="11430" rIns="0" bIns="0" rtlCol="0">
            <a:spAutoFit/>
          </a:bodyPr>
          <a:lstStyle/>
          <a:p>
            <a:pPr marL="12700" marR="5080">
              <a:lnSpc>
                <a:spcPct val="139400"/>
              </a:lnSpc>
              <a:spcBef>
                <a:spcPts val="90"/>
              </a:spcBef>
            </a:pPr>
            <a:r>
              <a:rPr sz="1300" spc="80" dirty="0">
                <a:solidFill>
                  <a:srgbClr val="3A3535"/>
                </a:solidFill>
                <a:latin typeface="Century Gothic"/>
                <a:cs typeface="Century Gothic"/>
              </a:rPr>
              <a:t>The</a:t>
            </a:r>
            <a:r>
              <a:rPr sz="1300" spc="85" dirty="0">
                <a:solidFill>
                  <a:srgbClr val="3A3535"/>
                </a:solidFill>
                <a:latin typeface="Century Gothic"/>
                <a:cs typeface="Century Gothic"/>
              </a:rPr>
              <a:t> </a:t>
            </a:r>
            <a:r>
              <a:rPr sz="1300" dirty="0">
                <a:solidFill>
                  <a:srgbClr val="3A3535"/>
                </a:solidFill>
                <a:latin typeface="Century Gothic"/>
                <a:cs typeface="Century Gothic"/>
              </a:rPr>
              <a:t>same</a:t>
            </a:r>
            <a:r>
              <a:rPr sz="1300" spc="85" dirty="0">
                <a:solidFill>
                  <a:srgbClr val="3A3535"/>
                </a:solidFill>
                <a:latin typeface="Century Gothic"/>
                <a:cs typeface="Century Gothic"/>
              </a:rPr>
              <a:t> </a:t>
            </a:r>
            <a:r>
              <a:rPr sz="1300" dirty="0">
                <a:solidFill>
                  <a:srgbClr val="3A3535"/>
                </a:solidFill>
                <a:latin typeface="Century Gothic"/>
                <a:cs typeface="Century Gothic"/>
              </a:rPr>
              <a:t>program</a:t>
            </a:r>
            <a:r>
              <a:rPr sz="1300" spc="85" dirty="0">
                <a:solidFill>
                  <a:srgbClr val="3A3535"/>
                </a:solidFill>
                <a:latin typeface="Century Gothic"/>
                <a:cs typeface="Century Gothic"/>
              </a:rPr>
              <a:t> </a:t>
            </a:r>
            <a:r>
              <a:rPr sz="1300" dirty="0">
                <a:solidFill>
                  <a:srgbClr val="3A3535"/>
                </a:solidFill>
                <a:latin typeface="Century Gothic"/>
                <a:cs typeface="Century Gothic"/>
              </a:rPr>
              <a:t>logic</a:t>
            </a:r>
            <a:r>
              <a:rPr sz="1300" spc="85" dirty="0">
                <a:solidFill>
                  <a:srgbClr val="3A3535"/>
                </a:solidFill>
                <a:latin typeface="Century Gothic"/>
                <a:cs typeface="Century Gothic"/>
              </a:rPr>
              <a:t> </a:t>
            </a:r>
            <a:r>
              <a:rPr sz="1300" spc="60" dirty="0">
                <a:solidFill>
                  <a:srgbClr val="3A3535"/>
                </a:solidFill>
                <a:latin typeface="Century Gothic"/>
                <a:cs typeface="Century Gothic"/>
              </a:rPr>
              <a:t>continues</a:t>
            </a:r>
            <a:r>
              <a:rPr sz="1300" spc="90" dirty="0">
                <a:solidFill>
                  <a:srgbClr val="3A3535"/>
                </a:solidFill>
                <a:latin typeface="Century Gothic"/>
                <a:cs typeface="Century Gothic"/>
              </a:rPr>
              <a:t> </a:t>
            </a:r>
            <a:r>
              <a:rPr sz="1300" dirty="0">
                <a:solidFill>
                  <a:srgbClr val="3A3535"/>
                </a:solidFill>
                <a:latin typeface="Century Gothic"/>
                <a:cs typeface="Century Gothic"/>
              </a:rPr>
              <a:t>on</a:t>
            </a:r>
            <a:r>
              <a:rPr sz="1300" spc="85" dirty="0">
                <a:solidFill>
                  <a:srgbClr val="3A3535"/>
                </a:solidFill>
                <a:latin typeface="Century Gothic"/>
                <a:cs typeface="Century Gothic"/>
              </a:rPr>
              <a:t> </a:t>
            </a:r>
            <a:r>
              <a:rPr sz="1300" dirty="0">
                <a:solidFill>
                  <a:srgbClr val="3A3535"/>
                </a:solidFill>
                <a:latin typeface="Century Gothic"/>
                <a:cs typeface="Century Gothic"/>
              </a:rPr>
              <a:t>mobile.</a:t>
            </a:r>
            <a:r>
              <a:rPr sz="1300" spc="85" dirty="0">
                <a:solidFill>
                  <a:srgbClr val="3A3535"/>
                </a:solidFill>
                <a:latin typeface="Century Gothic"/>
                <a:cs typeface="Century Gothic"/>
              </a:rPr>
              <a:t> </a:t>
            </a:r>
            <a:r>
              <a:rPr sz="1300" spc="60" dirty="0">
                <a:solidFill>
                  <a:srgbClr val="3A3535"/>
                </a:solidFill>
                <a:latin typeface="Century Gothic"/>
                <a:cs typeface="Century Gothic"/>
              </a:rPr>
              <a:t>SelfHelp </a:t>
            </a:r>
            <a:r>
              <a:rPr sz="1300" dirty="0">
                <a:solidFill>
                  <a:srgbClr val="3A3535"/>
                </a:solidFill>
                <a:latin typeface="Century Gothic"/>
                <a:cs typeface="Century Gothic"/>
              </a:rPr>
              <a:t>becomes</a:t>
            </a:r>
            <a:r>
              <a:rPr sz="1300" spc="10" dirty="0">
                <a:solidFill>
                  <a:srgbClr val="3A3535"/>
                </a:solidFill>
                <a:latin typeface="Century Gothic"/>
                <a:cs typeface="Century Gothic"/>
              </a:rPr>
              <a:t> </a:t>
            </a:r>
            <a:r>
              <a:rPr sz="1300" dirty="0">
                <a:solidFill>
                  <a:srgbClr val="3A3535"/>
                </a:solidFill>
                <a:latin typeface="Century Gothic"/>
                <a:cs typeface="Century Gothic"/>
              </a:rPr>
              <a:t>part</a:t>
            </a:r>
            <a:r>
              <a:rPr sz="1300" spc="10" dirty="0">
                <a:solidFill>
                  <a:srgbClr val="3A3535"/>
                </a:solidFill>
                <a:latin typeface="Century Gothic"/>
                <a:cs typeface="Century Gothic"/>
              </a:rPr>
              <a:t> </a:t>
            </a:r>
            <a:r>
              <a:rPr sz="1300" spc="60" dirty="0">
                <a:solidFill>
                  <a:srgbClr val="3A3535"/>
                </a:solidFill>
                <a:latin typeface="Century Gothic"/>
                <a:cs typeface="Century Gothic"/>
              </a:rPr>
              <a:t>of</a:t>
            </a:r>
            <a:r>
              <a:rPr sz="1300" spc="10" dirty="0">
                <a:solidFill>
                  <a:srgbClr val="3A3535"/>
                </a:solidFill>
                <a:latin typeface="Century Gothic"/>
                <a:cs typeface="Century Gothic"/>
              </a:rPr>
              <a:t> </a:t>
            </a:r>
            <a:r>
              <a:rPr sz="1300" b="1" spc="-45" dirty="0">
                <a:solidFill>
                  <a:srgbClr val="3A3535"/>
                </a:solidFill>
                <a:latin typeface="Verdana"/>
                <a:cs typeface="Verdana"/>
              </a:rPr>
              <a:t>daily</a:t>
            </a:r>
            <a:r>
              <a:rPr sz="1300" b="1" spc="-110" dirty="0">
                <a:solidFill>
                  <a:srgbClr val="3A3535"/>
                </a:solidFill>
                <a:latin typeface="Verdana"/>
                <a:cs typeface="Verdana"/>
              </a:rPr>
              <a:t> </a:t>
            </a:r>
            <a:r>
              <a:rPr sz="1300" b="1" spc="-50" dirty="0">
                <a:solidFill>
                  <a:srgbClr val="3A3535"/>
                </a:solidFill>
                <a:latin typeface="Verdana"/>
                <a:cs typeface="Verdana"/>
              </a:rPr>
              <a:t>use</a:t>
            </a:r>
            <a:r>
              <a:rPr sz="1300" spc="-50" dirty="0">
                <a:solidFill>
                  <a:srgbClr val="3A3535"/>
                </a:solidFill>
                <a:latin typeface="Century Gothic"/>
                <a:cs typeface="Century Gothic"/>
              </a:rPr>
              <a:t>,</a:t>
            </a:r>
            <a:r>
              <a:rPr sz="1300" spc="10" dirty="0">
                <a:solidFill>
                  <a:srgbClr val="3A3535"/>
                </a:solidFill>
                <a:latin typeface="Century Gothic"/>
                <a:cs typeface="Century Gothic"/>
              </a:rPr>
              <a:t> </a:t>
            </a:r>
            <a:r>
              <a:rPr sz="1300" spc="65" dirty="0">
                <a:solidFill>
                  <a:srgbClr val="3A3535"/>
                </a:solidFill>
                <a:latin typeface="Century Gothic"/>
                <a:cs typeface="Century Gothic"/>
              </a:rPr>
              <a:t>not</a:t>
            </a:r>
            <a:r>
              <a:rPr sz="1300" spc="10" dirty="0">
                <a:solidFill>
                  <a:srgbClr val="3A3535"/>
                </a:solidFill>
                <a:latin typeface="Century Gothic"/>
                <a:cs typeface="Century Gothic"/>
              </a:rPr>
              <a:t> </a:t>
            </a:r>
            <a:r>
              <a:rPr sz="1300" spc="50" dirty="0">
                <a:solidFill>
                  <a:srgbClr val="3A3535"/>
                </a:solidFill>
                <a:latin typeface="Century Gothic"/>
                <a:cs typeface="Century Gothic"/>
              </a:rPr>
              <a:t>only</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desktop</a:t>
            </a:r>
            <a:r>
              <a:rPr sz="1300" spc="10" dirty="0">
                <a:solidFill>
                  <a:srgbClr val="3A3535"/>
                </a:solidFill>
                <a:latin typeface="Century Gothic"/>
                <a:cs typeface="Century Gothic"/>
              </a:rPr>
              <a:t> </a:t>
            </a:r>
            <a:r>
              <a:rPr sz="1300" spc="-20" dirty="0">
                <a:solidFill>
                  <a:srgbClr val="3A3535"/>
                </a:solidFill>
                <a:latin typeface="Century Gothic"/>
                <a:cs typeface="Century Gothic"/>
              </a:rPr>
              <a:t>use.</a:t>
            </a:r>
            <a:endParaRPr sz="1300">
              <a:latin typeface="Century Gothic"/>
              <a:cs typeface="Century Gothic"/>
            </a:endParaRPr>
          </a:p>
        </p:txBody>
      </p:sp>
      <p:sp>
        <p:nvSpPr>
          <p:cNvPr id="4" name="object 4"/>
          <p:cNvSpPr txBox="1"/>
          <p:nvPr/>
        </p:nvSpPr>
        <p:spPr>
          <a:xfrm>
            <a:off x="579622" y="2485047"/>
            <a:ext cx="254317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Already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supported</a:t>
            </a:r>
            <a:r>
              <a:rPr sz="1300" spc="35" dirty="0">
                <a:solidFill>
                  <a:srgbClr val="3A3535"/>
                </a:solidFill>
                <a:latin typeface="Century Gothic"/>
                <a:cs typeface="Century Gothic"/>
              </a:rPr>
              <a:t> </a:t>
            </a:r>
            <a:r>
              <a:rPr sz="1300" dirty="0">
                <a:solidFill>
                  <a:srgbClr val="3A3535"/>
                </a:solidFill>
                <a:latin typeface="Century Gothic"/>
                <a:cs typeface="Century Gothic"/>
              </a:rPr>
              <a:t>on</a:t>
            </a:r>
            <a:r>
              <a:rPr sz="1300" spc="35" dirty="0">
                <a:solidFill>
                  <a:srgbClr val="3A3535"/>
                </a:solidFill>
                <a:latin typeface="Century Gothic"/>
                <a:cs typeface="Century Gothic"/>
              </a:rPr>
              <a:t> </a:t>
            </a:r>
            <a:r>
              <a:rPr sz="1300" spc="-10" dirty="0">
                <a:solidFill>
                  <a:srgbClr val="3A3535"/>
                </a:solidFill>
                <a:latin typeface="Century Gothic"/>
                <a:cs typeface="Century Gothic"/>
              </a:rPr>
              <a:t>mobile:</a:t>
            </a:r>
            <a:endParaRPr sz="1300">
              <a:latin typeface="Century Gothic"/>
              <a:cs typeface="Century Gothic"/>
            </a:endParaRPr>
          </a:p>
        </p:txBody>
      </p:sp>
      <p:sp>
        <p:nvSpPr>
          <p:cNvPr id="5" name="object 5"/>
          <p:cNvSpPr/>
          <p:nvPr/>
        </p:nvSpPr>
        <p:spPr>
          <a:xfrm>
            <a:off x="628650" y="30099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850201" y="2904147"/>
            <a:ext cx="2617470" cy="895350"/>
          </a:xfrm>
          <a:prstGeom prst="rect">
            <a:avLst/>
          </a:prstGeom>
        </p:spPr>
        <p:txBody>
          <a:bodyPr vert="horz" wrap="square" lIns="0" tIns="16510" rIns="0" bIns="0" rtlCol="0">
            <a:spAutoFit/>
          </a:bodyPr>
          <a:lstStyle/>
          <a:p>
            <a:pPr marL="12700">
              <a:lnSpc>
                <a:spcPct val="100000"/>
              </a:lnSpc>
              <a:spcBef>
                <a:spcPts val="130"/>
              </a:spcBef>
            </a:pPr>
            <a:r>
              <a:rPr sz="1300" spc="70" dirty="0">
                <a:solidFill>
                  <a:srgbClr val="3A3535"/>
                </a:solidFill>
                <a:latin typeface="Century Gothic"/>
                <a:cs typeface="Century Gothic"/>
              </a:rPr>
              <a:t>Surveys,</a:t>
            </a:r>
            <a:r>
              <a:rPr sz="1300" spc="-1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5" dirty="0">
                <a:solidFill>
                  <a:srgbClr val="3A3535"/>
                </a:solidFill>
                <a:latin typeface="Century Gothic"/>
                <a:cs typeface="Century Gothic"/>
              </a:rPr>
              <a:t> </a:t>
            </a:r>
            <a:r>
              <a:rPr sz="1300" dirty="0">
                <a:solidFill>
                  <a:srgbClr val="3A3535"/>
                </a:solidFill>
                <a:latin typeface="Century Gothic"/>
                <a:cs typeface="Century Gothic"/>
              </a:rPr>
              <a:t>chat,</a:t>
            </a:r>
            <a:r>
              <a:rPr sz="1300" spc="-5" dirty="0">
                <a:solidFill>
                  <a:srgbClr val="3A3535"/>
                </a:solidFill>
                <a:latin typeface="Century Gothic"/>
                <a:cs typeface="Century Gothic"/>
              </a:rPr>
              <a:t> </a:t>
            </a:r>
            <a:r>
              <a:rPr sz="1300" dirty="0">
                <a:solidFill>
                  <a:srgbClr val="3A3535"/>
                </a:solidFill>
                <a:latin typeface="Century Gothic"/>
                <a:cs typeface="Century Gothic"/>
              </a:rPr>
              <a:t>therapy</a:t>
            </a:r>
            <a:r>
              <a:rPr sz="1300" spc="-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a:p>
            <a:pPr marL="12700">
              <a:lnSpc>
                <a:spcPct val="100000"/>
              </a:lnSpc>
              <a:spcBef>
                <a:spcPts val="1065"/>
              </a:spcBef>
            </a:pPr>
            <a:r>
              <a:rPr sz="1300" spc="85" dirty="0">
                <a:solidFill>
                  <a:srgbClr val="3A3535"/>
                </a:solidFill>
                <a:latin typeface="Century Gothic"/>
                <a:cs typeface="Century Gothic"/>
              </a:rPr>
              <a:t>Push</a:t>
            </a:r>
            <a:r>
              <a:rPr sz="1300" spc="-50" dirty="0">
                <a:solidFill>
                  <a:srgbClr val="3A3535"/>
                </a:solidFill>
                <a:latin typeface="Century Gothic"/>
                <a:cs typeface="Century Gothic"/>
              </a:rPr>
              <a:t> </a:t>
            </a:r>
            <a:r>
              <a:rPr sz="1300" spc="60" dirty="0">
                <a:solidFill>
                  <a:srgbClr val="3A3535"/>
                </a:solidFill>
                <a:latin typeface="Century Gothic"/>
                <a:cs typeface="Century Gothic"/>
              </a:rPr>
              <a:t>notifications</a:t>
            </a:r>
            <a:endParaRPr sz="1300">
              <a:latin typeface="Century Gothic"/>
              <a:cs typeface="Century Gothic"/>
            </a:endParaRPr>
          </a:p>
          <a:p>
            <a:pPr marL="12700">
              <a:lnSpc>
                <a:spcPct val="100000"/>
              </a:lnSpc>
              <a:spcBef>
                <a:spcPts val="1065"/>
              </a:spcBef>
            </a:pPr>
            <a:r>
              <a:rPr sz="1300" spc="-25" dirty="0">
                <a:solidFill>
                  <a:srgbClr val="3A3535"/>
                </a:solidFill>
                <a:latin typeface="Century Gothic"/>
                <a:cs typeface="Century Gothic"/>
              </a:rPr>
              <a:t>Camera</a:t>
            </a:r>
            <a:r>
              <a:rPr sz="1300" spc="9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95" dirty="0">
                <a:solidFill>
                  <a:srgbClr val="3A3535"/>
                </a:solidFill>
                <a:latin typeface="Century Gothic"/>
                <a:cs typeface="Century Gothic"/>
              </a:rPr>
              <a:t> </a:t>
            </a:r>
            <a:r>
              <a:rPr sz="1300" dirty="0">
                <a:solidFill>
                  <a:srgbClr val="3A3535"/>
                </a:solidFill>
                <a:latin typeface="Century Gothic"/>
                <a:cs typeface="Century Gothic"/>
              </a:rPr>
              <a:t>microphone</a:t>
            </a:r>
            <a:r>
              <a:rPr sz="1300" spc="90" dirty="0">
                <a:solidFill>
                  <a:srgbClr val="3A3535"/>
                </a:solidFill>
                <a:latin typeface="Century Gothic"/>
                <a:cs typeface="Century Gothic"/>
              </a:rPr>
              <a:t> </a:t>
            </a:r>
            <a:r>
              <a:rPr sz="1300" spc="65" dirty="0">
                <a:solidFill>
                  <a:srgbClr val="3A3535"/>
                </a:solidFill>
                <a:latin typeface="Century Gothic"/>
                <a:cs typeface="Century Gothic"/>
              </a:rPr>
              <a:t>input</a:t>
            </a:r>
            <a:endParaRPr sz="1300">
              <a:latin typeface="Century Gothic"/>
              <a:cs typeface="Century Gothic"/>
            </a:endParaRPr>
          </a:p>
        </p:txBody>
      </p:sp>
      <p:sp>
        <p:nvSpPr>
          <p:cNvPr id="7" name="object 7"/>
          <p:cNvSpPr/>
          <p:nvPr/>
        </p:nvSpPr>
        <p:spPr>
          <a:xfrm>
            <a:off x="628650" y="334327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8" name="object 8"/>
          <p:cNvSpPr/>
          <p:nvPr/>
        </p:nvSpPr>
        <p:spPr>
          <a:xfrm>
            <a:off x="628650" y="36766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grpSp>
        <p:nvGrpSpPr>
          <p:cNvPr id="9" name="object 9"/>
          <p:cNvGrpSpPr/>
          <p:nvPr/>
        </p:nvGrpSpPr>
        <p:grpSpPr>
          <a:xfrm>
            <a:off x="5934074" y="1819275"/>
            <a:ext cx="2371725" cy="1857375"/>
            <a:chOff x="5934074" y="1819275"/>
            <a:chExt cx="2371725" cy="1857375"/>
          </a:xfrm>
        </p:grpSpPr>
        <p:sp>
          <p:nvSpPr>
            <p:cNvPr id="10" name="object 10"/>
            <p:cNvSpPr/>
            <p:nvPr/>
          </p:nvSpPr>
          <p:spPr>
            <a:xfrm>
              <a:off x="5934062"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1" name="object 11"/>
            <p:cNvSpPr/>
            <p:nvPr/>
          </p:nvSpPr>
          <p:spPr>
            <a:xfrm>
              <a:off x="5934075"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2" name="object 12"/>
          <p:cNvSpPr txBox="1"/>
          <p:nvPr/>
        </p:nvSpPr>
        <p:spPr>
          <a:xfrm>
            <a:off x="7061848" y="1927351"/>
            <a:ext cx="111760" cy="269240"/>
          </a:xfrm>
          <a:prstGeom prst="rect">
            <a:avLst/>
          </a:prstGeom>
        </p:spPr>
        <p:txBody>
          <a:bodyPr vert="horz" wrap="square" lIns="0" tIns="12700" rIns="0" bIns="0" rtlCol="0">
            <a:spAutoFit/>
          </a:bodyPr>
          <a:lstStyle/>
          <a:p>
            <a:pPr marL="12700">
              <a:lnSpc>
                <a:spcPct val="100000"/>
              </a:lnSpc>
              <a:spcBef>
                <a:spcPts val="100"/>
              </a:spcBef>
            </a:pPr>
            <a:r>
              <a:rPr sz="1600" b="1" spc="-520" dirty="0">
                <a:solidFill>
                  <a:srgbClr val="FFFFFF"/>
                </a:solidFill>
                <a:latin typeface="Verdana"/>
                <a:cs typeface="Verdana"/>
              </a:rPr>
              <a:t>1</a:t>
            </a:r>
            <a:endParaRPr sz="1600">
              <a:latin typeface="Verdana"/>
              <a:cs typeface="Verdana"/>
            </a:endParaRPr>
          </a:p>
        </p:txBody>
      </p:sp>
      <p:sp>
        <p:nvSpPr>
          <p:cNvPr id="13" name="object 13"/>
          <p:cNvSpPr txBox="1"/>
          <p:nvPr/>
        </p:nvSpPr>
        <p:spPr>
          <a:xfrm>
            <a:off x="6106515" y="2469705"/>
            <a:ext cx="1620520"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Respond</a:t>
            </a:r>
            <a:endParaRPr sz="1750">
              <a:latin typeface="Verdana"/>
              <a:cs typeface="Verdana"/>
            </a:endParaRPr>
          </a:p>
          <a:p>
            <a:pPr marL="12700" marR="5080">
              <a:lnSpc>
                <a:spcPct val="139400"/>
              </a:lnSpc>
              <a:spcBef>
                <a:spcPts val="1110"/>
              </a:spcBef>
            </a:pPr>
            <a:r>
              <a:rPr sz="1300" dirty="0">
                <a:solidFill>
                  <a:srgbClr val="3A3535"/>
                </a:solidFill>
                <a:latin typeface="Century Gothic"/>
                <a:cs typeface="Century Gothic"/>
              </a:rPr>
              <a:t>Complete</a:t>
            </a:r>
            <a:r>
              <a:rPr sz="1300" spc="150" dirty="0">
                <a:solidFill>
                  <a:srgbClr val="3A3535"/>
                </a:solidFill>
                <a:latin typeface="Century Gothic"/>
                <a:cs typeface="Century Gothic"/>
              </a:rPr>
              <a:t> </a:t>
            </a:r>
            <a:r>
              <a:rPr sz="1300" spc="65" dirty="0">
                <a:solidFill>
                  <a:srgbClr val="3A3535"/>
                </a:solidFill>
                <a:latin typeface="Century Gothic"/>
                <a:cs typeface="Century Gothic"/>
              </a:rPr>
              <a:t>surveys </a:t>
            </a:r>
            <a:r>
              <a:rPr sz="1300" dirty="0">
                <a:solidFill>
                  <a:srgbClr val="3A3535"/>
                </a:solidFill>
                <a:latin typeface="Century Gothic"/>
                <a:cs typeface="Century Gothic"/>
              </a:rPr>
              <a:t>when</a:t>
            </a:r>
            <a:r>
              <a:rPr sz="1300" spc="10" dirty="0">
                <a:solidFill>
                  <a:srgbClr val="3A3535"/>
                </a:solidFill>
                <a:latin typeface="Century Gothic"/>
                <a:cs typeface="Century Gothic"/>
              </a:rPr>
              <a:t> </a:t>
            </a:r>
            <a:r>
              <a:rPr sz="1300" spc="125" dirty="0">
                <a:solidFill>
                  <a:srgbClr val="3A3535"/>
                </a:solidFill>
                <a:latin typeface="Century Gothic"/>
                <a:cs typeface="Century Gothic"/>
              </a:rPr>
              <a:t>it</a:t>
            </a:r>
            <a:r>
              <a:rPr sz="1300" spc="10" dirty="0">
                <a:solidFill>
                  <a:srgbClr val="3A3535"/>
                </a:solidFill>
                <a:latin typeface="Century Gothic"/>
                <a:cs typeface="Century Gothic"/>
              </a:rPr>
              <a:t> </a:t>
            </a:r>
            <a:r>
              <a:rPr sz="1300" spc="130" dirty="0">
                <a:solidFill>
                  <a:srgbClr val="3A3535"/>
                </a:solidFill>
                <a:latin typeface="Century Gothic"/>
                <a:cs typeface="Century Gothic"/>
              </a:rPr>
              <a:t>fits</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0" dirty="0">
                <a:solidFill>
                  <a:srgbClr val="3A3535"/>
                </a:solidFill>
                <a:latin typeface="Century Gothic"/>
                <a:cs typeface="Century Gothic"/>
              </a:rPr>
              <a:t> </a:t>
            </a:r>
            <a:r>
              <a:rPr sz="1300" spc="-45" dirty="0">
                <a:solidFill>
                  <a:srgbClr val="3A3535"/>
                </a:solidFill>
                <a:latin typeface="Century Gothic"/>
                <a:cs typeface="Century Gothic"/>
              </a:rPr>
              <a:t>day</a:t>
            </a:r>
            <a:endParaRPr sz="1300">
              <a:latin typeface="Century Gothic"/>
              <a:cs typeface="Century Gothic"/>
            </a:endParaRPr>
          </a:p>
        </p:txBody>
      </p:sp>
      <p:grpSp>
        <p:nvGrpSpPr>
          <p:cNvPr id="14" name="object 14"/>
          <p:cNvGrpSpPr/>
          <p:nvPr/>
        </p:nvGrpSpPr>
        <p:grpSpPr>
          <a:xfrm>
            <a:off x="8477249" y="1819275"/>
            <a:ext cx="2371725" cy="1857375"/>
            <a:chOff x="8477249" y="1819275"/>
            <a:chExt cx="2371725" cy="1857375"/>
          </a:xfrm>
        </p:grpSpPr>
        <p:sp>
          <p:nvSpPr>
            <p:cNvPr id="15" name="object 15"/>
            <p:cNvSpPr/>
            <p:nvPr/>
          </p:nvSpPr>
          <p:spPr>
            <a:xfrm>
              <a:off x="8477237"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6" name="object 16"/>
            <p:cNvSpPr/>
            <p:nvPr/>
          </p:nvSpPr>
          <p:spPr>
            <a:xfrm>
              <a:off x="8477250"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7" name="object 17"/>
          <p:cNvSpPr txBox="1"/>
          <p:nvPr/>
        </p:nvSpPr>
        <p:spPr>
          <a:xfrm>
            <a:off x="9584029" y="1927351"/>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2</a:t>
            </a:r>
            <a:endParaRPr sz="1600">
              <a:latin typeface="Verdana"/>
              <a:cs typeface="Verdana"/>
            </a:endParaRPr>
          </a:p>
        </p:txBody>
      </p:sp>
      <p:sp>
        <p:nvSpPr>
          <p:cNvPr id="18" name="object 18"/>
          <p:cNvSpPr txBox="1"/>
          <p:nvPr/>
        </p:nvSpPr>
        <p:spPr>
          <a:xfrm>
            <a:off x="8649246" y="2469705"/>
            <a:ext cx="1792605"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Interact</a:t>
            </a:r>
            <a:endParaRPr sz="1750">
              <a:latin typeface="Verdana"/>
              <a:cs typeface="Verdana"/>
            </a:endParaRPr>
          </a:p>
          <a:p>
            <a:pPr marL="12700" marR="5080">
              <a:lnSpc>
                <a:spcPct val="139400"/>
              </a:lnSpc>
              <a:spcBef>
                <a:spcPts val="1110"/>
              </a:spcBef>
            </a:pPr>
            <a:r>
              <a:rPr sz="1300" spc="65" dirty="0">
                <a:solidFill>
                  <a:srgbClr val="3A3535"/>
                </a:solidFill>
                <a:latin typeface="Century Gothic"/>
                <a:cs typeface="Century Gothic"/>
              </a:rPr>
              <a:t>AI</a:t>
            </a:r>
            <a:r>
              <a:rPr sz="1300" spc="-1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10" dirty="0">
                <a:solidFill>
                  <a:srgbClr val="3A3535"/>
                </a:solidFill>
                <a:latin typeface="Century Gothic"/>
                <a:cs typeface="Century Gothic"/>
              </a:rPr>
              <a:t> </a:t>
            </a:r>
            <a:r>
              <a:rPr sz="1300" dirty="0">
                <a:solidFill>
                  <a:srgbClr val="3A3535"/>
                </a:solidFill>
                <a:latin typeface="Century Gothic"/>
                <a:cs typeface="Century Gothic"/>
              </a:rPr>
              <a:t>therapy</a:t>
            </a:r>
            <a:r>
              <a:rPr sz="1300" spc="-10" dirty="0">
                <a:solidFill>
                  <a:srgbClr val="3A3535"/>
                </a:solidFill>
                <a:latin typeface="Century Gothic"/>
                <a:cs typeface="Century Gothic"/>
              </a:rPr>
              <a:t> </a:t>
            </a:r>
            <a:r>
              <a:rPr sz="1300" dirty="0">
                <a:solidFill>
                  <a:srgbClr val="3A3535"/>
                </a:solidFill>
                <a:latin typeface="Century Gothic"/>
                <a:cs typeface="Century Gothic"/>
              </a:rPr>
              <a:t>chat</a:t>
            </a:r>
            <a:r>
              <a:rPr sz="1300" spc="-10" dirty="0">
                <a:solidFill>
                  <a:srgbClr val="3A3535"/>
                </a:solidFill>
                <a:latin typeface="Century Gothic"/>
                <a:cs typeface="Century Gothic"/>
              </a:rPr>
              <a:t> </a:t>
            </a:r>
            <a:r>
              <a:rPr sz="1300" spc="-25" dirty="0">
                <a:solidFill>
                  <a:srgbClr val="3A3535"/>
                </a:solidFill>
                <a:latin typeface="Century Gothic"/>
                <a:cs typeface="Century Gothic"/>
              </a:rPr>
              <a:t>on </a:t>
            </a:r>
            <a:r>
              <a:rPr sz="1300" dirty="0">
                <a:solidFill>
                  <a:srgbClr val="3A3535"/>
                </a:solidFill>
                <a:latin typeface="Century Gothic"/>
                <a:cs typeface="Century Gothic"/>
              </a:rPr>
              <a:t>the</a:t>
            </a:r>
            <a:r>
              <a:rPr sz="1300" spc="70" dirty="0">
                <a:solidFill>
                  <a:srgbClr val="3A3535"/>
                </a:solidFill>
                <a:latin typeface="Century Gothic"/>
                <a:cs typeface="Century Gothic"/>
              </a:rPr>
              <a:t> </a:t>
            </a:r>
            <a:r>
              <a:rPr sz="1300" spc="-25" dirty="0">
                <a:solidFill>
                  <a:srgbClr val="3A3535"/>
                </a:solidFill>
                <a:latin typeface="Century Gothic"/>
                <a:cs typeface="Century Gothic"/>
              </a:rPr>
              <a:t>go</a:t>
            </a:r>
            <a:endParaRPr sz="1300">
              <a:latin typeface="Century Gothic"/>
              <a:cs typeface="Century Gothic"/>
            </a:endParaRPr>
          </a:p>
        </p:txBody>
      </p:sp>
      <p:grpSp>
        <p:nvGrpSpPr>
          <p:cNvPr id="19" name="object 19"/>
          <p:cNvGrpSpPr/>
          <p:nvPr/>
        </p:nvGrpSpPr>
        <p:grpSpPr>
          <a:xfrm>
            <a:off x="5934074" y="3848100"/>
            <a:ext cx="4914900" cy="1581150"/>
            <a:chOff x="5934074" y="3848100"/>
            <a:chExt cx="4914900" cy="1581150"/>
          </a:xfrm>
        </p:grpSpPr>
        <p:sp>
          <p:nvSpPr>
            <p:cNvPr id="20" name="object 20"/>
            <p:cNvSpPr/>
            <p:nvPr/>
          </p:nvSpPr>
          <p:spPr>
            <a:xfrm>
              <a:off x="5934062" y="4096600"/>
              <a:ext cx="4914900" cy="1332865"/>
            </a:xfrm>
            <a:custGeom>
              <a:avLst/>
              <a:gdLst/>
              <a:ahLst/>
              <a:cxnLst/>
              <a:rect l="l" t="t" r="r" b="b"/>
              <a:pathLst>
                <a:path w="4914900" h="1332864">
                  <a:moveTo>
                    <a:pt x="4914900" y="75361"/>
                  </a:moveTo>
                  <a:lnTo>
                    <a:pt x="4902073" y="33020"/>
                  </a:lnTo>
                  <a:lnTo>
                    <a:pt x="4867859" y="4965"/>
                  </a:lnTo>
                  <a:lnTo>
                    <a:pt x="4849457" y="0"/>
                  </a:lnTo>
                  <a:lnTo>
                    <a:pt x="4853571" y="1092"/>
                  </a:lnTo>
                  <a:lnTo>
                    <a:pt x="4867567" y="8826"/>
                  </a:lnTo>
                  <a:lnTo>
                    <a:pt x="4891494" y="46202"/>
                  </a:lnTo>
                  <a:lnTo>
                    <a:pt x="4895850" y="75361"/>
                  </a:lnTo>
                  <a:lnTo>
                    <a:pt x="4895850" y="1273416"/>
                  </a:lnTo>
                  <a:lnTo>
                    <a:pt x="4895139" y="1281264"/>
                  </a:lnTo>
                  <a:lnTo>
                    <a:pt x="4895126" y="1281430"/>
                  </a:lnTo>
                  <a:lnTo>
                    <a:pt x="4892916" y="1288834"/>
                  </a:lnTo>
                  <a:lnTo>
                    <a:pt x="4889233" y="1295641"/>
                  </a:lnTo>
                  <a:lnTo>
                    <a:pt x="4884077" y="1301826"/>
                  </a:lnTo>
                  <a:lnTo>
                    <a:pt x="4883556" y="1302258"/>
                  </a:lnTo>
                  <a:lnTo>
                    <a:pt x="4877892" y="1306982"/>
                  </a:lnTo>
                  <a:lnTo>
                    <a:pt x="4871085" y="1310665"/>
                  </a:lnTo>
                  <a:lnTo>
                    <a:pt x="4863681" y="1312875"/>
                  </a:lnTo>
                  <a:lnTo>
                    <a:pt x="4855654" y="1313611"/>
                  </a:lnTo>
                  <a:lnTo>
                    <a:pt x="59245" y="1313611"/>
                  </a:lnTo>
                  <a:lnTo>
                    <a:pt x="51231" y="1312875"/>
                  </a:lnTo>
                  <a:lnTo>
                    <a:pt x="43815" y="1310665"/>
                  </a:lnTo>
                  <a:lnTo>
                    <a:pt x="37020" y="1306982"/>
                  </a:lnTo>
                  <a:lnTo>
                    <a:pt x="31343" y="1302270"/>
                  </a:lnTo>
                  <a:lnTo>
                    <a:pt x="30835" y="1301826"/>
                  </a:lnTo>
                  <a:lnTo>
                    <a:pt x="25679" y="1295641"/>
                  </a:lnTo>
                  <a:lnTo>
                    <a:pt x="21996" y="1288834"/>
                  </a:lnTo>
                  <a:lnTo>
                    <a:pt x="19786" y="1281430"/>
                  </a:lnTo>
                  <a:lnTo>
                    <a:pt x="19050" y="1273416"/>
                  </a:lnTo>
                  <a:lnTo>
                    <a:pt x="19050" y="75361"/>
                  </a:lnTo>
                  <a:lnTo>
                    <a:pt x="28676" y="33020"/>
                  </a:lnTo>
                  <a:lnTo>
                    <a:pt x="61328" y="1092"/>
                  </a:lnTo>
                  <a:lnTo>
                    <a:pt x="65443" y="0"/>
                  </a:lnTo>
                  <a:lnTo>
                    <a:pt x="61341" y="609"/>
                  </a:lnTo>
                  <a:lnTo>
                    <a:pt x="22313" y="21475"/>
                  </a:lnTo>
                  <a:lnTo>
                    <a:pt x="1460" y="60490"/>
                  </a:lnTo>
                  <a:lnTo>
                    <a:pt x="0" y="75361"/>
                  </a:lnTo>
                  <a:lnTo>
                    <a:pt x="0" y="1281264"/>
                  </a:lnTo>
                  <a:lnTo>
                    <a:pt x="1498" y="1288821"/>
                  </a:lnTo>
                  <a:lnTo>
                    <a:pt x="7518" y="1303337"/>
                  </a:lnTo>
                  <a:lnTo>
                    <a:pt x="11798" y="1309751"/>
                  </a:lnTo>
                  <a:lnTo>
                    <a:pt x="17830" y="1315783"/>
                  </a:lnTo>
                  <a:lnTo>
                    <a:pt x="22910" y="1320863"/>
                  </a:lnTo>
                  <a:lnTo>
                    <a:pt x="29311" y="1325130"/>
                  </a:lnTo>
                  <a:lnTo>
                    <a:pt x="43827" y="1331150"/>
                  </a:lnTo>
                  <a:lnTo>
                    <a:pt x="51384" y="1332661"/>
                  </a:lnTo>
                  <a:lnTo>
                    <a:pt x="4863516" y="1332661"/>
                  </a:lnTo>
                  <a:lnTo>
                    <a:pt x="4871072" y="1331150"/>
                  </a:lnTo>
                  <a:lnTo>
                    <a:pt x="4885588" y="1325130"/>
                  </a:lnTo>
                  <a:lnTo>
                    <a:pt x="4891989" y="1320863"/>
                  </a:lnTo>
                  <a:lnTo>
                    <a:pt x="4897069" y="1315783"/>
                  </a:lnTo>
                  <a:lnTo>
                    <a:pt x="4897552" y="1315300"/>
                  </a:lnTo>
                  <a:lnTo>
                    <a:pt x="4903101" y="1309751"/>
                  </a:lnTo>
                  <a:lnTo>
                    <a:pt x="4907381" y="1303337"/>
                  </a:lnTo>
                  <a:lnTo>
                    <a:pt x="4913401" y="1288834"/>
                  </a:lnTo>
                  <a:lnTo>
                    <a:pt x="4914874" y="1281430"/>
                  </a:lnTo>
                  <a:lnTo>
                    <a:pt x="4914900" y="75361"/>
                  </a:lnTo>
                  <a:close/>
                </a:path>
              </a:pathLst>
            </a:custGeom>
            <a:solidFill>
              <a:srgbClr val="DFB7BB"/>
            </a:solidFill>
          </p:spPr>
          <p:txBody>
            <a:bodyPr wrap="square" lIns="0" tIns="0" rIns="0" bIns="0" rtlCol="0"/>
            <a:lstStyle/>
            <a:p>
              <a:endParaRPr/>
            </a:p>
          </p:txBody>
        </p:sp>
        <p:sp>
          <p:nvSpPr>
            <p:cNvPr id="21" name="object 21"/>
            <p:cNvSpPr/>
            <p:nvPr/>
          </p:nvSpPr>
          <p:spPr>
            <a:xfrm>
              <a:off x="5934075" y="3848099"/>
              <a:ext cx="4914900" cy="504825"/>
            </a:xfrm>
            <a:custGeom>
              <a:avLst/>
              <a:gdLst/>
              <a:ahLst/>
              <a:cxnLst/>
              <a:rect l="l" t="t" r="r" b="b"/>
              <a:pathLst>
                <a:path w="4914900" h="504825">
                  <a:moveTo>
                    <a:pt x="4914900" y="283946"/>
                  </a:moveTo>
                  <a:lnTo>
                    <a:pt x="4900295" y="248704"/>
                  </a:lnTo>
                  <a:lnTo>
                    <a:pt x="4863401" y="228981"/>
                  </a:lnTo>
                  <a:lnTo>
                    <a:pt x="4859540" y="228600"/>
                  </a:lnTo>
                  <a:lnTo>
                    <a:pt x="2707246" y="228600"/>
                  </a:lnTo>
                  <a:lnTo>
                    <a:pt x="2706344" y="219443"/>
                  </a:lnTo>
                  <a:lnTo>
                    <a:pt x="2695105" y="171221"/>
                  </a:lnTo>
                  <a:lnTo>
                    <a:pt x="2674670" y="126136"/>
                  </a:lnTo>
                  <a:lnTo>
                    <a:pt x="2645841" y="85890"/>
                  </a:lnTo>
                  <a:lnTo>
                    <a:pt x="2609697" y="52057"/>
                  </a:lnTo>
                  <a:lnTo>
                    <a:pt x="2567660" y="25908"/>
                  </a:lnTo>
                  <a:lnTo>
                    <a:pt x="2521318" y="8470"/>
                  </a:lnTo>
                  <a:lnTo>
                    <a:pt x="2472474" y="406"/>
                  </a:lnTo>
                  <a:lnTo>
                    <a:pt x="2464231" y="0"/>
                  </a:lnTo>
                  <a:lnTo>
                    <a:pt x="2447696" y="0"/>
                  </a:lnTo>
                  <a:lnTo>
                    <a:pt x="2398611" y="6464"/>
                  </a:lnTo>
                  <a:lnTo>
                    <a:pt x="2351722" y="22377"/>
                  </a:lnTo>
                  <a:lnTo>
                    <a:pt x="2308860" y="47129"/>
                  </a:lnTo>
                  <a:lnTo>
                    <a:pt x="2271636" y="79768"/>
                  </a:lnTo>
                  <a:lnTo>
                    <a:pt x="2241499" y="119049"/>
                  </a:lnTo>
                  <a:lnTo>
                    <a:pt x="2219591" y="163449"/>
                  </a:lnTo>
                  <a:lnTo>
                    <a:pt x="2206790" y="211277"/>
                  </a:lnTo>
                  <a:lnTo>
                    <a:pt x="2204669" y="228600"/>
                  </a:lnTo>
                  <a:lnTo>
                    <a:pt x="55359" y="228600"/>
                  </a:lnTo>
                  <a:lnTo>
                    <a:pt x="20104" y="243205"/>
                  </a:lnTo>
                  <a:lnTo>
                    <a:pt x="381" y="280098"/>
                  </a:lnTo>
                  <a:lnTo>
                    <a:pt x="0" y="283946"/>
                  </a:lnTo>
                  <a:lnTo>
                    <a:pt x="0" y="304800"/>
                  </a:lnTo>
                  <a:lnTo>
                    <a:pt x="2209025" y="304800"/>
                  </a:lnTo>
                  <a:lnTo>
                    <a:pt x="2210016" y="309765"/>
                  </a:lnTo>
                  <a:lnTo>
                    <a:pt x="2225929" y="356641"/>
                  </a:lnTo>
                  <a:lnTo>
                    <a:pt x="2250681" y="399516"/>
                  </a:lnTo>
                  <a:lnTo>
                    <a:pt x="2283320" y="436740"/>
                  </a:lnTo>
                  <a:lnTo>
                    <a:pt x="2322601" y="466877"/>
                  </a:lnTo>
                  <a:lnTo>
                    <a:pt x="2367013" y="488772"/>
                  </a:lnTo>
                  <a:lnTo>
                    <a:pt x="2414828" y="501586"/>
                  </a:lnTo>
                  <a:lnTo>
                    <a:pt x="2447696" y="504825"/>
                  </a:lnTo>
                  <a:lnTo>
                    <a:pt x="2464231" y="504825"/>
                  </a:lnTo>
                  <a:lnTo>
                    <a:pt x="2513304" y="498360"/>
                  </a:lnTo>
                  <a:lnTo>
                    <a:pt x="2560193" y="482447"/>
                  </a:lnTo>
                  <a:lnTo>
                    <a:pt x="2603068" y="457695"/>
                  </a:lnTo>
                  <a:lnTo>
                    <a:pt x="2640292" y="425043"/>
                  </a:lnTo>
                  <a:lnTo>
                    <a:pt x="2670429" y="385775"/>
                  </a:lnTo>
                  <a:lnTo>
                    <a:pt x="2692323" y="341363"/>
                  </a:lnTo>
                  <a:lnTo>
                    <a:pt x="2702890" y="304800"/>
                  </a:lnTo>
                  <a:lnTo>
                    <a:pt x="4914900" y="304800"/>
                  </a:lnTo>
                  <a:lnTo>
                    <a:pt x="4914900" y="283946"/>
                  </a:lnTo>
                  <a:close/>
                </a:path>
              </a:pathLst>
            </a:custGeom>
            <a:solidFill>
              <a:srgbClr val="DA1B2D"/>
            </a:solidFill>
          </p:spPr>
          <p:txBody>
            <a:bodyPr wrap="square" lIns="0" tIns="0" rIns="0" bIns="0" rtlCol="0"/>
            <a:lstStyle/>
            <a:p>
              <a:endParaRPr/>
            </a:p>
          </p:txBody>
        </p:sp>
      </p:grpSp>
      <p:sp>
        <p:nvSpPr>
          <p:cNvPr id="22" name="object 22"/>
          <p:cNvSpPr txBox="1"/>
          <p:nvPr/>
        </p:nvSpPr>
        <p:spPr>
          <a:xfrm>
            <a:off x="8312746" y="3946652"/>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3</a:t>
            </a:r>
            <a:endParaRPr sz="1600">
              <a:latin typeface="Verdana"/>
              <a:cs typeface="Verdana"/>
            </a:endParaRPr>
          </a:p>
        </p:txBody>
      </p:sp>
      <p:sp>
        <p:nvSpPr>
          <p:cNvPr id="23" name="object 23"/>
          <p:cNvSpPr txBox="1"/>
          <p:nvPr/>
        </p:nvSpPr>
        <p:spPr>
          <a:xfrm>
            <a:off x="6106515" y="4498530"/>
            <a:ext cx="3392804" cy="710565"/>
          </a:xfrm>
          <a:prstGeom prst="rect">
            <a:avLst/>
          </a:prstGeom>
        </p:spPr>
        <p:txBody>
          <a:bodyPr vert="horz" wrap="square" lIns="0" tIns="12700" rIns="0" bIns="0" rtlCol="0">
            <a:spAutoFit/>
          </a:bodyPr>
          <a:lstStyle/>
          <a:p>
            <a:pPr marL="12700">
              <a:lnSpc>
                <a:spcPct val="100000"/>
              </a:lnSpc>
              <a:spcBef>
                <a:spcPts val="100"/>
              </a:spcBef>
            </a:pPr>
            <a:r>
              <a:rPr sz="1750" b="1" spc="-114" dirty="0">
                <a:solidFill>
                  <a:srgbClr val="3A3535"/>
                </a:solidFill>
                <a:latin typeface="Verdana"/>
                <a:cs typeface="Verdana"/>
              </a:rPr>
              <a:t>Stay</a:t>
            </a:r>
            <a:r>
              <a:rPr sz="1750" b="1" spc="-195" dirty="0">
                <a:solidFill>
                  <a:srgbClr val="3A3535"/>
                </a:solidFill>
                <a:latin typeface="Verdana"/>
                <a:cs typeface="Verdana"/>
              </a:rPr>
              <a:t> </a:t>
            </a:r>
            <a:r>
              <a:rPr sz="1750" b="1" spc="-10" dirty="0">
                <a:solidFill>
                  <a:srgbClr val="3A3535"/>
                </a:solidFill>
                <a:latin typeface="Verdana"/>
                <a:cs typeface="Verdana"/>
              </a:rPr>
              <a:t>Connected</a:t>
            </a:r>
            <a:endParaRPr sz="1750">
              <a:latin typeface="Verdana"/>
              <a:cs typeface="Verdana"/>
            </a:endParaRPr>
          </a:p>
          <a:p>
            <a:pPr marL="12700">
              <a:lnSpc>
                <a:spcPct val="100000"/>
              </a:lnSpc>
              <a:spcBef>
                <a:spcPts val="1725"/>
              </a:spcBef>
            </a:pPr>
            <a:r>
              <a:rPr sz="1300" spc="80" dirty="0">
                <a:solidFill>
                  <a:srgbClr val="3A3535"/>
                </a:solidFill>
                <a:latin typeface="Century Gothic"/>
                <a:cs typeface="Century Gothic"/>
              </a:rPr>
              <a:t>Notifications</a:t>
            </a:r>
            <a:r>
              <a:rPr sz="1300" spc="40" dirty="0">
                <a:solidFill>
                  <a:srgbClr val="3A3535"/>
                </a:solidFill>
                <a:latin typeface="Century Gothic"/>
                <a:cs typeface="Century Gothic"/>
              </a:rPr>
              <a:t> </a:t>
            </a:r>
            <a:r>
              <a:rPr sz="1300" dirty="0">
                <a:solidFill>
                  <a:srgbClr val="3A3535"/>
                </a:solidFill>
                <a:latin typeface="Century Gothic"/>
                <a:cs typeface="Century Gothic"/>
              </a:rPr>
              <a:t>keep</a:t>
            </a:r>
            <a:r>
              <a:rPr sz="1300" spc="40" dirty="0">
                <a:solidFill>
                  <a:srgbClr val="3A3535"/>
                </a:solidFill>
                <a:latin typeface="Century Gothic"/>
                <a:cs typeface="Century Gothic"/>
              </a:rPr>
              <a:t> </a:t>
            </a:r>
            <a:r>
              <a:rPr sz="1300" dirty="0">
                <a:solidFill>
                  <a:srgbClr val="3A3535"/>
                </a:solidFill>
                <a:latin typeface="Century Gothic"/>
                <a:cs typeface="Century Gothic"/>
              </a:rPr>
              <a:t>the</a:t>
            </a:r>
            <a:r>
              <a:rPr sz="1300" spc="45" dirty="0">
                <a:solidFill>
                  <a:srgbClr val="3A3535"/>
                </a:solidFill>
                <a:latin typeface="Century Gothic"/>
                <a:cs typeface="Century Gothic"/>
              </a:rPr>
              <a:t> </a:t>
            </a:r>
            <a:r>
              <a:rPr sz="1300" dirty="0">
                <a:solidFill>
                  <a:srgbClr val="3A3535"/>
                </a:solidFill>
                <a:latin typeface="Century Gothic"/>
                <a:cs typeface="Century Gothic"/>
              </a:rPr>
              <a:t>program</a:t>
            </a:r>
            <a:r>
              <a:rPr sz="1300" spc="40" dirty="0">
                <a:solidFill>
                  <a:srgbClr val="3A3535"/>
                </a:solidFill>
                <a:latin typeface="Century Gothic"/>
                <a:cs typeface="Century Gothic"/>
              </a:rPr>
              <a:t> </a:t>
            </a:r>
            <a:r>
              <a:rPr sz="1300" spc="55" dirty="0">
                <a:solidFill>
                  <a:srgbClr val="3A3535"/>
                </a:solidFill>
                <a:latin typeface="Century Gothic"/>
                <a:cs typeface="Century Gothic"/>
              </a:rPr>
              <a:t>present</a:t>
            </a:r>
            <a:endParaRPr sz="1300">
              <a:latin typeface="Century Gothic"/>
              <a:cs typeface="Century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00" dirty="0"/>
              <a:t>Compares</a:t>
            </a:r>
          </a:p>
        </p:txBody>
      </p:sp>
      <p:sp>
        <p:nvSpPr>
          <p:cNvPr id="3" name="object 3"/>
          <p:cNvSpPr txBox="1"/>
          <p:nvPr/>
        </p:nvSpPr>
        <p:spPr>
          <a:xfrm>
            <a:off x="579640" y="1713522"/>
            <a:ext cx="8136255" cy="228600"/>
          </a:xfrm>
          <a:prstGeom prst="rect">
            <a:avLst/>
          </a:prstGeom>
        </p:spPr>
        <p:txBody>
          <a:bodyPr vert="horz" wrap="square" lIns="0" tIns="16510" rIns="0" bIns="0" rtlCol="0">
            <a:spAutoFit/>
          </a:bodyPr>
          <a:lstStyle/>
          <a:p>
            <a:pPr marL="12700">
              <a:lnSpc>
                <a:spcPct val="100000"/>
              </a:lnSpc>
              <a:spcBef>
                <a:spcPts val="130"/>
              </a:spcBef>
            </a:pPr>
            <a:r>
              <a:rPr sz="1300" spc="80" dirty="0">
                <a:solidFill>
                  <a:srgbClr val="3A3535"/>
                </a:solidFill>
                <a:latin typeface="Century Gothic"/>
                <a:cs typeface="Century Gothic"/>
              </a:rPr>
              <a:t>SelfHelp</a:t>
            </a:r>
            <a:r>
              <a:rPr sz="1300" dirty="0">
                <a:solidFill>
                  <a:srgbClr val="3A3535"/>
                </a:solidFill>
                <a:latin typeface="Century Gothic"/>
                <a:cs typeface="Century Gothic"/>
              </a:rPr>
              <a:t> </a:t>
            </a:r>
            <a:r>
              <a:rPr sz="1300" spc="165" dirty="0">
                <a:solidFill>
                  <a:srgbClr val="3A3535"/>
                </a:solidFill>
                <a:latin typeface="Century Gothic"/>
                <a:cs typeface="Century Gothic"/>
              </a:rPr>
              <a:t>is</a:t>
            </a:r>
            <a:r>
              <a:rPr sz="1300" dirty="0">
                <a:solidFill>
                  <a:srgbClr val="3A3535"/>
                </a:solidFill>
                <a:latin typeface="Century Gothic"/>
                <a:cs typeface="Century Gothic"/>
              </a:rPr>
              <a:t> </a:t>
            </a:r>
            <a:r>
              <a:rPr sz="1300" spc="90" dirty="0">
                <a:solidFill>
                  <a:srgbClr val="3A3535"/>
                </a:solidFill>
                <a:latin typeface="Century Gothic"/>
                <a:cs typeface="Century Gothic"/>
              </a:rPr>
              <a:t>strongest</a:t>
            </a:r>
            <a:r>
              <a:rPr sz="1300" dirty="0">
                <a:solidFill>
                  <a:srgbClr val="3A3535"/>
                </a:solidFill>
                <a:latin typeface="Century Gothic"/>
                <a:cs typeface="Century Gothic"/>
              </a:rPr>
              <a:t> </a:t>
            </a:r>
            <a:r>
              <a:rPr sz="1300" spc="20" dirty="0">
                <a:solidFill>
                  <a:srgbClr val="3A3535"/>
                </a:solidFill>
                <a:latin typeface="Century Gothic"/>
                <a:cs typeface="Century Gothic"/>
              </a:rPr>
              <a:t>when</a:t>
            </a:r>
            <a:r>
              <a:rPr sz="1300" dirty="0">
                <a:solidFill>
                  <a:srgbClr val="3A3535"/>
                </a:solidFill>
                <a:latin typeface="Century Gothic"/>
                <a:cs typeface="Century Gothic"/>
              </a:rPr>
              <a:t> </a:t>
            </a:r>
            <a:r>
              <a:rPr sz="1300" spc="20" dirty="0">
                <a:solidFill>
                  <a:srgbClr val="3A3535"/>
                </a:solidFill>
                <a:latin typeface="Century Gothic"/>
                <a:cs typeface="Century Gothic"/>
              </a:rPr>
              <a:t>everything</a:t>
            </a:r>
            <a:r>
              <a:rPr sz="1300" dirty="0">
                <a:solidFill>
                  <a:srgbClr val="3A3535"/>
                </a:solidFill>
                <a:latin typeface="Century Gothic"/>
                <a:cs typeface="Century Gothic"/>
              </a:rPr>
              <a:t> </a:t>
            </a:r>
            <a:r>
              <a:rPr sz="1300" spc="20" dirty="0">
                <a:solidFill>
                  <a:srgbClr val="3A3535"/>
                </a:solidFill>
                <a:latin typeface="Century Gothic"/>
                <a:cs typeface="Century Gothic"/>
              </a:rPr>
              <a:t>needs</a:t>
            </a:r>
            <a:r>
              <a:rPr sz="1300" dirty="0">
                <a:solidFill>
                  <a:srgbClr val="3A3535"/>
                </a:solidFill>
                <a:latin typeface="Century Gothic"/>
                <a:cs typeface="Century Gothic"/>
              </a:rPr>
              <a:t> </a:t>
            </a:r>
            <a:r>
              <a:rPr sz="1300" spc="70" dirty="0">
                <a:solidFill>
                  <a:srgbClr val="3A3535"/>
                </a:solidFill>
                <a:latin typeface="Century Gothic"/>
                <a:cs typeface="Century Gothic"/>
              </a:rPr>
              <a:t>to</a:t>
            </a:r>
            <a:r>
              <a:rPr sz="1300" dirty="0">
                <a:solidFill>
                  <a:srgbClr val="3A3535"/>
                </a:solidFill>
                <a:latin typeface="Century Gothic"/>
                <a:cs typeface="Century Gothic"/>
              </a:rPr>
              <a:t> </a:t>
            </a:r>
            <a:r>
              <a:rPr sz="1300" spc="20" dirty="0">
                <a:solidFill>
                  <a:srgbClr val="3A3535"/>
                </a:solidFill>
                <a:latin typeface="Century Gothic"/>
                <a:cs typeface="Century Gothic"/>
              </a:rPr>
              <a:t>stay</a:t>
            </a:r>
            <a:r>
              <a:rPr sz="1300" spc="-10" dirty="0">
                <a:solidFill>
                  <a:srgbClr val="3A3535"/>
                </a:solidFill>
                <a:latin typeface="Century Gothic"/>
                <a:cs typeface="Century Gothic"/>
              </a:rPr>
              <a:t> </a:t>
            </a:r>
            <a:r>
              <a:rPr sz="1300" spc="10" dirty="0">
                <a:solidFill>
                  <a:srgbClr val="3A3535"/>
                </a:solidFill>
                <a:latin typeface="Century Gothic"/>
                <a:cs typeface="Century Gothic"/>
              </a:rPr>
              <a:t>connected</a:t>
            </a:r>
            <a:r>
              <a:rPr sz="1300" dirty="0">
                <a:solidFill>
                  <a:srgbClr val="3A3535"/>
                </a:solidFill>
                <a:latin typeface="Century Gothic"/>
                <a:cs typeface="Century Gothic"/>
              </a:rPr>
              <a:t> </a:t>
            </a:r>
            <a:r>
              <a:rPr sz="1300" spc="90" dirty="0">
                <a:solidFill>
                  <a:srgbClr val="3A3535"/>
                </a:solidFill>
                <a:latin typeface="Century Gothic"/>
                <a:cs typeface="Century Gothic"/>
              </a:rPr>
              <a:t>in</a:t>
            </a:r>
            <a:r>
              <a:rPr sz="1300" dirty="0">
                <a:solidFill>
                  <a:srgbClr val="3A3535"/>
                </a:solidFill>
                <a:latin typeface="Century Gothic"/>
                <a:cs typeface="Century Gothic"/>
              </a:rPr>
              <a:t> </a:t>
            </a:r>
            <a:r>
              <a:rPr sz="1300" spc="20" dirty="0">
                <a:solidFill>
                  <a:srgbClr val="3A3535"/>
                </a:solidFill>
                <a:latin typeface="Century Gothic"/>
                <a:cs typeface="Century Gothic"/>
              </a:rPr>
              <a:t>one</a:t>
            </a:r>
            <a:r>
              <a:rPr sz="1300" dirty="0">
                <a:solidFill>
                  <a:srgbClr val="3A3535"/>
                </a:solidFill>
                <a:latin typeface="Century Gothic"/>
                <a:cs typeface="Century Gothic"/>
              </a:rPr>
              <a:t> </a:t>
            </a:r>
            <a:r>
              <a:rPr sz="1300" spc="20" dirty="0">
                <a:solidFill>
                  <a:srgbClr val="3A3535"/>
                </a:solidFill>
                <a:latin typeface="Century Gothic"/>
                <a:cs typeface="Century Gothic"/>
              </a:rPr>
              <a:t>locally</a:t>
            </a:r>
            <a:r>
              <a:rPr sz="130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dirty="0">
                <a:solidFill>
                  <a:srgbClr val="3A3535"/>
                </a:solidFill>
                <a:latin typeface="Century Gothic"/>
                <a:cs typeface="Century Gothic"/>
              </a:rPr>
              <a:t> </a:t>
            </a:r>
            <a:r>
              <a:rPr sz="1300" spc="60" dirty="0">
                <a:solidFill>
                  <a:srgbClr val="3A3535"/>
                </a:solidFill>
                <a:latin typeface="Century Gothic"/>
                <a:cs typeface="Century Gothic"/>
              </a:rPr>
              <a:t>system.</a:t>
            </a:r>
            <a:endParaRPr sz="1300">
              <a:latin typeface="Century Gothic"/>
              <a:cs typeface="Century Gothic"/>
            </a:endParaRPr>
          </a:p>
        </p:txBody>
      </p:sp>
      <p:grpSp>
        <p:nvGrpSpPr>
          <p:cNvPr id="4" name="object 4"/>
          <p:cNvGrpSpPr/>
          <p:nvPr/>
        </p:nvGrpSpPr>
        <p:grpSpPr>
          <a:xfrm>
            <a:off x="590550" y="2162174"/>
            <a:ext cx="10248900" cy="3467100"/>
            <a:chOff x="590550" y="2162174"/>
            <a:chExt cx="10248900" cy="3467100"/>
          </a:xfrm>
        </p:grpSpPr>
        <p:sp>
          <p:nvSpPr>
            <p:cNvPr id="5" name="object 5"/>
            <p:cNvSpPr/>
            <p:nvPr/>
          </p:nvSpPr>
          <p:spPr>
            <a:xfrm>
              <a:off x="595312" y="2166937"/>
              <a:ext cx="10239375" cy="3457575"/>
            </a:xfrm>
            <a:custGeom>
              <a:avLst/>
              <a:gdLst/>
              <a:ahLst/>
              <a:cxnLst/>
              <a:rect l="l" t="t" r="r" b="b"/>
              <a:pathLst>
                <a:path w="10239375" h="3457575">
                  <a:moveTo>
                    <a:pt x="0" y="3403094"/>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10184892" y="0"/>
                  </a:lnTo>
                  <a:lnTo>
                    <a:pt x="10188473" y="0"/>
                  </a:lnTo>
                  <a:lnTo>
                    <a:pt x="10192016" y="342"/>
                  </a:lnTo>
                  <a:lnTo>
                    <a:pt x="10195522" y="1041"/>
                  </a:lnTo>
                  <a:lnTo>
                    <a:pt x="10199027" y="1739"/>
                  </a:lnTo>
                  <a:lnTo>
                    <a:pt x="10202430" y="2781"/>
                  </a:lnTo>
                  <a:lnTo>
                    <a:pt x="10205745" y="4152"/>
                  </a:lnTo>
                  <a:lnTo>
                    <a:pt x="10209047" y="5511"/>
                  </a:lnTo>
                  <a:lnTo>
                    <a:pt x="10212184" y="7188"/>
                  </a:lnTo>
                  <a:lnTo>
                    <a:pt x="10215156" y="9182"/>
                  </a:lnTo>
                  <a:lnTo>
                    <a:pt x="10218140" y="11163"/>
                  </a:lnTo>
                  <a:lnTo>
                    <a:pt x="10220883" y="13423"/>
                  </a:lnTo>
                  <a:lnTo>
                    <a:pt x="10223411" y="15951"/>
                  </a:lnTo>
                  <a:lnTo>
                    <a:pt x="10225951" y="18491"/>
                  </a:lnTo>
                  <a:lnTo>
                    <a:pt x="10235222" y="33629"/>
                  </a:lnTo>
                  <a:lnTo>
                    <a:pt x="10236593" y="36931"/>
                  </a:lnTo>
                  <a:lnTo>
                    <a:pt x="10237635" y="40347"/>
                  </a:lnTo>
                  <a:lnTo>
                    <a:pt x="10238333" y="43853"/>
                  </a:lnTo>
                  <a:lnTo>
                    <a:pt x="10239032" y="47358"/>
                  </a:lnTo>
                  <a:lnTo>
                    <a:pt x="10239375" y="50901"/>
                  </a:lnTo>
                  <a:lnTo>
                    <a:pt x="10239375" y="54483"/>
                  </a:lnTo>
                  <a:lnTo>
                    <a:pt x="10239375" y="3403094"/>
                  </a:lnTo>
                  <a:lnTo>
                    <a:pt x="10239375" y="3406672"/>
                  </a:lnTo>
                  <a:lnTo>
                    <a:pt x="10239032" y="3410214"/>
                  </a:lnTo>
                  <a:lnTo>
                    <a:pt x="10238333" y="3413721"/>
                  </a:lnTo>
                  <a:lnTo>
                    <a:pt x="10237635" y="3417228"/>
                  </a:lnTo>
                  <a:lnTo>
                    <a:pt x="10236593" y="3420637"/>
                  </a:lnTo>
                  <a:lnTo>
                    <a:pt x="10235222" y="3423940"/>
                  </a:lnTo>
                  <a:lnTo>
                    <a:pt x="10233863" y="3427244"/>
                  </a:lnTo>
                  <a:lnTo>
                    <a:pt x="10232186" y="3430385"/>
                  </a:lnTo>
                  <a:lnTo>
                    <a:pt x="10230193" y="3433361"/>
                  </a:lnTo>
                  <a:lnTo>
                    <a:pt x="10228211" y="3436333"/>
                  </a:lnTo>
                  <a:lnTo>
                    <a:pt x="10225951" y="3439086"/>
                  </a:lnTo>
                  <a:lnTo>
                    <a:pt x="10223411" y="3441616"/>
                  </a:lnTo>
                  <a:lnTo>
                    <a:pt x="10220883" y="3444147"/>
                  </a:lnTo>
                  <a:lnTo>
                    <a:pt x="10218140" y="3446404"/>
                  </a:lnTo>
                  <a:lnTo>
                    <a:pt x="10215156" y="3448392"/>
                  </a:lnTo>
                  <a:lnTo>
                    <a:pt x="10212184" y="3450377"/>
                  </a:lnTo>
                  <a:lnTo>
                    <a:pt x="10195522" y="3456524"/>
                  </a:lnTo>
                  <a:lnTo>
                    <a:pt x="10192016" y="3457223"/>
                  </a:lnTo>
                  <a:lnTo>
                    <a:pt x="10188473" y="3457571"/>
                  </a:lnTo>
                  <a:lnTo>
                    <a:pt x="10184892" y="3457576"/>
                  </a:lnTo>
                  <a:lnTo>
                    <a:pt x="54480" y="3457576"/>
                  </a:lnTo>
                  <a:lnTo>
                    <a:pt x="50904" y="3457571"/>
                  </a:lnTo>
                  <a:lnTo>
                    <a:pt x="47362" y="3457223"/>
                  </a:lnTo>
                  <a:lnTo>
                    <a:pt x="43854" y="3456524"/>
                  </a:lnTo>
                  <a:lnTo>
                    <a:pt x="40342" y="3455830"/>
                  </a:lnTo>
                  <a:lnTo>
                    <a:pt x="36939" y="3454792"/>
                  </a:lnTo>
                  <a:lnTo>
                    <a:pt x="33629" y="3453423"/>
                  </a:lnTo>
                  <a:lnTo>
                    <a:pt x="30326" y="3452059"/>
                  </a:lnTo>
                  <a:lnTo>
                    <a:pt x="15958" y="3441616"/>
                  </a:lnTo>
                  <a:lnTo>
                    <a:pt x="13428" y="3439086"/>
                  </a:lnTo>
                  <a:lnTo>
                    <a:pt x="11167" y="3436333"/>
                  </a:lnTo>
                  <a:lnTo>
                    <a:pt x="9182" y="3433361"/>
                  </a:lnTo>
                  <a:lnTo>
                    <a:pt x="7193" y="3430385"/>
                  </a:lnTo>
                  <a:lnTo>
                    <a:pt x="5516" y="3427244"/>
                  </a:lnTo>
                  <a:lnTo>
                    <a:pt x="4147" y="3423940"/>
                  </a:lnTo>
                  <a:lnTo>
                    <a:pt x="2778" y="3420637"/>
                  </a:lnTo>
                  <a:lnTo>
                    <a:pt x="1746" y="3417228"/>
                  </a:lnTo>
                  <a:lnTo>
                    <a:pt x="1046" y="3413721"/>
                  </a:lnTo>
                  <a:lnTo>
                    <a:pt x="346" y="3410214"/>
                  </a:lnTo>
                  <a:lnTo>
                    <a:pt x="0" y="3406672"/>
                  </a:lnTo>
                  <a:lnTo>
                    <a:pt x="0" y="3403094"/>
                  </a:lnTo>
                  <a:close/>
                </a:path>
              </a:pathLst>
            </a:custGeom>
            <a:ln w="9525">
              <a:solidFill>
                <a:srgbClr val="000000"/>
              </a:solidFill>
            </a:ln>
          </p:spPr>
          <p:txBody>
            <a:bodyPr wrap="square" lIns="0" tIns="0" rIns="0" bIns="0" rtlCol="0"/>
            <a:lstStyle/>
            <a:p>
              <a:endParaRPr/>
            </a:p>
          </p:txBody>
        </p:sp>
        <p:sp>
          <p:nvSpPr>
            <p:cNvPr id="6" name="object 6"/>
            <p:cNvSpPr/>
            <p:nvPr/>
          </p:nvSpPr>
          <p:spPr>
            <a:xfrm>
              <a:off x="600062" y="2171699"/>
              <a:ext cx="10229850" cy="495934"/>
            </a:xfrm>
            <a:custGeom>
              <a:avLst/>
              <a:gdLst/>
              <a:ahLst/>
              <a:cxnLst/>
              <a:rect l="l" t="t" r="r" b="b"/>
              <a:pathLst>
                <a:path w="10229850" h="495935">
                  <a:moveTo>
                    <a:pt x="2857500" y="12"/>
                  </a:moveTo>
                  <a:lnTo>
                    <a:pt x="51396" y="12"/>
                  </a:lnTo>
                  <a:lnTo>
                    <a:pt x="43840" y="1511"/>
                  </a:lnTo>
                  <a:lnTo>
                    <a:pt x="11798" y="22923"/>
                  </a:lnTo>
                  <a:lnTo>
                    <a:pt x="0" y="51396"/>
                  </a:lnTo>
                  <a:lnTo>
                    <a:pt x="0" y="495312"/>
                  </a:lnTo>
                  <a:lnTo>
                    <a:pt x="2857500" y="495312"/>
                  </a:lnTo>
                  <a:lnTo>
                    <a:pt x="2857500" y="12"/>
                  </a:lnTo>
                  <a:close/>
                </a:path>
                <a:path w="10229850" h="495935">
                  <a:moveTo>
                    <a:pt x="4705362" y="0"/>
                  </a:moveTo>
                  <a:lnTo>
                    <a:pt x="2867037" y="0"/>
                  </a:lnTo>
                  <a:lnTo>
                    <a:pt x="2867037" y="495300"/>
                  </a:lnTo>
                  <a:lnTo>
                    <a:pt x="4705362" y="495300"/>
                  </a:lnTo>
                  <a:lnTo>
                    <a:pt x="4705362" y="0"/>
                  </a:lnTo>
                  <a:close/>
                </a:path>
                <a:path w="10229850" h="495935">
                  <a:moveTo>
                    <a:pt x="6543675" y="12"/>
                  </a:moveTo>
                  <a:lnTo>
                    <a:pt x="4714875" y="12"/>
                  </a:lnTo>
                  <a:lnTo>
                    <a:pt x="4714875" y="495312"/>
                  </a:lnTo>
                  <a:lnTo>
                    <a:pt x="6543675" y="495312"/>
                  </a:lnTo>
                  <a:lnTo>
                    <a:pt x="6543675" y="12"/>
                  </a:lnTo>
                  <a:close/>
                </a:path>
                <a:path w="10229850" h="495935">
                  <a:moveTo>
                    <a:pt x="8382000" y="12"/>
                  </a:moveTo>
                  <a:lnTo>
                    <a:pt x="6553200" y="12"/>
                  </a:lnTo>
                  <a:lnTo>
                    <a:pt x="6553200" y="495312"/>
                  </a:lnTo>
                  <a:lnTo>
                    <a:pt x="8382000" y="495312"/>
                  </a:lnTo>
                  <a:lnTo>
                    <a:pt x="8382000" y="12"/>
                  </a:lnTo>
                  <a:close/>
                </a:path>
                <a:path w="10229850" h="495935">
                  <a:moveTo>
                    <a:pt x="10229850" y="51396"/>
                  </a:moveTo>
                  <a:lnTo>
                    <a:pt x="10206939" y="11811"/>
                  </a:lnTo>
                  <a:lnTo>
                    <a:pt x="10178466" y="12"/>
                  </a:lnTo>
                  <a:lnTo>
                    <a:pt x="8391525" y="12"/>
                  </a:lnTo>
                  <a:lnTo>
                    <a:pt x="8391525" y="495312"/>
                  </a:lnTo>
                  <a:lnTo>
                    <a:pt x="10229850" y="495312"/>
                  </a:lnTo>
                  <a:lnTo>
                    <a:pt x="10229850" y="51396"/>
                  </a:lnTo>
                  <a:close/>
                </a:path>
              </a:pathLst>
            </a:custGeom>
            <a:solidFill>
              <a:srgbClr val="FFFFFF">
                <a:alpha val="3919"/>
              </a:srgbClr>
            </a:solidFill>
          </p:spPr>
          <p:txBody>
            <a:bodyPr wrap="square" lIns="0" tIns="0" rIns="0" bIns="0" rtlCol="0"/>
            <a:lstStyle/>
            <a:p>
              <a:endParaRPr/>
            </a:p>
          </p:txBody>
        </p:sp>
        <p:sp>
          <p:nvSpPr>
            <p:cNvPr id="7" name="object 7"/>
            <p:cNvSpPr/>
            <p:nvPr/>
          </p:nvSpPr>
          <p:spPr>
            <a:xfrm>
              <a:off x="600062" y="2666999"/>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12"/>
                  </a:lnTo>
                  <a:lnTo>
                    <a:pt x="4705362" y="495312"/>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12"/>
                  </a:lnTo>
                  <a:lnTo>
                    <a:pt x="10229863" y="495312"/>
                  </a:lnTo>
                  <a:lnTo>
                    <a:pt x="10229863" y="0"/>
                  </a:lnTo>
                  <a:close/>
                </a:path>
              </a:pathLst>
            </a:custGeom>
            <a:solidFill>
              <a:srgbClr val="000000">
                <a:alpha val="3919"/>
              </a:srgbClr>
            </a:solidFill>
          </p:spPr>
          <p:txBody>
            <a:bodyPr wrap="square" lIns="0" tIns="0" rIns="0" bIns="0" rtlCol="0"/>
            <a:lstStyle/>
            <a:p>
              <a:endParaRPr/>
            </a:p>
          </p:txBody>
        </p:sp>
        <p:sp>
          <p:nvSpPr>
            <p:cNvPr id="8" name="object 8"/>
            <p:cNvSpPr/>
            <p:nvPr/>
          </p:nvSpPr>
          <p:spPr>
            <a:xfrm>
              <a:off x="600062" y="3162312"/>
              <a:ext cx="10230485" cy="485775"/>
            </a:xfrm>
            <a:custGeom>
              <a:avLst/>
              <a:gdLst/>
              <a:ahLst/>
              <a:cxnLst/>
              <a:rect l="l" t="t" r="r" b="b"/>
              <a:pathLst>
                <a:path w="10230485" h="485775">
                  <a:moveTo>
                    <a:pt x="2857500" y="0"/>
                  </a:moveTo>
                  <a:lnTo>
                    <a:pt x="0" y="0"/>
                  </a:lnTo>
                  <a:lnTo>
                    <a:pt x="0" y="485775"/>
                  </a:lnTo>
                  <a:lnTo>
                    <a:pt x="2857500" y="485775"/>
                  </a:lnTo>
                  <a:lnTo>
                    <a:pt x="2857500" y="0"/>
                  </a:lnTo>
                  <a:close/>
                </a:path>
                <a:path w="10230485" h="485775">
                  <a:moveTo>
                    <a:pt x="4705362" y="0"/>
                  </a:moveTo>
                  <a:lnTo>
                    <a:pt x="2867037" y="0"/>
                  </a:lnTo>
                  <a:lnTo>
                    <a:pt x="2867037" y="485775"/>
                  </a:lnTo>
                  <a:lnTo>
                    <a:pt x="4705362" y="485775"/>
                  </a:lnTo>
                  <a:lnTo>
                    <a:pt x="4705362" y="0"/>
                  </a:lnTo>
                  <a:close/>
                </a:path>
                <a:path w="10230485" h="485775">
                  <a:moveTo>
                    <a:pt x="6543675" y="0"/>
                  </a:moveTo>
                  <a:lnTo>
                    <a:pt x="4714875" y="0"/>
                  </a:lnTo>
                  <a:lnTo>
                    <a:pt x="4714875" y="485775"/>
                  </a:lnTo>
                  <a:lnTo>
                    <a:pt x="6543675" y="485775"/>
                  </a:lnTo>
                  <a:lnTo>
                    <a:pt x="6543675" y="0"/>
                  </a:lnTo>
                  <a:close/>
                </a:path>
                <a:path w="10230485" h="485775">
                  <a:moveTo>
                    <a:pt x="8382000" y="0"/>
                  </a:moveTo>
                  <a:lnTo>
                    <a:pt x="6553200" y="0"/>
                  </a:lnTo>
                  <a:lnTo>
                    <a:pt x="6553200" y="485775"/>
                  </a:lnTo>
                  <a:lnTo>
                    <a:pt x="8382000" y="485775"/>
                  </a:lnTo>
                  <a:lnTo>
                    <a:pt x="8382000" y="0"/>
                  </a:lnTo>
                  <a:close/>
                </a:path>
                <a:path w="10230485" h="485775">
                  <a:moveTo>
                    <a:pt x="10229863" y="0"/>
                  </a:moveTo>
                  <a:lnTo>
                    <a:pt x="8391538" y="0"/>
                  </a:lnTo>
                  <a:lnTo>
                    <a:pt x="8391538" y="485775"/>
                  </a:lnTo>
                  <a:lnTo>
                    <a:pt x="10229863" y="485775"/>
                  </a:lnTo>
                  <a:lnTo>
                    <a:pt x="10229863" y="0"/>
                  </a:lnTo>
                  <a:close/>
                </a:path>
              </a:pathLst>
            </a:custGeom>
            <a:solidFill>
              <a:srgbClr val="FFFFFF">
                <a:alpha val="3919"/>
              </a:srgbClr>
            </a:solidFill>
          </p:spPr>
          <p:txBody>
            <a:bodyPr wrap="square" lIns="0" tIns="0" rIns="0" bIns="0" rtlCol="0"/>
            <a:lstStyle/>
            <a:p>
              <a:endParaRPr/>
            </a:p>
          </p:txBody>
        </p:sp>
        <p:sp>
          <p:nvSpPr>
            <p:cNvPr id="9" name="object 9"/>
            <p:cNvSpPr/>
            <p:nvPr/>
          </p:nvSpPr>
          <p:spPr>
            <a:xfrm>
              <a:off x="600062" y="3648087"/>
              <a:ext cx="10230485" cy="495300"/>
            </a:xfrm>
            <a:custGeom>
              <a:avLst/>
              <a:gdLst/>
              <a:ahLst/>
              <a:cxnLst/>
              <a:rect l="l" t="t" r="r" b="b"/>
              <a:pathLst>
                <a:path w="10230485" h="495300">
                  <a:moveTo>
                    <a:pt x="2857500" y="0"/>
                  </a:moveTo>
                  <a:lnTo>
                    <a:pt x="0" y="0"/>
                  </a:lnTo>
                  <a:lnTo>
                    <a:pt x="0" y="495300"/>
                  </a:lnTo>
                  <a:lnTo>
                    <a:pt x="2857500" y="495300"/>
                  </a:lnTo>
                  <a:lnTo>
                    <a:pt x="2857500" y="0"/>
                  </a:lnTo>
                  <a:close/>
                </a:path>
                <a:path w="10230485" h="495300">
                  <a:moveTo>
                    <a:pt x="4705362" y="0"/>
                  </a:moveTo>
                  <a:lnTo>
                    <a:pt x="2867037" y="0"/>
                  </a:lnTo>
                  <a:lnTo>
                    <a:pt x="2867037" y="495287"/>
                  </a:lnTo>
                  <a:lnTo>
                    <a:pt x="4705362" y="495287"/>
                  </a:lnTo>
                  <a:lnTo>
                    <a:pt x="4705362" y="0"/>
                  </a:lnTo>
                  <a:close/>
                </a:path>
                <a:path w="10230485" h="495300">
                  <a:moveTo>
                    <a:pt x="6543675" y="0"/>
                  </a:moveTo>
                  <a:lnTo>
                    <a:pt x="4714875" y="0"/>
                  </a:lnTo>
                  <a:lnTo>
                    <a:pt x="4714875" y="495300"/>
                  </a:lnTo>
                  <a:lnTo>
                    <a:pt x="6543675" y="495300"/>
                  </a:lnTo>
                  <a:lnTo>
                    <a:pt x="6543675" y="0"/>
                  </a:lnTo>
                  <a:close/>
                </a:path>
                <a:path w="10230485" h="495300">
                  <a:moveTo>
                    <a:pt x="8382000" y="0"/>
                  </a:moveTo>
                  <a:lnTo>
                    <a:pt x="6553200" y="0"/>
                  </a:lnTo>
                  <a:lnTo>
                    <a:pt x="6553200" y="495300"/>
                  </a:lnTo>
                  <a:lnTo>
                    <a:pt x="8382000" y="495300"/>
                  </a:lnTo>
                  <a:lnTo>
                    <a:pt x="8382000" y="0"/>
                  </a:lnTo>
                  <a:close/>
                </a:path>
                <a:path w="10230485" h="495300">
                  <a:moveTo>
                    <a:pt x="10229863" y="0"/>
                  </a:moveTo>
                  <a:lnTo>
                    <a:pt x="8391538" y="0"/>
                  </a:lnTo>
                  <a:lnTo>
                    <a:pt x="8391538" y="495287"/>
                  </a:lnTo>
                  <a:lnTo>
                    <a:pt x="10229863" y="495287"/>
                  </a:lnTo>
                  <a:lnTo>
                    <a:pt x="10229863" y="0"/>
                  </a:lnTo>
                  <a:close/>
                </a:path>
              </a:pathLst>
            </a:custGeom>
            <a:solidFill>
              <a:srgbClr val="000000">
                <a:alpha val="3919"/>
              </a:srgbClr>
            </a:solidFill>
          </p:spPr>
          <p:txBody>
            <a:bodyPr wrap="square" lIns="0" tIns="0" rIns="0" bIns="0" rtlCol="0"/>
            <a:lstStyle/>
            <a:p>
              <a:endParaRPr/>
            </a:p>
          </p:txBody>
        </p:sp>
        <p:sp>
          <p:nvSpPr>
            <p:cNvPr id="10" name="object 10"/>
            <p:cNvSpPr/>
            <p:nvPr/>
          </p:nvSpPr>
          <p:spPr>
            <a:xfrm>
              <a:off x="600062" y="41433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FFFFFF">
                <a:alpha val="3919"/>
              </a:srgbClr>
            </a:solidFill>
          </p:spPr>
          <p:txBody>
            <a:bodyPr wrap="square" lIns="0" tIns="0" rIns="0" bIns="0" rtlCol="0"/>
            <a:lstStyle/>
            <a:p>
              <a:endParaRPr/>
            </a:p>
          </p:txBody>
        </p:sp>
        <p:sp>
          <p:nvSpPr>
            <p:cNvPr id="11" name="object 11"/>
            <p:cNvSpPr/>
            <p:nvPr/>
          </p:nvSpPr>
          <p:spPr>
            <a:xfrm>
              <a:off x="600062" y="46386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000000">
                <a:alpha val="3919"/>
              </a:srgbClr>
            </a:solidFill>
          </p:spPr>
          <p:txBody>
            <a:bodyPr wrap="square" lIns="0" tIns="0" rIns="0" bIns="0" rtlCol="0"/>
            <a:lstStyle/>
            <a:p>
              <a:endParaRPr/>
            </a:p>
          </p:txBody>
        </p:sp>
        <p:sp>
          <p:nvSpPr>
            <p:cNvPr id="12" name="object 12"/>
            <p:cNvSpPr/>
            <p:nvPr/>
          </p:nvSpPr>
          <p:spPr>
            <a:xfrm>
              <a:off x="600062" y="5133987"/>
              <a:ext cx="10229850" cy="485775"/>
            </a:xfrm>
            <a:custGeom>
              <a:avLst/>
              <a:gdLst/>
              <a:ahLst/>
              <a:cxnLst/>
              <a:rect l="l" t="t" r="r" b="b"/>
              <a:pathLst>
                <a:path w="10229850" h="485775">
                  <a:moveTo>
                    <a:pt x="2857500" y="0"/>
                  </a:moveTo>
                  <a:lnTo>
                    <a:pt x="0" y="0"/>
                  </a:lnTo>
                  <a:lnTo>
                    <a:pt x="0" y="434378"/>
                  </a:lnTo>
                  <a:lnTo>
                    <a:pt x="22910" y="473976"/>
                  </a:lnTo>
                  <a:lnTo>
                    <a:pt x="51396" y="485775"/>
                  </a:lnTo>
                  <a:lnTo>
                    <a:pt x="2857500" y="485775"/>
                  </a:lnTo>
                  <a:lnTo>
                    <a:pt x="2857500" y="0"/>
                  </a:lnTo>
                  <a:close/>
                </a:path>
                <a:path w="10229850" h="485775">
                  <a:moveTo>
                    <a:pt x="4705362" y="0"/>
                  </a:moveTo>
                  <a:lnTo>
                    <a:pt x="2867037" y="0"/>
                  </a:lnTo>
                  <a:lnTo>
                    <a:pt x="2867037" y="485775"/>
                  </a:lnTo>
                  <a:lnTo>
                    <a:pt x="4705362" y="485775"/>
                  </a:lnTo>
                  <a:lnTo>
                    <a:pt x="4705362" y="0"/>
                  </a:lnTo>
                  <a:close/>
                </a:path>
                <a:path w="10229850" h="485775">
                  <a:moveTo>
                    <a:pt x="6543675" y="0"/>
                  </a:moveTo>
                  <a:lnTo>
                    <a:pt x="4714875" y="0"/>
                  </a:lnTo>
                  <a:lnTo>
                    <a:pt x="4714875" y="485775"/>
                  </a:lnTo>
                  <a:lnTo>
                    <a:pt x="6543675" y="485775"/>
                  </a:lnTo>
                  <a:lnTo>
                    <a:pt x="6543675" y="0"/>
                  </a:lnTo>
                  <a:close/>
                </a:path>
                <a:path w="10229850" h="485775">
                  <a:moveTo>
                    <a:pt x="8382000" y="0"/>
                  </a:moveTo>
                  <a:lnTo>
                    <a:pt x="6553200" y="0"/>
                  </a:lnTo>
                  <a:lnTo>
                    <a:pt x="6553200" y="485775"/>
                  </a:lnTo>
                  <a:lnTo>
                    <a:pt x="8382000" y="485775"/>
                  </a:lnTo>
                  <a:lnTo>
                    <a:pt x="8382000" y="0"/>
                  </a:lnTo>
                  <a:close/>
                </a:path>
                <a:path w="10229850" h="485775">
                  <a:moveTo>
                    <a:pt x="10229850" y="0"/>
                  </a:moveTo>
                  <a:lnTo>
                    <a:pt x="8391525" y="0"/>
                  </a:lnTo>
                  <a:lnTo>
                    <a:pt x="8391525" y="485775"/>
                  </a:lnTo>
                  <a:lnTo>
                    <a:pt x="10178466" y="485775"/>
                  </a:lnTo>
                  <a:lnTo>
                    <a:pt x="10186022" y="484263"/>
                  </a:lnTo>
                  <a:lnTo>
                    <a:pt x="10218052" y="462864"/>
                  </a:lnTo>
                  <a:lnTo>
                    <a:pt x="10229850" y="434378"/>
                  </a:lnTo>
                  <a:lnTo>
                    <a:pt x="10229850" y="0"/>
                  </a:lnTo>
                  <a:close/>
                </a:path>
              </a:pathLst>
            </a:custGeom>
            <a:solidFill>
              <a:srgbClr val="FFFFFF">
                <a:alpha val="3919"/>
              </a:srgbClr>
            </a:solidFill>
          </p:spPr>
          <p:txBody>
            <a:bodyPr wrap="square" lIns="0" tIns="0" rIns="0" bIns="0" rtlCol="0"/>
            <a:lstStyle/>
            <a:p>
              <a:endParaRPr/>
            </a:p>
          </p:txBody>
        </p:sp>
      </p:grpSp>
      <p:sp>
        <p:nvSpPr>
          <p:cNvPr id="13" name="object 13"/>
          <p:cNvSpPr txBox="1"/>
          <p:nvPr/>
        </p:nvSpPr>
        <p:spPr>
          <a:xfrm>
            <a:off x="3626599" y="2294547"/>
            <a:ext cx="1044575" cy="228600"/>
          </a:xfrm>
          <a:prstGeom prst="rect">
            <a:avLst/>
          </a:prstGeom>
        </p:spPr>
        <p:txBody>
          <a:bodyPr vert="horz" wrap="square" lIns="0" tIns="16510" rIns="0" bIns="0" rtlCol="0">
            <a:spAutoFit/>
          </a:bodyPr>
          <a:lstStyle/>
          <a:p>
            <a:pPr marL="12700">
              <a:lnSpc>
                <a:spcPct val="100000"/>
              </a:lnSpc>
              <a:spcBef>
                <a:spcPts val="130"/>
              </a:spcBef>
            </a:pPr>
            <a:r>
              <a:rPr sz="1300" b="1" spc="-50" dirty="0">
                <a:solidFill>
                  <a:srgbClr val="3A3535"/>
                </a:solidFill>
                <a:latin typeface="Verdana"/>
                <a:cs typeface="Verdana"/>
              </a:rPr>
              <a:t>LimeSurvey</a:t>
            </a:r>
            <a:endParaRPr sz="1300">
              <a:latin typeface="Verdana"/>
              <a:cs typeface="Verdana"/>
            </a:endParaRPr>
          </a:p>
        </p:txBody>
      </p:sp>
      <p:sp>
        <p:nvSpPr>
          <p:cNvPr id="14" name="object 14"/>
          <p:cNvSpPr txBox="1"/>
          <p:nvPr/>
        </p:nvSpPr>
        <p:spPr>
          <a:xfrm>
            <a:off x="5467400" y="2294547"/>
            <a:ext cx="1239520"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JATOS</a:t>
            </a:r>
            <a:r>
              <a:rPr sz="1300" b="1" spc="-145" dirty="0">
                <a:solidFill>
                  <a:srgbClr val="3A3535"/>
                </a:solidFill>
                <a:latin typeface="Verdana"/>
                <a:cs typeface="Verdana"/>
              </a:rPr>
              <a:t> </a:t>
            </a:r>
            <a:r>
              <a:rPr sz="1300" b="1" spc="-360" dirty="0">
                <a:solidFill>
                  <a:srgbClr val="3A3535"/>
                </a:solidFill>
                <a:latin typeface="Verdana"/>
                <a:cs typeface="Verdana"/>
              </a:rPr>
              <a:t>/</a:t>
            </a:r>
            <a:r>
              <a:rPr sz="1300" b="1" spc="-140" dirty="0">
                <a:solidFill>
                  <a:srgbClr val="3A3535"/>
                </a:solidFill>
                <a:latin typeface="Verdana"/>
                <a:cs typeface="Verdana"/>
              </a:rPr>
              <a:t> </a:t>
            </a:r>
            <a:r>
              <a:rPr sz="1300" b="1" spc="-45" dirty="0">
                <a:solidFill>
                  <a:srgbClr val="3A3535"/>
                </a:solidFill>
                <a:latin typeface="Verdana"/>
                <a:cs typeface="Verdana"/>
              </a:rPr>
              <a:t>formr</a:t>
            </a:r>
            <a:endParaRPr sz="1300">
              <a:latin typeface="Verdana"/>
              <a:cs typeface="Verdana"/>
            </a:endParaRPr>
          </a:p>
        </p:txBody>
      </p:sp>
      <p:sp>
        <p:nvSpPr>
          <p:cNvPr id="15" name="object 15"/>
          <p:cNvSpPr txBox="1"/>
          <p:nvPr/>
        </p:nvSpPr>
        <p:spPr>
          <a:xfrm>
            <a:off x="7308184" y="2294547"/>
            <a:ext cx="698500" cy="228600"/>
          </a:xfrm>
          <a:prstGeom prst="rect">
            <a:avLst/>
          </a:prstGeom>
        </p:spPr>
        <p:txBody>
          <a:bodyPr vert="horz" wrap="square" lIns="0" tIns="16510" rIns="0" bIns="0" rtlCol="0">
            <a:spAutoFit/>
          </a:bodyPr>
          <a:lstStyle/>
          <a:p>
            <a:pPr marL="12700">
              <a:lnSpc>
                <a:spcPct val="100000"/>
              </a:lnSpc>
              <a:spcBef>
                <a:spcPts val="130"/>
              </a:spcBef>
            </a:pPr>
            <a:r>
              <a:rPr sz="1300" b="1" spc="-10" dirty="0">
                <a:solidFill>
                  <a:srgbClr val="3A3535"/>
                </a:solidFill>
                <a:latin typeface="Verdana"/>
                <a:cs typeface="Verdana"/>
              </a:rPr>
              <a:t>Moodle</a:t>
            </a:r>
            <a:endParaRPr sz="1300">
              <a:latin typeface="Verdana"/>
              <a:cs typeface="Verdana"/>
            </a:endParaRPr>
          </a:p>
        </p:txBody>
      </p:sp>
      <p:sp>
        <p:nvSpPr>
          <p:cNvPr id="16" name="object 16"/>
          <p:cNvSpPr txBox="1"/>
          <p:nvPr/>
        </p:nvSpPr>
        <p:spPr>
          <a:xfrm>
            <a:off x="9148711" y="2294547"/>
            <a:ext cx="775335"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SelfHelp</a:t>
            </a:r>
            <a:endParaRPr sz="1300">
              <a:latin typeface="Verdana"/>
              <a:cs typeface="Verdana"/>
            </a:endParaRPr>
          </a:p>
        </p:txBody>
      </p:sp>
      <p:sp>
        <p:nvSpPr>
          <p:cNvPr id="17" name="object 17"/>
          <p:cNvSpPr txBox="1"/>
          <p:nvPr/>
        </p:nvSpPr>
        <p:spPr>
          <a:xfrm>
            <a:off x="758532" y="2789847"/>
            <a:ext cx="69278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Surveys</a:t>
            </a:r>
            <a:endParaRPr sz="1300">
              <a:latin typeface="Century Gothic"/>
              <a:cs typeface="Century Gothic"/>
            </a:endParaRPr>
          </a:p>
        </p:txBody>
      </p:sp>
      <p:sp>
        <p:nvSpPr>
          <p:cNvPr id="18" name="object 18"/>
          <p:cNvSpPr txBox="1"/>
          <p:nvPr/>
        </p:nvSpPr>
        <p:spPr>
          <a:xfrm>
            <a:off x="36265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19" name="object 19"/>
          <p:cNvSpPr txBox="1"/>
          <p:nvPr/>
        </p:nvSpPr>
        <p:spPr>
          <a:xfrm>
            <a:off x="54672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0" name="object 20"/>
          <p:cNvSpPr txBox="1"/>
          <p:nvPr/>
        </p:nvSpPr>
        <p:spPr>
          <a:xfrm>
            <a:off x="7308012" y="2789847"/>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1" name="object 21"/>
          <p:cNvSpPr txBox="1"/>
          <p:nvPr/>
        </p:nvSpPr>
        <p:spPr>
          <a:xfrm>
            <a:off x="9148711" y="277304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2" name="object 22"/>
          <p:cNvSpPr txBox="1"/>
          <p:nvPr/>
        </p:nvSpPr>
        <p:spPr>
          <a:xfrm>
            <a:off x="758532" y="3275622"/>
            <a:ext cx="1280160" cy="228600"/>
          </a:xfrm>
          <a:prstGeom prst="rect">
            <a:avLst/>
          </a:prstGeom>
        </p:spPr>
        <p:txBody>
          <a:bodyPr vert="horz" wrap="square" lIns="0" tIns="16510" rIns="0" bIns="0" rtlCol="0">
            <a:spAutoFit/>
          </a:bodyPr>
          <a:lstStyle/>
          <a:p>
            <a:pPr marL="12700">
              <a:lnSpc>
                <a:spcPct val="100000"/>
              </a:lnSpc>
              <a:spcBef>
                <a:spcPts val="130"/>
              </a:spcBef>
            </a:pPr>
            <a:r>
              <a:rPr sz="1300" spc="50" dirty="0">
                <a:solidFill>
                  <a:srgbClr val="3A3535"/>
                </a:solidFill>
                <a:latin typeface="Century Gothic"/>
                <a:cs typeface="Century Gothic"/>
              </a:rPr>
              <a:t>Online</a:t>
            </a:r>
            <a:r>
              <a:rPr sz="1300" spc="-40" dirty="0">
                <a:solidFill>
                  <a:srgbClr val="3A3535"/>
                </a:solidFill>
                <a:latin typeface="Century Gothic"/>
                <a:cs typeface="Century Gothic"/>
              </a:rPr>
              <a:t> </a:t>
            </a:r>
            <a:r>
              <a:rPr sz="1300" spc="95" dirty="0">
                <a:solidFill>
                  <a:srgbClr val="3A3535"/>
                </a:solidFill>
                <a:latin typeface="Century Gothic"/>
                <a:cs typeface="Century Gothic"/>
              </a:rPr>
              <a:t>Studies</a:t>
            </a:r>
            <a:endParaRPr sz="1300">
              <a:latin typeface="Century Gothic"/>
              <a:cs typeface="Century Gothic"/>
            </a:endParaRPr>
          </a:p>
        </p:txBody>
      </p:sp>
      <p:sp>
        <p:nvSpPr>
          <p:cNvPr id="23" name="object 23"/>
          <p:cNvSpPr txBox="1"/>
          <p:nvPr/>
        </p:nvSpPr>
        <p:spPr>
          <a:xfrm>
            <a:off x="3626599" y="32756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4" name="object 24"/>
          <p:cNvSpPr txBox="1"/>
          <p:nvPr/>
        </p:nvSpPr>
        <p:spPr>
          <a:xfrm>
            <a:off x="5467299" y="32588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5" name="object 25"/>
          <p:cNvSpPr txBox="1"/>
          <p:nvPr/>
        </p:nvSpPr>
        <p:spPr>
          <a:xfrm>
            <a:off x="7308012" y="32756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6" name="object 26"/>
          <p:cNvSpPr txBox="1"/>
          <p:nvPr/>
        </p:nvSpPr>
        <p:spPr>
          <a:xfrm>
            <a:off x="9148711" y="3258824"/>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7" name="object 27"/>
          <p:cNvSpPr txBox="1"/>
          <p:nvPr/>
        </p:nvSpPr>
        <p:spPr>
          <a:xfrm>
            <a:off x="758532" y="3770922"/>
            <a:ext cx="92265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Workflows</a:t>
            </a:r>
            <a:endParaRPr sz="1300">
              <a:latin typeface="Century Gothic"/>
              <a:cs typeface="Century Gothic"/>
            </a:endParaRPr>
          </a:p>
        </p:txBody>
      </p:sp>
      <p:sp>
        <p:nvSpPr>
          <p:cNvPr id="28" name="object 28"/>
          <p:cNvSpPr txBox="1"/>
          <p:nvPr/>
        </p:nvSpPr>
        <p:spPr>
          <a:xfrm>
            <a:off x="36265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9" name="object 29"/>
          <p:cNvSpPr txBox="1"/>
          <p:nvPr/>
        </p:nvSpPr>
        <p:spPr>
          <a:xfrm>
            <a:off x="54672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0" name="object 30"/>
          <p:cNvSpPr txBox="1"/>
          <p:nvPr/>
        </p:nvSpPr>
        <p:spPr>
          <a:xfrm>
            <a:off x="7307998" y="37709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1" name="object 31"/>
          <p:cNvSpPr txBox="1"/>
          <p:nvPr/>
        </p:nvSpPr>
        <p:spPr>
          <a:xfrm>
            <a:off x="9148698" y="37541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2" name="object 32"/>
          <p:cNvSpPr txBox="1"/>
          <p:nvPr/>
        </p:nvSpPr>
        <p:spPr>
          <a:xfrm>
            <a:off x="758520" y="4266222"/>
            <a:ext cx="154876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Mobile</a:t>
            </a:r>
            <a:r>
              <a:rPr sz="1300" spc="190" dirty="0">
                <a:solidFill>
                  <a:srgbClr val="3A3535"/>
                </a:solidFill>
                <a:latin typeface="Century Gothic"/>
                <a:cs typeface="Century Gothic"/>
              </a:rPr>
              <a:t> </a:t>
            </a:r>
            <a:r>
              <a:rPr sz="1300" spc="60" dirty="0">
                <a:solidFill>
                  <a:srgbClr val="3A3535"/>
                </a:solidFill>
                <a:latin typeface="Century Gothic"/>
                <a:cs typeface="Century Gothic"/>
              </a:rPr>
              <a:t>Continuity</a:t>
            </a:r>
            <a:endParaRPr sz="1300">
              <a:latin typeface="Century Gothic"/>
              <a:cs typeface="Century Gothic"/>
            </a:endParaRPr>
          </a:p>
        </p:txBody>
      </p:sp>
      <p:sp>
        <p:nvSpPr>
          <p:cNvPr id="33" name="object 33"/>
          <p:cNvSpPr txBox="1"/>
          <p:nvPr/>
        </p:nvSpPr>
        <p:spPr>
          <a:xfrm>
            <a:off x="36265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4" name="object 34"/>
          <p:cNvSpPr txBox="1"/>
          <p:nvPr/>
        </p:nvSpPr>
        <p:spPr>
          <a:xfrm>
            <a:off x="54672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5" name="object 35"/>
          <p:cNvSpPr txBox="1"/>
          <p:nvPr/>
        </p:nvSpPr>
        <p:spPr>
          <a:xfrm>
            <a:off x="7307998" y="42662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6" name="object 36"/>
          <p:cNvSpPr txBox="1"/>
          <p:nvPr/>
        </p:nvSpPr>
        <p:spPr>
          <a:xfrm>
            <a:off x="9148698" y="42494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7" name="object 37"/>
          <p:cNvSpPr txBox="1"/>
          <p:nvPr/>
        </p:nvSpPr>
        <p:spPr>
          <a:xfrm>
            <a:off x="758520" y="4751997"/>
            <a:ext cx="1197610" cy="228600"/>
          </a:xfrm>
          <a:prstGeom prst="rect">
            <a:avLst/>
          </a:prstGeom>
        </p:spPr>
        <p:txBody>
          <a:bodyPr vert="horz" wrap="square" lIns="0" tIns="16510" rIns="0" bIns="0" rtlCol="0">
            <a:spAutoFit/>
          </a:bodyPr>
          <a:lstStyle/>
          <a:p>
            <a:pPr marL="12700">
              <a:lnSpc>
                <a:spcPct val="100000"/>
              </a:lnSpc>
              <a:spcBef>
                <a:spcPts val="130"/>
              </a:spcBef>
            </a:pPr>
            <a:r>
              <a:rPr sz="1300" spc="65" dirty="0">
                <a:solidFill>
                  <a:srgbClr val="3A3535"/>
                </a:solidFill>
                <a:latin typeface="Century Gothic"/>
                <a:cs typeface="Century Gothic"/>
              </a:rPr>
              <a:t>AI</a:t>
            </a:r>
            <a:r>
              <a:rPr sz="1300" spc="-50" dirty="0">
                <a:solidFill>
                  <a:srgbClr val="3A3535"/>
                </a:solidFill>
                <a:latin typeface="Century Gothic"/>
                <a:cs typeface="Century Gothic"/>
              </a:rPr>
              <a:t> </a:t>
            </a:r>
            <a:r>
              <a:rPr sz="1300" spc="45" dirty="0">
                <a:solidFill>
                  <a:srgbClr val="3A3535"/>
                </a:solidFill>
                <a:latin typeface="Century Gothic"/>
                <a:cs typeface="Century Gothic"/>
              </a:rPr>
              <a:t>Integration</a:t>
            </a:r>
            <a:endParaRPr sz="1300">
              <a:latin typeface="Century Gothic"/>
              <a:cs typeface="Century Gothic"/>
            </a:endParaRPr>
          </a:p>
        </p:txBody>
      </p:sp>
      <p:sp>
        <p:nvSpPr>
          <p:cNvPr id="38" name="object 38"/>
          <p:cNvSpPr txBox="1"/>
          <p:nvPr/>
        </p:nvSpPr>
        <p:spPr>
          <a:xfrm>
            <a:off x="36265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9" name="object 39"/>
          <p:cNvSpPr txBox="1"/>
          <p:nvPr/>
        </p:nvSpPr>
        <p:spPr>
          <a:xfrm>
            <a:off x="54672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0" name="object 40"/>
          <p:cNvSpPr txBox="1"/>
          <p:nvPr/>
        </p:nvSpPr>
        <p:spPr>
          <a:xfrm>
            <a:off x="7307998"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1" name="object 41"/>
          <p:cNvSpPr txBox="1"/>
          <p:nvPr/>
        </p:nvSpPr>
        <p:spPr>
          <a:xfrm>
            <a:off x="9148698" y="473519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42" name="object 42"/>
          <p:cNvSpPr txBox="1"/>
          <p:nvPr/>
        </p:nvSpPr>
        <p:spPr>
          <a:xfrm>
            <a:off x="758520" y="5247297"/>
            <a:ext cx="116713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55" dirty="0">
                <a:solidFill>
                  <a:srgbClr val="3A3535"/>
                </a:solidFill>
                <a:latin typeface="Century Gothic"/>
                <a:cs typeface="Century Gothic"/>
              </a:rPr>
              <a:t>Control</a:t>
            </a:r>
            <a:endParaRPr sz="1300">
              <a:latin typeface="Century Gothic"/>
              <a:cs typeface="Century Gothic"/>
            </a:endParaRPr>
          </a:p>
        </p:txBody>
      </p:sp>
      <p:sp>
        <p:nvSpPr>
          <p:cNvPr id="43" name="object 43"/>
          <p:cNvSpPr txBox="1"/>
          <p:nvPr/>
        </p:nvSpPr>
        <p:spPr>
          <a:xfrm>
            <a:off x="36265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4" name="object 44"/>
          <p:cNvSpPr txBox="1"/>
          <p:nvPr/>
        </p:nvSpPr>
        <p:spPr>
          <a:xfrm>
            <a:off x="54672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5" name="object 45"/>
          <p:cNvSpPr txBox="1"/>
          <p:nvPr/>
        </p:nvSpPr>
        <p:spPr>
          <a:xfrm>
            <a:off x="7308012"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6" name="object 46"/>
          <p:cNvSpPr txBox="1"/>
          <p:nvPr/>
        </p:nvSpPr>
        <p:spPr>
          <a:xfrm>
            <a:off x="9148711"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4058285" cy="560070"/>
          </a:xfrm>
          <a:prstGeom prst="rect">
            <a:avLst/>
          </a:prstGeom>
        </p:spPr>
        <p:txBody>
          <a:bodyPr vert="horz" wrap="square" lIns="0" tIns="13335" rIns="0" bIns="0" rtlCol="0">
            <a:spAutoFit/>
          </a:bodyPr>
          <a:lstStyle/>
          <a:p>
            <a:pPr marL="12700">
              <a:lnSpc>
                <a:spcPct val="100000"/>
              </a:lnSpc>
              <a:spcBef>
                <a:spcPts val="105"/>
              </a:spcBef>
            </a:pPr>
            <a:r>
              <a:rPr spc="-265" dirty="0"/>
              <a:t>Why</a:t>
            </a:r>
            <a:r>
              <a:rPr spc="-430" dirty="0"/>
              <a:t> </a:t>
            </a:r>
            <a:r>
              <a:rPr spc="-150" dirty="0"/>
              <a:t>Use</a:t>
            </a:r>
            <a:r>
              <a:rPr spc="-425" dirty="0"/>
              <a:t> </a:t>
            </a:r>
            <a:r>
              <a:rPr spc="-110" dirty="0"/>
              <a:t>SelfHelp</a:t>
            </a:r>
          </a:p>
        </p:txBody>
      </p:sp>
      <p:pic>
        <p:nvPicPr>
          <p:cNvPr id="3" name="object 3"/>
          <p:cNvPicPr/>
          <p:nvPr/>
        </p:nvPicPr>
        <p:blipFill>
          <a:blip r:embed="rId3" cstate="print"/>
          <a:stretch>
            <a:fillRect/>
          </a:stretch>
        </p:blipFill>
        <p:spPr>
          <a:xfrm>
            <a:off x="586802" y="2684296"/>
            <a:ext cx="176712" cy="153672"/>
          </a:xfrm>
          <a:prstGeom prst="rect">
            <a:avLst/>
          </a:prstGeom>
        </p:spPr>
      </p:pic>
      <p:sp>
        <p:nvSpPr>
          <p:cNvPr id="4" name="object 4"/>
          <p:cNvSpPr/>
          <p:nvPr/>
        </p:nvSpPr>
        <p:spPr>
          <a:xfrm>
            <a:off x="590550"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5" name="object 5"/>
          <p:cNvSpPr txBox="1"/>
          <p:nvPr/>
        </p:nvSpPr>
        <p:spPr>
          <a:xfrm>
            <a:off x="579640" y="3056547"/>
            <a:ext cx="374777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One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10" dirty="0">
                <a:solidFill>
                  <a:srgbClr val="3A3535"/>
                </a:solidFill>
                <a:latin typeface="Century Gothic"/>
                <a:cs typeface="Century Gothic"/>
              </a:rPr>
              <a:t> </a:t>
            </a:r>
            <a:r>
              <a:rPr sz="1300" dirty="0">
                <a:solidFill>
                  <a:srgbClr val="3A3535"/>
                </a:solidFill>
                <a:latin typeface="Century Gothic"/>
                <a:cs typeface="Century Gothic"/>
              </a:rPr>
              <a:t>complete</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digital</a:t>
            </a:r>
            <a:r>
              <a:rPr sz="1300" spc="10" dirty="0">
                <a:solidFill>
                  <a:srgbClr val="3A3535"/>
                </a:solidFill>
                <a:latin typeface="Century Gothic"/>
                <a:cs typeface="Century Gothic"/>
              </a:rPr>
              <a:t> </a:t>
            </a:r>
            <a:r>
              <a:rPr sz="1300" spc="45" dirty="0">
                <a:solidFill>
                  <a:srgbClr val="3A3535"/>
                </a:solidFill>
                <a:latin typeface="Century Gothic"/>
                <a:cs typeface="Century Gothic"/>
              </a:rPr>
              <a:t>programs</a:t>
            </a:r>
            <a:endParaRPr sz="1300">
              <a:latin typeface="Century Gothic"/>
              <a:cs typeface="Century Gothic"/>
            </a:endParaRPr>
          </a:p>
        </p:txBody>
      </p:sp>
      <p:pic>
        <p:nvPicPr>
          <p:cNvPr id="6" name="object 6"/>
          <p:cNvPicPr/>
          <p:nvPr/>
        </p:nvPicPr>
        <p:blipFill>
          <a:blip r:embed="rId4" cstate="print"/>
          <a:stretch>
            <a:fillRect/>
          </a:stretch>
        </p:blipFill>
        <p:spPr>
          <a:xfrm>
            <a:off x="5797081" y="2672767"/>
            <a:ext cx="176450" cy="176729"/>
          </a:xfrm>
          <a:prstGeom prst="rect">
            <a:avLst/>
          </a:prstGeom>
        </p:spPr>
      </p:pic>
      <p:sp>
        <p:nvSpPr>
          <p:cNvPr id="7" name="object 7"/>
          <p:cNvSpPr/>
          <p:nvPr/>
        </p:nvSpPr>
        <p:spPr>
          <a:xfrm>
            <a:off x="5800725"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8" name="object 8"/>
          <p:cNvSpPr txBox="1"/>
          <p:nvPr/>
        </p:nvSpPr>
        <p:spPr>
          <a:xfrm>
            <a:off x="5786831" y="3056547"/>
            <a:ext cx="436181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60" dirty="0">
                <a:solidFill>
                  <a:srgbClr val="3A3535"/>
                </a:solidFill>
                <a:latin typeface="Century Gothic"/>
                <a:cs typeface="Century Gothic"/>
              </a:rPr>
              <a:t>control</a:t>
            </a:r>
            <a:r>
              <a:rPr sz="1300" spc="-25" dirty="0">
                <a:solidFill>
                  <a:srgbClr val="3A3535"/>
                </a:solidFill>
                <a:latin typeface="Century Gothic"/>
                <a:cs typeface="Century Gothic"/>
              </a:rPr>
              <a:t> </a:t>
            </a:r>
            <a:r>
              <a:rPr sz="1300" spc="90" dirty="0">
                <a:solidFill>
                  <a:srgbClr val="3A3535"/>
                </a:solidFill>
                <a:latin typeface="Century Gothic"/>
                <a:cs typeface="Century Gothic"/>
              </a:rPr>
              <a:t>plus</a:t>
            </a:r>
            <a:r>
              <a:rPr sz="1300" spc="-25" dirty="0">
                <a:solidFill>
                  <a:srgbClr val="3A3535"/>
                </a:solidFill>
                <a:latin typeface="Century Gothic"/>
                <a:cs typeface="Century Gothic"/>
              </a:rPr>
              <a:t> </a:t>
            </a:r>
            <a:r>
              <a:rPr sz="1300" spc="80" dirty="0">
                <a:solidFill>
                  <a:srgbClr val="3A3535"/>
                </a:solidFill>
                <a:latin typeface="Century Gothic"/>
                <a:cs typeface="Century Gothic"/>
              </a:rPr>
              <a:t>flexibility</a:t>
            </a:r>
            <a:r>
              <a:rPr sz="1300" spc="-2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25" dirty="0">
                <a:solidFill>
                  <a:srgbClr val="3A3535"/>
                </a:solidFill>
                <a:latin typeface="Century Gothic"/>
                <a:cs typeface="Century Gothic"/>
              </a:rPr>
              <a:t> </a:t>
            </a:r>
            <a:r>
              <a:rPr sz="1300" spc="60" dirty="0">
                <a:solidFill>
                  <a:srgbClr val="3A3535"/>
                </a:solidFill>
                <a:latin typeface="Century Gothic"/>
                <a:cs typeface="Century Gothic"/>
              </a:rPr>
              <a:t>future</a:t>
            </a:r>
            <a:r>
              <a:rPr sz="1300" spc="-25" dirty="0">
                <a:solidFill>
                  <a:srgbClr val="3A3535"/>
                </a:solidFill>
                <a:latin typeface="Century Gothic"/>
                <a:cs typeface="Century Gothic"/>
              </a:rPr>
              <a:t> </a:t>
            </a:r>
            <a:r>
              <a:rPr sz="1300" spc="-10" dirty="0">
                <a:solidFill>
                  <a:srgbClr val="3A3535"/>
                </a:solidFill>
                <a:latin typeface="Century Gothic"/>
                <a:cs typeface="Century Gothic"/>
              </a:rPr>
              <a:t>development</a:t>
            </a:r>
            <a:endParaRPr sz="1300">
              <a:latin typeface="Century Gothic"/>
              <a:cs typeface="Century Gothic"/>
            </a:endParaRPr>
          </a:p>
        </p:txBody>
      </p:sp>
      <p:pic>
        <p:nvPicPr>
          <p:cNvPr id="9" name="object 9"/>
          <p:cNvPicPr/>
          <p:nvPr/>
        </p:nvPicPr>
        <p:blipFill>
          <a:blip r:embed="rId5" cstate="print"/>
          <a:stretch>
            <a:fillRect/>
          </a:stretch>
        </p:blipFill>
        <p:spPr>
          <a:xfrm>
            <a:off x="590188" y="3634800"/>
            <a:ext cx="169835" cy="176714"/>
          </a:xfrm>
          <a:prstGeom prst="rect">
            <a:avLst/>
          </a:prstGeom>
        </p:spPr>
      </p:pic>
      <p:sp>
        <p:nvSpPr>
          <p:cNvPr id="10" name="object 10"/>
          <p:cNvSpPr/>
          <p:nvPr/>
        </p:nvSpPr>
        <p:spPr>
          <a:xfrm>
            <a:off x="590550"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1" name="object 11"/>
          <p:cNvSpPr txBox="1"/>
          <p:nvPr/>
        </p:nvSpPr>
        <p:spPr>
          <a:xfrm>
            <a:off x="579635" y="3954975"/>
            <a:ext cx="5000625" cy="558800"/>
          </a:xfrm>
          <a:prstGeom prst="rect">
            <a:avLst/>
          </a:prstGeom>
        </p:spPr>
        <p:txBody>
          <a:bodyPr vert="horz" wrap="square" lIns="0" tIns="11430" rIns="0" bIns="0" rtlCol="0">
            <a:spAutoFit/>
          </a:bodyPr>
          <a:lstStyle/>
          <a:p>
            <a:pPr marL="12700" marR="5080">
              <a:lnSpc>
                <a:spcPct val="134600"/>
              </a:lnSpc>
              <a:spcBef>
                <a:spcPts val="90"/>
              </a:spcBef>
            </a:pPr>
            <a:r>
              <a:rPr sz="1300" dirty="0">
                <a:solidFill>
                  <a:srgbClr val="3A3535"/>
                </a:solidFill>
                <a:latin typeface="Century Gothic"/>
                <a:cs typeface="Century Gothic"/>
              </a:rPr>
              <a:t>One</a:t>
            </a:r>
            <a:r>
              <a:rPr sz="1300" spc="35" dirty="0">
                <a:solidFill>
                  <a:srgbClr val="3A3535"/>
                </a:solidFill>
                <a:latin typeface="Century Gothic"/>
                <a:cs typeface="Century Gothic"/>
              </a:rPr>
              <a:t> </a:t>
            </a:r>
            <a:r>
              <a:rPr sz="1300" spc="80" dirty="0">
                <a:solidFill>
                  <a:srgbClr val="3A3535"/>
                </a:solidFill>
                <a:latin typeface="Century Gothic"/>
                <a:cs typeface="Century Gothic"/>
              </a:rPr>
              <a:t>structure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across</a:t>
            </a:r>
            <a:r>
              <a:rPr sz="1300" spc="3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35"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spc="-25" dirty="0">
                <a:solidFill>
                  <a:srgbClr val="3A3535"/>
                </a:solidFill>
                <a:latin typeface="Century Gothic"/>
                <a:cs typeface="Century Gothic"/>
              </a:rPr>
              <a:t>and </a:t>
            </a:r>
            <a:r>
              <a:rPr sz="1300" spc="40" dirty="0">
                <a:solidFill>
                  <a:srgbClr val="3A3535"/>
                </a:solidFill>
                <a:latin typeface="Century Gothic"/>
                <a:cs typeface="Century Gothic"/>
              </a:rPr>
              <a:t>AI</a:t>
            </a:r>
            <a:endParaRPr sz="1300">
              <a:latin typeface="Century Gothic"/>
              <a:cs typeface="Century Gothic"/>
            </a:endParaRPr>
          </a:p>
        </p:txBody>
      </p:sp>
      <p:grpSp>
        <p:nvGrpSpPr>
          <p:cNvPr id="12" name="object 12"/>
          <p:cNvGrpSpPr/>
          <p:nvPr/>
        </p:nvGrpSpPr>
        <p:grpSpPr>
          <a:xfrm>
            <a:off x="5822924" y="3634802"/>
            <a:ext cx="125095" cy="173355"/>
            <a:chOff x="5822924" y="3634802"/>
            <a:chExt cx="125095" cy="173355"/>
          </a:xfrm>
        </p:grpSpPr>
        <p:sp>
          <p:nvSpPr>
            <p:cNvPr id="13" name="object 13"/>
            <p:cNvSpPr/>
            <p:nvPr/>
          </p:nvSpPr>
          <p:spPr>
            <a:xfrm>
              <a:off x="5849556" y="3680256"/>
              <a:ext cx="36830" cy="36830"/>
            </a:xfrm>
            <a:custGeom>
              <a:avLst/>
              <a:gdLst/>
              <a:ahLst/>
              <a:cxnLst/>
              <a:rect l="l" t="t" r="r" b="b"/>
              <a:pathLst>
                <a:path w="36829" h="36829">
                  <a:moveTo>
                    <a:pt x="0" y="36258"/>
                  </a:moveTo>
                  <a:lnTo>
                    <a:pt x="36309" y="0"/>
                  </a:lnTo>
                </a:path>
              </a:pathLst>
            </a:custGeom>
            <a:ln w="7494">
              <a:solidFill>
                <a:srgbClr val="3A3535"/>
              </a:solidFill>
            </a:ln>
          </p:spPr>
          <p:txBody>
            <a:bodyPr wrap="square" lIns="0" tIns="0" rIns="0" bIns="0" rtlCol="0"/>
            <a:lstStyle/>
            <a:p>
              <a:endParaRPr/>
            </a:p>
          </p:txBody>
        </p:sp>
        <p:sp>
          <p:nvSpPr>
            <p:cNvPr id="14" name="object 14"/>
            <p:cNvSpPr/>
            <p:nvPr/>
          </p:nvSpPr>
          <p:spPr>
            <a:xfrm>
              <a:off x="5885751" y="3680256"/>
              <a:ext cx="635" cy="127635"/>
            </a:xfrm>
            <a:custGeom>
              <a:avLst/>
              <a:gdLst/>
              <a:ahLst/>
              <a:cxnLst/>
              <a:rect l="l" t="t" r="r" b="b"/>
              <a:pathLst>
                <a:path w="635" h="127635">
                  <a:moveTo>
                    <a:pt x="0" y="127508"/>
                  </a:moveTo>
                  <a:lnTo>
                    <a:pt x="114" y="0"/>
                  </a:lnTo>
                </a:path>
              </a:pathLst>
            </a:custGeom>
            <a:ln w="7494">
              <a:solidFill>
                <a:srgbClr val="3A3535"/>
              </a:solidFill>
            </a:ln>
          </p:spPr>
          <p:txBody>
            <a:bodyPr wrap="square" lIns="0" tIns="0" rIns="0" bIns="0" rtlCol="0"/>
            <a:lstStyle/>
            <a:p>
              <a:endParaRPr/>
            </a:p>
          </p:txBody>
        </p:sp>
        <p:sp>
          <p:nvSpPr>
            <p:cNvPr id="15" name="object 15"/>
            <p:cNvSpPr/>
            <p:nvPr/>
          </p:nvSpPr>
          <p:spPr>
            <a:xfrm>
              <a:off x="5885865" y="3680256"/>
              <a:ext cx="36830" cy="37465"/>
            </a:xfrm>
            <a:custGeom>
              <a:avLst/>
              <a:gdLst/>
              <a:ahLst/>
              <a:cxnLst/>
              <a:rect l="l" t="t" r="r" b="b"/>
              <a:pathLst>
                <a:path w="36829" h="37464">
                  <a:moveTo>
                    <a:pt x="36525" y="36906"/>
                  </a:moveTo>
                  <a:lnTo>
                    <a:pt x="0" y="0"/>
                  </a:lnTo>
                </a:path>
              </a:pathLst>
            </a:custGeom>
            <a:ln w="7494">
              <a:solidFill>
                <a:srgbClr val="3A3535"/>
              </a:solidFill>
            </a:ln>
          </p:spPr>
          <p:txBody>
            <a:bodyPr wrap="square" lIns="0" tIns="0" rIns="0" bIns="0" rtlCol="0"/>
            <a:lstStyle/>
            <a:p>
              <a:endParaRPr/>
            </a:p>
          </p:txBody>
        </p:sp>
        <p:sp>
          <p:nvSpPr>
            <p:cNvPr id="16" name="object 16"/>
            <p:cNvSpPr/>
            <p:nvPr/>
          </p:nvSpPr>
          <p:spPr>
            <a:xfrm>
              <a:off x="5826671" y="3638549"/>
              <a:ext cx="59690" cy="59055"/>
            </a:xfrm>
            <a:custGeom>
              <a:avLst/>
              <a:gdLst/>
              <a:ahLst/>
              <a:cxnLst/>
              <a:rect l="l" t="t" r="r" b="b"/>
              <a:pathLst>
                <a:path w="59689" h="59054">
                  <a:moveTo>
                    <a:pt x="0" y="58889"/>
                  </a:moveTo>
                  <a:lnTo>
                    <a:pt x="59232" y="0"/>
                  </a:lnTo>
                </a:path>
              </a:pathLst>
            </a:custGeom>
            <a:ln w="7494">
              <a:solidFill>
                <a:srgbClr val="3A3535"/>
              </a:solidFill>
            </a:ln>
          </p:spPr>
          <p:txBody>
            <a:bodyPr wrap="square" lIns="0" tIns="0" rIns="0" bIns="0" rtlCol="0"/>
            <a:lstStyle/>
            <a:p>
              <a:endParaRPr/>
            </a:p>
          </p:txBody>
        </p:sp>
        <p:sp>
          <p:nvSpPr>
            <p:cNvPr id="17" name="object 17"/>
            <p:cNvSpPr/>
            <p:nvPr/>
          </p:nvSpPr>
          <p:spPr>
            <a:xfrm>
              <a:off x="5885903" y="3638549"/>
              <a:ext cx="58419" cy="58419"/>
            </a:xfrm>
            <a:custGeom>
              <a:avLst/>
              <a:gdLst/>
              <a:ahLst/>
              <a:cxnLst/>
              <a:rect l="l" t="t" r="r" b="b"/>
              <a:pathLst>
                <a:path w="58420" h="58420">
                  <a:moveTo>
                    <a:pt x="58089" y="57835"/>
                  </a:moveTo>
                  <a:lnTo>
                    <a:pt x="0" y="0"/>
                  </a:lnTo>
                </a:path>
              </a:pathLst>
            </a:custGeom>
            <a:ln w="7494">
              <a:solidFill>
                <a:srgbClr val="3A3535"/>
              </a:solidFill>
            </a:ln>
          </p:spPr>
          <p:txBody>
            <a:bodyPr wrap="square" lIns="0" tIns="0" rIns="0" bIns="0" rtlCol="0"/>
            <a:lstStyle/>
            <a:p>
              <a:endParaRPr/>
            </a:p>
          </p:txBody>
        </p:sp>
      </p:grpSp>
      <p:sp>
        <p:nvSpPr>
          <p:cNvPr id="18" name="object 18"/>
          <p:cNvSpPr/>
          <p:nvPr/>
        </p:nvSpPr>
        <p:spPr>
          <a:xfrm>
            <a:off x="5800725"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9" name="object 19"/>
          <p:cNvSpPr txBox="1"/>
          <p:nvPr/>
        </p:nvSpPr>
        <p:spPr>
          <a:xfrm>
            <a:off x="5786831" y="3954975"/>
            <a:ext cx="5061585" cy="558800"/>
          </a:xfrm>
          <a:prstGeom prst="rect">
            <a:avLst/>
          </a:prstGeom>
        </p:spPr>
        <p:txBody>
          <a:bodyPr vert="horz" wrap="square" lIns="0" tIns="11430" rIns="0" bIns="0" rtlCol="0">
            <a:spAutoFit/>
          </a:bodyPr>
          <a:lstStyle/>
          <a:p>
            <a:pPr marL="12700" marR="5080">
              <a:lnSpc>
                <a:spcPct val="134600"/>
              </a:lnSpc>
              <a:spcBef>
                <a:spcPts val="90"/>
              </a:spcBef>
            </a:pPr>
            <a:r>
              <a:rPr sz="1300" spc="80" dirty="0">
                <a:solidFill>
                  <a:srgbClr val="3A3535"/>
                </a:solidFill>
                <a:latin typeface="Century Gothic"/>
                <a:cs typeface="Century Gothic"/>
              </a:rPr>
              <a:t>SelfHelp</a:t>
            </a:r>
            <a:r>
              <a:rPr sz="1300" spc="-10" dirty="0">
                <a:solidFill>
                  <a:srgbClr val="3A3535"/>
                </a:solidFill>
                <a:latin typeface="Century Gothic"/>
                <a:cs typeface="Century Gothic"/>
              </a:rPr>
              <a:t> </a:t>
            </a:r>
            <a:r>
              <a:rPr sz="1300" spc="85" dirty="0">
                <a:solidFill>
                  <a:srgbClr val="3A3535"/>
                </a:solidFill>
                <a:latin typeface="Century Gothic"/>
                <a:cs typeface="Century Gothic"/>
              </a:rPr>
              <a:t>2</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10" dirty="0">
                <a:solidFill>
                  <a:srgbClr val="3A3535"/>
                </a:solidFill>
                <a:latin typeface="Century Gothic"/>
                <a:cs typeface="Century Gothic"/>
              </a:rPr>
              <a:t> make</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even</a:t>
            </a:r>
            <a:r>
              <a:rPr sz="1300" spc="-5" dirty="0">
                <a:solidFill>
                  <a:srgbClr val="3A3535"/>
                </a:solidFill>
                <a:latin typeface="Century Gothic"/>
                <a:cs typeface="Century Gothic"/>
              </a:rPr>
              <a:t> </a:t>
            </a:r>
            <a:r>
              <a:rPr sz="1300" dirty="0">
                <a:solidFill>
                  <a:srgbClr val="3A3535"/>
                </a:solidFill>
                <a:latin typeface="Century Gothic"/>
                <a:cs typeface="Century Gothic"/>
              </a:rPr>
              <a:t>more</a:t>
            </a:r>
            <a:r>
              <a:rPr sz="1300" spc="-5"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10"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extend</a:t>
            </a:r>
            <a:endParaRPr sz="1300">
              <a:latin typeface="Century Gothic"/>
              <a:cs typeface="Century Gothi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534598" y="1526296"/>
            <a:ext cx="2361565" cy="1149985"/>
          </a:xfrm>
          <a:prstGeom prst="rect">
            <a:avLst/>
          </a:prstGeom>
        </p:spPr>
        <p:txBody>
          <a:bodyPr vert="horz" wrap="square" lIns="0" tIns="181610" rIns="0" bIns="0" rtlCol="0">
            <a:spAutoFit/>
          </a:bodyPr>
          <a:lstStyle/>
          <a:p>
            <a:pPr algn="ctr">
              <a:lnSpc>
                <a:spcPct val="100000"/>
              </a:lnSpc>
              <a:spcBef>
                <a:spcPts val="1430"/>
              </a:spcBef>
            </a:pPr>
            <a:r>
              <a:rPr spc="-250" dirty="0"/>
              <a:t>Thank</a:t>
            </a:r>
            <a:r>
              <a:rPr spc="-395" dirty="0"/>
              <a:t> </a:t>
            </a:r>
            <a:r>
              <a:rPr spc="-280" dirty="0"/>
              <a:t>You</a:t>
            </a:r>
          </a:p>
          <a:p>
            <a:pPr algn="ctr">
              <a:lnSpc>
                <a:spcPct val="100000"/>
              </a:lnSpc>
              <a:spcBef>
                <a:spcPts val="800"/>
              </a:spcBef>
            </a:pPr>
            <a:r>
              <a:rPr sz="2100" spc="-10" dirty="0"/>
              <a:t>Questions?</a:t>
            </a:r>
            <a:endParaRPr sz="2100"/>
          </a:p>
        </p:txBody>
      </p:sp>
      <p:sp>
        <p:nvSpPr>
          <p:cNvPr id="3" name="object 3"/>
          <p:cNvSpPr txBox="1"/>
          <p:nvPr/>
        </p:nvSpPr>
        <p:spPr>
          <a:xfrm>
            <a:off x="4529683" y="4490618"/>
            <a:ext cx="2371725" cy="187960"/>
          </a:xfrm>
          <a:prstGeom prst="rect">
            <a:avLst/>
          </a:prstGeom>
        </p:spPr>
        <p:txBody>
          <a:bodyPr vert="horz" wrap="square" lIns="0" tIns="14604" rIns="0" bIns="0" rtlCol="0">
            <a:spAutoFit/>
          </a:bodyPr>
          <a:lstStyle/>
          <a:p>
            <a:pPr marL="12700">
              <a:lnSpc>
                <a:spcPct val="100000"/>
              </a:lnSpc>
              <a:spcBef>
                <a:spcPts val="114"/>
              </a:spcBef>
            </a:pPr>
            <a:r>
              <a:rPr sz="1050" dirty="0">
                <a:solidFill>
                  <a:srgbClr val="3A3535"/>
                </a:solidFill>
                <a:latin typeface="Century Gothic"/>
                <a:cs typeface="Century Gothic"/>
              </a:rPr>
              <a:t>Stefan</a:t>
            </a:r>
            <a:r>
              <a:rPr sz="1050" spc="80" dirty="0">
                <a:solidFill>
                  <a:srgbClr val="3A3535"/>
                </a:solidFill>
                <a:latin typeface="Century Gothic"/>
                <a:cs typeface="Century Gothic"/>
              </a:rPr>
              <a:t> </a:t>
            </a:r>
            <a:r>
              <a:rPr sz="1050" dirty="0">
                <a:solidFill>
                  <a:srgbClr val="3A3535"/>
                </a:solidFill>
                <a:latin typeface="Century Gothic"/>
                <a:cs typeface="Century Gothic"/>
              </a:rPr>
              <a:t>Kodzhabashev</a:t>
            </a:r>
            <a:r>
              <a:rPr sz="1050" spc="85" dirty="0">
                <a:solidFill>
                  <a:srgbClr val="3A3535"/>
                </a:solidFill>
                <a:latin typeface="Century Gothic"/>
                <a:cs typeface="Century Gothic"/>
              </a:rPr>
              <a:t> </a:t>
            </a:r>
            <a:r>
              <a:rPr sz="1050" spc="-85" dirty="0">
                <a:solidFill>
                  <a:srgbClr val="3A3535"/>
                </a:solidFill>
                <a:latin typeface="Century Gothic"/>
                <a:cs typeface="Century Gothic"/>
              </a:rPr>
              <a:t>·</a:t>
            </a:r>
            <a:r>
              <a:rPr sz="1050" spc="85" dirty="0">
                <a:solidFill>
                  <a:srgbClr val="3A3535"/>
                </a:solidFill>
                <a:latin typeface="Century Gothic"/>
                <a:cs typeface="Century Gothic"/>
              </a:rPr>
              <a:t> </a:t>
            </a:r>
            <a:r>
              <a:rPr sz="1050" spc="75" dirty="0">
                <a:solidFill>
                  <a:srgbClr val="3A3535"/>
                </a:solidFill>
                <a:latin typeface="Century Gothic"/>
                <a:cs typeface="Century Gothic"/>
              </a:rPr>
              <a:t>30.03.2026</a:t>
            </a:r>
            <a:endParaRPr sz="1050">
              <a:latin typeface="Century Gothic"/>
              <a:cs typeface="Century Gothic"/>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104</TotalTime>
  <Words>2010</Words>
  <Application>Microsoft Office PowerPoint</Application>
  <PresentationFormat>Custom</PresentationFormat>
  <Paragraphs>240</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Calibri</vt:lpstr>
      <vt:lpstr>Century Gothic</vt:lpstr>
      <vt:lpstr>Segoe UI Symbol</vt:lpstr>
      <vt:lpstr>Verdana</vt:lpstr>
      <vt:lpstr>Office Theme</vt:lpstr>
      <vt:lpstr>SelfHelp</vt:lpstr>
      <vt:lpstr>What SelfHelp Is</vt:lpstr>
      <vt:lpstr>How SelfHelp Evolved</vt:lpstr>
      <vt:lpstr>What Teams Can Do With It</vt:lpstr>
      <vt:lpstr>How SelfHelp Expands</vt:lpstr>
      <vt:lpstr>Plugin 1: SurveyJS</vt:lpstr>
      <vt:lpstr>Plugin 2: LLM</vt:lpstr>
      <vt:lpstr>Plugin 3: LLM Therapy Chat</vt:lpstr>
      <vt:lpstr>Mobile App</vt:lpstr>
      <vt:lpstr>How SelfHelp Compares</vt:lpstr>
      <vt:lpstr>Why Use SelfHelp</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Kodzhabashev, Stefan Tiholov (HUMDEK)</cp:lastModifiedBy>
  <cp:revision>16</cp:revision>
  <dcterms:created xsi:type="dcterms:W3CDTF">2026-03-24T15:22:41Z</dcterms:created>
  <dcterms:modified xsi:type="dcterms:W3CDTF">2026-03-25T15:32:49Z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2026-03-24T00:00:00Z</vt:filetime>
  </property>
  <property fmtid="{D5CDD505-2E9C-101B-9397-08002B2CF9AE}" pid="3" name="Creator">
    <vt:lpwstr>pdf-lib (https://github.com/Hopding/pdf-lib)</vt:lpwstr>
  </property>
  <property fmtid="{D5CDD505-2E9C-101B-9397-08002B2CF9AE}" pid="4" name="LastSaved">
    <vt:filetime>2026-03-24T00:00:00Z</vt:filetime>
  </property>
  <property fmtid="{D5CDD505-2E9C-101B-9397-08002B2CF9AE}" pid="5" name="Producer">
    <vt:lpwstr>GPL Ghostscript 9.56.1</vt:lpwstr>
  </property>
</Properties>
</file>