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Lst>
  <p:sldSz cx="11430000" cy="6445250"/>
  <p:notesSz cx="11430000" cy="64452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0897" autoAdjust="0"/>
  </p:normalViewPr>
  <p:slideViewPr>
    <p:cSldViewPr>
      <p:cViewPr varScale="1">
        <p:scale>
          <a:sx n="30" d="100"/>
          <a:sy n="30" d="100"/>
        </p:scale>
        <p:origin x="3148" y="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444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Hallo everyone, for those who does not know me, my name is Stefan Kodzhabashev, I am research software engineer and I work in TPF.</a:t>
            </a:r>
          </a:p>
          <a:p>
            <a:endParaRPr lang="en-US" dirty="0"/>
          </a:p>
          <a:p>
            <a:r>
              <a:rPr lang="en-US" dirty="0"/>
              <a:t>Some of you may remember that I already gave a presentation about </a:t>
            </a:r>
            <a:r>
              <a:rPr lang="en-US" dirty="0" err="1"/>
              <a:t>SelfHelp</a:t>
            </a:r>
            <a:r>
              <a:rPr lang="en-US" dirty="0"/>
              <a:t> some years ago, back in 2021.</a:t>
            </a:r>
          </a:p>
          <a:p>
            <a:endParaRPr lang="en-US" dirty="0"/>
          </a:p>
          <a:p>
            <a:r>
              <a:rPr lang="en-US" dirty="0"/>
              <a:t>At that time, the system was still much simpler. It was mainly a website builder. Today, I want to show you how it changed, and what it can do now.</a:t>
            </a:r>
          </a:p>
          <a:p>
            <a:endParaRPr lang="en-US" dirty="0"/>
          </a:p>
          <a:p>
            <a:r>
              <a:rPr lang="en-US" dirty="0"/>
              <a:t>The main idea is not only to build pages. The idea is to connect different digital needs that we have in research, teaching, support, and intervention work, and bring them together in one system.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what is </a:t>
            </a:r>
            <a:r>
              <a:rPr lang="en-US" dirty="0" err="1"/>
              <a:t>SelfHelp</a:t>
            </a:r>
            <a:r>
              <a:rPr lang="en-US" dirty="0"/>
              <a:t> today?</a:t>
            </a:r>
          </a:p>
          <a:p>
            <a:endParaRPr lang="en-US" dirty="0"/>
          </a:p>
          <a:p>
            <a:r>
              <a:rPr lang="en-US" dirty="0"/>
              <a:t>I would not describe it only as a website tool. For me, it is more a platform that connects different digital problems with practical solutions.</a:t>
            </a:r>
          </a:p>
          <a:p>
            <a:endParaRPr lang="en-US" dirty="0"/>
          </a:p>
          <a:p>
            <a:r>
              <a:rPr lang="en-US" dirty="0"/>
              <a:t>Very often, in a project, one part is in one system, another part is somewhere else, and communication is in a third place. For example, content is separated from surveys, surveys are separated from follow-up, and data is separated from the actual user journey.</a:t>
            </a:r>
          </a:p>
          <a:p>
            <a:endParaRPr lang="en-US" dirty="0"/>
          </a:p>
          <a:p>
            <a:r>
              <a:rPr lang="en-US" dirty="0" err="1"/>
              <a:t>SelfHelp</a:t>
            </a:r>
            <a:r>
              <a:rPr lang="en-US" dirty="0"/>
              <a:t> tries to bring these things together. It connects content, data, workflows, communication, and mobile use in one environment.</a:t>
            </a:r>
          </a:p>
          <a:p>
            <a:endParaRPr lang="en-US" dirty="0"/>
          </a:p>
          <a:p>
            <a:r>
              <a:rPr lang="en-US" dirty="0"/>
              <a:t>This is also important for the university, because the system can run locally, so the university keeps control over the data and how the system is managed.</a:t>
            </a:r>
          </a:p>
          <a:p>
            <a:endParaRPr lang="en-US"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If we look back to 2021, when I first presented </a:t>
            </a:r>
            <a:r>
              <a:rPr lang="en-US" dirty="0" err="1"/>
              <a:t>SelfHelp</a:t>
            </a:r>
            <a:r>
              <a:rPr lang="en-US" dirty="0"/>
              <a:t>, it was mostly a website builder. The focus was clearly on content and page building.</a:t>
            </a:r>
          </a:p>
          <a:p>
            <a:endParaRPr lang="en-US" dirty="0"/>
          </a:p>
          <a:p>
            <a:r>
              <a:rPr lang="en-US" dirty="0"/>
              <a:t>After that, the system slowly became more flexible. We added modular pages, scheduling, and mobile support.</a:t>
            </a:r>
          </a:p>
          <a:p>
            <a:endParaRPr lang="en-US" dirty="0"/>
          </a:p>
          <a:p>
            <a:r>
              <a:rPr lang="en-US" dirty="0"/>
              <a:t>Then later, the focus became broader. We improved the data model, permissions, security, background processing, and other things that are important when a system becomes larger and more serious.</a:t>
            </a:r>
          </a:p>
          <a:p>
            <a:endParaRPr lang="en-US" dirty="0"/>
          </a:p>
          <a:p>
            <a:r>
              <a:rPr lang="en-US" dirty="0"/>
              <a:t>And now we are at another step again, because today we also have AI support, but in a controlled and testable way, and not only as a simple chatbot.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what can you actually do with it?</a:t>
            </a:r>
          </a:p>
          <a:p>
            <a:endParaRPr lang="en-US" dirty="0"/>
          </a:p>
          <a:p>
            <a:r>
              <a:rPr lang="en-US" dirty="0"/>
              <a:t>If you run a study, a course, an intervention, or some other guided digital program, usually one page or one form is not enough. You need a process that continues over time.</a:t>
            </a:r>
          </a:p>
          <a:p>
            <a:endParaRPr lang="en-US" dirty="0"/>
          </a:p>
          <a:p>
            <a:r>
              <a:rPr lang="en-US" dirty="0"/>
              <a:t>For example, you may want to guide people into the program, collect data at different moments, change what they see, randomize them into different conditions, and send follow-up steps later.</a:t>
            </a:r>
          </a:p>
          <a:p>
            <a:endParaRPr lang="en-US" dirty="0"/>
          </a:p>
          <a:p>
            <a:r>
              <a:rPr lang="en-US" dirty="0"/>
              <a:t>This is possible in </a:t>
            </a:r>
            <a:r>
              <a:rPr lang="en-US" dirty="0" err="1"/>
              <a:t>SelfHelp</a:t>
            </a:r>
            <a:r>
              <a:rPr lang="en-US" dirty="0"/>
              <a:t>.</a:t>
            </a:r>
          </a:p>
          <a:p>
            <a:endParaRPr lang="en-US" dirty="0"/>
          </a:p>
          <a:p>
            <a:r>
              <a:rPr lang="en-US" dirty="0"/>
              <a:t>You can set up baseline and follow-up sessions, plan repeated sessions, and control when and how often something should happen. This is useful both for research and for practical programs.</a:t>
            </a:r>
          </a:p>
          <a:p>
            <a:endParaRPr lang="en-US" dirty="0"/>
          </a:p>
          <a:p>
            <a:r>
              <a:rPr lang="en-US" dirty="0"/>
              <a:t>So the main point is simple: </a:t>
            </a:r>
            <a:r>
              <a:rPr lang="en-US" dirty="0" err="1"/>
              <a:t>SelfHelp</a:t>
            </a:r>
            <a:r>
              <a:rPr lang="en-US" dirty="0"/>
              <a:t> is not only for one single step. It can support a full process over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One important idea in </a:t>
            </a:r>
            <a:r>
              <a:rPr lang="en-US" dirty="0" err="1"/>
              <a:t>SelfHelp</a:t>
            </a:r>
            <a:r>
              <a:rPr lang="en-US" dirty="0"/>
              <a:t> is that new functions are added through plugins.</a:t>
            </a:r>
          </a:p>
          <a:p>
            <a:endParaRPr lang="en-US" dirty="0"/>
          </a:p>
          <a:p>
            <a:r>
              <a:rPr lang="en-US" dirty="0"/>
              <a:t>These are usually functions that are quite different from the core system.</a:t>
            </a:r>
          </a:p>
          <a:p>
            <a:endParaRPr lang="en-US" dirty="0"/>
          </a:p>
          <a:p>
            <a:r>
              <a:rPr lang="en-US" dirty="0"/>
              <a:t>This is useful for development, because it keeps the code cleaner and better organized. It also keeps an installation lighter. If a project does not need some features, they do not have to be included.</a:t>
            </a:r>
          </a:p>
          <a:p>
            <a:endParaRPr lang="en-US" dirty="0"/>
          </a:p>
          <a:p>
            <a:r>
              <a:rPr lang="en-US" dirty="0"/>
              <a:t>In the next few slides, I would like to focus on 3 of these plugins: </a:t>
            </a:r>
            <a:r>
              <a:rPr lang="en-US" dirty="0" err="1"/>
              <a:t>SurveyJS</a:t>
            </a:r>
            <a:r>
              <a:rPr lang="en-US" dirty="0"/>
              <a:t>, LLM, and LLM Therapy Chat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first plugin is </a:t>
            </a:r>
            <a:r>
              <a:rPr lang="en-US" dirty="0" err="1"/>
              <a:t>SurveyJS</a:t>
            </a:r>
            <a:r>
              <a:rPr lang="en-US" dirty="0"/>
              <a:t>.</a:t>
            </a:r>
          </a:p>
          <a:p>
            <a:endParaRPr lang="en-US" dirty="0"/>
          </a:p>
          <a:p>
            <a:r>
              <a:rPr lang="en-US" dirty="0"/>
              <a:t>Here the main idea is that we move from simple forms to real surveys that are part of a bigger process.</a:t>
            </a:r>
          </a:p>
          <a:p>
            <a:endParaRPr lang="en-US" dirty="0"/>
          </a:p>
          <a:p>
            <a:r>
              <a:rPr lang="en-US" dirty="0"/>
              <a:t>So this is not only one page with some questions. Surveys can have different versions, can appear at planned times, can be changed later, and can be connected to dashboards. They can also be used in repeated studies over time.</a:t>
            </a:r>
          </a:p>
          <a:p>
            <a:endParaRPr lang="en-US" dirty="0"/>
          </a:p>
          <a:p>
            <a:r>
              <a:rPr lang="en-US" dirty="0"/>
              <a:t>For example, you can define a baseline survey, later follow-up surveys, or diary-style surveys that appear again and again. You can also control things like once per user, once per schedule, timeout behavior, and edit mode. This is helpful when a survey should come back later, or when someone should continue or update an earlier answer.</a:t>
            </a:r>
          </a:p>
          <a:p>
            <a:endParaRPr lang="en-US" dirty="0"/>
          </a:p>
          <a:p>
            <a:r>
              <a:rPr lang="en-US" dirty="0"/>
              <a:t>There are also practical features that are useful in real studies. Users can upload files, record voice, and continue later because of autosave. The system also stores timing information, like when a survey started, when it ended, how long it took, and which pages were used. So you get more than only the final answers.</a:t>
            </a:r>
          </a:p>
          <a:p>
            <a:endParaRPr lang="en-US" dirty="0"/>
          </a:p>
          <a:p>
            <a:r>
              <a:rPr lang="en-US" dirty="0"/>
              <a:t>There is also support for dynamic values, dynamic replacement, dropdown values from other sources, dashboards, versioning, and safer handling of saving and navigation. So overall, the plugin is not only about asking questions. It is about managing survey-based data collection in a much more structured way.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second plugin is the LLM plugin.</a:t>
            </a:r>
          </a:p>
          <a:p>
            <a:endParaRPr lang="en-US" dirty="0"/>
          </a:p>
          <a:p>
            <a:r>
              <a:rPr lang="en-US" dirty="0"/>
              <a:t>I think most people here already know what an LLM is, so the interesting part is not the general idea of AI, but how we use it inside the system.</a:t>
            </a:r>
          </a:p>
          <a:p>
            <a:endParaRPr lang="en-US" dirty="0"/>
          </a:p>
          <a:p>
            <a:r>
              <a:rPr lang="en-US" dirty="0"/>
              <a:t>The important point is this: the AI does not only get the text that the user writes. It can also get extra information from the system.</a:t>
            </a:r>
          </a:p>
          <a:p>
            <a:endParaRPr lang="en-US" dirty="0"/>
          </a:p>
          <a:p>
            <a:r>
              <a:rPr lang="en-US" dirty="0"/>
              <a:t>This is where prompt and context become important.</a:t>
            </a:r>
          </a:p>
          <a:p>
            <a:endParaRPr lang="en-US" dirty="0"/>
          </a:p>
          <a:p>
            <a:r>
              <a:rPr lang="en-US" dirty="0"/>
              <a:t>A prompt is the instruction we give to the AI. It tells the AI what kind of task it should do.</a:t>
            </a:r>
          </a:p>
          <a:p>
            <a:endParaRPr lang="en-US" dirty="0"/>
          </a:p>
          <a:p>
            <a:r>
              <a:rPr lang="en-US" dirty="0"/>
              <a:t>For example, we can tell it: “Explain this text in simple language for first-year students.”</a:t>
            </a:r>
          </a:p>
          <a:p>
            <a:endParaRPr lang="en-US" dirty="0"/>
          </a:p>
          <a:p>
            <a:r>
              <a:rPr lang="en-US" dirty="0"/>
              <a:t>That is the prompt.</a:t>
            </a:r>
          </a:p>
          <a:p>
            <a:endParaRPr lang="en-US" dirty="0"/>
          </a:p>
          <a:p>
            <a:r>
              <a:rPr lang="en-US" dirty="0"/>
              <a:t>But then we also give context.</a:t>
            </a:r>
          </a:p>
          <a:p>
            <a:endParaRPr lang="en-US" dirty="0"/>
          </a:p>
          <a:p>
            <a:r>
              <a:rPr lang="en-US" dirty="0"/>
              <a:t>Context means extra information around the task. For example, we can tell the AI who the user is, what happened before, what the current step is, or what data was already entered earlier.</a:t>
            </a:r>
          </a:p>
          <a:p>
            <a:endParaRPr lang="en-US" dirty="0"/>
          </a:p>
          <a:p>
            <a:r>
              <a:rPr lang="en-US" dirty="0"/>
              <a:t>So the AI does not only see one sentence. It sees the situation around that sentence.</a:t>
            </a:r>
          </a:p>
          <a:p>
            <a:endParaRPr lang="en-US" dirty="0"/>
          </a:p>
          <a:p>
            <a:r>
              <a:rPr lang="en-US" dirty="0"/>
              <a:t>And this changes the result.</a:t>
            </a:r>
          </a:p>
          <a:p>
            <a:endParaRPr lang="en-US" dirty="0"/>
          </a:p>
          <a:p>
            <a:r>
              <a:rPr lang="en-US" dirty="0"/>
              <a:t>For example, imagine a user writes: “I do not understand this.”</a:t>
            </a:r>
          </a:p>
          <a:p>
            <a:br>
              <a:rPr lang="en-US" dirty="0"/>
            </a:br>
            <a:r>
              <a:rPr lang="en-US" dirty="0"/>
              <a:t>If the AI only sees this one sentence, the answer may stay general.</a:t>
            </a:r>
          </a:p>
          <a:p>
            <a:br>
              <a:rPr lang="en-US" dirty="0"/>
            </a:br>
            <a:r>
              <a:rPr lang="en-US" dirty="0"/>
              <a:t>But if the system also sends the previous task, the user role, and the page context, then the AI can answer in a much more useful way.</a:t>
            </a:r>
          </a:p>
          <a:p>
            <a:endParaRPr lang="en-US" dirty="0"/>
          </a:p>
          <a:p>
            <a:r>
              <a:rPr lang="en-US" dirty="0"/>
              <a:t>So in simple words:</a:t>
            </a:r>
          </a:p>
          <a:p>
            <a:br>
              <a:rPr lang="en-US" dirty="0"/>
            </a:br>
            <a:r>
              <a:rPr lang="en-US" dirty="0"/>
              <a:t>the prompt says what to do,</a:t>
            </a:r>
          </a:p>
          <a:p>
            <a:br>
              <a:rPr lang="en-US" dirty="0"/>
            </a:br>
            <a:r>
              <a:rPr lang="en-US" dirty="0"/>
              <a:t>the context says what the situation is,</a:t>
            </a:r>
          </a:p>
          <a:p>
            <a:br>
              <a:rPr lang="en-US" dirty="0"/>
            </a:br>
            <a:r>
              <a:rPr lang="en-US" dirty="0"/>
              <a:t>and together they shape the result.</a:t>
            </a:r>
          </a:p>
          <a:p>
            <a:endParaRPr lang="en-US" dirty="0"/>
          </a:p>
          <a:p>
            <a:r>
              <a:rPr lang="en-US" dirty="0"/>
              <a:t>In our system, this is not random. We can test prompts, compare versions, replay examples, and evaluate what works better before using it in practice.</a:t>
            </a:r>
          </a:p>
          <a:p>
            <a:endParaRPr lang="en-US" dirty="0"/>
          </a:p>
          <a:p>
            <a:r>
              <a:rPr lang="en-US" dirty="0"/>
              <a:t>And now we also have memory-related functions. This means the system can keep selected information over time and use it again later, based on rules. So the AI part becomes more structured, more useful, and also more controllable.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third plugin is the therapy chat.</a:t>
            </a:r>
          </a:p>
          <a:p>
            <a:endParaRPr lang="en-US" dirty="0"/>
          </a:p>
          <a:p>
            <a:r>
              <a:rPr lang="en-US" dirty="0"/>
              <a:t>This plugin combines AI-supported communication with human supervision in one shared framework.</a:t>
            </a:r>
          </a:p>
          <a:p>
            <a:endParaRPr lang="en-US" dirty="0"/>
          </a:p>
          <a:p>
            <a:r>
              <a:rPr lang="en-US" dirty="0"/>
              <a:t>From the user side, it is very simple. The user has a chat interface. They always know whether they are interacting with AI or with a human, and this is of course very important.</a:t>
            </a:r>
          </a:p>
          <a:p>
            <a:endParaRPr lang="en-US" dirty="0"/>
          </a:p>
          <a:p>
            <a:r>
              <a:rPr lang="en-US" dirty="0"/>
              <a:t>From the professional side, there is a therapist dashboard. There, therapists can monitor conversations, receive alerts, read summaries, write notes, create drafts, and step in directly when needed.</a:t>
            </a:r>
          </a:p>
          <a:p>
            <a:endParaRPr lang="en-US" dirty="0"/>
          </a:p>
          <a:p>
            <a:r>
              <a:rPr lang="en-US" dirty="0"/>
              <a:t>This is useful not only for service delivery, but also for research, because the same framework can also run in human-only mode. That means you can compare different communication settings in a controlled way.</a:t>
            </a:r>
          </a:p>
          <a:p>
            <a:endParaRPr lang="en-US" dirty="0"/>
          </a:p>
          <a:p>
            <a:r>
              <a:rPr lang="en-US" dirty="0"/>
              <a:t>There are also safety-related functions. For example, risk detection, alerts, pausing conversations, switching to human-only handling, and notification workflows. So again, the point is not just chat. The point is structured communication, supervision, and control.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Another important part is the mobile application.</a:t>
            </a:r>
          </a:p>
          <a:p>
            <a:endParaRPr lang="en-US" dirty="0"/>
          </a:p>
          <a:p>
            <a:r>
              <a:rPr lang="en-US" dirty="0"/>
              <a:t>This matters because many digital programs do not work well if they only live on the desktop. In real life, people answer, react, and engage during the day, while they are moving, waiting, or just living normal life.</a:t>
            </a:r>
          </a:p>
          <a:p>
            <a:endParaRPr lang="en-US" dirty="0"/>
          </a:p>
          <a:p>
            <a:r>
              <a:rPr lang="en-US" dirty="0"/>
              <a:t>So with the mobile app, the same program logic can continue on the phone.</a:t>
            </a:r>
          </a:p>
          <a:p>
            <a:endParaRPr lang="en-US" dirty="0"/>
          </a:p>
          <a:p>
            <a:r>
              <a:rPr lang="en-US" dirty="0"/>
              <a:t>Users can answer surveys, use AI chat or therapy chat, receive push notifications, and also use camera, microphone, and voice input.</a:t>
            </a:r>
          </a:p>
          <a:p>
            <a:endParaRPr lang="en-US" dirty="0"/>
          </a:p>
          <a:p>
            <a:r>
              <a:rPr lang="en-US" dirty="0"/>
              <a:t>This makes the system much more present in daily life. It is no longer something that people only open once on a laptop. It can become part of an ongoing process.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If we compare </a:t>
            </a:r>
            <a:r>
              <a:rPr lang="en-US" dirty="0" err="1"/>
              <a:t>SelfHelp</a:t>
            </a:r>
            <a:r>
              <a:rPr lang="en-US" dirty="0"/>
              <a:t> with other systems, I think it is important to be fair.</a:t>
            </a:r>
          </a:p>
          <a:p>
            <a:endParaRPr lang="en-US" dirty="0"/>
          </a:p>
          <a:p>
            <a:r>
              <a:rPr lang="en-US" dirty="0"/>
              <a:t>There are strong tools already, like </a:t>
            </a:r>
            <a:r>
              <a:rPr lang="en-US" dirty="0" err="1"/>
              <a:t>LimeSurvey</a:t>
            </a:r>
            <a:r>
              <a:rPr lang="en-US" dirty="0"/>
              <a:t>, Moodle, JATOS, or </a:t>
            </a:r>
            <a:r>
              <a:rPr lang="en-US" dirty="0" err="1"/>
              <a:t>formr</a:t>
            </a:r>
            <a:r>
              <a:rPr lang="en-US" dirty="0"/>
              <a:t>. Each of them is good in its own area.</a:t>
            </a:r>
          </a:p>
          <a:p>
            <a:endParaRPr lang="en-US" dirty="0"/>
          </a:p>
          <a:p>
            <a:r>
              <a:rPr lang="en-US" dirty="0"/>
              <a:t>But usually they focus on one main purpose. One is stronger for surveys, one for online studies, one for learning environments.</a:t>
            </a:r>
          </a:p>
          <a:p>
            <a:endParaRPr lang="en-US" dirty="0"/>
          </a:p>
          <a:p>
            <a:r>
              <a:rPr lang="en-US" dirty="0"/>
              <a:t>What makes </a:t>
            </a:r>
            <a:r>
              <a:rPr lang="en-US" dirty="0" err="1"/>
              <a:t>SelfHelp</a:t>
            </a:r>
            <a:r>
              <a:rPr lang="en-US" dirty="0"/>
              <a:t> different is the connection between the parts.</a:t>
            </a:r>
          </a:p>
          <a:p>
            <a:endParaRPr lang="en-US" dirty="0"/>
          </a:p>
          <a:p>
            <a:r>
              <a:rPr lang="en-US" dirty="0"/>
              <a:t>The strength is not that it replaces every tool in every detail. The strength is that it connects surveys, workflows, follow-up, mobile use, and AI inside one locally controlled environment.</a:t>
            </a:r>
          </a:p>
          <a:p>
            <a:endParaRPr lang="en-US" dirty="0"/>
          </a:p>
          <a:p>
            <a:r>
              <a:rPr lang="en-US" dirty="0"/>
              <a:t>So if somebody needs only one very small function, another tool may be enough. But if somebody wants many connected parts in one system, then </a:t>
            </a:r>
            <a:r>
              <a:rPr lang="en-US" dirty="0" err="1"/>
              <a:t>SelfHelp</a:t>
            </a:r>
            <a:r>
              <a:rPr lang="en-US" dirty="0"/>
              <a:t> becomes more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why use </a:t>
            </a:r>
            <a:r>
              <a:rPr lang="en-US" dirty="0" err="1"/>
              <a:t>SelfHelp</a:t>
            </a:r>
            <a:r>
              <a:rPr lang="en-US" dirty="0"/>
              <a:t>?</a:t>
            </a:r>
          </a:p>
          <a:p>
            <a:endParaRPr lang="en-US" dirty="0"/>
          </a:p>
          <a:p>
            <a:r>
              <a:rPr lang="en-US" dirty="0"/>
              <a:t>I would say the biggest reason is integration.</a:t>
            </a:r>
          </a:p>
          <a:p>
            <a:endParaRPr lang="en-US" dirty="0"/>
          </a:p>
          <a:p>
            <a:r>
              <a:rPr lang="en-US" dirty="0"/>
              <a:t>Instead of splitting everything across many separate tools, you can keep content, data, logic, follow-up, mobile use, and AI in one structure.</a:t>
            </a:r>
          </a:p>
          <a:p>
            <a:endParaRPr dirty="0"/>
          </a:p>
          <a:p>
            <a:r>
              <a:rPr dirty="0"/>
              <a:t>At the same time, </a:t>
            </a:r>
            <a:r>
              <a:rPr dirty="0" err="1"/>
              <a:t>SelfHelp</a:t>
            </a:r>
            <a:r>
              <a:rPr dirty="0"/>
              <a:t> 2 is already well underway. It is not just a redesign. The goal is to make the platform more structured, easier to extend, and faster to build with.</a:t>
            </a:r>
          </a:p>
          <a:p>
            <a:endParaRPr dirty="0"/>
          </a:p>
          <a:p>
            <a:r>
              <a:rPr lang="en-US" dirty="0"/>
              <a:t>One especially promising next step in the new version is AI-supported content creation. That could reduce the time spent building structures manually, and let teams focus more on study design and content quality.</a:t>
            </a:r>
          </a:p>
          <a:p>
            <a:endParaRPr dirty="0"/>
          </a:p>
          <a:p>
            <a:r>
              <a:rPr dirty="0"/>
              <a:t>And if you see value in this direction, especially in the local university AI infrastructure behind it, I would really encourage you to support ID with a short letter of support so that this local LLM service can become a permanent university service.</a:t>
            </a:r>
          </a:p>
          <a:p>
            <a:endParaRPr dirty="0"/>
          </a:p>
          <a:p>
            <a:r>
              <a:rPr dirty="0"/>
              <a:t>The main message I would leave you with is this: </a:t>
            </a:r>
            <a:r>
              <a:rPr dirty="0" err="1"/>
              <a:t>SelfHelp</a:t>
            </a:r>
            <a:r>
              <a:rPr dirty="0"/>
              <a:t> moves us from isolated digital tools to continuous digital programs.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Thank you very much for your attention.</a:t>
            </a:r>
          </a:p>
          <a:p>
            <a:endParaRPr lang="en-US" dirty="0"/>
          </a:p>
          <a:p>
            <a:r>
              <a:rPr lang="en-US" dirty="0"/>
              <a:t>I will be happy to answer questions, and also happy to talk afterwards if someone wants to discuss ideas in more detail.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57250" y="1998027"/>
            <a:ext cx="9715500" cy="1353502"/>
          </a:xfrm>
          <a:prstGeom prst="rect">
            <a:avLst/>
          </a:prstGeom>
        </p:spPr>
        <p:txBody>
          <a:bodyPr wrap="square" lIns="0" tIns="0" rIns="0" bIns="0">
            <a:spAutoFit/>
          </a:bodyPr>
          <a:lstStyle>
            <a:lvl1pPr>
              <a:defRPr sz="3500" b="1" i="0">
                <a:solidFill>
                  <a:srgbClr val="1F1E1E"/>
                </a:solidFill>
                <a:latin typeface="Verdana"/>
                <a:cs typeface="Verdana"/>
              </a:defRPr>
            </a:lvl1pPr>
          </a:lstStyle>
          <a:p>
            <a:endParaRPr/>
          </a:p>
        </p:txBody>
      </p:sp>
      <p:sp>
        <p:nvSpPr>
          <p:cNvPr id="3" name="Holder 3"/>
          <p:cNvSpPr>
            <a:spLocks noGrp="1"/>
          </p:cNvSpPr>
          <p:nvPr>
            <p:ph type="subTitle" idx="4"/>
          </p:nvPr>
        </p:nvSpPr>
        <p:spPr>
          <a:xfrm>
            <a:off x="1714500" y="3609340"/>
            <a:ext cx="8001000" cy="16113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26-Mar-26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1F1E1E"/>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26-Mar-26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1F1E1E"/>
                </a:solidFill>
                <a:latin typeface="Verdana"/>
                <a:cs typeface="Verdana"/>
              </a:defRPr>
            </a:lvl1pPr>
          </a:lstStyle>
          <a:p>
            <a:endParaRPr/>
          </a:p>
        </p:txBody>
      </p:sp>
      <p:sp>
        <p:nvSpPr>
          <p:cNvPr id="3" name="Holder 3"/>
          <p:cNvSpPr>
            <a:spLocks noGrp="1"/>
          </p:cNvSpPr>
          <p:nvPr>
            <p:ph sz="half" idx="2"/>
          </p:nvPr>
        </p:nvSpPr>
        <p:spPr>
          <a:xfrm>
            <a:off x="571500" y="1482407"/>
            <a:ext cx="4972050" cy="425386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871514" y="1886102"/>
            <a:ext cx="4398645" cy="3514090"/>
          </a:xfrm>
          <a:prstGeom prst="rect">
            <a:avLst/>
          </a:prstGeom>
        </p:spPr>
        <p:txBody>
          <a:bodyPr wrap="square" lIns="0" tIns="0" rIns="0" bIns="0">
            <a:spAutoFit/>
          </a:bodyPr>
          <a:lstStyle>
            <a:lvl1pPr>
              <a:defRPr sz="2000" b="1" i="0">
                <a:solidFill>
                  <a:srgbClr val="3A3535"/>
                </a:solidFill>
                <a:latin typeface="Verdana"/>
                <a:cs typeface="Verdan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26-Mar-26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1" i="0">
                <a:solidFill>
                  <a:srgbClr val="1F1E1E"/>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26-Mar-26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26-Mar-26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79640" y="494411"/>
            <a:ext cx="6170295" cy="864869"/>
          </a:xfrm>
          <a:prstGeom prst="rect">
            <a:avLst/>
          </a:prstGeom>
        </p:spPr>
        <p:txBody>
          <a:bodyPr wrap="square" lIns="0" tIns="0" rIns="0" bIns="0">
            <a:spAutoFit/>
          </a:bodyPr>
          <a:lstStyle>
            <a:lvl1pPr>
              <a:defRPr sz="3500" b="1" i="0">
                <a:solidFill>
                  <a:srgbClr val="1F1E1E"/>
                </a:solidFill>
                <a:latin typeface="Verdana"/>
                <a:cs typeface="Verdana"/>
              </a:defRPr>
            </a:lvl1pPr>
          </a:lstStyle>
          <a:p>
            <a:endParaRPr/>
          </a:p>
        </p:txBody>
      </p:sp>
      <p:sp>
        <p:nvSpPr>
          <p:cNvPr id="3" name="Holder 3"/>
          <p:cNvSpPr>
            <a:spLocks noGrp="1"/>
          </p:cNvSpPr>
          <p:nvPr>
            <p:ph type="body" idx="1"/>
          </p:nvPr>
        </p:nvSpPr>
        <p:spPr>
          <a:xfrm>
            <a:off x="571500" y="1482407"/>
            <a:ext cx="10287000" cy="425386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886200" y="5994082"/>
            <a:ext cx="3657600" cy="32226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71500" y="5994082"/>
            <a:ext cx="2628900" cy="32226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26-Mar-26</a:t>
            </a:fld>
            <a:endParaRPr lang="en-US"/>
          </a:p>
        </p:txBody>
      </p:sp>
      <p:sp>
        <p:nvSpPr>
          <p:cNvPr id="6" name="Holder 6"/>
          <p:cNvSpPr>
            <a:spLocks noGrp="1"/>
          </p:cNvSpPr>
          <p:nvPr>
            <p:ph type="sldNum" sz="quarter" idx="7"/>
          </p:nvPr>
        </p:nvSpPr>
        <p:spPr>
          <a:xfrm>
            <a:off x="8229600" y="5994082"/>
            <a:ext cx="2628900" cy="32226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248900" y="676274"/>
            <a:ext cx="685799" cy="685799"/>
          </a:xfrm>
          <a:prstGeom prst="rect">
            <a:avLst/>
          </a:prstGeom>
        </p:spPr>
      </p:pic>
      <p:sp>
        <p:nvSpPr>
          <p:cNvPr id="3" name="object 3" descr="$PPTXTitle"/>
          <p:cNvSpPr txBox="1">
            <a:spLocks noGrp="1"/>
          </p:cNvSpPr>
          <p:nvPr>
            <p:ph type="title"/>
          </p:nvPr>
        </p:nvSpPr>
        <p:spPr>
          <a:xfrm>
            <a:off x="492721" y="2407602"/>
            <a:ext cx="1709420" cy="481965"/>
          </a:xfrm>
          <a:prstGeom prst="rect">
            <a:avLst/>
          </a:prstGeom>
        </p:spPr>
        <p:txBody>
          <a:bodyPr vert="horz" wrap="square" lIns="0" tIns="11430" rIns="0" bIns="0" rtlCol="0">
            <a:spAutoFit/>
          </a:bodyPr>
          <a:lstStyle/>
          <a:p>
            <a:pPr marL="12700">
              <a:lnSpc>
                <a:spcPct val="100000"/>
              </a:lnSpc>
              <a:spcBef>
                <a:spcPts val="90"/>
              </a:spcBef>
            </a:pPr>
            <a:r>
              <a:rPr sz="3000" spc="-100" dirty="0"/>
              <a:t>SelfHelp</a:t>
            </a:r>
            <a:endParaRPr sz="3000" dirty="0"/>
          </a:p>
        </p:txBody>
      </p:sp>
      <p:sp>
        <p:nvSpPr>
          <p:cNvPr id="4" name="object 4"/>
          <p:cNvSpPr txBox="1"/>
          <p:nvPr/>
        </p:nvSpPr>
        <p:spPr>
          <a:xfrm>
            <a:off x="492721" y="3033776"/>
            <a:ext cx="4536479" cy="217367"/>
          </a:xfrm>
          <a:prstGeom prst="rect">
            <a:avLst/>
          </a:prstGeom>
        </p:spPr>
        <p:txBody>
          <a:bodyPr vert="horz" wrap="square" lIns="0" tIns="17145" rIns="0" bIns="0" rtlCol="0">
            <a:spAutoFit/>
          </a:bodyPr>
          <a:lstStyle/>
          <a:p>
            <a:pPr marL="12700">
              <a:lnSpc>
                <a:spcPct val="100000"/>
              </a:lnSpc>
              <a:spcBef>
                <a:spcPts val="135"/>
              </a:spcBef>
            </a:pPr>
            <a:r>
              <a:rPr sz="1300" spc="70" dirty="0">
                <a:solidFill>
                  <a:srgbClr val="3A3535"/>
                </a:solidFill>
                <a:latin typeface="Century Gothic"/>
                <a:cs typeface="Century Gothic"/>
              </a:rPr>
              <a:t>From</a:t>
            </a:r>
            <a:r>
              <a:rPr sz="1300" spc="20" dirty="0">
                <a:solidFill>
                  <a:srgbClr val="3A3535"/>
                </a:solidFill>
                <a:latin typeface="Century Gothic"/>
                <a:cs typeface="Century Gothic"/>
              </a:rPr>
              <a:t> </a:t>
            </a:r>
            <a:r>
              <a:rPr sz="1300" spc="50" dirty="0">
                <a:solidFill>
                  <a:srgbClr val="3A3535"/>
                </a:solidFill>
                <a:latin typeface="Century Gothic"/>
                <a:cs typeface="Century Gothic"/>
              </a:rPr>
              <a:t>website</a:t>
            </a:r>
            <a:r>
              <a:rPr sz="1300" spc="20" dirty="0">
                <a:solidFill>
                  <a:srgbClr val="3A3535"/>
                </a:solidFill>
                <a:latin typeface="Century Gothic"/>
                <a:cs typeface="Century Gothic"/>
              </a:rPr>
              <a:t> </a:t>
            </a:r>
            <a:r>
              <a:rPr sz="1300" spc="80" dirty="0">
                <a:solidFill>
                  <a:srgbClr val="3A3535"/>
                </a:solidFill>
                <a:latin typeface="Century Gothic"/>
                <a:cs typeface="Century Gothic"/>
              </a:rPr>
              <a:t>system</a:t>
            </a:r>
            <a:r>
              <a:rPr sz="1300" spc="25" dirty="0">
                <a:solidFill>
                  <a:srgbClr val="3A3535"/>
                </a:solidFill>
                <a:latin typeface="Century Gothic"/>
                <a:cs typeface="Century Gothic"/>
              </a:rPr>
              <a:t> </a:t>
            </a:r>
            <a:r>
              <a:rPr sz="1300" spc="60" dirty="0">
                <a:solidFill>
                  <a:srgbClr val="3A3535"/>
                </a:solidFill>
                <a:latin typeface="Century Gothic"/>
                <a:cs typeface="Century Gothic"/>
              </a:rPr>
              <a:t>to</a:t>
            </a:r>
            <a:r>
              <a:rPr sz="1300" spc="20" dirty="0">
                <a:solidFill>
                  <a:srgbClr val="3A3535"/>
                </a:solidFill>
                <a:latin typeface="Century Gothic"/>
                <a:cs typeface="Century Gothic"/>
              </a:rPr>
              <a:t> digital</a:t>
            </a:r>
            <a:r>
              <a:rPr sz="1300" spc="25" dirty="0">
                <a:solidFill>
                  <a:srgbClr val="3A3535"/>
                </a:solidFill>
                <a:latin typeface="Century Gothic"/>
                <a:cs typeface="Century Gothic"/>
              </a:rPr>
              <a:t> </a:t>
            </a:r>
            <a:r>
              <a:rPr sz="1300" spc="20" dirty="0">
                <a:solidFill>
                  <a:srgbClr val="3A3535"/>
                </a:solidFill>
                <a:latin typeface="Century Gothic"/>
                <a:cs typeface="Century Gothic"/>
              </a:rPr>
              <a:t>program </a:t>
            </a:r>
            <a:r>
              <a:rPr sz="1300" spc="-10" dirty="0">
                <a:solidFill>
                  <a:srgbClr val="3A3535"/>
                </a:solidFill>
                <a:latin typeface="Century Gothic"/>
                <a:cs typeface="Century Gothic"/>
              </a:rPr>
              <a:t>platform</a:t>
            </a:r>
            <a:endParaRPr sz="1300" dirty="0">
              <a:latin typeface="Century Gothic"/>
              <a:cs typeface="Century Gothic"/>
            </a:endParaRPr>
          </a:p>
        </p:txBody>
      </p:sp>
      <p:pic>
        <p:nvPicPr>
          <p:cNvPr id="5" name="object 5"/>
          <p:cNvPicPr/>
          <p:nvPr/>
        </p:nvPicPr>
        <p:blipFill>
          <a:blip r:embed="rId4" cstate="print"/>
          <a:stretch>
            <a:fillRect/>
          </a:stretch>
        </p:blipFill>
        <p:spPr>
          <a:xfrm>
            <a:off x="7191375" y="2133600"/>
            <a:ext cx="2666999" cy="2657474"/>
          </a:xfrm>
          <a:prstGeom prst="rect">
            <a:avLst/>
          </a:prstGeom>
        </p:spPr>
      </p:pic>
      <p:sp>
        <p:nvSpPr>
          <p:cNvPr id="6" name="object 6"/>
          <p:cNvSpPr txBox="1"/>
          <p:nvPr/>
        </p:nvSpPr>
        <p:spPr>
          <a:xfrm>
            <a:off x="2861443" y="5356225"/>
            <a:ext cx="5707113" cy="652743"/>
          </a:xfrm>
          <a:prstGeom prst="rect">
            <a:avLst/>
          </a:prstGeom>
        </p:spPr>
        <p:txBody>
          <a:bodyPr vert="horz" wrap="square" lIns="0" tIns="13970" rIns="0" bIns="0" rtlCol="0">
            <a:spAutoFit/>
          </a:bodyPr>
          <a:lstStyle/>
          <a:p>
            <a:pPr algn="ctr">
              <a:lnSpc>
                <a:spcPct val="100000"/>
              </a:lnSpc>
              <a:spcBef>
                <a:spcPts val="110"/>
              </a:spcBef>
            </a:pPr>
            <a:r>
              <a:rPr sz="1300" dirty="0">
                <a:solidFill>
                  <a:srgbClr val="3A3535"/>
                </a:solidFill>
                <a:latin typeface="Century Gothic"/>
                <a:cs typeface="Century Gothic"/>
              </a:rPr>
              <a:t>Stefan</a:t>
            </a:r>
            <a:r>
              <a:rPr sz="1300" spc="60" dirty="0">
                <a:solidFill>
                  <a:srgbClr val="3A3535"/>
                </a:solidFill>
                <a:latin typeface="Century Gothic"/>
                <a:cs typeface="Century Gothic"/>
              </a:rPr>
              <a:t> </a:t>
            </a:r>
            <a:r>
              <a:rPr sz="1300" dirty="0">
                <a:solidFill>
                  <a:srgbClr val="3A3535"/>
                </a:solidFill>
                <a:latin typeface="Century Gothic"/>
                <a:cs typeface="Century Gothic"/>
              </a:rPr>
              <a:t>Kodzhabashev</a:t>
            </a:r>
            <a:r>
              <a:rPr sz="1300" spc="60" dirty="0">
                <a:solidFill>
                  <a:srgbClr val="3A3535"/>
                </a:solidFill>
                <a:latin typeface="Century Gothic"/>
                <a:cs typeface="Century Gothic"/>
              </a:rPr>
              <a:t> </a:t>
            </a:r>
            <a:r>
              <a:rPr sz="1300" spc="-75" dirty="0">
                <a:solidFill>
                  <a:srgbClr val="3A3535"/>
                </a:solidFill>
                <a:latin typeface="Century Gothic"/>
                <a:cs typeface="Century Gothic"/>
              </a:rPr>
              <a:t>·</a:t>
            </a:r>
            <a:r>
              <a:rPr sz="1300" spc="60" dirty="0">
                <a:solidFill>
                  <a:srgbClr val="3A3535"/>
                </a:solidFill>
                <a:latin typeface="Century Gothic"/>
                <a:cs typeface="Century Gothic"/>
              </a:rPr>
              <a:t> </a:t>
            </a:r>
            <a:r>
              <a:rPr sz="1300" spc="65" dirty="0">
                <a:solidFill>
                  <a:srgbClr val="3A3535"/>
                </a:solidFill>
                <a:latin typeface="Century Gothic"/>
                <a:cs typeface="Century Gothic"/>
              </a:rPr>
              <a:t>30.03.2026</a:t>
            </a:r>
            <a:endParaRPr sz="1300" dirty="0">
              <a:latin typeface="Century Gothic"/>
              <a:cs typeface="Century Gothic"/>
            </a:endParaRPr>
          </a:p>
          <a:p>
            <a:pPr>
              <a:lnSpc>
                <a:spcPct val="100000"/>
              </a:lnSpc>
              <a:spcBef>
                <a:spcPts val="290"/>
              </a:spcBef>
            </a:pPr>
            <a:endParaRPr sz="1300" dirty="0">
              <a:latin typeface="Century Gothic"/>
              <a:cs typeface="Century Gothic"/>
            </a:endParaRPr>
          </a:p>
          <a:p>
            <a:pPr algn="ctr">
              <a:lnSpc>
                <a:spcPct val="100000"/>
              </a:lnSpc>
            </a:pPr>
            <a:r>
              <a:rPr sz="1300" dirty="0">
                <a:solidFill>
                  <a:srgbClr val="3A3535"/>
                </a:solidFill>
                <a:latin typeface="Century Gothic"/>
                <a:cs typeface="Century Gothic"/>
              </a:rPr>
              <a:t>Faculty</a:t>
            </a:r>
            <a:r>
              <a:rPr sz="1300" spc="15" dirty="0">
                <a:solidFill>
                  <a:srgbClr val="3A3535"/>
                </a:solidFill>
                <a:latin typeface="Century Gothic"/>
                <a:cs typeface="Century Gothic"/>
              </a:rPr>
              <a:t> </a:t>
            </a:r>
            <a:r>
              <a:rPr sz="1300" dirty="0">
                <a:solidFill>
                  <a:srgbClr val="3A3535"/>
                </a:solidFill>
                <a:latin typeface="Century Gothic"/>
                <a:cs typeface="Century Gothic"/>
              </a:rPr>
              <a:t>Meeting</a:t>
            </a:r>
            <a:r>
              <a:rPr sz="1300" spc="15" dirty="0">
                <a:solidFill>
                  <a:srgbClr val="3A3535"/>
                </a:solidFill>
                <a:latin typeface="Century Gothic"/>
                <a:cs typeface="Century Gothic"/>
              </a:rPr>
              <a:t> </a:t>
            </a:r>
            <a:r>
              <a:rPr sz="1300" spc="-75" dirty="0">
                <a:solidFill>
                  <a:srgbClr val="3A3535"/>
                </a:solidFill>
                <a:latin typeface="Century Gothic"/>
                <a:cs typeface="Century Gothic"/>
              </a:rPr>
              <a:t>·</a:t>
            </a:r>
            <a:r>
              <a:rPr sz="1300" spc="20" dirty="0">
                <a:solidFill>
                  <a:srgbClr val="3A3535"/>
                </a:solidFill>
                <a:latin typeface="Century Gothic"/>
                <a:cs typeface="Century Gothic"/>
              </a:rPr>
              <a:t> </a:t>
            </a:r>
            <a:r>
              <a:rPr sz="1300" spc="-10" dirty="0">
                <a:solidFill>
                  <a:srgbClr val="3A3535"/>
                </a:solidFill>
                <a:latin typeface="Century Gothic"/>
                <a:cs typeface="Century Gothic"/>
              </a:rPr>
              <a:t>March</a:t>
            </a:r>
            <a:r>
              <a:rPr sz="1300" spc="15" dirty="0">
                <a:solidFill>
                  <a:srgbClr val="3A3535"/>
                </a:solidFill>
                <a:latin typeface="Century Gothic"/>
                <a:cs typeface="Century Gothic"/>
              </a:rPr>
              <a:t> </a:t>
            </a:r>
            <a:r>
              <a:rPr sz="1300" spc="95" dirty="0">
                <a:solidFill>
                  <a:srgbClr val="3A3535"/>
                </a:solidFill>
                <a:latin typeface="Century Gothic"/>
                <a:cs typeface="Century Gothic"/>
              </a:rPr>
              <a:t>2026</a:t>
            </a:r>
            <a:r>
              <a:rPr sz="1300" spc="20" dirty="0">
                <a:solidFill>
                  <a:srgbClr val="3A3535"/>
                </a:solidFill>
                <a:latin typeface="Century Gothic"/>
                <a:cs typeface="Century Gothic"/>
              </a:rPr>
              <a:t> </a:t>
            </a:r>
            <a:r>
              <a:rPr sz="1300" spc="-75" dirty="0">
                <a:solidFill>
                  <a:srgbClr val="3A3535"/>
                </a:solidFill>
                <a:latin typeface="Century Gothic"/>
                <a:cs typeface="Century Gothic"/>
              </a:rPr>
              <a:t>·</a:t>
            </a:r>
            <a:r>
              <a:rPr sz="1300" spc="15" dirty="0">
                <a:solidFill>
                  <a:srgbClr val="3A3535"/>
                </a:solidFill>
                <a:latin typeface="Century Gothic"/>
                <a:cs typeface="Century Gothic"/>
              </a:rPr>
              <a:t> </a:t>
            </a:r>
            <a:r>
              <a:rPr sz="1300" spc="50" dirty="0">
                <a:solidFill>
                  <a:srgbClr val="3A3535"/>
                </a:solidFill>
                <a:latin typeface="Century Gothic"/>
                <a:cs typeface="Century Gothic"/>
              </a:rPr>
              <a:t>Building</a:t>
            </a:r>
            <a:r>
              <a:rPr sz="1300" spc="20" dirty="0">
                <a:solidFill>
                  <a:srgbClr val="3A3535"/>
                </a:solidFill>
                <a:latin typeface="Century Gothic"/>
                <a:cs typeface="Century Gothic"/>
              </a:rPr>
              <a:t> </a:t>
            </a:r>
            <a:r>
              <a:rPr sz="1300" dirty="0">
                <a:solidFill>
                  <a:srgbClr val="3A3535"/>
                </a:solidFill>
                <a:latin typeface="Century Gothic"/>
                <a:cs typeface="Century Gothic"/>
              </a:rPr>
              <a:t>on</a:t>
            </a:r>
            <a:r>
              <a:rPr sz="1300" spc="15" dirty="0">
                <a:solidFill>
                  <a:srgbClr val="3A3535"/>
                </a:solidFill>
                <a:latin typeface="Century Gothic"/>
                <a:cs typeface="Century Gothic"/>
              </a:rPr>
              <a:t> </a:t>
            </a:r>
            <a:r>
              <a:rPr sz="1300" dirty="0">
                <a:solidFill>
                  <a:srgbClr val="3A3535"/>
                </a:solidFill>
                <a:latin typeface="Century Gothic"/>
                <a:cs typeface="Century Gothic"/>
              </a:rPr>
              <a:t>our</a:t>
            </a:r>
            <a:r>
              <a:rPr sz="1300" spc="15" dirty="0">
                <a:solidFill>
                  <a:srgbClr val="3A3535"/>
                </a:solidFill>
                <a:latin typeface="Century Gothic"/>
                <a:cs typeface="Century Gothic"/>
              </a:rPr>
              <a:t> </a:t>
            </a:r>
            <a:r>
              <a:rPr sz="1300" dirty="0">
                <a:solidFill>
                  <a:srgbClr val="3A3535"/>
                </a:solidFill>
                <a:latin typeface="Century Gothic"/>
                <a:cs typeface="Century Gothic"/>
              </a:rPr>
              <a:t>2021</a:t>
            </a:r>
            <a:r>
              <a:rPr sz="1300" spc="20" dirty="0">
                <a:solidFill>
                  <a:srgbClr val="3A3535"/>
                </a:solidFill>
                <a:latin typeface="Century Gothic"/>
                <a:cs typeface="Century Gothic"/>
              </a:rPr>
              <a:t> </a:t>
            </a:r>
            <a:r>
              <a:rPr sz="1300" spc="-10" dirty="0">
                <a:solidFill>
                  <a:srgbClr val="3A3535"/>
                </a:solidFill>
                <a:latin typeface="Century Gothic"/>
                <a:cs typeface="Century Gothic"/>
              </a:rPr>
              <a:t>presentation</a:t>
            </a:r>
            <a:endParaRPr sz="1300" dirty="0">
              <a:latin typeface="Century Gothic"/>
              <a:cs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9640" y="1589786"/>
            <a:ext cx="3785235" cy="560070"/>
          </a:xfrm>
          <a:prstGeom prst="rect">
            <a:avLst/>
          </a:prstGeom>
        </p:spPr>
        <p:txBody>
          <a:bodyPr vert="horz" wrap="square" lIns="0" tIns="13335" rIns="0" bIns="0" rtlCol="0">
            <a:spAutoFit/>
          </a:bodyPr>
          <a:lstStyle/>
          <a:p>
            <a:pPr marL="12700">
              <a:lnSpc>
                <a:spcPct val="100000"/>
              </a:lnSpc>
              <a:spcBef>
                <a:spcPts val="105"/>
              </a:spcBef>
            </a:pPr>
            <a:r>
              <a:rPr spc="-215" dirty="0"/>
              <a:t>What</a:t>
            </a:r>
            <a:r>
              <a:rPr spc="-400" dirty="0"/>
              <a:t> </a:t>
            </a:r>
            <a:r>
              <a:rPr spc="-130" dirty="0"/>
              <a:t>SelfHelp</a:t>
            </a:r>
            <a:r>
              <a:rPr spc="-395" dirty="0"/>
              <a:t> </a:t>
            </a:r>
            <a:r>
              <a:rPr spc="-505" dirty="0"/>
              <a:t>Is</a:t>
            </a:r>
          </a:p>
        </p:txBody>
      </p:sp>
      <p:sp>
        <p:nvSpPr>
          <p:cNvPr id="3" name="object 3"/>
          <p:cNvSpPr txBox="1"/>
          <p:nvPr/>
        </p:nvSpPr>
        <p:spPr>
          <a:xfrm>
            <a:off x="579635" y="2459550"/>
            <a:ext cx="9766300" cy="577850"/>
          </a:xfrm>
          <a:prstGeom prst="rect">
            <a:avLst/>
          </a:prstGeom>
        </p:spPr>
        <p:txBody>
          <a:bodyPr vert="horz" wrap="square" lIns="0" tIns="11430" rIns="0" bIns="0" rtlCol="0">
            <a:spAutoFit/>
          </a:bodyPr>
          <a:lstStyle/>
          <a:p>
            <a:pPr marL="12700" marR="5080">
              <a:lnSpc>
                <a:spcPct val="139400"/>
              </a:lnSpc>
              <a:spcBef>
                <a:spcPts val="90"/>
              </a:spcBef>
            </a:pPr>
            <a:r>
              <a:rPr sz="1300" dirty="0">
                <a:solidFill>
                  <a:srgbClr val="3A3535"/>
                </a:solidFill>
                <a:latin typeface="Century Gothic"/>
                <a:cs typeface="Century Gothic"/>
              </a:rPr>
              <a:t>A</a:t>
            </a:r>
            <a:r>
              <a:rPr sz="1300" spc="40" dirty="0">
                <a:solidFill>
                  <a:srgbClr val="3A3535"/>
                </a:solidFill>
                <a:latin typeface="Century Gothic"/>
                <a:cs typeface="Century Gothic"/>
              </a:rPr>
              <a:t> </a:t>
            </a:r>
            <a:r>
              <a:rPr sz="1300" dirty="0">
                <a:solidFill>
                  <a:srgbClr val="3A3535"/>
                </a:solidFill>
                <a:latin typeface="Century Gothic"/>
                <a:cs typeface="Century Gothic"/>
              </a:rPr>
              <a:t>modular</a:t>
            </a:r>
            <a:r>
              <a:rPr sz="1300" spc="40" dirty="0">
                <a:solidFill>
                  <a:srgbClr val="3A3535"/>
                </a:solidFill>
                <a:latin typeface="Century Gothic"/>
                <a:cs typeface="Century Gothic"/>
              </a:rPr>
              <a:t> </a:t>
            </a:r>
            <a:r>
              <a:rPr sz="1300" spc="50" dirty="0">
                <a:solidFill>
                  <a:srgbClr val="3A3535"/>
                </a:solidFill>
                <a:latin typeface="Century Gothic"/>
                <a:cs typeface="Century Gothic"/>
              </a:rPr>
              <a:t>platform</a:t>
            </a:r>
            <a:r>
              <a:rPr sz="1300" spc="40" dirty="0">
                <a:solidFill>
                  <a:srgbClr val="3A3535"/>
                </a:solidFill>
                <a:latin typeface="Century Gothic"/>
                <a:cs typeface="Century Gothic"/>
              </a:rPr>
              <a:t> </a:t>
            </a:r>
            <a:r>
              <a:rPr sz="1300" dirty="0">
                <a:solidFill>
                  <a:srgbClr val="3A3535"/>
                </a:solidFill>
                <a:latin typeface="Century Gothic"/>
                <a:cs typeface="Century Gothic"/>
              </a:rPr>
              <a:t>that</a:t>
            </a:r>
            <a:r>
              <a:rPr sz="1300" spc="40" dirty="0">
                <a:solidFill>
                  <a:srgbClr val="3A3535"/>
                </a:solidFill>
                <a:latin typeface="Century Gothic"/>
                <a:cs typeface="Century Gothic"/>
              </a:rPr>
              <a:t> </a:t>
            </a:r>
            <a:r>
              <a:rPr sz="1300" spc="95" dirty="0">
                <a:solidFill>
                  <a:srgbClr val="3A3535"/>
                </a:solidFill>
                <a:latin typeface="Century Gothic"/>
                <a:cs typeface="Century Gothic"/>
              </a:rPr>
              <a:t>brings</a:t>
            </a:r>
            <a:r>
              <a:rPr sz="1300" spc="45" dirty="0">
                <a:solidFill>
                  <a:srgbClr val="3A3535"/>
                </a:solidFill>
                <a:latin typeface="Century Gothic"/>
                <a:cs typeface="Century Gothic"/>
              </a:rPr>
              <a:t> </a:t>
            </a:r>
            <a:r>
              <a:rPr sz="1300" dirty="0">
                <a:solidFill>
                  <a:srgbClr val="3A3535"/>
                </a:solidFill>
                <a:latin typeface="Century Gothic"/>
                <a:cs typeface="Century Gothic"/>
              </a:rPr>
              <a:t>content,</a:t>
            </a:r>
            <a:r>
              <a:rPr sz="1300" spc="40" dirty="0">
                <a:solidFill>
                  <a:srgbClr val="3A3535"/>
                </a:solidFill>
                <a:latin typeface="Century Gothic"/>
                <a:cs typeface="Century Gothic"/>
              </a:rPr>
              <a:t> </a:t>
            </a:r>
            <a:r>
              <a:rPr sz="1300" spc="80" dirty="0">
                <a:solidFill>
                  <a:srgbClr val="3A3535"/>
                </a:solidFill>
                <a:latin typeface="Century Gothic"/>
                <a:cs typeface="Century Gothic"/>
              </a:rPr>
              <a:t>assessments,</a:t>
            </a:r>
            <a:r>
              <a:rPr sz="1300" spc="30" dirty="0">
                <a:solidFill>
                  <a:srgbClr val="3A3535"/>
                </a:solidFill>
                <a:latin typeface="Century Gothic"/>
                <a:cs typeface="Century Gothic"/>
              </a:rPr>
              <a:t> </a:t>
            </a:r>
            <a:r>
              <a:rPr sz="1300" spc="65" dirty="0">
                <a:solidFill>
                  <a:srgbClr val="3A3535"/>
                </a:solidFill>
                <a:latin typeface="Century Gothic"/>
                <a:cs typeface="Century Gothic"/>
              </a:rPr>
              <a:t>workflows,</a:t>
            </a:r>
            <a:r>
              <a:rPr sz="1300" spc="4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40" dirty="0">
                <a:solidFill>
                  <a:srgbClr val="3A3535"/>
                </a:solidFill>
                <a:latin typeface="Century Gothic"/>
                <a:cs typeface="Century Gothic"/>
              </a:rPr>
              <a:t> </a:t>
            </a:r>
            <a:r>
              <a:rPr sz="1300" spc="50" dirty="0">
                <a:solidFill>
                  <a:srgbClr val="3A3535"/>
                </a:solidFill>
                <a:latin typeface="Century Gothic"/>
                <a:cs typeface="Century Gothic"/>
              </a:rPr>
              <a:t>mobile</a:t>
            </a:r>
            <a:r>
              <a:rPr sz="1300" spc="40" dirty="0">
                <a:solidFill>
                  <a:srgbClr val="3A3535"/>
                </a:solidFill>
                <a:latin typeface="Century Gothic"/>
                <a:cs typeface="Century Gothic"/>
              </a:rPr>
              <a:t> </a:t>
            </a:r>
            <a:r>
              <a:rPr sz="1300" dirty="0">
                <a:solidFill>
                  <a:srgbClr val="3A3535"/>
                </a:solidFill>
                <a:latin typeface="Century Gothic"/>
                <a:cs typeface="Century Gothic"/>
              </a:rPr>
              <a:t>delivery</a:t>
            </a:r>
            <a:r>
              <a:rPr sz="1300" spc="40" dirty="0">
                <a:solidFill>
                  <a:srgbClr val="3A3535"/>
                </a:solidFill>
                <a:latin typeface="Century Gothic"/>
                <a:cs typeface="Century Gothic"/>
              </a:rPr>
              <a:t> </a:t>
            </a:r>
            <a:r>
              <a:rPr sz="1300" spc="80" dirty="0">
                <a:solidFill>
                  <a:srgbClr val="3A3535"/>
                </a:solidFill>
                <a:latin typeface="Century Gothic"/>
                <a:cs typeface="Century Gothic"/>
              </a:rPr>
              <a:t>into</a:t>
            </a:r>
            <a:r>
              <a:rPr sz="1300" spc="45" dirty="0">
                <a:solidFill>
                  <a:srgbClr val="3A3535"/>
                </a:solidFill>
                <a:latin typeface="Century Gothic"/>
                <a:cs typeface="Century Gothic"/>
              </a:rPr>
              <a:t> </a:t>
            </a:r>
            <a:r>
              <a:rPr sz="1300" dirty="0">
                <a:solidFill>
                  <a:srgbClr val="3A3535"/>
                </a:solidFill>
                <a:latin typeface="Century Gothic"/>
                <a:cs typeface="Century Gothic"/>
              </a:rPr>
              <a:t>one</a:t>
            </a:r>
            <a:r>
              <a:rPr sz="1300" spc="40" dirty="0">
                <a:solidFill>
                  <a:srgbClr val="3A3535"/>
                </a:solidFill>
                <a:latin typeface="Century Gothic"/>
                <a:cs typeface="Century Gothic"/>
              </a:rPr>
              <a:t> </a:t>
            </a:r>
            <a:r>
              <a:rPr sz="1300" dirty="0">
                <a:solidFill>
                  <a:srgbClr val="3A3535"/>
                </a:solidFill>
                <a:latin typeface="Century Gothic"/>
                <a:cs typeface="Century Gothic"/>
              </a:rPr>
              <a:t>connected</a:t>
            </a:r>
            <a:r>
              <a:rPr sz="1300" spc="40" dirty="0">
                <a:solidFill>
                  <a:srgbClr val="3A3535"/>
                </a:solidFill>
                <a:latin typeface="Century Gothic"/>
                <a:cs typeface="Century Gothic"/>
              </a:rPr>
              <a:t> </a:t>
            </a:r>
            <a:r>
              <a:rPr sz="1300" spc="85" dirty="0">
                <a:solidFill>
                  <a:srgbClr val="3A3535"/>
                </a:solidFill>
                <a:latin typeface="Century Gothic"/>
                <a:cs typeface="Century Gothic"/>
              </a:rPr>
              <a:t>system</a:t>
            </a:r>
            <a:r>
              <a:rPr sz="1300" spc="40" dirty="0">
                <a:solidFill>
                  <a:srgbClr val="3A3535"/>
                </a:solidFill>
                <a:latin typeface="Century Gothic"/>
                <a:cs typeface="Century Gothic"/>
              </a:rPr>
              <a:t> </a:t>
            </a:r>
            <a:r>
              <a:rPr sz="1300" spc="-50" dirty="0">
                <a:solidFill>
                  <a:srgbClr val="3A3535"/>
                </a:solidFill>
                <a:latin typeface="Century Gothic"/>
                <a:cs typeface="Century Gothic"/>
              </a:rPr>
              <a:t>— </a:t>
            </a:r>
            <a:r>
              <a:rPr sz="1300" spc="10" dirty="0">
                <a:solidFill>
                  <a:srgbClr val="3A3535"/>
                </a:solidFill>
                <a:latin typeface="Century Gothic"/>
                <a:cs typeface="Century Gothic"/>
              </a:rPr>
              <a:t>hostable</a:t>
            </a:r>
            <a:r>
              <a:rPr sz="1300" spc="105" dirty="0">
                <a:solidFill>
                  <a:srgbClr val="3A3535"/>
                </a:solidFill>
                <a:latin typeface="Century Gothic"/>
                <a:cs typeface="Century Gothic"/>
              </a:rPr>
              <a:t> </a:t>
            </a:r>
            <a:r>
              <a:rPr sz="1300" spc="10" dirty="0">
                <a:solidFill>
                  <a:srgbClr val="3A3535"/>
                </a:solidFill>
                <a:latin typeface="Century Gothic"/>
                <a:cs typeface="Century Gothic"/>
              </a:rPr>
              <a:t>under</a:t>
            </a:r>
            <a:r>
              <a:rPr sz="1300" spc="105" dirty="0">
                <a:solidFill>
                  <a:srgbClr val="3A3535"/>
                </a:solidFill>
                <a:latin typeface="Century Gothic"/>
                <a:cs typeface="Century Gothic"/>
              </a:rPr>
              <a:t> </a:t>
            </a:r>
            <a:r>
              <a:rPr sz="1300" spc="75" dirty="0">
                <a:solidFill>
                  <a:srgbClr val="3A3535"/>
                </a:solidFill>
                <a:latin typeface="Century Gothic"/>
                <a:cs typeface="Century Gothic"/>
              </a:rPr>
              <a:t>university</a:t>
            </a:r>
            <a:r>
              <a:rPr sz="1300" spc="110" dirty="0">
                <a:solidFill>
                  <a:srgbClr val="3A3535"/>
                </a:solidFill>
                <a:latin typeface="Century Gothic"/>
                <a:cs typeface="Century Gothic"/>
              </a:rPr>
              <a:t> </a:t>
            </a:r>
            <a:r>
              <a:rPr sz="1300" spc="40" dirty="0">
                <a:solidFill>
                  <a:srgbClr val="3A3535"/>
                </a:solidFill>
                <a:latin typeface="Century Gothic"/>
                <a:cs typeface="Century Gothic"/>
              </a:rPr>
              <a:t>control.</a:t>
            </a:r>
            <a:endParaRPr sz="1300" dirty="0">
              <a:latin typeface="Century Gothic"/>
              <a:cs typeface="Century Gothic"/>
            </a:endParaRPr>
          </a:p>
        </p:txBody>
      </p:sp>
      <p:grpSp>
        <p:nvGrpSpPr>
          <p:cNvPr id="4" name="object 4"/>
          <p:cNvGrpSpPr/>
          <p:nvPr/>
        </p:nvGrpSpPr>
        <p:grpSpPr>
          <a:xfrm>
            <a:off x="590550" y="3257550"/>
            <a:ext cx="3305175" cy="1552575"/>
            <a:chOff x="590550" y="3257550"/>
            <a:chExt cx="3305175" cy="1552575"/>
          </a:xfrm>
        </p:grpSpPr>
        <p:sp>
          <p:nvSpPr>
            <p:cNvPr id="5" name="object 5"/>
            <p:cNvSpPr/>
            <p:nvPr/>
          </p:nvSpPr>
          <p:spPr>
            <a:xfrm>
              <a:off x="595312" y="3262312"/>
              <a:ext cx="3295650" cy="1543050"/>
            </a:xfrm>
            <a:custGeom>
              <a:avLst/>
              <a:gdLst/>
              <a:ahLst/>
              <a:cxnLst/>
              <a:rect l="l" t="t" r="r" b="b"/>
              <a:pathLst>
                <a:path w="3295650" h="1543050">
                  <a:moveTo>
                    <a:pt x="3244748" y="0"/>
                  </a:moveTo>
                  <a:lnTo>
                    <a:pt x="50904" y="0"/>
                  </a:lnTo>
                  <a:lnTo>
                    <a:pt x="47362" y="342"/>
                  </a:lnTo>
                  <a:lnTo>
                    <a:pt x="13428" y="18491"/>
                  </a:lnTo>
                  <a:lnTo>
                    <a:pt x="0" y="50901"/>
                  </a:lnTo>
                  <a:lnTo>
                    <a:pt x="0" y="1488567"/>
                  </a:lnTo>
                  <a:lnTo>
                    <a:pt x="0" y="1492148"/>
                  </a:lnTo>
                  <a:lnTo>
                    <a:pt x="18484" y="1529626"/>
                  </a:lnTo>
                  <a:lnTo>
                    <a:pt x="50904" y="1543050"/>
                  </a:lnTo>
                  <a:lnTo>
                    <a:pt x="3244748" y="1543050"/>
                  </a:lnTo>
                  <a:lnTo>
                    <a:pt x="3282226" y="1524558"/>
                  </a:lnTo>
                  <a:lnTo>
                    <a:pt x="3295650" y="1492148"/>
                  </a:lnTo>
                  <a:lnTo>
                    <a:pt x="3295650" y="50901"/>
                  </a:lnTo>
                  <a:lnTo>
                    <a:pt x="3277158" y="13423"/>
                  </a:lnTo>
                  <a:lnTo>
                    <a:pt x="3248291" y="342"/>
                  </a:lnTo>
                  <a:lnTo>
                    <a:pt x="3244748" y="0"/>
                  </a:lnTo>
                  <a:close/>
                </a:path>
              </a:pathLst>
            </a:custGeom>
            <a:solidFill>
              <a:srgbClr val="F9D2D6"/>
            </a:solidFill>
          </p:spPr>
          <p:txBody>
            <a:bodyPr wrap="square" lIns="0" tIns="0" rIns="0" bIns="0" rtlCol="0"/>
            <a:lstStyle/>
            <a:p>
              <a:endParaRPr/>
            </a:p>
          </p:txBody>
        </p:sp>
        <p:sp>
          <p:nvSpPr>
            <p:cNvPr id="6" name="object 6"/>
            <p:cNvSpPr/>
            <p:nvPr/>
          </p:nvSpPr>
          <p:spPr>
            <a:xfrm>
              <a:off x="595312" y="3262312"/>
              <a:ext cx="3295650" cy="1543050"/>
            </a:xfrm>
            <a:custGeom>
              <a:avLst/>
              <a:gdLst/>
              <a:ahLst/>
              <a:cxnLst/>
              <a:rect l="l" t="t" r="r" b="b"/>
              <a:pathLst>
                <a:path w="3295650" h="1543050">
                  <a:moveTo>
                    <a:pt x="0" y="1488567"/>
                  </a:moveTo>
                  <a:lnTo>
                    <a:pt x="0" y="54483"/>
                  </a:lnTo>
                  <a:lnTo>
                    <a:pt x="0" y="50901"/>
                  </a:lnTo>
                  <a:lnTo>
                    <a:pt x="346" y="47358"/>
                  </a:lnTo>
                  <a:lnTo>
                    <a:pt x="1046" y="43853"/>
                  </a:lnTo>
                  <a:lnTo>
                    <a:pt x="1746" y="40347"/>
                  </a:lnTo>
                  <a:lnTo>
                    <a:pt x="2778" y="36931"/>
                  </a:lnTo>
                  <a:lnTo>
                    <a:pt x="4147" y="33629"/>
                  </a:lnTo>
                  <a:lnTo>
                    <a:pt x="5516" y="30327"/>
                  </a:lnTo>
                  <a:lnTo>
                    <a:pt x="24213" y="9182"/>
                  </a:lnTo>
                  <a:lnTo>
                    <a:pt x="27185" y="7188"/>
                  </a:lnTo>
                  <a:lnTo>
                    <a:pt x="30326" y="5511"/>
                  </a:lnTo>
                  <a:lnTo>
                    <a:pt x="33629" y="4152"/>
                  </a:lnTo>
                  <a:lnTo>
                    <a:pt x="36939" y="2781"/>
                  </a:lnTo>
                  <a:lnTo>
                    <a:pt x="40342" y="1739"/>
                  </a:lnTo>
                  <a:lnTo>
                    <a:pt x="43854" y="1041"/>
                  </a:lnTo>
                  <a:lnTo>
                    <a:pt x="47362" y="342"/>
                  </a:lnTo>
                  <a:lnTo>
                    <a:pt x="50904" y="0"/>
                  </a:lnTo>
                  <a:lnTo>
                    <a:pt x="54480" y="0"/>
                  </a:lnTo>
                  <a:lnTo>
                    <a:pt x="3241167" y="0"/>
                  </a:lnTo>
                  <a:lnTo>
                    <a:pt x="3244748" y="0"/>
                  </a:lnTo>
                  <a:lnTo>
                    <a:pt x="3248291" y="342"/>
                  </a:lnTo>
                  <a:lnTo>
                    <a:pt x="3251796" y="1041"/>
                  </a:lnTo>
                  <a:lnTo>
                    <a:pt x="3255302" y="1739"/>
                  </a:lnTo>
                  <a:lnTo>
                    <a:pt x="3258705" y="2781"/>
                  </a:lnTo>
                  <a:lnTo>
                    <a:pt x="3262020" y="4152"/>
                  </a:lnTo>
                  <a:lnTo>
                    <a:pt x="3265322" y="5511"/>
                  </a:lnTo>
                  <a:lnTo>
                    <a:pt x="3268459" y="7188"/>
                  </a:lnTo>
                  <a:lnTo>
                    <a:pt x="3271431" y="9182"/>
                  </a:lnTo>
                  <a:lnTo>
                    <a:pt x="3274415" y="11163"/>
                  </a:lnTo>
                  <a:lnTo>
                    <a:pt x="3277158" y="13423"/>
                  </a:lnTo>
                  <a:lnTo>
                    <a:pt x="3279686" y="15951"/>
                  </a:lnTo>
                  <a:lnTo>
                    <a:pt x="3282226" y="18491"/>
                  </a:lnTo>
                  <a:lnTo>
                    <a:pt x="3284486" y="21234"/>
                  </a:lnTo>
                  <a:lnTo>
                    <a:pt x="3286467" y="24206"/>
                  </a:lnTo>
                  <a:lnTo>
                    <a:pt x="3288461" y="27190"/>
                  </a:lnTo>
                  <a:lnTo>
                    <a:pt x="3290138" y="30327"/>
                  </a:lnTo>
                  <a:lnTo>
                    <a:pt x="3291497" y="33629"/>
                  </a:lnTo>
                  <a:lnTo>
                    <a:pt x="3292868" y="36931"/>
                  </a:lnTo>
                  <a:lnTo>
                    <a:pt x="3293910" y="40347"/>
                  </a:lnTo>
                  <a:lnTo>
                    <a:pt x="3294608" y="43853"/>
                  </a:lnTo>
                  <a:lnTo>
                    <a:pt x="3295307" y="47358"/>
                  </a:lnTo>
                  <a:lnTo>
                    <a:pt x="3295650" y="50901"/>
                  </a:lnTo>
                  <a:lnTo>
                    <a:pt x="3295650" y="54483"/>
                  </a:lnTo>
                  <a:lnTo>
                    <a:pt x="3295650" y="1488567"/>
                  </a:lnTo>
                  <a:lnTo>
                    <a:pt x="3295650" y="1492148"/>
                  </a:lnTo>
                  <a:lnTo>
                    <a:pt x="3295307" y="1495691"/>
                  </a:lnTo>
                  <a:lnTo>
                    <a:pt x="3294608" y="1499196"/>
                  </a:lnTo>
                  <a:lnTo>
                    <a:pt x="3293910" y="1502702"/>
                  </a:lnTo>
                  <a:lnTo>
                    <a:pt x="3292868" y="1506105"/>
                  </a:lnTo>
                  <a:lnTo>
                    <a:pt x="3291497" y="1509420"/>
                  </a:lnTo>
                  <a:lnTo>
                    <a:pt x="3290138" y="1512722"/>
                  </a:lnTo>
                  <a:lnTo>
                    <a:pt x="3288461" y="1515859"/>
                  </a:lnTo>
                  <a:lnTo>
                    <a:pt x="3286467" y="1518831"/>
                  </a:lnTo>
                  <a:lnTo>
                    <a:pt x="3284486" y="1521802"/>
                  </a:lnTo>
                  <a:lnTo>
                    <a:pt x="3282226" y="1524558"/>
                  </a:lnTo>
                  <a:lnTo>
                    <a:pt x="3279686" y="1527086"/>
                  </a:lnTo>
                  <a:lnTo>
                    <a:pt x="3277158" y="1529626"/>
                  </a:lnTo>
                  <a:lnTo>
                    <a:pt x="3244748" y="1543050"/>
                  </a:lnTo>
                  <a:lnTo>
                    <a:pt x="3241167" y="1543050"/>
                  </a:lnTo>
                  <a:lnTo>
                    <a:pt x="54480" y="1543050"/>
                  </a:lnTo>
                  <a:lnTo>
                    <a:pt x="50904" y="1543050"/>
                  </a:lnTo>
                  <a:lnTo>
                    <a:pt x="47362" y="1542694"/>
                  </a:lnTo>
                  <a:lnTo>
                    <a:pt x="15958" y="1527086"/>
                  </a:lnTo>
                  <a:lnTo>
                    <a:pt x="13428" y="1524558"/>
                  </a:lnTo>
                  <a:lnTo>
                    <a:pt x="11167" y="1521802"/>
                  </a:lnTo>
                  <a:lnTo>
                    <a:pt x="9182" y="1518831"/>
                  </a:lnTo>
                  <a:lnTo>
                    <a:pt x="7193" y="1515859"/>
                  </a:lnTo>
                  <a:lnTo>
                    <a:pt x="1046" y="1499196"/>
                  </a:lnTo>
                  <a:lnTo>
                    <a:pt x="346" y="1495691"/>
                  </a:lnTo>
                  <a:lnTo>
                    <a:pt x="0" y="1492148"/>
                  </a:lnTo>
                  <a:lnTo>
                    <a:pt x="0" y="1488567"/>
                  </a:lnTo>
                  <a:close/>
                </a:path>
              </a:pathLst>
            </a:custGeom>
            <a:ln w="9525">
              <a:solidFill>
                <a:srgbClr val="DFB7BB"/>
              </a:solidFill>
            </a:ln>
          </p:spPr>
          <p:txBody>
            <a:bodyPr wrap="square" lIns="0" tIns="0" rIns="0" bIns="0" rtlCol="0"/>
            <a:lstStyle/>
            <a:p>
              <a:endParaRPr/>
            </a:p>
          </p:txBody>
        </p:sp>
      </p:grpSp>
      <p:sp>
        <p:nvSpPr>
          <p:cNvPr id="7" name="object 7"/>
          <p:cNvSpPr txBox="1"/>
          <p:nvPr/>
        </p:nvSpPr>
        <p:spPr>
          <a:xfrm>
            <a:off x="758377" y="3412680"/>
            <a:ext cx="2436495" cy="118681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Modular</a:t>
            </a:r>
            <a:endParaRPr sz="1750" dirty="0">
              <a:latin typeface="Verdana"/>
              <a:cs typeface="Verdana"/>
            </a:endParaRPr>
          </a:p>
          <a:p>
            <a:pPr marL="12700" marR="5080" algn="just">
              <a:lnSpc>
                <a:spcPct val="137000"/>
              </a:lnSpc>
              <a:spcBef>
                <a:spcPts val="625"/>
              </a:spcBef>
            </a:pPr>
            <a:r>
              <a:rPr sz="1300" spc="20" dirty="0">
                <a:solidFill>
                  <a:srgbClr val="3A3535"/>
                </a:solidFill>
                <a:latin typeface="Century Gothic"/>
                <a:cs typeface="Century Gothic"/>
              </a:rPr>
              <a:t>Reusable</a:t>
            </a:r>
            <a:r>
              <a:rPr sz="1300" spc="145" dirty="0">
                <a:solidFill>
                  <a:srgbClr val="3A3535"/>
                </a:solidFill>
                <a:latin typeface="Century Gothic"/>
                <a:cs typeface="Century Gothic"/>
              </a:rPr>
              <a:t> </a:t>
            </a:r>
            <a:r>
              <a:rPr sz="1300" spc="20" dirty="0">
                <a:solidFill>
                  <a:srgbClr val="3A3535"/>
                </a:solidFill>
                <a:latin typeface="Century Gothic"/>
                <a:cs typeface="Century Gothic"/>
              </a:rPr>
              <a:t>components</a:t>
            </a:r>
            <a:r>
              <a:rPr sz="1300" spc="150" dirty="0">
                <a:solidFill>
                  <a:srgbClr val="3A3535"/>
                </a:solidFill>
                <a:latin typeface="Century Gothic"/>
                <a:cs typeface="Century Gothic"/>
              </a:rPr>
              <a:t> </a:t>
            </a:r>
            <a:r>
              <a:rPr sz="1300" spc="-20" dirty="0">
                <a:solidFill>
                  <a:srgbClr val="3A3535"/>
                </a:solidFill>
                <a:latin typeface="Century Gothic"/>
                <a:cs typeface="Century Gothic"/>
              </a:rPr>
              <a:t>make </a:t>
            </a:r>
            <a:r>
              <a:rPr sz="1300" spc="55" dirty="0">
                <a:solidFill>
                  <a:srgbClr val="3A3535"/>
                </a:solidFill>
                <a:latin typeface="Century Gothic"/>
                <a:cs typeface="Century Gothic"/>
              </a:rPr>
              <a:t>programs</a:t>
            </a:r>
            <a:r>
              <a:rPr sz="1300" spc="-35" dirty="0">
                <a:solidFill>
                  <a:srgbClr val="3A3535"/>
                </a:solidFill>
                <a:latin typeface="Century Gothic"/>
                <a:cs typeface="Century Gothic"/>
              </a:rPr>
              <a:t> </a:t>
            </a:r>
            <a:r>
              <a:rPr sz="1300" spc="55" dirty="0">
                <a:solidFill>
                  <a:srgbClr val="3A3535"/>
                </a:solidFill>
                <a:latin typeface="Century Gothic"/>
                <a:cs typeface="Century Gothic"/>
              </a:rPr>
              <a:t>faster</a:t>
            </a:r>
            <a:r>
              <a:rPr sz="1300" spc="-35" dirty="0">
                <a:solidFill>
                  <a:srgbClr val="3A3535"/>
                </a:solidFill>
                <a:latin typeface="Century Gothic"/>
                <a:cs typeface="Century Gothic"/>
              </a:rPr>
              <a:t> </a:t>
            </a:r>
            <a:r>
              <a:rPr sz="1300" spc="70" dirty="0">
                <a:solidFill>
                  <a:srgbClr val="3A3535"/>
                </a:solidFill>
                <a:latin typeface="Century Gothic"/>
                <a:cs typeface="Century Gothic"/>
              </a:rPr>
              <a:t>to</a:t>
            </a:r>
            <a:r>
              <a:rPr sz="1300" spc="-35" dirty="0">
                <a:solidFill>
                  <a:srgbClr val="3A3535"/>
                </a:solidFill>
                <a:latin typeface="Century Gothic"/>
                <a:cs typeface="Century Gothic"/>
              </a:rPr>
              <a:t> </a:t>
            </a:r>
            <a:r>
              <a:rPr sz="1300" spc="60" dirty="0">
                <a:solidFill>
                  <a:srgbClr val="3A3535"/>
                </a:solidFill>
                <a:latin typeface="Century Gothic"/>
                <a:cs typeface="Century Gothic"/>
              </a:rPr>
              <a:t>build</a:t>
            </a:r>
            <a:r>
              <a:rPr sz="1300" spc="-35" dirty="0">
                <a:solidFill>
                  <a:srgbClr val="3A3535"/>
                </a:solidFill>
                <a:latin typeface="Century Gothic"/>
                <a:cs typeface="Century Gothic"/>
              </a:rPr>
              <a:t> </a:t>
            </a:r>
            <a:r>
              <a:rPr sz="1300" spc="-25" dirty="0">
                <a:solidFill>
                  <a:srgbClr val="3A3535"/>
                </a:solidFill>
                <a:latin typeface="Century Gothic"/>
                <a:cs typeface="Century Gothic"/>
              </a:rPr>
              <a:t>and </a:t>
            </a:r>
            <a:r>
              <a:rPr sz="1300" dirty="0">
                <a:solidFill>
                  <a:srgbClr val="3A3535"/>
                </a:solidFill>
                <a:latin typeface="Century Gothic"/>
                <a:cs typeface="Century Gothic"/>
              </a:rPr>
              <a:t>easier</a:t>
            </a:r>
            <a:r>
              <a:rPr sz="1300" spc="80" dirty="0">
                <a:solidFill>
                  <a:srgbClr val="3A3535"/>
                </a:solidFill>
                <a:latin typeface="Century Gothic"/>
                <a:cs typeface="Century Gothic"/>
              </a:rPr>
              <a:t> </a:t>
            </a:r>
            <a:r>
              <a:rPr sz="1300" spc="70" dirty="0">
                <a:solidFill>
                  <a:srgbClr val="3A3535"/>
                </a:solidFill>
                <a:latin typeface="Century Gothic"/>
                <a:cs typeface="Century Gothic"/>
              </a:rPr>
              <a:t>to</a:t>
            </a:r>
            <a:r>
              <a:rPr sz="1300" spc="85" dirty="0">
                <a:solidFill>
                  <a:srgbClr val="3A3535"/>
                </a:solidFill>
                <a:latin typeface="Century Gothic"/>
                <a:cs typeface="Century Gothic"/>
              </a:rPr>
              <a:t> </a:t>
            </a:r>
            <a:r>
              <a:rPr sz="1300" spc="-10" dirty="0">
                <a:solidFill>
                  <a:srgbClr val="3A3535"/>
                </a:solidFill>
                <a:latin typeface="Century Gothic"/>
                <a:cs typeface="Century Gothic"/>
              </a:rPr>
              <a:t>adapt</a:t>
            </a:r>
            <a:endParaRPr sz="1300" dirty="0">
              <a:latin typeface="Century Gothic"/>
              <a:cs typeface="Century Gothic"/>
            </a:endParaRPr>
          </a:p>
        </p:txBody>
      </p:sp>
      <p:grpSp>
        <p:nvGrpSpPr>
          <p:cNvPr id="8" name="object 8"/>
          <p:cNvGrpSpPr/>
          <p:nvPr/>
        </p:nvGrpSpPr>
        <p:grpSpPr>
          <a:xfrm>
            <a:off x="4067175" y="3257550"/>
            <a:ext cx="3295650" cy="1552575"/>
            <a:chOff x="4067175" y="3257550"/>
            <a:chExt cx="3295650" cy="1552575"/>
          </a:xfrm>
        </p:grpSpPr>
        <p:sp>
          <p:nvSpPr>
            <p:cNvPr id="9" name="object 9"/>
            <p:cNvSpPr/>
            <p:nvPr/>
          </p:nvSpPr>
          <p:spPr>
            <a:xfrm>
              <a:off x="4071937" y="3262312"/>
              <a:ext cx="3286125" cy="1543050"/>
            </a:xfrm>
            <a:custGeom>
              <a:avLst/>
              <a:gdLst/>
              <a:ahLst/>
              <a:cxnLst/>
              <a:rect l="l" t="t" r="r" b="b"/>
              <a:pathLst>
                <a:path w="3286125" h="1543050">
                  <a:moveTo>
                    <a:pt x="3235223" y="0"/>
                  </a:moveTo>
                  <a:lnTo>
                    <a:pt x="50901" y="0"/>
                  </a:lnTo>
                  <a:lnTo>
                    <a:pt x="47358" y="342"/>
                  </a:lnTo>
                  <a:lnTo>
                    <a:pt x="13423" y="18491"/>
                  </a:lnTo>
                  <a:lnTo>
                    <a:pt x="0" y="50901"/>
                  </a:lnTo>
                  <a:lnTo>
                    <a:pt x="0" y="1488567"/>
                  </a:lnTo>
                  <a:lnTo>
                    <a:pt x="0" y="1492148"/>
                  </a:lnTo>
                  <a:lnTo>
                    <a:pt x="15963" y="1527086"/>
                  </a:lnTo>
                  <a:lnTo>
                    <a:pt x="18478" y="1529626"/>
                  </a:lnTo>
                  <a:lnTo>
                    <a:pt x="50901" y="1543050"/>
                  </a:lnTo>
                  <a:lnTo>
                    <a:pt x="3235223" y="1543050"/>
                  </a:lnTo>
                  <a:lnTo>
                    <a:pt x="3272701" y="1524558"/>
                  </a:lnTo>
                  <a:lnTo>
                    <a:pt x="3286125" y="1492148"/>
                  </a:lnTo>
                  <a:lnTo>
                    <a:pt x="3286125" y="50901"/>
                  </a:lnTo>
                  <a:lnTo>
                    <a:pt x="3267633" y="13423"/>
                  </a:lnTo>
                  <a:lnTo>
                    <a:pt x="3238766" y="342"/>
                  </a:lnTo>
                  <a:lnTo>
                    <a:pt x="3235223" y="0"/>
                  </a:lnTo>
                  <a:close/>
                </a:path>
              </a:pathLst>
            </a:custGeom>
            <a:solidFill>
              <a:srgbClr val="F9D2D6"/>
            </a:solidFill>
          </p:spPr>
          <p:txBody>
            <a:bodyPr wrap="square" lIns="0" tIns="0" rIns="0" bIns="0" rtlCol="0"/>
            <a:lstStyle/>
            <a:p>
              <a:endParaRPr/>
            </a:p>
          </p:txBody>
        </p:sp>
        <p:sp>
          <p:nvSpPr>
            <p:cNvPr id="10" name="object 10"/>
            <p:cNvSpPr/>
            <p:nvPr/>
          </p:nvSpPr>
          <p:spPr>
            <a:xfrm>
              <a:off x="4071937" y="3262312"/>
              <a:ext cx="3286125" cy="1543050"/>
            </a:xfrm>
            <a:custGeom>
              <a:avLst/>
              <a:gdLst/>
              <a:ahLst/>
              <a:cxnLst/>
              <a:rect l="l" t="t" r="r" b="b"/>
              <a:pathLst>
                <a:path w="3286125" h="1543050">
                  <a:moveTo>
                    <a:pt x="0" y="1488567"/>
                  </a:moveTo>
                  <a:lnTo>
                    <a:pt x="0" y="54483"/>
                  </a:lnTo>
                  <a:lnTo>
                    <a:pt x="0" y="50901"/>
                  </a:lnTo>
                  <a:lnTo>
                    <a:pt x="342" y="47358"/>
                  </a:lnTo>
                  <a:lnTo>
                    <a:pt x="1041" y="43853"/>
                  </a:lnTo>
                  <a:lnTo>
                    <a:pt x="1752" y="40347"/>
                  </a:lnTo>
                  <a:lnTo>
                    <a:pt x="2781" y="36931"/>
                  </a:lnTo>
                  <a:lnTo>
                    <a:pt x="4152" y="33629"/>
                  </a:lnTo>
                  <a:lnTo>
                    <a:pt x="5511" y="30327"/>
                  </a:lnTo>
                  <a:lnTo>
                    <a:pt x="7188" y="27190"/>
                  </a:lnTo>
                  <a:lnTo>
                    <a:pt x="9182" y="24206"/>
                  </a:lnTo>
                  <a:lnTo>
                    <a:pt x="11163" y="21234"/>
                  </a:lnTo>
                  <a:lnTo>
                    <a:pt x="13423" y="18491"/>
                  </a:lnTo>
                  <a:lnTo>
                    <a:pt x="15963" y="15951"/>
                  </a:lnTo>
                  <a:lnTo>
                    <a:pt x="18478" y="13423"/>
                  </a:lnTo>
                  <a:lnTo>
                    <a:pt x="21234" y="11163"/>
                  </a:lnTo>
                  <a:lnTo>
                    <a:pt x="24218" y="9182"/>
                  </a:lnTo>
                  <a:lnTo>
                    <a:pt x="27190" y="7188"/>
                  </a:lnTo>
                  <a:lnTo>
                    <a:pt x="30327" y="5511"/>
                  </a:lnTo>
                  <a:lnTo>
                    <a:pt x="33629" y="4152"/>
                  </a:lnTo>
                  <a:lnTo>
                    <a:pt x="36931" y="2781"/>
                  </a:lnTo>
                  <a:lnTo>
                    <a:pt x="40347" y="1739"/>
                  </a:lnTo>
                  <a:lnTo>
                    <a:pt x="43853" y="1041"/>
                  </a:lnTo>
                  <a:lnTo>
                    <a:pt x="47358" y="342"/>
                  </a:lnTo>
                  <a:lnTo>
                    <a:pt x="50901" y="0"/>
                  </a:lnTo>
                  <a:lnTo>
                    <a:pt x="54483" y="0"/>
                  </a:lnTo>
                  <a:lnTo>
                    <a:pt x="3231642" y="0"/>
                  </a:lnTo>
                  <a:lnTo>
                    <a:pt x="3235223" y="0"/>
                  </a:lnTo>
                  <a:lnTo>
                    <a:pt x="3238766" y="342"/>
                  </a:lnTo>
                  <a:lnTo>
                    <a:pt x="3242271" y="1041"/>
                  </a:lnTo>
                  <a:lnTo>
                    <a:pt x="3245777" y="1739"/>
                  </a:lnTo>
                  <a:lnTo>
                    <a:pt x="3249180" y="2781"/>
                  </a:lnTo>
                  <a:lnTo>
                    <a:pt x="3252495" y="4152"/>
                  </a:lnTo>
                  <a:lnTo>
                    <a:pt x="3255797" y="5511"/>
                  </a:lnTo>
                  <a:lnTo>
                    <a:pt x="3258934" y="7188"/>
                  </a:lnTo>
                  <a:lnTo>
                    <a:pt x="3261906" y="9182"/>
                  </a:lnTo>
                  <a:lnTo>
                    <a:pt x="3264890" y="11163"/>
                  </a:lnTo>
                  <a:lnTo>
                    <a:pt x="3267633" y="13423"/>
                  </a:lnTo>
                  <a:lnTo>
                    <a:pt x="3270161" y="15951"/>
                  </a:lnTo>
                  <a:lnTo>
                    <a:pt x="3272701" y="18491"/>
                  </a:lnTo>
                  <a:lnTo>
                    <a:pt x="3281972" y="33629"/>
                  </a:lnTo>
                  <a:lnTo>
                    <a:pt x="3283343" y="36931"/>
                  </a:lnTo>
                  <a:lnTo>
                    <a:pt x="3284385" y="40347"/>
                  </a:lnTo>
                  <a:lnTo>
                    <a:pt x="3285083" y="43853"/>
                  </a:lnTo>
                  <a:lnTo>
                    <a:pt x="3285782" y="47358"/>
                  </a:lnTo>
                  <a:lnTo>
                    <a:pt x="3286125" y="50901"/>
                  </a:lnTo>
                  <a:lnTo>
                    <a:pt x="3286125" y="54483"/>
                  </a:lnTo>
                  <a:lnTo>
                    <a:pt x="3286125" y="1488567"/>
                  </a:lnTo>
                  <a:lnTo>
                    <a:pt x="3286125" y="1492148"/>
                  </a:lnTo>
                  <a:lnTo>
                    <a:pt x="3285782" y="1495691"/>
                  </a:lnTo>
                  <a:lnTo>
                    <a:pt x="3285083" y="1499196"/>
                  </a:lnTo>
                  <a:lnTo>
                    <a:pt x="3284385" y="1502702"/>
                  </a:lnTo>
                  <a:lnTo>
                    <a:pt x="3283343" y="1506105"/>
                  </a:lnTo>
                  <a:lnTo>
                    <a:pt x="3281972" y="1509420"/>
                  </a:lnTo>
                  <a:lnTo>
                    <a:pt x="3280613" y="1512722"/>
                  </a:lnTo>
                  <a:lnTo>
                    <a:pt x="3278936" y="1515859"/>
                  </a:lnTo>
                  <a:lnTo>
                    <a:pt x="3276942" y="1518831"/>
                  </a:lnTo>
                  <a:lnTo>
                    <a:pt x="3274949" y="1521802"/>
                  </a:lnTo>
                  <a:lnTo>
                    <a:pt x="3272701" y="1524558"/>
                  </a:lnTo>
                  <a:lnTo>
                    <a:pt x="3270161" y="1527086"/>
                  </a:lnTo>
                  <a:lnTo>
                    <a:pt x="3267633" y="1529626"/>
                  </a:lnTo>
                  <a:lnTo>
                    <a:pt x="3235223" y="1543050"/>
                  </a:lnTo>
                  <a:lnTo>
                    <a:pt x="3231642" y="1543050"/>
                  </a:lnTo>
                  <a:lnTo>
                    <a:pt x="54483" y="1543050"/>
                  </a:lnTo>
                  <a:lnTo>
                    <a:pt x="50901" y="1543050"/>
                  </a:lnTo>
                  <a:lnTo>
                    <a:pt x="47358" y="1542694"/>
                  </a:lnTo>
                  <a:lnTo>
                    <a:pt x="15963" y="1527086"/>
                  </a:lnTo>
                  <a:lnTo>
                    <a:pt x="13423" y="1524558"/>
                  </a:lnTo>
                  <a:lnTo>
                    <a:pt x="11163" y="1521802"/>
                  </a:lnTo>
                  <a:lnTo>
                    <a:pt x="9182" y="1518831"/>
                  </a:lnTo>
                  <a:lnTo>
                    <a:pt x="7188" y="1515859"/>
                  </a:lnTo>
                  <a:lnTo>
                    <a:pt x="5511" y="1512722"/>
                  </a:lnTo>
                  <a:lnTo>
                    <a:pt x="4152" y="1509420"/>
                  </a:lnTo>
                  <a:lnTo>
                    <a:pt x="2781" y="1506105"/>
                  </a:lnTo>
                  <a:lnTo>
                    <a:pt x="1752" y="1502702"/>
                  </a:lnTo>
                  <a:lnTo>
                    <a:pt x="1041" y="1499196"/>
                  </a:lnTo>
                  <a:lnTo>
                    <a:pt x="342" y="1495691"/>
                  </a:lnTo>
                  <a:lnTo>
                    <a:pt x="0" y="1492148"/>
                  </a:lnTo>
                  <a:lnTo>
                    <a:pt x="0" y="1488567"/>
                  </a:lnTo>
                  <a:close/>
                </a:path>
              </a:pathLst>
            </a:custGeom>
            <a:ln w="9525">
              <a:solidFill>
                <a:srgbClr val="DFB7BB"/>
              </a:solidFill>
            </a:ln>
          </p:spPr>
          <p:txBody>
            <a:bodyPr wrap="square" lIns="0" tIns="0" rIns="0" bIns="0" rtlCol="0"/>
            <a:lstStyle/>
            <a:p>
              <a:endParaRPr/>
            </a:p>
          </p:txBody>
        </p:sp>
      </p:grpSp>
      <p:sp>
        <p:nvSpPr>
          <p:cNvPr id="11" name="object 11"/>
          <p:cNvSpPr txBox="1"/>
          <p:nvPr/>
        </p:nvSpPr>
        <p:spPr>
          <a:xfrm>
            <a:off x="4229798" y="3412680"/>
            <a:ext cx="2832100" cy="910590"/>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Connected</a:t>
            </a:r>
            <a:endParaRPr sz="1750">
              <a:latin typeface="Verdana"/>
              <a:cs typeface="Verdana"/>
            </a:endParaRPr>
          </a:p>
          <a:p>
            <a:pPr marL="12700" marR="5080">
              <a:lnSpc>
                <a:spcPct val="134600"/>
              </a:lnSpc>
              <a:spcBef>
                <a:spcPts val="660"/>
              </a:spcBef>
            </a:pPr>
            <a:r>
              <a:rPr sz="1300" dirty="0">
                <a:solidFill>
                  <a:srgbClr val="3A3535"/>
                </a:solidFill>
                <a:latin typeface="Century Gothic"/>
                <a:cs typeface="Century Gothic"/>
              </a:rPr>
              <a:t>Content,</a:t>
            </a:r>
            <a:r>
              <a:rPr sz="1300" spc="25" dirty="0">
                <a:solidFill>
                  <a:srgbClr val="3A3535"/>
                </a:solidFill>
                <a:latin typeface="Century Gothic"/>
                <a:cs typeface="Century Gothic"/>
              </a:rPr>
              <a:t> </a:t>
            </a:r>
            <a:r>
              <a:rPr sz="1300" spc="-30" dirty="0">
                <a:solidFill>
                  <a:srgbClr val="3A3535"/>
                </a:solidFill>
                <a:latin typeface="Century Gothic"/>
                <a:cs typeface="Century Gothic"/>
              </a:rPr>
              <a:t>data,</a:t>
            </a:r>
            <a:r>
              <a:rPr sz="1300" spc="2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25" dirty="0">
                <a:solidFill>
                  <a:srgbClr val="3A3535"/>
                </a:solidFill>
                <a:latin typeface="Century Gothic"/>
                <a:cs typeface="Century Gothic"/>
              </a:rPr>
              <a:t> </a:t>
            </a:r>
            <a:r>
              <a:rPr sz="1300" spc="75" dirty="0">
                <a:solidFill>
                  <a:srgbClr val="3A3535"/>
                </a:solidFill>
                <a:latin typeface="Century Gothic"/>
                <a:cs typeface="Century Gothic"/>
              </a:rPr>
              <a:t>workflows</a:t>
            </a:r>
            <a:r>
              <a:rPr sz="1300" spc="25" dirty="0">
                <a:solidFill>
                  <a:srgbClr val="3A3535"/>
                </a:solidFill>
                <a:latin typeface="Century Gothic"/>
                <a:cs typeface="Century Gothic"/>
              </a:rPr>
              <a:t> </a:t>
            </a:r>
            <a:r>
              <a:rPr sz="1300" spc="-20" dirty="0">
                <a:solidFill>
                  <a:srgbClr val="3A3535"/>
                </a:solidFill>
                <a:latin typeface="Century Gothic"/>
                <a:cs typeface="Century Gothic"/>
              </a:rPr>
              <a:t>live </a:t>
            </a:r>
            <a:r>
              <a:rPr sz="1300" spc="90" dirty="0">
                <a:solidFill>
                  <a:srgbClr val="3A3535"/>
                </a:solidFill>
                <a:latin typeface="Century Gothic"/>
                <a:cs typeface="Century Gothic"/>
              </a:rPr>
              <a:t>in</a:t>
            </a:r>
            <a:r>
              <a:rPr sz="1300" spc="-25" dirty="0">
                <a:solidFill>
                  <a:srgbClr val="3A3535"/>
                </a:solidFill>
                <a:latin typeface="Century Gothic"/>
                <a:cs typeface="Century Gothic"/>
              </a:rPr>
              <a:t> </a:t>
            </a:r>
            <a:r>
              <a:rPr sz="1300" dirty="0">
                <a:solidFill>
                  <a:srgbClr val="3A3535"/>
                </a:solidFill>
                <a:latin typeface="Century Gothic"/>
                <a:cs typeface="Century Gothic"/>
              </a:rPr>
              <a:t>one</a:t>
            </a:r>
            <a:r>
              <a:rPr sz="1300" spc="-20" dirty="0">
                <a:solidFill>
                  <a:srgbClr val="3A3535"/>
                </a:solidFill>
                <a:latin typeface="Century Gothic"/>
                <a:cs typeface="Century Gothic"/>
              </a:rPr>
              <a:t> </a:t>
            </a:r>
            <a:r>
              <a:rPr sz="1300" spc="40" dirty="0">
                <a:solidFill>
                  <a:srgbClr val="3A3535"/>
                </a:solidFill>
                <a:latin typeface="Century Gothic"/>
                <a:cs typeface="Century Gothic"/>
              </a:rPr>
              <a:t>environment</a:t>
            </a:r>
            <a:endParaRPr sz="1300">
              <a:latin typeface="Century Gothic"/>
              <a:cs typeface="Century Gothic"/>
            </a:endParaRPr>
          </a:p>
        </p:txBody>
      </p:sp>
      <p:grpSp>
        <p:nvGrpSpPr>
          <p:cNvPr id="12" name="object 12"/>
          <p:cNvGrpSpPr/>
          <p:nvPr/>
        </p:nvGrpSpPr>
        <p:grpSpPr>
          <a:xfrm>
            <a:off x="7534275" y="3257550"/>
            <a:ext cx="3305175" cy="1552575"/>
            <a:chOff x="7534275" y="3257550"/>
            <a:chExt cx="3305175" cy="1552575"/>
          </a:xfrm>
        </p:grpSpPr>
        <p:sp>
          <p:nvSpPr>
            <p:cNvPr id="13" name="object 13"/>
            <p:cNvSpPr/>
            <p:nvPr/>
          </p:nvSpPr>
          <p:spPr>
            <a:xfrm>
              <a:off x="7539037" y="3262312"/>
              <a:ext cx="3295650" cy="1543050"/>
            </a:xfrm>
            <a:custGeom>
              <a:avLst/>
              <a:gdLst/>
              <a:ahLst/>
              <a:cxnLst/>
              <a:rect l="l" t="t" r="r" b="b"/>
              <a:pathLst>
                <a:path w="3295650" h="1543050">
                  <a:moveTo>
                    <a:pt x="3244748" y="0"/>
                  </a:moveTo>
                  <a:lnTo>
                    <a:pt x="50901" y="0"/>
                  </a:lnTo>
                  <a:lnTo>
                    <a:pt x="47358" y="342"/>
                  </a:lnTo>
                  <a:lnTo>
                    <a:pt x="13423" y="18491"/>
                  </a:lnTo>
                  <a:lnTo>
                    <a:pt x="0" y="50901"/>
                  </a:lnTo>
                  <a:lnTo>
                    <a:pt x="0" y="1488567"/>
                  </a:lnTo>
                  <a:lnTo>
                    <a:pt x="0" y="1492148"/>
                  </a:lnTo>
                  <a:lnTo>
                    <a:pt x="18478" y="1529626"/>
                  </a:lnTo>
                  <a:lnTo>
                    <a:pt x="50901" y="1543050"/>
                  </a:lnTo>
                  <a:lnTo>
                    <a:pt x="3244748" y="1543050"/>
                  </a:lnTo>
                  <a:lnTo>
                    <a:pt x="3282226" y="1524558"/>
                  </a:lnTo>
                  <a:lnTo>
                    <a:pt x="3295650" y="1492148"/>
                  </a:lnTo>
                  <a:lnTo>
                    <a:pt x="3295650" y="50901"/>
                  </a:lnTo>
                  <a:lnTo>
                    <a:pt x="3277158" y="13423"/>
                  </a:lnTo>
                  <a:lnTo>
                    <a:pt x="3248291" y="342"/>
                  </a:lnTo>
                  <a:lnTo>
                    <a:pt x="3244748" y="0"/>
                  </a:lnTo>
                  <a:close/>
                </a:path>
              </a:pathLst>
            </a:custGeom>
            <a:solidFill>
              <a:srgbClr val="F9D2D6"/>
            </a:solidFill>
          </p:spPr>
          <p:txBody>
            <a:bodyPr wrap="square" lIns="0" tIns="0" rIns="0" bIns="0" rtlCol="0"/>
            <a:lstStyle/>
            <a:p>
              <a:endParaRPr/>
            </a:p>
          </p:txBody>
        </p:sp>
        <p:sp>
          <p:nvSpPr>
            <p:cNvPr id="14" name="object 14"/>
            <p:cNvSpPr/>
            <p:nvPr/>
          </p:nvSpPr>
          <p:spPr>
            <a:xfrm>
              <a:off x="7539037" y="3262312"/>
              <a:ext cx="3295650" cy="1543050"/>
            </a:xfrm>
            <a:custGeom>
              <a:avLst/>
              <a:gdLst/>
              <a:ahLst/>
              <a:cxnLst/>
              <a:rect l="l" t="t" r="r" b="b"/>
              <a:pathLst>
                <a:path w="3295650" h="1543050">
                  <a:moveTo>
                    <a:pt x="0" y="1488567"/>
                  </a:moveTo>
                  <a:lnTo>
                    <a:pt x="0" y="54483"/>
                  </a:lnTo>
                  <a:lnTo>
                    <a:pt x="0" y="50901"/>
                  </a:lnTo>
                  <a:lnTo>
                    <a:pt x="342" y="47358"/>
                  </a:lnTo>
                  <a:lnTo>
                    <a:pt x="1041" y="43853"/>
                  </a:lnTo>
                  <a:lnTo>
                    <a:pt x="1752" y="40347"/>
                  </a:lnTo>
                  <a:lnTo>
                    <a:pt x="2781" y="36931"/>
                  </a:lnTo>
                  <a:lnTo>
                    <a:pt x="4152" y="33629"/>
                  </a:lnTo>
                  <a:lnTo>
                    <a:pt x="5511" y="30327"/>
                  </a:lnTo>
                  <a:lnTo>
                    <a:pt x="7188" y="27190"/>
                  </a:lnTo>
                  <a:lnTo>
                    <a:pt x="9182" y="24206"/>
                  </a:lnTo>
                  <a:lnTo>
                    <a:pt x="11163" y="21234"/>
                  </a:lnTo>
                  <a:lnTo>
                    <a:pt x="24206" y="9182"/>
                  </a:lnTo>
                  <a:lnTo>
                    <a:pt x="27190" y="7188"/>
                  </a:lnTo>
                  <a:lnTo>
                    <a:pt x="30327" y="5511"/>
                  </a:lnTo>
                  <a:lnTo>
                    <a:pt x="33629" y="4152"/>
                  </a:lnTo>
                  <a:lnTo>
                    <a:pt x="36931" y="2781"/>
                  </a:lnTo>
                  <a:lnTo>
                    <a:pt x="40347" y="1739"/>
                  </a:lnTo>
                  <a:lnTo>
                    <a:pt x="43853" y="1041"/>
                  </a:lnTo>
                  <a:lnTo>
                    <a:pt x="47358" y="342"/>
                  </a:lnTo>
                  <a:lnTo>
                    <a:pt x="50901" y="0"/>
                  </a:lnTo>
                  <a:lnTo>
                    <a:pt x="54483" y="0"/>
                  </a:lnTo>
                  <a:lnTo>
                    <a:pt x="3241167" y="0"/>
                  </a:lnTo>
                  <a:lnTo>
                    <a:pt x="3244748" y="0"/>
                  </a:lnTo>
                  <a:lnTo>
                    <a:pt x="3248291" y="342"/>
                  </a:lnTo>
                  <a:lnTo>
                    <a:pt x="3251796" y="1041"/>
                  </a:lnTo>
                  <a:lnTo>
                    <a:pt x="3255302" y="1739"/>
                  </a:lnTo>
                  <a:lnTo>
                    <a:pt x="3258705" y="2781"/>
                  </a:lnTo>
                  <a:lnTo>
                    <a:pt x="3262020" y="4152"/>
                  </a:lnTo>
                  <a:lnTo>
                    <a:pt x="3265322" y="5511"/>
                  </a:lnTo>
                  <a:lnTo>
                    <a:pt x="3268459" y="7188"/>
                  </a:lnTo>
                  <a:lnTo>
                    <a:pt x="3271431" y="9182"/>
                  </a:lnTo>
                  <a:lnTo>
                    <a:pt x="3274415" y="11163"/>
                  </a:lnTo>
                  <a:lnTo>
                    <a:pt x="3277158" y="13423"/>
                  </a:lnTo>
                  <a:lnTo>
                    <a:pt x="3279686" y="15951"/>
                  </a:lnTo>
                  <a:lnTo>
                    <a:pt x="3282226" y="18491"/>
                  </a:lnTo>
                  <a:lnTo>
                    <a:pt x="3291497" y="33629"/>
                  </a:lnTo>
                  <a:lnTo>
                    <a:pt x="3292868" y="36931"/>
                  </a:lnTo>
                  <a:lnTo>
                    <a:pt x="3293910" y="40347"/>
                  </a:lnTo>
                  <a:lnTo>
                    <a:pt x="3294608" y="43853"/>
                  </a:lnTo>
                  <a:lnTo>
                    <a:pt x="3295307" y="47358"/>
                  </a:lnTo>
                  <a:lnTo>
                    <a:pt x="3295650" y="50901"/>
                  </a:lnTo>
                  <a:lnTo>
                    <a:pt x="3295650" y="54483"/>
                  </a:lnTo>
                  <a:lnTo>
                    <a:pt x="3295650" y="1488567"/>
                  </a:lnTo>
                  <a:lnTo>
                    <a:pt x="3295650" y="1492148"/>
                  </a:lnTo>
                  <a:lnTo>
                    <a:pt x="3295307" y="1495691"/>
                  </a:lnTo>
                  <a:lnTo>
                    <a:pt x="3294608" y="1499196"/>
                  </a:lnTo>
                  <a:lnTo>
                    <a:pt x="3293910" y="1502702"/>
                  </a:lnTo>
                  <a:lnTo>
                    <a:pt x="3292868" y="1506105"/>
                  </a:lnTo>
                  <a:lnTo>
                    <a:pt x="3291497" y="1509420"/>
                  </a:lnTo>
                  <a:lnTo>
                    <a:pt x="3290138" y="1512722"/>
                  </a:lnTo>
                  <a:lnTo>
                    <a:pt x="3288461" y="1515859"/>
                  </a:lnTo>
                  <a:lnTo>
                    <a:pt x="3286467" y="1518831"/>
                  </a:lnTo>
                  <a:lnTo>
                    <a:pt x="3284486" y="1521802"/>
                  </a:lnTo>
                  <a:lnTo>
                    <a:pt x="3282226" y="1524558"/>
                  </a:lnTo>
                  <a:lnTo>
                    <a:pt x="3279686" y="1527086"/>
                  </a:lnTo>
                  <a:lnTo>
                    <a:pt x="3277158" y="1529626"/>
                  </a:lnTo>
                  <a:lnTo>
                    <a:pt x="3244748" y="1543050"/>
                  </a:lnTo>
                  <a:lnTo>
                    <a:pt x="3241167" y="1543050"/>
                  </a:lnTo>
                  <a:lnTo>
                    <a:pt x="54483" y="1543050"/>
                  </a:lnTo>
                  <a:lnTo>
                    <a:pt x="50901" y="1543050"/>
                  </a:lnTo>
                  <a:lnTo>
                    <a:pt x="47358" y="1542694"/>
                  </a:lnTo>
                  <a:lnTo>
                    <a:pt x="15951" y="1527086"/>
                  </a:lnTo>
                  <a:lnTo>
                    <a:pt x="13423" y="1524558"/>
                  </a:lnTo>
                  <a:lnTo>
                    <a:pt x="11163" y="1521802"/>
                  </a:lnTo>
                  <a:lnTo>
                    <a:pt x="9182" y="1518831"/>
                  </a:lnTo>
                  <a:lnTo>
                    <a:pt x="7188" y="1515859"/>
                  </a:lnTo>
                  <a:lnTo>
                    <a:pt x="5511" y="1512722"/>
                  </a:lnTo>
                  <a:lnTo>
                    <a:pt x="4152" y="1509420"/>
                  </a:lnTo>
                  <a:lnTo>
                    <a:pt x="2781" y="1506105"/>
                  </a:lnTo>
                  <a:lnTo>
                    <a:pt x="1752" y="1502702"/>
                  </a:lnTo>
                  <a:lnTo>
                    <a:pt x="1041" y="1499196"/>
                  </a:lnTo>
                  <a:lnTo>
                    <a:pt x="342" y="1495691"/>
                  </a:lnTo>
                  <a:lnTo>
                    <a:pt x="0" y="1492148"/>
                  </a:lnTo>
                  <a:lnTo>
                    <a:pt x="0" y="1488567"/>
                  </a:lnTo>
                  <a:close/>
                </a:path>
              </a:pathLst>
            </a:custGeom>
            <a:ln w="9525">
              <a:solidFill>
                <a:srgbClr val="DFB7BB"/>
              </a:solidFill>
            </a:ln>
          </p:spPr>
          <p:txBody>
            <a:bodyPr wrap="square" lIns="0" tIns="0" rIns="0" bIns="0" rtlCol="0"/>
            <a:lstStyle/>
            <a:p>
              <a:endParaRPr/>
            </a:p>
          </p:txBody>
        </p:sp>
      </p:grpSp>
      <p:sp>
        <p:nvSpPr>
          <p:cNvPr id="15" name="object 15"/>
          <p:cNvSpPr txBox="1"/>
          <p:nvPr/>
        </p:nvSpPr>
        <p:spPr>
          <a:xfrm>
            <a:off x="7701356" y="3412680"/>
            <a:ext cx="2760980" cy="118681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Controlled</a:t>
            </a:r>
            <a:endParaRPr sz="1750">
              <a:latin typeface="Verdana"/>
              <a:cs typeface="Verdana"/>
            </a:endParaRPr>
          </a:p>
          <a:p>
            <a:pPr marL="12700" marR="5080">
              <a:lnSpc>
                <a:spcPct val="137000"/>
              </a:lnSpc>
              <a:spcBef>
                <a:spcPts val="625"/>
              </a:spcBef>
            </a:pPr>
            <a:r>
              <a:rPr sz="1300" spc="-35" dirty="0">
                <a:solidFill>
                  <a:srgbClr val="3A3535"/>
                </a:solidFill>
                <a:latin typeface="Century Gothic"/>
                <a:cs typeface="Century Gothic"/>
              </a:rPr>
              <a:t>Can</a:t>
            </a:r>
            <a:r>
              <a:rPr sz="1300" spc="25" dirty="0">
                <a:solidFill>
                  <a:srgbClr val="3A3535"/>
                </a:solidFill>
                <a:latin typeface="Century Gothic"/>
                <a:cs typeface="Century Gothic"/>
              </a:rPr>
              <a:t> </a:t>
            </a:r>
            <a:r>
              <a:rPr sz="1300" spc="75" dirty="0">
                <a:solidFill>
                  <a:srgbClr val="3A3535"/>
                </a:solidFill>
                <a:latin typeface="Century Gothic"/>
                <a:cs typeface="Century Gothic"/>
              </a:rPr>
              <a:t>run</a:t>
            </a:r>
            <a:r>
              <a:rPr sz="1300" spc="30" dirty="0">
                <a:solidFill>
                  <a:srgbClr val="3A3535"/>
                </a:solidFill>
                <a:latin typeface="Century Gothic"/>
                <a:cs typeface="Century Gothic"/>
              </a:rPr>
              <a:t> </a:t>
            </a:r>
            <a:r>
              <a:rPr sz="1300" dirty="0">
                <a:solidFill>
                  <a:srgbClr val="3A3535"/>
                </a:solidFill>
                <a:latin typeface="Century Gothic"/>
                <a:cs typeface="Century Gothic"/>
              </a:rPr>
              <a:t>under</a:t>
            </a:r>
            <a:r>
              <a:rPr sz="1300" spc="30" dirty="0">
                <a:solidFill>
                  <a:srgbClr val="3A3535"/>
                </a:solidFill>
                <a:latin typeface="Century Gothic"/>
                <a:cs typeface="Century Gothic"/>
              </a:rPr>
              <a:t> </a:t>
            </a:r>
            <a:r>
              <a:rPr sz="1300" spc="65" dirty="0">
                <a:solidFill>
                  <a:srgbClr val="3A3535"/>
                </a:solidFill>
                <a:latin typeface="Century Gothic"/>
                <a:cs typeface="Century Gothic"/>
              </a:rPr>
              <a:t>university </a:t>
            </a:r>
            <a:r>
              <a:rPr sz="1300" dirty="0">
                <a:solidFill>
                  <a:srgbClr val="3A3535"/>
                </a:solidFill>
                <a:latin typeface="Century Gothic"/>
                <a:cs typeface="Century Gothic"/>
              </a:rPr>
              <a:t>governance</a:t>
            </a:r>
            <a:r>
              <a:rPr sz="1300" spc="-4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45" dirty="0">
                <a:solidFill>
                  <a:srgbClr val="3A3535"/>
                </a:solidFill>
                <a:latin typeface="Century Gothic"/>
                <a:cs typeface="Century Gothic"/>
              </a:rPr>
              <a:t> </a:t>
            </a:r>
            <a:r>
              <a:rPr sz="1300" spc="-40" dirty="0">
                <a:solidFill>
                  <a:srgbClr val="3A3535"/>
                </a:solidFill>
                <a:latin typeface="Century Gothic"/>
                <a:cs typeface="Century Gothic"/>
              </a:rPr>
              <a:t>data </a:t>
            </a:r>
            <a:r>
              <a:rPr sz="1300" spc="45" dirty="0">
                <a:solidFill>
                  <a:srgbClr val="3A3535"/>
                </a:solidFill>
                <a:latin typeface="Century Gothic"/>
                <a:cs typeface="Century Gothic"/>
              </a:rPr>
              <a:t>protection </a:t>
            </a:r>
            <a:r>
              <a:rPr sz="1300" spc="50" dirty="0">
                <a:solidFill>
                  <a:srgbClr val="3A3535"/>
                </a:solidFill>
                <a:latin typeface="Century Gothic"/>
                <a:cs typeface="Century Gothic"/>
              </a:rPr>
              <a:t>requirements</a:t>
            </a:r>
            <a:endParaRPr sz="1300">
              <a:latin typeface="Century Gothic"/>
              <a:cs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9640" y="1132586"/>
            <a:ext cx="5031740" cy="560070"/>
          </a:xfrm>
          <a:prstGeom prst="rect">
            <a:avLst/>
          </a:prstGeom>
        </p:spPr>
        <p:txBody>
          <a:bodyPr vert="horz" wrap="square" lIns="0" tIns="13335" rIns="0" bIns="0" rtlCol="0">
            <a:spAutoFit/>
          </a:bodyPr>
          <a:lstStyle/>
          <a:p>
            <a:pPr marL="12700">
              <a:lnSpc>
                <a:spcPct val="100000"/>
              </a:lnSpc>
              <a:spcBef>
                <a:spcPts val="105"/>
              </a:spcBef>
            </a:pPr>
            <a:r>
              <a:rPr spc="-180" dirty="0"/>
              <a:t>How</a:t>
            </a:r>
            <a:r>
              <a:rPr spc="-400" dirty="0"/>
              <a:t> </a:t>
            </a:r>
            <a:r>
              <a:rPr spc="-130" dirty="0"/>
              <a:t>SelfHelp</a:t>
            </a:r>
            <a:r>
              <a:rPr spc="-400" dirty="0"/>
              <a:t> </a:t>
            </a:r>
            <a:r>
              <a:rPr spc="-150" dirty="0"/>
              <a:t>Evolved</a:t>
            </a:r>
          </a:p>
        </p:txBody>
      </p:sp>
      <p:grpSp>
        <p:nvGrpSpPr>
          <p:cNvPr id="3" name="object 3"/>
          <p:cNvGrpSpPr/>
          <p:nvPr/>
        </p:nvGrpSpPr>
        <p:grpSpPr>
          <a:xfrm>
            <a:off x="590550" y="3162223"/>
            <a:ext cx="10248900" cy="695325"/>
            <a:chOff x="590550" y="3162223"/>
            <a:chExt cx="10248900" cy="695325"/>
          </a:xfrm>
        </p:grpSpPr>
        <p:sp>
          <p:nvSpPr>
            <p:cNvPr id="4" name="object 4"/>
            <p:cNvSpPr/>
            <p:nvPr/>
          </p:nvSpPr>
          <p:spPr>
            <a:xfrm>
              <a:off x="590550" y="3162223"/>
              <a:ext cx="10248900" cy="524510"/>
            </a:xfrm>
            <a:custGeom>
              <a:avLst/>
              <a:gdLst/>
              <a:ahLst/>
              <a:cxnLst/>
              <a:rect l="l" t="t" r="r" b="b"/>
              <a:pathLst>
                <a:path w="10248900" h="524510">
                  <a:moveTo>
                    <a:pt x="2000250" y="6896"/>
                  </a:moveTo>
                  <a:lnTo>
                    <a:pt x="1999322" y="4648"/>
                  </a:lnTo>
                  <a:lnTo>
                    <a:pt x="1995601" y="927"/>
                  </a:lnTo>
                  <a:lnTo>
                    <a:pt x="1993353" y="0"/>
                  </a:lnTo>
                  <a:lnTo>
                    <a:pt x="1988096" y="0"/>
                  </a:lnTo>
                  <a:lnTo>
                    <a:pt x="1985848" y="927"/>
                  </a:lnTo>
                  <a:lnTo>
                    <a:pt x="1982127" y="4648"/>
                  </a:lnTo>
                  <a:lnTo>
                    <a:pt x="1981200" y="6896"/>
                  </a:lnTo>
                  <a:lnTo>
                    <a:pt x="1981200" y="495300"/>
                  </a:lnTo>
                  <a:lnTo>
                    <a:pt x="1981200" y="497928"/>
                  </a:lnTo>
                  <a:lnTo>
                    <a:pt x="1982127" y="500176"/>
                  </a:lnTo>
                  <a:lnTo>
                    <a:pt x="1985848" y="503897"/>
                  </a:lnTo>
                  <a:lnTo>
                    <a:pt x="1988096" y="504825"/>
                  </a:lnTo>
                  <a:lnTo>
                    <a:pt x="1993353" y="504825"/>
                  </a:lnTo>
                  <a:lnTo>
                    <a:pt x="1995601" y="503897"/>
                  </a:lnTo>
                  <a:lnTo>
                    <a:pt x="1999322" y="500176"/>
                  </a:lnTo>
                  <a:lnTo>
                    <a:pt x="2000250" y="497928"/>
                  </a:lnTo>
                  <a:lnTo>
                    <a:pt x="2000250" y="6896"/>
                  </a:lnTo>
                  <a:close/>
                </a:path>
                <a:path w="10248900" h="524510">
                  <a:moveTo>
                    <a:pt x="10248900" y="511797"/>
                  </a:moveTo>
                  <a:lnTo>
                    <a:pt x="10247973" y="509549"/>
                  </a:lnTo>
                  <a:lnTo>
                    <a:pt x="10244252" y="505828"/>
                  </a:lnTo>
                  <a:lnTo>
                    <a:pt x="10242004" y="504901"/>
                  </a:lnTo>
                  <a:lnTo>
                    <a:pt x="6896" y="504901"/>
                  </a:lnTo>
                  <a:lnTo>
                    <a:pt x="4648" y="505828"/>
                  </a:lnTo>
                  <a:lnTo>
                    <a:pt x="927" y="509549"/>
                  </a:lnTo>
                  <a:lnTo>
                    <a:pt x="0" y="511797"/>
                  </a:lnTo>
                  <a:lnTo>
                    <a:pt x="0" y="514426"/>
                  </a:lnTo>
                  <a:lnTo>
                    <a:pt x="0" y="517055"/>
                  </a:lnTo>
                  <a:lnTo>
                    <a:pt x="927" y="519303"/>
                  </a:lnTo>
                  <a:lnTo>
                    <a:pt x="4648" y="523024"/>
                  </a:lnTo>
                  <a:lnTo>
                    <a:pt x="6896" y="523951"/>
                  </a:lnTo>
                  <a:lnTo>
                    <a:pt x="10242004" y="523951"/>
                  </a:lnTo>
                  <a:lnTo>
                    <a:pt x="10244252" y="523024"/>
                  </a:lnTo>
                  <a:lnTo>
                    <a:pt x="10247973" y="519303"/>
                  </a:lnTo>
                  <a:lnTo>
                    <a:pt x="10248900" y="517055"/>
                  </a:lnTo>
                  <a:lnTo>
                    <a:pt x="10248900" y="511797"/>
                  </a:lnTo>
                  <a:close/>
                </a:path>
              </a:pathLst>
            </a:custGeom>
            <a:solidFill>
              <a:srgbClr val="DFB7BB"/>
            </a:solidFill>
          </p:spPr>
          <p:txBody>
            <a:bodyPr wrap="square" lIns="0" tIns="0" rIns="0" bIns="0" rtlCol="0"/>
            <a:lstStyle/>
            <a:p>
              <a:endParaRPr/>
            </a:p>
          </p:txBody>
        </p:sp>
        <p:sp>
          <p:nvSpPr>
            <p:cNvPr id="5" name="object 5"/>
            <p:cNvSpPr/>
            <p:nvPr/>
          </p:nvSpPr>
          <p:spPr>
            <a:xfrm>
              <a:off x="2395537" y="3481311"/>
              <a:ext cx="371475" cy="371475"/>
            </a:xfrm>
            <a:custGeom>
              <a:avLst/>
              <a:gdLst/>
              <a:ahLst/>
              <a:cxnLst/>
              <a:rect l="l" t="t" r="r" b="b"/>
              <a:pathLst>
                <a:path w="371475" h="371475">
                  <a:moveTo>
                    <a:pt x="320573" y="0"/>
                  </a:moveTo>
                  <a:lnTo>
                    <a:pt x="50901" y="0"/>
                  </a:lnTo>
                  <a:lnTo>
                    <a:pt x="47358" y="355"/>
                  </a:lnTo>
                  <a:lnTo>
                    <a:pt x="13423" y="18491"/>
                  </a:lnTo>
                  <a:lnTo>
                    <a:pt x="0" y="50901"/>
                  </a:lnTo>
                  <a:lnTo>
                    <a:pt x="0" y="316992"/>
                  </a:lnTo>
                  <a:lnTo>
                    <a:pt x="0" y="320573"/>
                  </a:lnTo>
                  <a:lnTo>
                    <a:pt x="18478" y="358051"/>
                  </a:lnTo>
                  <a:lnTo>
                    <a:pt x="50901" y="371475"/>
                  </a:lnTo>
                  <a:lnTo>
                    <a:pt x="320573" y="371475"/>
                  </a:lnTo>
                  <a:lnTo>
                    <a:pt x="358051" y="352983"/>
                  </a:lnTo>
                  <a:lnTo>
                    <a:pt x="371475" y="320573"/>
                  </a:lnTo>
                  <a:lnTo>
                    <a:pt x="371475" y="50901"/>
                  </a:lnTo>
                  <a:lnTo>
                    <a:pt x="352996" y="13423"/>
                  </a:lnTo>
                  <a:lnTo>
                    <a:pt x="324116" y="355"/>
                  </a:lnTo>
                  <a:lnTo>
                    <a:pt x="320573" y="0"/>
                  </a:lnTo>
                  <a:close/>
                </a:path>
              </a:pathLst>
            </a:custGeom>
            <a:solidFill>
              <a:srgbClr val="F9D2D6"/>
            </a:solidFill>
          </p:spPr>
          <p:txBody>
            <a:bodyPr wrap="square" lIns="0" tIns="0" rIns="0" bIns="0" rtlCol="0"/>
            <a:lstStyle/>
            <a:p>
              <a:endParaRPr/>
            </a:p>
          </p:txBody>
        </p:sp>
        <p:sp>
          <p:nvSpPr>
            <p:cNvPr id="6" name="object 6"/>
            <p:cNvSpPr/>
            <p:nvPr/>
          </p:nvSpPr>
          <p:spPr>
            <a:xfrm>
              <a:off x="2395537" y="3481311"/>
              <a:ext cx="371475" cy="371475"/>
            </a:xfrm>
            <a:custGeom>
              <a:avLst/>
              <a:gdLst/>
              <a:ahLst/>
              <a:cxnLst/>
              <a:rect l="l" t="t" r="r" b="b"/>
              <a:pathLst>
                <a:path w="371475" h="371475">
                  <a:moveTo>
                    <a:pt x="0" y="316992"/>
                  </a:moveTo>
                  <a:lnTo>
                    <a:pt x="0" y="54483"/>
                  </a:lnTo>
                  <a:lnTo>
                    <a:pt x="0" y="50901"/>
                  </a:lnTo>
                  <a:lnTo>
                    <a:pt x="342" y="47358"/>
                  </a:lnTo>
                  <a:lnTo>
                    <a:pt x="1041" y="43853"/>
                  </a:lnTo>
                  <a:lnTo>
                    <a:pt x="1752" y="40347"/>
                  </a:lnTo>
                  <a:lnTo>
                    <a:pt x="2781" y="36931"/>
                  </a:lnTo>
                  <a:lnTo>
                    <a:pt x="4152" y="33629"/>
                  </a:lnTo>
                  <a:lnTo>
                    <a:pt x="5511" y="30327"/>
                  </a:lnTo>
                  <a:lnTo>
                    <a:pt x="7188" y="27190"/>
                  </a:lnTo>
                  <a:lnTo>
                    <a:pt x="9182" y="24206"/>
                  </a:lnTo>
                  <a:lnTo>
                    <a:pt x="11163" y="21234"/>
                  </a:lnTo>
                  <a:lnTo>
                    <a:pt x="13423" y="18491"/>
                  </a:lnTo>
                  <a:lnTo>
                    <a:pt x="15963" y="15951"/>
                  </a:lnTo>
                  <a:lnTo>
                    <a:pt x="18478" y="13423"/>
                  </a:lnTo>
                  <a:lnTo>
                    <a:pt x="43853" y="1054"/>
                  </a:lnTo>
                  <a:lnTo>
                    <a:pt x="47358" y="355"/>
                  </a:lnTo>
                  <a:lnTo>
                    <a:pt x="50901" y="0"/>
                  </a:lnTo>
                  <a:lnTo>
                    <a:pt x="54483" y="0"/>
                  </a:lnTo>
                  <a:lnTo>
                    <a:pt x="316992" y="0"/>
                  </a:lnTo>
                  <a:lnTo>
                    <a:pt x="320573" y="0"/>
                  </a:lnTo>
                  <a:lnTo>
                    <a:pt x="324116" y="355"/>
                  </a:lnTo>
                  <a:lnTo>
                    <a:pt x="327621" y="1054"/>
                  </a:lnTo>
                  <a:lnTo>
                    <a:pt x="331127" y="1739"/>
                  </a:lnTo>
                  <a:lnTo>
                    <a:pt x="355511" y="15951"/>
                  </a:lnTo>
                  <a:lnTo>
                    <a:pt x="358051" y="18491"/>
                  </a:lnTo>
                  <a:lnTo>
                    <a:pt x="360311" y="21234"/>
                  </a:lnTo>
                  <a:lnTo>
                    <a:pt x="362292" y="24206"/>
                  </a:lnTo>
                  <a:lnTo>
                    <a:pt x="364286" y="27190"/>
                  </a:lnTo>
                  <a:lnTo>
                    <a:pt x="365963" y="30327"/>
                  </a:lnTo>
                  <a:lnTo>
                    <a:pt x="367322" y="33629"/>
                  </a:lnTo>
                  <a:lnTo>
                    <a:pt x="368693" y="36931"/>
                  </a:lnTo>
                  <a:lnTo>
                    <a:pt x="369735" y="40347"/>
                  </a:lnTo>
                  <a:lnTo>
                    <a:pt x="370433" y="43853"/>
                  </a:lnTo>
                  <a:lnTo>
                    <a:pt x="371132" y="47358"/>
                  </a:lnTo>
                  <a:lnTo>
                    <a:pt x="371475" y="50901"/>
                  </a:lnTo>
                  <a:lnTo>
                    <a:pt x="371475" y="54483"/>
                  </a:lnTo>
                  <a:lnTo>
                    <a:pt x="371475" y="316992"/>
                  </a:lnTo>
                  <a:lnTo>
                    <a:pt x="371475" y="320573"/>
                  </a:lnTo>
                  <a:lnTo>
                    <a:pt x="371132" y="324116"/>
                  </a:lnTo>
                  <a:lnTo>
                    <a:pt x="370433" y="327621"/>
                  </a:lnTo>
                  <a:lnTo>
                    <a:pt x="369735" y="331127"/>
                  </a:lnTo>
                  <a:lnTo>
                    <a:pt x="368693" y="334543"/>
                  </a:lnTo>
                  <a:lnTo>
                    <a:pt x="367322" y="337845"/>
                  </a:lnTo>
                  <a:lnTo>
                    <a:pt x="365963" y="341147"/>
                  </a:lnTo>
                  <a:lnTo>
                    <a:pt x="364286" y="344284"/>
                  </a:lnTo>
                  <a:lnTo>
                    <a:pt x="362292" y="347268"/>
                  </a:lnTo>
                  <a:lnTo>
                    <a:pt x="360311" y="350240"/>
                  </a:lnTo>
                  <a:lnTo>
                    <a:pt x="358051" y="352983"/>
                  </a:lnTo>
                  <a:lnTo>
                    <a:pt x="355511" y="355523"/>
                  </a:lnTo>
                  <a:lnTo>
                    <a:pt x="352996" y="358051"/>
                  </a:lnTo>
                  <a:lnTo>
                    <a:pt x="350240" y="360311"/>
                  </a:lnTo>
                  <a:lnTo>
                    <a:pt x="347256" y="362292"/>
                  </a:lnTo>
                  <a:lnTo>
                    <a:pt x="344284" y="364274"/>
                  </a:lnTo>
                  <a:lnTo>
                    <a:pt x="320573" y="371475"/>
                  </a:lnTo>
                  <a:lnTo>
                    <a:pt x="316992" y="371475"/>
                  </a:lnTo>
                  <a:lnTo>
                    <a:pt x="54483" y="371475"/>
                  </a:lnTo>
                  <a:lnTo>
                    <a:pt x="50901" y="371475"/>
                  </a:lnTo>
                  <a:lnTo>
                    <a:pt x="47358" y="371119"/>
                  </a:lnTo>
                  <a:lnTo>
                    <a:pt x="24218" y="362292"/>
                  </a:lnTo>
                  <a:lnTo>
                    <a:pt x="21234" y="360311"/>
                  </a:lnTo>
                  <a:lnTo>
                    <a:pt x="18478" y="358051"/>
                  </a:lnTo>
                  <a:lnTo>
                    <a:pt x="15963" y="355523"/>
                  </a:lnTo>
                  <a:lnTo>
                    <a:pt x="13423" y="352983"/>
                  </a:lnTo>
                  <a:lnTo>
                    <a:pt x="11163" y="350240"/>
                  </a:lnTo>
                  <a:lnTo>
                    <a:pt x="9182" y="347268"/>
                  </a:lnTo>
                  <a:lnTo>
                    <a:pt x="7188" y="344284"/>
                  </a:lnTo>
                  <a:lnTo>
                    <a:pt x="5511" y="341147"/>
                  </a:lnTo>
                  <a:lnTo>
                    <a:pt x="4152" y="337845"/>
                  </a:lnTo>
                  <a:lnTo>
                    <a:pt x="2781" y="334543"/>
                  </a:lnTo>
                  <a:lnTo>
                    <a:pt x="1752" y="331127"/>
                  </a:lnTo>
                  <a:lnTo>
                    <a:pt x="1041" y="327621"/>
                  </a:lnTo>
                  <a:lnTo>
                    <a:pt x="342" y="324116"/>
                  </a:lnTo>
                  <a:lnTo>
                    <a:pt x="0" y="320573"/>
                  </a:lnTo>
                  <a:lnTo>
                    <a:pt x="0" y="316992"/>
                  </a:lnTo>
                  <a:close/>
                </a:path>
              </a:pathLst>
            </a:custGeom>
            <a:ln w="9525">
              <a:solidFill>
                <a:srgbClr val="DFB7BB"/>
              </a:solidFill>
            </a:ln>
          </p:spPr>
          <p:txBody>
            <a:bodyPr wrap="square" lIns="0" tIns="0" rIns="0" bIns="0" rtlCol="0"/>
            <a:lstStyle/>
            <a:p>
              <a:endParaRPr/>
            </a:p>
          </p:txBody>
        </p:sp>
      </p:grpSp>
      <p:sp>
        <p:nvSpPr>
          <p:cNvPr id="7" name="object 7"/>
          <p:cNvSpPr txBox="1"/>
          <p:nvPr/>
        </p:nvSpPr>
        <p:spPr>
          <a:xfrm>
            <a:off x="2508224" y="3467836"/>
            <a:ext cx="139065" cy="346075"/>
          </a:xfrm>
          <a:prstGeom prst="rect">
            <a:avLst/>
          </a:prstGeom>
        </p:spPr>
        <p:txBody>
          <a:bodyPr vert="horz" wrap="square" lIns="0" tIns="12700" rIns="0" bIns="0" rtlCol="0">
            <a:spAutoFit/>
          </a:bodyPr>
          <a:lstStyle/>
          <a:p>
            <a:pPr marL="12700">
              <a:lnSpc>
                <a:spcPct val="100000"/>
              </a:lnSpc>
              <a:spcBef>
                <a:spcPts val="100"/>
              </a:spcBef>
            </a:pPr>
            <a:r>
              <a:rPr sz="2100" b="1" spc="-645" dirty="0">
                <a:solidFill>
                  <a:srgbClr val="3A3535"/>
                </a:solidFill>
                <a:latin typeface="Verdana"/>
                <a:cs typeface="Verdana"/>
              </a:rPr>
              <a:t>1</a:t>
            </a:r>
            <a:endParaRPr sz="2100">
              <a:latin typeface="Verdana"/>
              <a:cs typeface="Verdana"/>
            </a:endParaRPr>
          </a:p>
        </p:txBody>
      </p:sp>
      <p:sp>
        <p:nvSpPr>
          <p:cNvPr id="8" name="object 8"/>
          <p:cNvSpPr txBox="1"/>
          <p:nvPr/>
        </p:nvSpPr>
        <p:spPr>
          <a:xfrm>
            <a:off x="2293988" y="2041080"/>
            <a:ext cx="567690" cy="292735"/>
          </a:xfrm>
          <a:prstGeom prst="rect">
            <a:avLst/>
          </a:prstGeom>
        </p:spPr>
        <p:txBody>
          <a:bodyPr vert="horz" wrap="square" lIns="0" tIns="12700" rIns="0" bIns="0" rtlCol="0">
            <a:spAutoFit/>
          </a:bodyPr>
          <a:lstStyle/>
          <a:p>
            <a:pPr marL="12700">
              <a:lnSpc>
                <a:spcPct val="100000"/>
              </a:lnSpc>
              <a:spcBef>
                <a:spcPts val="100"/>
              </a:spcBef>
            </a:pPr>
            <a:r>
              <a:rPr sz="1750" b="1" spc="-170" dirty="0">
                <a:solidFill>
                  <a:srgbClr val="3A3535"/>
                </a:solidFill>
                <a:latin typeface="Verdana"/>
                <a:cs typeface="Verdana"/>
              </a:rPr>
              <a:t>2021</a:t>
            </a:r>
            <a:endParaRPr sz="1750">
              <a:latin typeface="Verdana"/>
              <a:cs typeface="Verdana"/>
            </a:endParaRPr>
          </a:p>
        </p:txBody>
      </p:sp>
      <p:sp>
        <p:nvSpPr>
          <p:cNvPr id="9" name="object 9"/>
          <p:cNvSpPr txBox="1"/>
          <p:nvPr/>
        </p:nvSpPr>
        <p:spPr>
          <a:xfrm>
            <a:off x="752424" y="2392875"/>
            <a:ext cx="3651885" cy="558800"/>
          </a:xfrm>
          <a:prstGeom prst="rect">
            <a:avLst/>
          </a:prstGeom>
        </p:spPr>
        <p:txBody>
          <a:bodyPr vert="horz" wrap="square" lIns="0" tIns="11430" rIns="0" bIns="0" rtlCol="0">
            <a:spAutoFit/>
          </a:bodyPr>
          <a:lstStyle/>
          <a:p>
            <a:pPr marL="1118235" marR="5080" indent="-1106170">
              <a:lnSpc>
                <a:spcPct val="134600"/>
              </a:lnSpc>
              <a:spcBef>
                <a:spcPts val="90"/>
              </a:spcBef>
            </a:pPr>
            <a:r>
              <a:rPr sz="1300" spc="85" dirty="0">
                <a:solidFill>
                  <a:srgbClr val="3A3535"/>
                </a:solidFill>
                <a:latin typeface="Century Gothic"/>
                <a:cs typeface="Century Gothic"/>
              </a:rPr>
              <a:t>Self-</a:t>
            </a:r>
            <a:r>
              <a:rPr sz="1300" spc="75" dirty="0">
                <a:solidFill>
                  <a:srgbClr val="3A3535"/>
                </a:solidFill>
                <a:latin typeface="Century Gothic"/>
                <a:cs typeface="Century Gothic"/>
              </a:rPr>
              <a:t>help</a:t>
            </a:r>
            <a:r>
              <a:rPr sz="1300" spc="1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15" dirty="0">
                <a:solidFill>
                  <a:srgbClr val="3A3535"/>
                </a:solidFill>
                <a:latin typeface="Century Gothic"/>
                <a:cs typeface="Century Gothic"/>
              </a:rPr>
              <a:t> </a:t>
            </a:r>
            <a:r>
              <a:rPr sz="1300" dirty="0">
                <a:solidFill>
                  <a:srgbClr val="3A3535"/>
                </a:solidFill>
                <a:latin typeface="Century Gothic"/>
                <a:cs typeface="Century Gothic"/>
              </a:rPr>
              <a:t>research</a:t>
            </a:r>
            <a:r>
              <a:rPr sz="1300" spc="20" dirty="0">
                <a:solidFill>
                  <a:srgbClr val="3A3535"/>
                </a:solidFill>
                <a:latin typeface="Century Gothic"/>
                <a:cs typeface="Century Gothic"/>
              </a:rPr>
              <a:t> </a:t>
            </a:r>
            <a:r>
              <a:rPr sz="1300" spc="70" dirty="0">
                <a:solidFill>
                  <a:srgbClr val="3A3535"/>
                </a:solidFill>
                <a:latin typeface="Century Gothic"/>
                <a:cs typeface="Century Gothic"/>
              </a:rPr>
              <a:t>websites</a:t>
            </a:r>
            <a:r>
              <a:rPr sz="1300" spc="15" dirty="0">
                <a:solidFill>
                  <a:srgbClr val="3A3535"/>
                </a:solidFill>
                <a:latin typeface="Century Gothic"/>
                <a:cs typeface="Century Gothic"/>
              </a:rPr>
              <a:t> </a:t>
            </a:r>
            <a:r>
              <a:rPr sz="1300" spc="-125" dirty="0">
                <a:solidFill>
                  <a:srgbClr val="3A3535"/>
                </a:solidFill>
                <a:latin typeface="Century Gothic"/>
                <a:cs typeface="Century Gothic"/>
              </a:rPr>
              <a:t>—</a:t>
            </a:r>
            <a:r>
              <a:rPr sz="1300" spc="20" dirty="0">
                <a:solidFill>
                  <a:srgbClr val="3A3535"/>
                </a:solidFill>
                <a:latin typeface="Century Gothic"/>
                <a:cs typeface="Century Gothic"/>
              </a:rPr>
              <a:t> </a:t>
            </a:r>
            <a:r>
              <a:rPr sz="1300" spc="-10" dirty="0">
                <a:solidFill>
                  <a:srgbClr val="3A3535"/>
                </a:solidFill>
                <a:latin typeface="Century Gothic"/>
                <a:cs typeface="Century Gothic"/>
              </a:rPr>
              <a:t>content </a:t>
            </a:r>
            <a:r>
              <a:rPr sz="1300" spc="75" dirty="0">
                <a:solidFill>
                  <a:srgbClr val="3A3535"/>
                </a:solidFill>
                <a:latin typeface="Century Gothic"/>
                <a:cs typeface="Century Gothic"/>
              </a:rPr>
              <a:t>publishing</a:t>
            </a:r>
            <a:r>
              <a:rPr sz="1300" spc="-45" dirty="0">
                <a:solidFill>
                  <a:srgbClr val="3A3535"/>
                </a:solidFill>
                <a:latin typeface="Century Gothic"/>
                <a:cs typeface="Century Gothic"/>
              </a:rPr>
              <a:t> </a:t>
            </a:r>
            <a:r>
              <a:rPr sz="1300" spc="50" dirty="0">
                <a:solidFill>
                  <a:srgbClr val="3A3535"/>
                </a:solidFill>
                <a:latin typeface="Century Gothic"/>
                <a:cs typeface="Century Gothic"/>
              </a:rPr>
              <a:t>focus</a:t>
            </a:r>
            <a:endParaRPr sz="1300">
              <a:latin typeface="Century Gothic"/>
              <a:cs typeface="Century Gothic"/>
            </a:endParaRPr>
          </a:p>
        </p:txBody>
      </p:sp>
      <p:grpSp>
        <p:nvGrpSpPr>
          <p:cNvPr id="10" name="object 10"/>
          <p:cNvGrpSpPr/>
          <p:nvPr/>
        </p:nvGrpSpPr>
        <p:grpSpPr>
          <a:xfrm>
            <a:off x="4476750" y="3476700"/>
            <a:ext cx="381000" cy="695325"/>
            <a:chOff x="4476750" y="3476700"/>
            <a:chExt cx="381000" cy="695325"/>
          </a:xfrm>
        </p:grpSpPr>
        <p:sp>
          <p:nvSpPr>
            <p:cNvPr id="11" name="object 11"/>
            <p:cNvSpPr/>
            <p:nvPr/>
          </p:nvSpPr>
          <p:spPr>
            <a:xfrm>
              <a:off x="4657725" y="3667200"/>
              <a:ext cx="19050" cy="504825"/>
            </a:xfrm>
            <a:custGeom>
              <a:avLst/>
              <a:gdLst/>
              <a:ahLst/>
              <a:cxnLst/>
              <a:rect l="l" t="t" r="r" b="b"/>
              <a:pathLst>
                <a:path w="19050" h="504825">
                  <a:moveTo>
                    <a:pt x="12153" y="0"/>
                  </a:moveTo>
                  <a:lnTo>
                    <a:pt x="6896" y="0"/>
                  </a:lnTo>
                  <a:lnTo>
                    <a:pt x="4648" y="927"/>
                  </a:lnTo>
                  <a:lnTo>
                    <a:pt x="927" y="4648"/>
                  </a:lnTo>
                  <a:lnTo>
                    <a:pt x="0" y="6896"/>
                  </a:lnTo>
                  <a:lnTo>
                    <a:pt x="0" y="495300"/>
                  </a:lnTo>
                  <a:lnTo>
                    <a:pt x="0" y="497928"/>
                  </a:lnTo>
                  <a:lnTo>
                    <a:pt x="927" y="500176"/>
                  </a:lnTo>
                  <a:lnTo>
                    <a:pt x="4648" y="503885"/>
                  </a:lnTo>
                  <a:lnTo>
                    <a:pt x="6896" y="504825"/>
                  </a:lnTo>
                  <a:lnTo>
                    <a:pt x="12153" y="504825"/>
                  </a:lnTo>
                  <a:lnTo>
                    <a:pt x="14401" y="503885"/>
                  </a:lnTo>
                  <a:lnTo>
                    <a:pt x="18122" y="500176"/>
                  </a:lnTo>
                  <a:lnTo>
                    <a:pt x="19050" y="497928"/>
                  </a:lnTo>
                  <a:lnTo>
                    <a:pt x="19050" y="6896"/>
                  </a:lnTo>
                  <a:lnTo>
                    <a:pt x="18122" y="4648"/>
                  </a:lnTo>
                  <a:lnTo>
                    <a:pt x="14401" y="927"/>
                  </a:lnTo>
                  <a:lnTo>
                    <a:pt x="12153" y="0"/>
                  </a:lnTo>
                  <a:close/>
                </a:path>
              </a:pathLst>
            </a:custGeom>
            <a:solidFill>
              <a:srgbClr val="DFB7BB"/>
            </a:solidFill>
          </p:spPr>
          <p:txBody>
            <a:bodyPr wrap="square" lIns="0" tIns="0" rIns="0" bIns="0" rtlCol="0"/>
            <a:lstStyle/>
            <a:p>
              <a:endParaRPr/>
            </a:p>
          </p:txBody>
        </p:sp>
        <p:sp>
          <p:nvSpPr>
            <p:cNvPr id="12" name="object 12"/>
            <p:cNvSpPr/>
            <p:nvPr/>
          </p:nvSpPr>
          <p:spPr>
            <a:xfrm>
              <a:off x="4481512" y="3481463"/>
              <a:ext cx="371475" cy="371475"/>
            </a:xfrm>
            <a:custGeom>
              <a:avLst/>
              <a:gdLst/>
              <a:ahLst/>
              <a:cxnLst/>
              <a:rect l="l" t="t" r="r" b="b"/>
              <a:pathLst>
                <a:path w="371475" h="371475">
                  <a:moveTo>
                    <a:pt x="320573" y="0"/>
                  </a:moveTo>
                  <a:lnTo>
                    <a:pt x="50901" y="0"/>
                  </a:lnTo>
                  <a:lnTo>
                    <a:pt x="47358" y="342"/>
                  </a:lnTo>
                  <a:lnTo>
                    <a:pt x="13423" y="18478"/>
                  </a:lnTo>
                  <a:lnTo>
                    <a:pt x="0" y="50901"/>
                  </a:lnTo>
                  <a:lnTo>
                    <a:pt x="0" y="316992"/>
                  </a:lnTo>
                  <a:lnTo>
                    <a:pt x="0" y="320573"/>
                  </a:lnTo>
                  <a:lnTo>
                    <a:pt x="15963" y="355511"/>
                  </a:lnTo>
                  <a:lnTo>
                    <a:pt x="18478" y="358051"/>
                  </a:lnTo>
                  <a:lnTo>
                    <a:pt x="50901" y="371475"/>
                  </a:lnTo>
                  <a:lnTo>
                    <a:pt x="320573" y="371475"/>
                  </a:lnTo>
                  <a:lnTo>
                    <a:pt x="355511" y="355511"/>
                  </a:lnTo>
                  <a:lnTo>
                    <a:pt x="358051" y="352983"/>
                  </a:lnTo>
                  <a:lnTo>
                    <a:pt x="371475" y="320573"/>
                  </a:lnTo>
                  <a:lnTo>
                    <a:pt x="371475" y="50901"/>
                  </a:lnTo>
                  <a:lnTo>
                    <a:pt x="352996" y="13423"/>
                  </a:lnTo>
                  <a:lnTo>
                    <a:pt x="324116" y="342"/>
                  </a:lnTo>
                  <a:lnTo>
                    <a:pt x="320573" y="0"/>
                  </a:lnTo>
                  <a:close/>
                </a:path>
              </a:pathLst>
            </a:custGeom>
            <a:solidFill>
              <a:srgbClr val="F9D2D6"/>
            </a:solidFill>
          </p:spPr>
          <p:txBody>
            <a:bodyPr wrap="square" lIns="0" tIns="0" rIns="0" bIns="0" rtlCol="0"/>
            <a:lstStyle/>
            <a:p>
              <a:endParaRPr/>
            </a:p>
          </p:txBody>
        </p:sp>
        <p:sp>
          <p:nvSpPr>
            <p:cNvPr id="13" name="object 13"/>
            <p:cNvSpPr/>
            <p:nvPr/>
          </p:nvSpPr>
          <p:spPr>
            <a:xfrm>
              <a:off x="4481512" y="3481463"/>
              <a:ext cx="371475" cy="371475"/>
            </a:xfrm>
            <a:custGeom>
              <a:avLst/>
              <a:gdLst/>
              <a:ahLst/>
              <a:cxnLst/>
              <a:rect l="l" t="t" r="r" b="b"/>
              <a:pathLst>
                <a:path w="371475" h="371475">
                  <a:moveTo>
                    <a:pt x="0" y="316992"/>
                  </a:moveTo>
                  <a:lnTo>
                    <a:pt x="0" y="54483"/>
                  </a:lnTo>
                  <a:lnTo>
                    <a:pt x="0" y="50901"/>
                  </a:lnTo>
                  <a:lnTo>
                    <a:pt x="342" y="47358"/>
                  </a:lnTo>
                  <a:lnTo>
                    <a:pt x="1041" y="43853"/>
                  </a:lnTo>
                  <a:lnTo>
                    <a:pt x="1752" y="40335"/>
                  </a:lnTo>
                  <a:lnTo>
                    <a:pt x="2781" y="36931"/>
                  </a:lnTo>
                  <a:lnTo>
                    <a:pt x="4152" y="33629"/>
                  </a:lnTo>
                  <a:lnTo>
                    <a:pt x="5511" y="30327"/>
                  </a:lnTo>
                  <a:lnTo>
                    <a:pt x="7188" y="27190"/>
                  </a:lnTo>
                  <a:lnTo>
                    <a:pt x="9182" y="24206"/>
                  </a:lnTo>
                  <a:lnTo>
                    <a:pt x="11163" y="21234"/>
                  </a:lnTo>
                  <a:lnTo>
                    <a:pt x="13423" y="18478"/>
                  </a:lnTo>
                  <a:lnTo>
                    <a:pt x="15963" y="15951"/>
                  </a:lnTo>
                  <a:lnTo>
                    <a:pt x="18478" y="13423"/>
                  </a:lnTo>
                  <a:lnTo>
                    <a:pt x="21234" y="11163"/>
                  </a:lnTo>
                  <a:lnTo>
                    <a:pt x="24218" y="9182"/>
                  </a:lnTo>
                  <a:lnTo>
                    <a:pt x="27190" y="7188"/>
                  </a:lnTo>
                  <a:lnTo>
                    <a:pt x="43853" y="1041"/>
                  </a:lnTo>
                  <a:lnTo>
                    <a:pt x="47358" y="342"/>
                  </a:lnTo>
                  <a:lnTo>
                    <a:pt x="50901" y="0"/>
                  </a:lnTo>
                  <a:lnTo>
                    <a:pt x="54483" y="0"/>
                  </a:lnTo>
                  <a:lnTo>
                    <a:pt x="316992" y="0"/>
                  </a:lnTo>
                  <a:lnTo>
                    <a:pt x="320573" y="0"/>
                  </a:lnTo>
                  <a:lnTo>
                    <a:pt x="324116" y="342"/>
                  </a:lnTo>
                  <a:lnTo>
                    <a:pt x="347256" y="9182"/>
                  </a:lnTo>
                  <a:lnTo>
                    <a:pt x="350240" y="11163"/>
                  </a:lnTo>
                  <a:lnTo>
                    <a:pt x="352996" y="13423"/>
                  </a:lnTo>
                  <a:lnTo>
                    <a:pt x="355511" y="15951"/>
                  </a:lnTo>
                  <a:lnTo>
                    <a:pt x="358051" y="18478"/>
                  </a:lnTo>
                  <a:lnTo>
                    <a:pt x="360311" y="21234"/>
                  </a:lnTo>
                  <a:lnTo>
                    <a:pt x="362292" y="24206"/>
                  </a:lnTo>
                  <a:lnTo>
                    <a:pt x="364286" y="27190"/>
                  </a:lnTo>
                  <a:lnTo>
                    <a:pt x="365963" y="30327"/>
                  </a:lnTo>
                  <a:lnTo>
                    <a:pt x="367322" y="33629"/>
                  </a:lnTo>
                  <a:lnTo>
                    <a:pt x="368693" y="36931"/>
                  </a:lnTo>
                  <a:lnTo>
                    <a:pt x="369735" y="40335"/>
                  </a:lnTo>
                  <a:lnTo>
                    <a:pt x="370433" y="43853"/>
                  </a:lnTo>
                  <a:lnTo>
                    <a:pt x="371132" y="47358"/>
                  </a:lnTo>
                  <a:lnTo>
                    <a:pt x="371475" y="50901"/>
                  </a:lnTo>
                  <a:lnTo>
                    <a:pt x="371475" y="54483"/>
                  </a:lnTo>
                  <a:lnTo>
                    <a:pt x="371475" y="316992"/>
                  </a:lnTo>
                  <a:lnTo>
                    <a:pt x="371475" y="320573"/>
                  </a:lnTo>
                  <a:lnTo>
                    <a:pt x="371132" y="324116"/>
                  </a:lnTo>
                  <a:lnTo>
                    <a:pt x="370433" y="327621"/>
                  </a:lnTo>
                  <a:lnTo>
                    <a:pt x="369735" y="331127"/>
                  </a:lnTo>
                  <a:lnTo>
                    <a:pt x="368693" y="334530"/>
                  </a:lnTo>
                  <a:lnTo>
                    <a:pt x="367322" y="337832"/>
                  </a:lnTo>
                  <a:lnTo>
                    <a:pt x="365963" y="341147"/>
                  </a:lnTo>
                  <a:lnTo>
                    <a:pt x="364286" y="344284"/>
                  </a:lnTo>
                  <a:lnTo>
                    <a:pt x="362292" y="347256"/>
                  </a:lnTo>
                  <a:lnTo>
                    <a:pt x="360311" y="350227"/>
                  </a:lnTo>
                  <a:lnTo>
                    <a:pt x="358051" y="352983"/>
                  </a:lnTo>
                  <a:lnTo>
                    <a:pt x="355511" y="355511"/>
                  </a:lnTo>
                  <a:lnTo>
                    <a:pt x="352996" y="358051"/>
                  </a:lnTo>
                  <a:lnTo>
                    <a:pt x="337845" y="367322"/>
                  </a:lnTo>
                  <a:lnTo>
                    <a:pt x="334530" y="368693"/>
                  </a:lnTo>
                  <a:lnTo>
                    <a:pt x="331127" y="369722"/>
                  </a:lnTo>
                  <a:lnTo>
                    <a:pt x="327621" y="370433"/>
                  </a:lnTo>
                  <a:lnTo>
                    <a:pt x="324116" y="371119"/>
                  </a:lnTo>
                  <a:lnTo>
                    <a:pt x="320573" y="371475"/>
                  </a:lnTo>
                  <a:lnTo>
                    <a:pt x="316992" y="371475"/>
                  </a:lnTo>
                  <a:lnTo>
                    <a:pt x="54483" y="371475"/>
                  </a:lnTo>
                  <a:lnTo>
                    <a:pt x="50901" y="371475"/>
                  </a:lnTo>
                  <a:lnTo>
                    <a:pt x="47358" y="371119"/>
                  </a:lnTo>
                  <a:lnTo>
                    <a:pt x="43853" y="370433"/>
                  </a:lnTo>
                  <a:lnTo>
                    <a:pt x="40347" y="369722"/>
                  </a:lnTo>
                  <a:lnTo>
                    <a:pt x="36944" y="368693"/>
                  </a:lnTo>
                  <a:lnTo>
                    <a:pt x="33629" y="367322"/>
                  </a:lnTo>
                  <a:lnTo>
                    <a:pt x="30327" y="365963"/>
                  </a:lnTo>
                  <a:lnTo>
                    <a:pt x="15963" y="355511"/>
                  </a:lnTo>
                  <a:lnTo>
                    <a:pt x="13423" y="352983"/>
                  </a:lnTo>
                  <a:lnTo>
                    <a:pt x="11163" y="350227"/>
                  </a:lnTo>
                  <a:lnTo>
                    <a:pt x="9182" y="347256"/>
                  </a:lnTo>
                  <a:lnTo>
                    <a:pt x="7188" y="344284"/>
                  </a:lnTo>
                  <a:lnTo>
                    <a:pt x="5511" y="341147"/>
                  </a:lnTo>
                  <a:lnTo>
                    <a:pt x="4152" y="337832"/>
                  </a:lnTo>
                  <a:lnTo>
                    <a:pt x="2781" y="334530"/>
                  </a:lnTo>
                  <a:lnTo>
                    <a:pt x="1752" y="331127"/>
                  </a:lnTo>
                  <a:lnTo>
                    <a:pt x="1041" y="327621"/>
                  </a:lnTo>
                  <a:lnTo>
                    <a:pt x="342" y="324116"/>
                  </a:lnTo>
                  <a:lnTo>
                    <a:pt x="0" y="320573"/>
                  </a:lnTo>
                  <a:lnTo>
                    <a:pt x="0" y="316992"/>
                  </a:lnTo>
                  <a:close/>
                </a:path>
              </a:pathLst>
            </a:custGeom>
            <a:ln w="9525">
              <a:solidFill>
                <a:srgbClr val="DFB7BB"/>
              </a:solidFill>
            </a:ln>
          </p:spPr>
          <p:txBody>
            <a:bodyPr wrap="square" lIns="0" tIns="0" rIns="0" bIns="0" rtlCol="0"/>
            <a:lstStyle/>
            <a:p>
              <a:endParaRPr/>
            </a:p>
          </p:txBody>
        </p:sp>
      </p:grpSp>
      <p:sp>
        <p:nvSpPr>
          <p:cNvPr id="14" name="object 14"/>
          <p:cNvSpPr txBox="1"/>
          <p:nvPr/>
        </p:nvSpPr>
        <p:spPr>
          <a:xfrm>
            <a:off x="4572469" y="3467976"/>
            <a:ext cx="193040" cy="346075"/>
          </a:xfrm>
          <a:prstGeom prst="rect">
            <a:avLst/>
          </a:prstGeom>
        </p:spPr>
        <p:txBody>
          <a:bodyPr vert="horz" wrap="square" lIns="0" tIns="12700" rIns="0" bIns="0" rtlCol="0">
            <a:spAutoFit/>
          </a:bodyPr>
          <a:lstStyle/>
          <a:p>
            <a:pPr marL="12700">
              <a:lnSpc>
                <a:spcPct val="100000"/>
              </a:lnSpc>
              <a:spcBef>
                <a:spcPts val="100"/>
              </a:spcBef>
            </a:pPr>
            <a:r>
              <a:rPr sz="2100" b="1" spc="-125" dirty="0">
                <a:solidFill>
                  <a:srgbClr val="3A3535"/>
                </a:solidFill>
                <a:latin typeface="Verdana"/>
                <a:cs typeface="Verdana"/>
              </a:rPr>
              <a:t>2</a:t>
            </a:r>
            <a:endParaRPr sz="2100">
              <a:latin typeface="Verdana"/>
              <a:cs typeface="Verdana"/>
            </a:endParaRPr>
          </a:p>
        </p:txBody>
      </p:sp>
      <p:sp>
        <p:nvSpPr>
          <p:cNvPr id="15" name="object 15"/>
          <p:cNvSpPr txBox="1"/>
          <p:nvPr/>
        </p:nvSpPr>
        <p:spPr>
          <a:xfrm>
            <a:off x="3000768" y="4317555"/>
            <a:ext cx="3337560" cy="910590"/>
          </a:xfrm>
          <a:prstGeom prst="rect">
            <a:avLst/>
          </a:prstGeom>
        </p:spPr>
        <p:txBody>
          <a:bodyPr vert="horz" wrap="square" lIns="0" tIns="12700" rIns="0" bIns="0" rtlCol="0">
            <a:spAutoFit/>
          </a:bodyPr>
          <a:lstStyle/>
          <a:p>
            <a:pPr algn="ctr">
              <a:lnSpc>
                <a:spcPct val="100000"/>
              </a:lnSpc>
              <a:spcBef>
                <a:spcPts val="100"/>
              </a:spcBef>
            </a:pPr>
            <a:r>
              <a:rPr sz="1750" b="1" spc="-20" dirty="0">
                <a:solidFill>
                  <a:srgbClr val="3A3535"/>
                </a:solidFill>
                <a:latin typeface="Verdana"/>
                <a:cs typeface="Verdana"/>
              </a:rPr>
              <a:t>2023</a:t>
            </a:r>
            <a:endParaRPr sz="1750" dirty="0">
              <a:latin typeface="Verdana"/>
              <a:cs typeface="Verdana"/>
            </a:endParaRPr>
          </a:p>
          <a:p>
            <a:pPr marL="12700" marR="5080" algn="ctr">
              <a:lnSpc>
                <a:spcPct val="134600"/>
              </a:lnSpc>
              <a:spcBef>
                <a:spcPts val="660"/>
              </a:spcBef>
            </a:pPr>
            <a:r>
              <a:rPr sz="1300" dirty="0">
                <a:solidFill>
                  <a:srgbClr val="3A3535"/>
                </a:solidFill>
                <a:latin typeface="Century Gothic"/>
                <a:cs typeface="Century Gothic"/>
              </a:rPr>
              <a:t>Modular</a:t>
            </a:r>
            <a:r>
              <a:rPr sz="1300" spc="130" dirty="0">
                <a:solidFill>
                  <a:srgbClr val="3A3535"/>
                </a:solidFill>
                <a:latin typeface="Century Gothic"/>
                <a:cs typeface="Century Gothic"/>
              </a:rPr>
              <a:t> </a:t>
            </a:r>
            <a:r>
              <a:rPr sz="1300" dirty="0">
                <a:solidFill>
                  <a:srgbClr val="3A3535"/>
                </a:solidFill>
                <a:latin typeface="Century Gothic"/>
                <a:cs typeface="Century Gothic"/>
              </a:rPr>
              <a:t>pages,</a:t>
            </a:r>
            <a:r>
              <a:rPr sz="1300" spc="135" dirty="0">
                <a:solidFill>
                  <a:srgbClr val="3A3535"/>
                </a:solidFill>
                <a:latin typeface="Century Gothic"/>
                <a:cs typeface="Century Gothic"/>
              </a:rPr>
              <a:t> </a:t>
            </a:r>
            <a:r>
              <a:rPr sz="1300" dirty="0">
                <a:solidFill>
                  <a:srgbClr val="3A3535"/>
                </a:solidFill>
                <a:latin typeface="Century Gothic"/>
                <a:cs typeface="Century Gothic"/>
              </a:rPr>
              <a:t>scheduling,</a:t>
            </a:r>
            <a:r>
              <a:rPr sz="1300" spc="13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135" dirty="0">
                <a:solidFill>
                  <a:srgbClr val="3A3535"/>
                </a:solidFill>
                <a:latin typeface="Century Gothic"/>
                <a:cs typeface="Century Gothic"/>
              </a:rPr>
              <a:t> </a:t>
            </a:r>
            <a:r>
              <a:rPr sz="1300" spc="40" dirty="0">
                <a:solidFill>
                  <a:srgbClr val="3A3535"/>
                </a:solidFill>
                <a:latin typeface="Century Gothic"/>
                <a:cs typeface="Century Gothic"/>
              </a:rPr>
              <a:t>mobile </a:t>
            </a:r>
            <a:r>
              <a:rPr sz="1300" spc="45" dirty="0">
                <a:solidFill>
                  <a:srgbClr val="3A3535"/>
                </a:solidFill>
                <a:latin typeface="Century Gothic"/>
                <a:cs typeface="Century Gothic"/>
              </a:rPr>
              <a:t>integration</a:t>
            </a:r>
            <a:endParaRPr sz="1300" dirty="0">
              <a:latin typeface="Century Gothic"/>
              <a:cs typeface="Century Gothic"/>
            </a:endParaRPr>
          </a:p>
        </p:txBody>
      </p:sp>
      <p:grpSp>
        <p:nvGrpSpPr>
          <p:cNvPr id="16" name="object 16"/>
          <p:cNvGrpSpPr/>
          <p:nvPr/>
        </p:nvGrpSpPr>
        <p:grpSpPr>
          <a:xfrm>
            <a:off x="6572250" y="3162223"/>
            <a:ext cx="381000" cy="695325"/>
            <a:chOff x="6572250" y="3162223"/>
            <a:chExt cx="381000" cy="695325"/>
          </a:xfrm>
        </p:grpSpPr>
        <p:sp>
          <p:nvSpPr>
            <p:cNvPr id="17" name="object 17"/>
            <p:cNvSpPr/>
            <p:nvPr/>
          </p:nvSpPr>
          <p:spPr>
            <a:xfrm>
              <a:off x="6753225" y="3162223"/>
              <a:ext cx="19050" cy="504825"/>
            </a:xfrm>
            <a:custGeom>
              <a:avLst/>
              <a:gdLst/>
              <a:ahLst/>
              <a:cxnLst/>
              <a:rect l="l" t="t" r="r" b="b"/>
              <a:pathLst>
                <a:path w="19050" h="504825">
                  <a:moveTo>
                    <a:pt x="12153" y="0"/>
                  </a:moveTo>
                  <a:lnTo>
                    <a:pt x="6896" y="0"/>
                  </a:lnTo>
                  <a:lnTo>
                    <a:pt x="4648" y="927"/>
                  </a:lnTo>
                  <a:lnTo>
                    <a:pt x="927" y="4648"/>
                  </a:lnTo>
                  <a:lnTo>
                    <a:pt x="0" y="6896"/>
                  </a:lnTo>
                  <a:lnTo>
                    <a:pt x="0" y="495300"/>
                  </a:lnTo>
                  <a:lnTo>
                    <a:pt x="0" y="497928"/>
                  </a:lnTo>
                  <a:lnTo>
                    <a:pt x="927" y="500176"/>
                  </a:lnTo>
                  <a:lnTo>
                    <a:pt x="4648" y="503897"/>
                  </a:lnTo>
                  <a:lnTo>
                    <a:pt x="6896" y="504825"/>
                  </a:lnTo>
                  <a:lnTo>
                    <a:pt x="12153" y="504825"/>
                  </a:lnTo>
                  <a:lnTo>
                    <a:pt x="14401" y="503897"/>
                  </a:lnTo>
                  <a:lnTo>
                    <a:pt x="18122" y="500176"/>
                  </a:lnTo>
                  <a:lnTo>
                    <a:pt x="19050" y="497928"/>
                  </a:lnTo>
                  <a:lnTo>
                    <a:pt x="19050" y="6896"/>
                  </a:lnTo>
                  <a:lnTo>
                    <a:pt x="18122" y="4648"/>
                  </a:lnTo>
                  <a:lnTo>
                    <a:pt x="14401" y="927"/>
                  </a:lnTo>
                  <a:lnTo>
                    <a:pt x="12153" y="0"/>
                  </a:lnTo>
                  <a:close/>
                </a:path>
              </a:pathLst>
            </a:custGeom>
            <a:solidFill>
              <a:srgbClr val="DFB7BB"/>
            </a:solidFill>
          </p:spPr>
          <p:txBody>
            <a:bodyPr wrap="square" lIns="0" tIns="0" rIns="0" bIns="0" rtlCol="0"/>
            <a:lstStyle/>
            <a:p>
              <a:endParaRPr/>
            </a:p>
          </p:txBody>
        </p:sp>
        <p:sp>
          <p:nvSpPr>
            <p:cNvPr id="18" name="object 18"/>
            <p:cNvSpPr/>
            <p:nvPr/>
          </p:nvSpPr>
          <p:spPr>
            <a:xfrm>
              <a:off x="6577012" y="3481311"/>
              <a:ext cx="371475" cy="371475"/>
            </a:xfrm>
            <a:custGeom>
              <a:avLst/>
              <a:gdLst/>
              <a:ahLst/>
              <a:cxnLst/>
              <a:rect l="l" t="t" r="r" b="b"/>
              <a:pathLst>
                <a:path w="371475" h="371475">
                  <a:moveTo>
                    <a:pt x="320573" y="0"/>
                  </a:moveTo>
                  <a:lnTo>
                    <a:pt x="50901" y="0"/>
                  </a:lnTo>
                  <a:lnTo>
                    <a:pt x="47358" y="355"/>
                  </a:lnTo>
                  <a:lnTo>
                    <a:pt x="13423" y="18491"/>
                  </a:lnTo>
                  <a:lnTo>
                    <a:pt x="0" y="50901"/>
                  </a:lnTo>
                  <a:lnTo>
                    <a:pt x="0" y="316992"/>
                  </a:lnTo>
                  <a:lnTo>
                    <a:pt x="0" y="320573"/>
                  </a:lnTo>
                  <a:lnTo>
                    <a:pt x="18478" y="358051"/>
                  </a:lnTo>
                  <a:lnTo>
                    <a:pt x="50901" y="371475"/>
                  </a:lnTo>
                  <a:lnTo>
                    <a:pt x="320573" y="371475"/>
                  </a:lnTo>
                  <a:lnTo>
                    <a:pt x="358051" y="352983"/>
                  </a:lnTo>
                  <a:lnTo>
                    <a:pt x="371475" y="320573"/>
                  </a:lnTo>
                  <a:lnTo>
                    <a:pt x="371475" y="50901"/>
                  </a:lnTo>
                  <a:lnTo>
                    <a:pt x="352983" y="13423"/>
                  </a:lnTo>
                  <a:lnTo>
                    <a:pt x="324116" y="355"/>
                  </a:lnTo>
                  <a:lnTo>
                    <a:pt x="320573" y="0"/>
                  </a:lnTo>
                  <a:close/>
                </a:path>
              </a:pathLst>
            </a:custGeom>
            <a:solidFill>
              <a:srgbClr val="F9D2D6"/>
            </a:solidFill>
          </p:spPr>
          <p:txBody>
            <a:bodyPr wrap="square" lIns="0" tIns="0" rIns="0" bIns="0" rtlCol="0"/>
            <a:lstStyle/>
            <a:p>
              <a:endParaRPr/>
            </a:p>
          </p:txBody>
        </p:sp>
        <p:sp>
          <p:nvSpPr>
            <p:cNvPr id="19" name="object 19"/>
            <p:cNvSpPr/>
            <p:nvPr/>
          </p:nvSpPr>
          <p:spPr>
            <a:xfrm>
              <a:off x="6577012" y="3481311"/>
              <a:ext cx="371475" cy="371475"/>
            </a:xfrm>
            <a:custGeom>
              <a:avLst/>
              <a:gdLst/>
              <a:ahLst/>
              <a:cxnLst/>
              <a:rect l="l" t="t" r="r" b="b"/>
              <a:pathLst>
                <a:path w="371475" h="371475">
                  <a:moveTo>
                    <a:pt x="0" y="316992"/>
                  </a:moveTo>
                  <a:lnTo>
                    <a:pt x="0" y="54483"/>
                  </a:lnTo>
                  <a:lnTo>
                    <a:pt x="0" y="50901"/>
                  </a:lnTo>
                  <a:lnTo>
                    <a:pt x="342" y="47358"/>
                  </a:lnTo>
                  <a:lnTo>
                    <a:pt x="1041" y="43853"/>
                  </a:lnTo>
                  <a:lnTo>
                    <a:pt x="1752" y="40347"/>
                  </a:lnTo>
                  <a:lnTo>
                    <a:pt x="2781" y="36931"/>
                  </a:lnTo>
                  <a:lnTo>
                    <a:pt x="4152" y="33629"/>
                  </a:lnTo>
                  <a:lnTo>
                    <a:pt x="5511" y="30327"/>
                  </a:lnTo>
                  <a:lnTo>
                    <a:pt x="7188" y="27190"/>
                  </a:lnTo>
                  <a:lnTo>
                    <a:pt x="9182" y="24206"/>
                  </a:lnTo>
                  <a:lnTo>
                    <a:pt x="11163" y="21234"/>
                  </a:lnTo>
                  <a:lnTo>
                    <a:pt x="43853" y="1054"/>
                  </a:lnTo>
                  <a:lnTo>
                    <a:pt x="47358" y="355"/>
                  </a:lnTo>
                  <a:lnTo>
                    <a:pt x="50901" y="0"/>
                  </a:lnTo>
                  <a:lnTo>
                    <a:pt x="54483" y="0"/>
                  </a:lnTo>
                  <a:lnTo>
                    <a:pt x="316992" y="0"/>
                  </a:lnTo>
                  <a:lnTo>
                    <a:pt x="320573" y="0"/>
                  </a:lnTo>
                  <a:lnTo>
                    <a:pt x="324116" y="355"/>
                  </a:lnTo>
                  <a:lnTo>
                    <a:pt x="327621" y="1054"/>
                  </a:lnTo>
                  <a:lnTo>
                    <a:pt x="331127" y="1739"/>
                  </a:lnTo>
                  <a:lnTo>
                    <a:pt x="355511" y="15951"/>
                  </a:lnTo>
                  <a:lnTo>
                    <a:pt x="358051" y="18491"/>
                  </a:lnTo>
                  <a:lnTo>
                    <a:pt x="360311" y="21234"/>
                  </a:lnTo>
                  <a:lnTo>
                    <a:pt x="362292" y="24206"/>
                  </a:lnTo>
                  <a:lnTo>
                    <a:pt x="364286" y="27190"/>
                  </a:lnTo>
                  <a:lnTo>
                    <a:pt x="365963" y="30327"/>
                  </a:lnTo>
                  <a:lnTo>
                    <a:pt x="367322" y="33629"/>
                  </a:lnTo>
                  <a:lnTo>
                    <a:pt x="368693" y="36931"/>
                  </a:lnTo>
                  <a:lnTo>
                    <a:pt x="369735" y="40347"/>
                  </a:lnTo>
                  <a:lnTo>
                    <a:pt x="370433" y="43853"/>
                  </a:lnTo>
                  <a:lnTo>
                    <a:pt x="371132" y="47358"/>
                  </a:lnTo>
                  <a:lnTo>
                    <a:pt x="371475" y="50901"/>
                  </a:lnTo>
                  <a:lnTo>
                    <a:pt x="371475" y="54483"/>
                  </a:lnTo>
                  <a:lnTo>
                    <a:pt x="371475" y="316992"/>
                  </a:lnTo>
                  <a:lnTo>
                    <a:pt x="371475" y="320573"/>
                  </a:lnTo>
                  <a:lnTo>
                    <a:pt x="371132" y="324116"/>
                  </a:lnTo>
                  <a:lnTo>
                    <a:pt x="370433" y="327621"/>
                  </a:lnTo>
                  <a:lnTo>
                    <a:pt x="369735" y="331127"/>
                  </a:lnTo>
                  <a:lnTo>
                    <a:pt x="368693" y="334543"/>
                  </a:lnTo>
                  <a:lnTo>
                    <a:pt x="367322" y="337845"/>
                  </a:lnTo>
                  <a:lnTo>
                    <a:pt x="365963" y="341147"/>
                  </a:lnTo>
                  <a:lnTo>
                    <a:pt x="364286" y="344284"/>
                  </a:lnTo>
                  <a:lnTo>
                    <a:pt x="362292" y="347268"/>
                  </a:lnTo>
                  <a:lnTo>
                    <a:pt x="360311" y="350240"/>
                  </a:lnTo>
                  <a:lnTo>
                    <a:pt x="358051" y="352983"/>
                  </a:lnTo>
                  <a:lnTo>
                    <a:pt x="355511" y="355523"/>
                  </a:lnTo>
                  <a:lnTo>
                    <a:pt x="352983" y="358051"/>
                  </a:lnTo>
                  <a:lnTo>
                    <a:pt x="350240" y="360311"/>
                  </a:lnTo>
                  <a:lnTo>
                    <a:pt x="347256" y="362292"/>
                  </a:lnTo>
                  <a:lnTo>
                    <a:pt x="344284" y="364274"/>
                  </a:lnTo>
                  <a:lnTo>
                    <a:pt x="320573" y="371475"/>
                  </a:lnTo>
                  <a:lnTo>
                    <a:pt x="316992" y="371475"/>
                  </a:lnTo>
                  <a:lnTo>
                    <a:pt x="54483" y="371475"/>
                  </a:lnTo>
                  <a:lnTo>
                    <a:pt x="50901" y="371475"/>
                  </a:lnTo>
                  <a:lnTo>
                    <a:pt x="47358" y="371119"/>
                  </a:lnTo>
                  <a:lnTo>
                    <a:pt x="24218" y="362292"/>
                  </a:lnTo>
                  <a:lnTo>
                    <a:pt x="21234" y="360311"/>
                  </a:lnTo>
                  <a:lnTo>
                    <a:pt x="9182" y="347268"/>
                  </a:lnTo>
                  <a:lnTo>
                    <a:pt x="7188" y="344284"/>
                  </a:lnTo>
                  <a:lnTo>
                    <a:pt x="5511" y="341147"/>
                  </a:lnTo>
                  <a:lnTo>
                    <a:pt x="4152" y="337845"/>
                  </a:lnTo>
                  <a:lnTo>
                    <a:pt x="2781" y="334543"/>
                  </a:lnTo>
                  <a:lnTo>
                    <a:pt x="1752" y="331127"/>
                  </a:lnTo>
                  <a:lnTo>
                    <a:pt x="1041" y="327621"/>
                  </a:lnTo>
                  <a:lnTo>
                    <a:pt x="342" y="324116"/>
                  </a:lnTo>
                  <a:lnTo>
                    <a:pt x="0" y="320573"/>
                  </a:lnTo>
                  <a:lnTo>
                    <a:pt x="0" y="316992"/>
                  </a:lnTo>
                  <a:close/>
                </a:path>
              </a:pathLst>
            </a:custGeom>
            <a:ln w="9525">
              <a:solidFill>
                <a:srgbClr val="DFB7BB"/>
              </a:solidFill>
            </a:ln>
          </p:spPr>
          <p:txBody>
            <a:bodyPr wrap="square" lIns="0" tIns="0" rIns="0" bIns="0" rtlCol="0"/>
            <a:lstStyle/>
            <a:p>
              <a:endParaRPr/>
            </a:p>
          </p:txBody>
        </p:sp>
      </p:grpSp>
      <p:sp>
        <p:nvSpPr>
          <p:cNvPr id="20" name="object 20"/>
          <p:cNvSpPr txBox="1"/>
          <p:nvPr/>
        </p:nvSpPr>
        <p:spPr>
          <a:xfrm>
            <a:off x="6663956" y="3467836"/>
            <a:ext cx="193040" cy="346075"/>
          </a:xfrm>
          <a:prstGeom prst="rect">
            <a:avLst/>
          </a:prstGeom>
        </p:spPr>
        <p:txBody>
          <a:bodyPr vert="horz" wrap="square" lIns="0" tIns="12700" rIns="0" bIns="0" rtlCol="0">
            <a:spAutoFit/>
          </a:bodyPr>
          <a:lstStyle/>
          <a:p>
            <a:pPr marL="12700">
              <a:lnSpc>
                <a:spcPct val="100000"/>
              </a:lnSpc>
              <a:spcBef>
                <a:spcPts val="100"/>
              </a:spcBef>
            </a:pPr>
            <a:r>
              <a:rPr sz="2100" b="1" spc="-125" dirty="0">
                <a:solidFill>
                  <a:srgbClr val="3A3535"/>
                </a:solidFill>
                <a:latin typeface="Verdana"/>
                <a:cs typeface="Verdana"/>
              </a:rPr>
              <a:t>3</a:t>
            </a:r>
            <a:endParaRPr sz="2100">
              <a:latin typeface="Verdana"/>
              <a:cs typeface="Verdana"/>
            </a:endParaRPr>
          </a:p>
        </p:txBody>
      </p:sp>
      <p:sp>
        <p:nvSpPr>
          <p:cNvPr id="21" name="object 21"/>
          <p:cNvSpPr txBox="1"/>
          <p:nvPr/>
        </p:nvSpPr>
        <p:spPr>
          <a:xfrm>
            <a:off x="6093129" y="2041080"/>
            <a:ext cx="1335405" cy="292735"/>
          </a:xfrm>
          <a:prstGeom prst="rect">
            <a:avLst/>
          </a:prstGeom>
        </p:spPr>
        <p:txBody>
          <a:bodyPr vert="horz" wrap="square" lIns="0" tIns="12700" rIns="0" bIns="0" rtlCol="0">
            <a:spAutoFit/>
          </a:bodyPr>
          <a:lstStyle/>
          <a:p>
            <a:pPr marL="12700">
              <a:lnSpc>
                <a:spcPct val="100000"/>
              </a:lnSpc>
              <a:spcBef>
                <a:spcPts val="100"/>
              </a:spcBef>
            </a:pPr>
            <a:r>
              <a:rPr sz="1750" b="1" spc="-120" dirty="0">
                <a:solidFill>
                  <a:srgbClr val="3A3535"/>
                </a:solidFill>
                <a:latin typeface="Verdana"/>
                <a:cs typeface="Verdana"/>
              </a:rPr>
              <a:t>2024–</a:t>
            </a:r>
            <a:r>
              <a:rPr sz="1750" b="1" spc="-85" dirty="0">
                <a:solidFill>
                  <a:srgbClr val="3A3535"/>
                </a:solidFill>
                <a:latin typeface="Verdana"/>
                <a:cs typeface="Verdana"/>
              </a:rPr>
              <a:t>2026</a:t>
            </a:r>
            <a:endParaRPr sz="1750">
              <a:latin typeface="Verdana"/>
              <a:cs typeface="Verdana"/>
            </a:endParaRPr>
          </a:p>
        </p:txBody>
      </p:sp>
      <p:sp>
        <p:nvSpPr>
          <p:cNvPr id="22" name="object 22"/>
          <p:cNvSpPr txBox="1"/>
          <p:nvPr/>
        </p:nvSpPr>
        <p:spPr>
          <a:xfrm>
            <a:off x="4977206" y="2392875"/>
            <a:ext cx="3567429" cy="558800"/>
          </a:xfrm>
          <a:prstGeom prst="rect">
            <a:avLst/>
          </a:prstGeom>
        </p:spPr>
        <p:txBody>
          <a:bodyPr vert="horz" wrap="square" lIns="0" tIns="11430" rIns="0" bIns="0" rtlCol="0">
            <a:spAutoFit/>
          </a:bodyPr>
          <a:lstStyle/>
          <a:p>
            <a:pPr marL="12700" marR="5080" indent="394970">
              <a:lnSpc>
                <a:spcPct val="134600"/>
              </a:lnSpc>
              <a:spcBef>
                <a:spcPts val="90"/>
              </a:spcBef>
            </a:pPr>
            <a:r>
              <a:rPr sz="1300" spc="95" dirty="0">
                <a:solidFill>
                  <a:srgbClr val="3A3535"/>
                </a:solidFill>
                <a:latin typeface="Century Gothic"/>
                <a:cs typeface="Century Gothic"/>
              </a:rPr>
              <a:t>Stronger</a:t>
            </a:r>
            <a:r>
              <a:rPr sz="1300" dirty="0">
                <a:solidFill>
                  <a:srgbClr val="3A3535"/>
                </a:solidFill>
                <a:latin typeface="Century Gothic"/>
                <a:cs typeface="Century Gothic"/>
              </a:rPr>
              <a:t> </a:t>
            </a:r>
            <a:r>
              <a:rPr sz="1300" spc="-40" dirty="0">
                <a:solidFill>
                  <a:srgbClr val="3A3535"/>
                </a:solidFill>
                <a:latin typeface="Century Gothic"/>
                <a:cs typeface="Century Gothic"/>
              </a:rPr>
              <a:t>data</a:t>
            </a:r>
            <a:r>
              <a:rPr sz="1300" dirty="0">
                <a:solidFill>
                  <a:srgbClr val="3A3535"/>
                </a:solidFill>
                <a:latin typeface="Century Gothic"/>
                <a:cs typeface="Century Gothic"/>
              </a:rPr>
              <a:t> model,</a:t>
            </a:r>
            <a:r>
              <a:rPr sz="1300" spc="5" dirty="0">
                <a:solidFill>
                  <a:srgbClr val="3A3535"/>
                </a:solidFill>
                <a:latin typeface="Century Gothic"/>
                <a:cs typeface="Century Gothic"/>
              </a:rPr>
              <a:t> </a:t>
            </a:r>
            <a:r>
              <a:rPr sz="1300" spc="55" dirty="0">
                <a:solidFill>
                  <a:srgbClr val="3A3535"/>
                </a:solidFill>
                <a:latin typeface="Century Gothic"/>
                <a:cs typeface="Century Gothic"/>
              </a:rPr>
              <a:t>workflows, </a:t>
            </a:r>
            <a:r>
              <a:rPr sz="1300" spc="90" dirty="0">
                <a:solidFill>
                  <a:srgbClr val="3A3535"/>
                </a:solidFill>
                <a:latin typeface="Century Gothic"/>
                <a:cs typeface="Century Gothic"/>
              </a:rPr>
              <a:t>permissions,</a:t>
            </a:r>
            <a:r>
              <a:rPr sz="1300" spc="70" dirty="0">
                <a:solidFill>
                  <a:srgbClr val="3A3535"/>
                </a:solidFill>
                <a:latin typeface="Century Gothic"/>
                <a:cs typeface="Century Gothic"/>
              </a:rPr>
              <a:t> </a:t>
            </a:r>
            <a:r>
              <a:rPr sz="1300" dirty="0">
                <a:solidFill>
                  <a:srgbClr val="3A3535"/>
                </a:solidFill>
                <a:latin typeface="Century Gothic"/>
                <a:cs typeface="Century Gothic"/>
              </a:rPr>
              <a:t>2FA,</a:t>
            </a:r>
            <a:r>
              <a:rPr sz="1300" spc="70" dirty="0">
                <a:solidFill>
                  <a:srgbClr val="3A3535"/>
                </a:solidFill>
                <a:latin typeface="Century Gothic"/>
                <a:cs typeface="Century Gothic"/>
              </a:rPr>
              <a:t> </a:t>
            </a:r>
            <a:r>
              <a:rPr sz="1300" dirty="0">
                <a:solidFill>
                  <a:srgbClr val="3A3535"/>
                </a:solidFill>
                <a:latin typeface="Century Gothic"/>
                <a:cs typeface="Century Gothic"/>
              </a:rPr>
              <a:t>background</a:t>
            </a:r>
            <a:r>
              <a:rPr sz="1300" spc="75" dirty="0">
                <a:solidFill>
                  <a:srgbClr val="3A3535"/>
                </a:solidFill>
                <a:latin typeface="Century Gothic"/>
                <a:cs typeface="Century Gothic"/>
              </a:rPr>
              <a:t> </a:t>
            </a:r>
            <a:r>
              <a:rPr sz="1300" spc="60" dirty="0">
                <a:solidFill>
                  <a:srgbClr val="3A3535"/>
                </a:solidFill>
                <a:latin typeface="Century Gothic"/>
                <a:cs typeface="Century Gothic"/>
              </a:rPr>
              <a:t>processing</a:t>
            </a:r>
            <a:endParaRPr sz="1300">
              <a:latin typeface="Century Gothic"/>
              <a:cs typeface="Century Gothic"/>
            </a:endParaRPr>
          </a:p>
        </p:txBody>
      </p:sp>
      <p:grpSp>
        <p:nvGrpSpPr>
          <p:cNvPr id="23" name="object 23"/>
          <p:cNvGrpSpPr/>
          <p:nvPr/>
        </p:nvGrpSpPr>
        <p:grpSpPr>
          <a:xfrm>
            <a:off x="8658225" y="3476700"/>
            <a:ext cx="381000" cy="695325"/>
            <a:chOff x="8658225" y="3476700"/>
            <a:chExt cx="381000" cy="695325"/>
          </a:xfrm>
        </p:grpSpPr>
        <p:sp>
          <p:nvSpPr>
            <p:cNvPr id="24" name="object 24"/>
            <p:cNvSpPr/>
            <p:nvPr/>
          </p:nvSpPr>
          <p:spPr>
            <a:xfrm>
              <a:off x="8839200" y="3667200"/>
              <a:ext cx="19050" cy="504825"/>
            </a:xfrm>
            <a:custGeom>
              <a:avLst/>
              <a:gdLst/>
              <a:ahLst/>
              <a:cxnLst/>
              <a:rect l="l" t="t" r="r" b="b"/>
              <a:pathLst>
                <a:path w="19050" h="504825">
                  <a:moveTo>
                    <a:pt x="12153" y="0"/>
                  </a:moveTo>
                  <a:lnTo>
                    <a:pt x="6896" y="0"/>
                  </a:lnTo>
                  <a:lnTo>
                    <a:pt x="4648" y="927"/>
                  </a:lnTo>
                  <a:lnTo>
                    <a:pt x="927" y="4648"/>
                  </a:lnTo>
                  <a:lnTo>
                    <a:pt x="0" y="6896"/>
                  </a:lnTo>
                  <a:lnTo>
                    <a:pt x="0" y="495300"/>
                  </a:lnTo>
                  <a:lnTo>
                    <a:pt x="0" y="497928"/>
                  </a:lnTo>
                  <a:lnTo>
                    <a:pt x="927" y="500176"/>
                  </a:lnTo>
                  <a:lnTo>
                    <a:pt x="4648" y="503885"/>
                  </a:lnTo>
                  <a:lnTo>
                    <a:pt x="6896" y="504825"/>
                  </a:lnTo>
                  <a:lnTo>
                    <a:pt x="12153" y="504825"/>
                  </a:lnTo>
                  <a:lnTo>
                    <a:pt x="14401" y="503885"/>
                  </a:lnTo>
                  <a:lnTo>
                    <a:pt x="18122" y="500176"/>
                  </a:lnTo>
                  <a:lnTo>
                    <a:pt x="19050" y="497928"/>
                  </a:lnTo>
                  <a:lnTo>
                    <a:pt x="19050" y="6896"/>
                  </a:lnTo>
                  <a:lnTo>
                    <a:pt x="18122" y="4648"/>
                  </a:lnTo>
                  <a:lnTo>
                    <a:pt x="14401" y="927"/>
                  </a:lnTo>
                  <a:lnTo>
                    <a:pt x="12153" y="0"/>
                  </a:lnTo>
                  <a:close/>
                </a:path>
              </a:pathLst>
            </a:custGeom>
            <a:solidFill>
              <a:srgbClr val="DFB7BB"/>
            </a:solidFill>
          </p:spPr>
          <p:txBody>
            <a:bodyPr wrap="square" lIns="0" tIns="0" rIns="0" bIns="0" rtlCol="0"/>
            <a:lstStyle/>
            <a:p>
              <a:endParaRPr/>
            </a:p>
          </p:txBody>
        </p:sp>
        <p:sp>
          <p:nvSpPr>
            <p:cNvPr id="25" name="object 25"/>
            <p:cNvSpPr/>
            <p:nvPr/>
          </p:nvSpPr>
          <p:spPr>
            <a:xfrm>
              <a:off x="8662987" y="3481463"/>
              <a:ext cx="371475" cy="371475"/>
            </a:xfrm>
            <a:custGeom>
              <a:avLst/>
              <a:gdLst/>
              <a:ahLst/>
              <a:cxnLst/>
              <a:rect l="l" t="t" r="r" b="b"/>
              <a:pathLst>
                <a:path w="371475" h="371475">
                  <a:moveTo>
                    <a:pt x="320573" y="0"/>
                  </a:moveTo>
                  <a:lnTo>
                    <a:pt x="50901" y="0"/>
                  </a:lnTo>
                  <a:lnTo>
                    <a:pt x="47358" y="342"/>
                  </a:lnTo>
                  <a:lnTo>
                    <a:pt x="13423" y="18478"/>
                  </a:lnTo>
                  <a:lnTo>
                    <a:pt x="0" y="50901"/>
                  </a:lnTo>
                  <a:lnTo>
                    <a:pt x="0" y="316992"/>
                  </a:lnTo>
                  <a:lnTo>
                    <a:pt x="0" y="320573"/>
                  </a:lnTo>
                  <a:lnTo>
                    <a:pt x="18478" y="358051"/>
                  </a:lnTo>
                  <a:lnTo>
                    <a:pt x="50901" y="371475"/>
                  </a:lnTo>
                  <a:lnTo>
                    <a:pt x="320573" y="371475"/>
                  </a:lnTo>
                  <a:lnTo>
                    <a:pt x="358051" y="352983"/>
                  </a:lnTo>
                  <a:lnTo>
                    <a:pt x="371475" y="320573"/>
                  </a:lnTo>
                  <a:lnTo>
                    <a:pt x="371475" y="50901"/>
                  </a:lnTo>
                  <a:lnTo>
                    <a:pt x="352983" y="13423"/>
                  </a:lnTo>
                  <a:lnTo>
                    <a:pt x="324116" y="342"/>
                  </a:lnTo>
                  <a:lnTo>
                    <a:pt x="320573" y="0"/>
                  </a:lnTo>
                  <a:close/>
                </a:path>
              </a:pathLst>
            </a:custGeom>
            <a:solidFill>
              <a:srgbClr val="F9D2D6"/>
            </a:solidFill>
          </p:spPr>
          <p:txBody>
            <a:bodyPr wrap="square" lIns="0" tIns="0" rIns="0" bIns="0" rtlCol="0"/>
            <a:lstStyle/>
            <a:p>
              <a:endParaRPr/>
            </a:p>
          </p:txBody>
        </p:sp>
        <p:sp>
          <p:nvSpPr>
            <p:cNvPr id="26" name="object 26"/>
            <p:cNvSpPr/>
            <p:nvPr/>
          </p:nvSpPr>
          <p:spPr>
            <a:xfrm>
              <a:off x="8662987" y="3481463"/>
              <a:ext cx="371475" cy="371475"/>
            </a:xfrm>
            <a:custGeom>
              <a:avLst/>
              <a:gdLst/>
              <a:ahLst/>
              <a:cxnLst/>
              <a:rect l="l" t="t" r="r" b="b"/>
              <a:pathLst>
                <a:path w="371475" h="371475">
                  <a:moveTo>
                    <a:pt x="0" y="316992"/>
                  </a:moveTo>
                  <a:lnTo>
                    <a:pt x="0" y="54483"/>
                  </a:lnTo>
                  <a:lnTo>
                    <a:pt x="0" y="50901"/>
                  </a:lnTo>
                  <a:lnTo>
                    <a:pt x="342" y="47358"/>
                  </a:lnTo>
                  <a:lnTo>
                    <a:pt x="1041" y="43853"/>
                  </a:lnTo>
                  <a:lnTo>
                    <a:pt x="1752" y="40335"/>
                  </a:lnTo>
                  <a:lnTo>
                    <a:pt x="2781" y="36931"/>
                  </a:lnTo>
                  <a:lnTo>
                    <a:pt x="4152" y="33629"/>
                  </a:lnTo>
                  <a:lnTo>
                    <a:pt x="5511" y="30327"/>
                  </a:lnTo>
                  <a:lnTo>
                    <a:pt x="7188" y="27190"/>
                  </a:lnTo>
                  <a:lnTo>
                    <a:pt x="9182" y="24206"/>
                  </a:lnTo>
                  <a:lnTo>
                    <a:pt x="11163" y="21234"/>
                  </a:lnTo>
                  <a:lnTo>
                    <a:pt x="24218" y="9182"/>
                  </a:lnTo>
                  <a:lnTo>
                    <a:pt x="27190" y="7188"/>
                  </a:lnTo>
                  <a:lnTo>
                    <a:pt x="43853" y="1041"/>
                  </a:lnTo>
                  <a:lnTo>
                    <a:pt x="47358" y="342"/>
                  </a:lnTo>
                  <a:lnTo>
                    <a:pt x="50901" y="0"/>
                  </a:lnTo>
                  <a:lnTo>
                    <a:pt x="54483" y="0"/>
                  </a:lnTo>
                  <a:lnTo>
                    <a:pt x="316992" y="0"/>
                  </a:lnTo>
                  <a:lnTo>
                    <a:pt x="320573" y="0"/>
                  </a:lnTo>
                  <a:lnTo>
                    <a:pt x="324116" y="342"/>
                  </a:lnTo>
                  <a:lnTo>
                    <a:pt x="347256" y="9182"/>
                  </a:lnTo>
                  <a:lnTo>
                    <a:pt x="350240" y="11163"/>
                  </a:lnTo>
                  <a:lnTo>
                    <a:pt x="352983" y="13423"/>
                  </a:lnTo>
                  <a:lnTo>
                    <a:pt x="355511" y="15951"/>
                  </a:lnTo>
                  <a:lnTo>
                    <a:pt x="358051" y="18478"/>
                  </a:lnTo>
                  <a:lnTo>
                    <a:pt x="360311" y="21234"/>
                  </a:lnTo>
                  <a:lnTo>
                    <a:pt x="362292" y="24206"/>
                  </a:lnTo>
                  <a:lnTo>
                    <a:pt x="364286" y="27190"/>
                  </a:lnTo>
                  <a:lnTo>
                    <a:pt x="365963" y="30327"/>
                  </a:lnTo>
                  <a:lnTo>
                    <a:pt x="367322" y="33629"/>
                  </a:lnTo>
                  <a:lnTo>
                    <a:pt x="368693" y="36931"/>
                  </a:lnTo>
                  <a:lnTo>
                    <a:pt x="369735" y="40335"/>
                  </a:lnTo>
                  <a:lnTo>
                    <a:pt x="370433" y="43853"/>
                  </a:lnTo>
                  <a:lnTo>
                    <a:pt x="371132" y="47358"/>
                  </a:lnTo>
                  <a:lnTo>
                    <a:pt x="371475" y="50901"/>
                  </a:lnTo>
                  <a:lnTo>
                    <a:pt x="371475" y="54483"/>
                  </a:lnTo>
                  <a:lnTo>
                    <a:pt x="371475" y="316992"/>
                  </a:lnTo>
                  <a:lnTo>
                    <a:pt x="371475" y="320573"/>
                  </a:lnTo>
                  <a:lnTo>
                    <a:pt x="371132" y="324116"/>
                  </a:lnTo>
                  <a:lnTo>
                    <a:pt x="370433" y="327621"/>
                  </a:lnTo>
                  <a:lnTo>
                    <a:pt x="369735" y="331127"/>
                  </a:lnTo>
                  <a:lnTo>
                    <a:pt x="368693" y="334530"/>
                  </a:lnTo>
                  <a:lnTo>
                    <a:pt x="367322" y="337832"/>
                  </a:lnTo>
                  <a:lnTo>
                    <a:pt x="365963" y="341147"/>
                  </a:lnTo>
                  <a:lnTo>
                    <a:pt x="364286" y="344284"/>
                  </a:lnTo>
                  <a:lnTo>
                    <a:pt x="362292" y="347256"/>
                  </a:lnTo>
                  <a:lnTo>
                    <a:pt x="360311" y="350227"/>
                  </a:lnTo>
                  <a:lnTo>
                    <a:pt x="358051" y="352983"/>
                  </a:lnTo>
                  <a:lnTo>
                    <a:pt x="355511" y="355511"/>
                  </a:lnTo>
                  <a:lnTo>
                    <a:pt x="352983" y="358051"/>
                  </a:lnTo>
                  <a:lnTo>
                    <a:pt x="337845" y="367322"/>
                  </a:lnTo>
                  <a:lnTo>
                    <a:pt x="334530" y="368693"/>
                  </a:lnTo>
                  <a:lnTo>
                    <a:pt x="331127" y="369722"/>
                  </a:lnTo>
                  <a:lnTo>
                    <a:pt x="327621" y="370433"/>
                  </a:lnTo>
                  <a:lnTo>
                    <a:pt x="324116" y="371119"/>
                  </a:lnTo>
                  <a:lnTo>
                    <a:pt x="320573" y="371475"/>
                  </a:lnTo>
                  <a:lnTo>
                    <a:pt x="316992" y="371475"/>
                  </a:lnTo>
                  <a:lnTo>
                    <a:pt x="54483" y="371475"/>
                  </a:lnTo>
                  <a:lnTo>
                    <a:pt x="50901" y="371475"/>
                  </a:lnTo>
                  <a:lnTo>
                    <a:pt x="47358" y="371119"/>
                  </a:lnTo>
                  <a:lnTo>
                    <a:pt x="43853" y="370433"/>
                  </a:lnTo>
                  <a:lnTo>
                    <a:pt x="40347" y="369722"/>
                  </a:lnTo>
                  <a:lnTo>
                    <a:pt x="36944" y="368693"/>
                  </a:lnTo>
                  <a:lnTo>
                    <a:pt x="33629" y="367322"/>
                  </a:lnTo>
                  <a:lnTo>
                    <a:pt x="30327" y="365963"/>
                  </a:lnTo>
                  <a:lnTo>
                    <a:pt x="15951" y="355511"/>
                  </a:lnTo>
                  <a:lnTo>
                    <a:pt x="13423" y="352983"/>
                  </a:lnTo>
                  <a:lnTo>
                    <a:pt x="11163" y="350227"/>
                  </a:lnTo>
                  <a:lnTo>
                    <a:pt x="9182" y="347256"/>
                  </a:lnTo>
                  <a:lnTo>
                    <a:pt x="7188" y="344284"/>
                  </a:lnTo>
                  <a:lnTo>
                    <a:pt x="5511" y="341147"/>
                  </a:lnTo>
                  <a:lnTo>
                    <a:pt x="4152" y="337832"/>
                  </a:lnTo>
                  <a:lnTo>
                    <a:pt x="2781" y="334530"/>
                  </a:lnTo>
                  <a:lnTo>
                    <a:pt x="1752" y="331127"/>
                  </a:lnTo>
                  <a:lnTo>
                    <a:pt x="1041" y="327621"/>
                  </a:lnTo>
                  <a:lnTo>
                    <a:pt x="342" y="324116"/>
                  </a:lnTo>
                  <a:lnTo>
                    <a:pt x="0" y="320573"/>
                  </a:lnTo>
                  <a:lnTo>
                    <a:pt x="0" y="316992"/>
                  </a:lnTo>
                  <a:close/>
                </a:path>
              </a:pathLst>
            </a:custGeom>
            <a:ln w="9525">
              <a:solidFill>
                <a:srgbClr val="DFB7BB"/>
              </a:solidFill>
            </a:ln>
          </p:spPr>
          <p:txBody>
            <a:bodyPr wrap="square" lIns="0" tIns="0" rIns="0" bIns="0" rtlCol="0"/>
            <a:lstStyle/>
            <a:p>
              <a:endParaRPr/>
            </a:p>
          </p:txBody>
        </p:sp>
      </p:grpSp>
      <p:sp>
        <p:nvSpPr>
          <p:cNvPr id="27" name="object 27"/>
          <p:cNvSpPr txBox="1"/>
          <p:nvPr/>
        </p:nvSpPr>
        <p:spPr>
          <a:xfrm>
            <a:off x="8750668" y="3467976"/>
            <a:ext cx="202565" cy="346075"/>
          </a:xfrm>
          <a:prstGeom prst="rect">
            <a:avLst/>
          </a:prstGeom>
        </p:spPr>
        <p:txBody>
          <a:bodyPr vert="horz" wrap="square" lIns="0" tIns="12700" rIns="0" bIns="0" rtlCol="0">
            <a:spAutoFit/>
          </a:bodyPr>
          <a:lstStyle/>
          <a:p>
            <a:pPr marL="12700">
              <a:lnSpc>
                <a:spcPct val="100000"/>
              </a:lnSpc>
              <a:spcBef>
                <a:spcPts val="100"/>
              </a:spcBef>
            </a:pPr>
            <a:r>
              <a:rPr sz="2100" b="1" spc="-50" dirty="0">
                <a:solidFill>
                  <a:srgbClr val="3A3535"/>
                </a:solidFill>
                <a:latin typeface="Verdana"/>
                <a:cs typeface="Verdana"/>
              </a:rPr>
              <a:t>4</a:t>
            </a:r>
            <a:endParaRPr sz="2100">
              <a:latin typeface="Verdana"/>
              <a:cs typeface="Verdana"/>
            </a:endParaRPr>
          </a:p>
        </p:txBody>
      </p:sp>
      <p:sp>
        <p:nvSpPr>
          <p:cNvPr id="28" name="object 28"/>
          <p:cNvSpPr txBox="1"/>
          <p:nvPr/>
        </p:nvSpPr>
        <p:spPr>
          <a:xfrm>
            <a:off x="7292378" y="4317555"/>
            <a:ext cx="3119755" cy="910590"/>
          </a:xfrm>
          <a:prstGeom prst="rect">
            <a:avLst/>
          </a:prstGeom>
        </p:spPr>
        <p:txBody>
          <a:bodyPr vert="horz" wrap="square" lIns="0" tIns="12700" rIns="0" bIns="0" rtlCol="0">
            <a:spAutoFit/>
          </a:bodyPr>
          <a:lstStyle/>
          <a:p>
            <a:pPr algn="ctr">
              <a:lnSpc>
                <a:spcPct val="100000"/>
              </a:lnSpc>
              <a:spcBef>
                <a:spcPts val="100"/>
              </a:spcBef>
            </a:pPr>
            <a:r>
              <a:rPr sz="1750" b="1" spc="-25" dirty="0">
                <a:solidFill>
                  <a:srgbClr val="3A3535"/>
                </a:solidFill>
                <a:latin typeface="Verdana"/>
                <a:cs typeface="Verdana"/>
              </a:rPr>
              <a:t>Now</a:t>
            </a:r>
            <a:endParaRPr sz="1750">
              <a:latin typeface="Verdana"/>
              <a:cs typeface="Verdana"/>
            </a:endParaRPr>
          </a:p>
          <a:p>
            <a:pPr marL="12700" marR="5080" algn="ctr">
              <a:lnSpc>
                <a:spcPct val="134600"/>
              </a:lnSpc>
              <a:spcBef>
                <a:spcPts val="660"/>
              </a:spcBef>
            </a:pPr>
            <a:r>
              <a:rPr sz="1300" dirty="0">
                <a:solidFill>
                  <a:srgbClr val="3A3535"/>
                </a:solidFill>
                <a:latin typeface="Century Gothic"/>
                <a:cs typeface="Century Gothic"/>
              </a:rPr>
              <a:t>General</a:t>
            </a:r>
            <a:r>
              <a:rPr sz="1300" spc="-45" dirty="0">
                <a:solidFill>
                  <a:srgbClr val="3A3535"/>
                </a:solidFill>
                <a:latin typeface="Century Gothic"/>
                <a:cs typeface="Century Gothic"/>
              </a:rPr>
              <a:t> </a:t>
            </a:r>
            <a:r>
              <a:rPr sz="1300" spc="80" dirty="0">
                <a:solidFill>
                  <a:srgbClr val="3A3535"/>
                </a:solidFill>
                <a:latin typeface="Century Gothic"/>
                <a:cs typeface="Century Gothic"/>
              </a:rPr>
              <a:t>LLM</a:t>
            </a:r>
            <a:r>
              <a:rPr sz="1300" spc="-40" dirty="0">
                <a:solidFill>
                  <a:srgbClr val="3A3535"/>
                </a:solidFill>
                <a:latin typeface="Century Gothic"/>
                <a:cs typeface="Century Gothic"/>
              </a:rPr>
              <a:t> </a:t>
            </a:r>
            <a:r>
              <a:rPr sz="1300" spc="85" dirty="0">
                <a:solidFill>
                  <a:srgbClr val="3A3535"/>
                </a:solidFill>
                <a:latin typeface="Century Gothic"/>
                <a:cs typeface="Century Gothic"/>
              </a:rPr>
              <a:t>support</a:t>
            </a:r>
            <a:r>
              <a:rPr sz="1300" spc="-4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40" dirty="0">
                <a:solidFill>
                  <a:srgbClr val="3A3535"/>
                </a:solidFill>
                <a:latin typeface="Century Gothic"/>
                <a:cs typeface="Century Gothic"/>
              </a:rPr>
              <a:t> </a:t>
            </a:r>
            <a:r>
              <a:rPr sz="1300" spc="60" dirty="0">
                <a:solidFill>
                  <a:srgbClr val="3A3535"/>
                </a:solidFill>
                <a:latin typeface="Century Gothic"/>
                <a:cs typeface="Century Gothic"/>
              </a:rPr>
              <a:t>supervised </a:t>
            </a:r>
            <a:r>
              <a:rPr sz="1300" dirty="0">
                <a:solidFill>
                  <a:srgbClr val="3A3535"/>
                </a:solidFill>
                <a:latin typeface="Century Gothic"/>
                <a:cs typeface="Century Gothic"/>
              </a:rPr>
              <a:t>therapy-</a:t>
            </a:r>
            <a:r>
              <a:rPr sz="1300" spc="100" dirty="0">
                <a:solidFill>
                  <a:srgbClr val="3A3535"/>
                </a:solidFill>
                <a:latin typeface="Century Gothic"/>
                <a:cs typeface="Century Gothic"/>
              </a:rPr>
              <a:t>style</a:t>
            </a:r>
            <a:r>
              <a:rPr sz="1300" spc="70" dirty="0">
                <a:solidFill>
                  <a:srgbClr val="3A3535"/>
                </a:solidFill>
                <a:latin typeface="Century Gothic"/>
                <a:cs typeface="Century Gothic"/>
              </a:rPr>
              <a:t> </a:t>
            </a:r>
            <a:r>
              <a:rPr sz="1300" spc="65" dirty="0">
                <a:solidFill>
                  <a:srgbClr val="3A3535"/>
                </a:solidFill>
                <a:latin typeface="Century Gothic"/>
                <a:cs typeface="Century Gothic"/>
              </a:rPr>
              <a:t>AI</a:t>
            </a:r>
            <a:r>
              <a:rPr sz="1300" spc="75" dirty="0">
                <a:solidFill>
                  <a:srgbClr val="3A3535"/>
                </a:solidFill>
                <a:latin typeface="Century Gothic"/>
                <a:cs typeface="Century Gothic"/>
              </a:rPr>
              <a:t> </a:t>
            </a:r>
            <a:r>
              <a:rPr sz="1300" spc="-20" dirty="0">
                <a:solidFill>
                  <a:srgbClr val="3A3535"/>
                </a:solidFill>
                <a:latin typeface="Century Gothic"/>
                <a:cs typeface="Century Gothic"/>
              </a:rPr>
              <a:t>chat</a:t>
            </a:r>
            <a:endParaRPr sz="1300">
              <a:latin typeface="Century Gothic"/>
              <a:cs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18135" rIns="0" bIns="0" rtlCol="0">
            <a:spAutoFit/>
          </a:bodyPr>
          <a:lstStyle/>
          <a:p>
            <a:pPr marL="12700">
              <a:lnSpc>
                <a:spcPct val="100000"/>
              </a:lnSpc>
              <a:spcBef>
                <a:spcPts val="105"/>
              </a:spcBef>
            </a:pPr>
            <a:r>
              <a:rPr spc="-215" dirty="0"/>
              <a:t>What</a:t>
            </a:r>
            <a:r>
              <a:rPr spc="-420" dirty="0"/>
              <a:t> </a:t>
            </a:r>
            <a:r>
              <a:rPr spc="-280" dirty="0"/>
              <a:t>Teams</a:t>
            </a:r>
            <a:r>
              <a:rPr spc="-420" dirty="0"/>
              <a:t> </a:t>
            </a:r>
            <a:r>
              <a:rPr spc="-105" dirty="0"/>
              <a:t>Can</a:t>
            </a:r>
            <a:r>
              <a:rPr spc="-420" dirty="0"/>
              <a:t> </a:t>
            </a:r>
            <a:r>
              <a:rPr spc="-114" dirty="0"/>
              <a:t>Do</a:t>
            </a:r>
            <a:r>
              <a:rPr spc="-420" dirty="0"/>
              <a:t> </a:t>
            </a:r>
            <a:r>
              <a:rPr spc="-170" dirty="0"/>
              <a:t>With</a:t>
            </a:r>
            <a:r>
              <a:rPr spc="-420" dirty="0"/>
              <a:t> </a:t>
            </a:r>
            <a:r>
              <a:rPr spc="-465" dirty="0"/>
              <a:t>It</a:t>
            </a:r>
          </a:p>
        </p:txBody>
      </p:sp>
      <p:grpSp>
        <p:nvGrpSpPr>
          <p:cNvPr id="3" name="object 3"/>
          <p:cNvGrpSpPr/>
          <p:nvPr/>
        </p:nvGrpSpPr>
        <p:grpSpPr>
          <a:xfrm>
            <a:off x="585152" y="1728152"/>
            <a:ext cx="5133975" cy="688340"/>
            <a:chOff x="585152" y="1728152"/>
            <a:chExt cx="5133975" cy="688340"/>
          </a:xfrm>
        </p:grpSpPr>
        <p:sp>
          <p:nvSpPr>
            <p:cNvPr id="4" name="object 4"/>
            <p:cNvSpPr/>
            <p:nvPr/>
          </p:nvSpPr>
          <p:spPr>
            <a:xfrm>
              <a:off x="590550" y="1733549"/>
              <a:ext cx="5123180" cy="677545"/>
            </a:xfrm>
            <a:custGeom>
              <a:avLst/>
              <a:gdLst/>
              <a:ahLst/>
              <a:cxnLst/>
              <a:rect l="l" t="t" r="r" b="b"/>
              <a:pathLst>
                <a:path w="5123180" h="677544">
                  <a:moveTo>
                    <a:pt x="4953393" y="0"/>
                  </a:moveTo>
                  <a:lnTo>
                    <a:pt x="0" y="0"/>
                  </a:lnTo>
                  <a:lnTo>
                    <a:pt x="169266" y="338531"/>
                  </a:lnTo>
                  <a:lnTo>
                    <a:pt x="0" y="677062"/>
                  </a:lnTo>
                  <a:lnTo>
                    <a:pt x="4953393" y="677062"/>
                  </a:lnTo>
                  <a:lnTo>
                    <a:pt x="5122659" y="338531"/>
                  </a:lnTo>
                  <a:lnTo>
                    <a:pt x="4953393" y="0"/>
                  </a:lnTo>
                  <a:close/>
                </a:path>
              </a:pathLst>
            </a:custGeom>
            <a:solidFill>
              <a:srgbClr val="F9D2D6"/>
            </a:solidFill>
          </p:spPr>
          <p:txBody>
            <a:bodyPr wrap="square" lIns="0" tIns="0" rIns="0" bIns="0" rtlCol="0"/>
            <a:lstStyle/>
            <a:p>
              <a:endParaRPr/>
            </a:p>
          </p:txBody>
        </p:sp>
        <p:sp>
          <p:nvSpPr>
            <p:cNvPr id="5" name="object 5"/>
            <p:cNvSpPr/>
            <p:nvPr/>
          </p:nvSpPr>
          <p:spPr>
            <a:xfrm>
              <a:off x="590550" y="1733549"/>
              <a:ext cx="5123180" cy="677545"/>
            </a:xfrm>
            <a:custGeom>
              <a:avLst/>
              <a:gdLst/>
              <a:ahLst/>
              <a:cxnLst/>
              <a:rect l="l" t="t" r="r" b="b"/>
              <a:pathLst>
                <a:path w="5123180" h="677544">
                  <a:moveTo>
                    <a:pt x="4953393" y="0"/>
                  </a:moveTo>
                  <a:lnTo>
                    <a:pt x="5122659" y="338531"/>
                  </a:lnTo>
                  <a:lnTo>
                    <a:pt x="4953393" y="677062"/>
                  </a:lnTo>
                  <a:lnTo>
                    <a:pt x="0" y="677062"/>
                  </a:lnTo>
                  <a:lnTo>
                    <a:pt x="169266" y="338531"/>
                  </a:lnTo>
                  <a:lnTo>
                    <a:pt x="0" y="0"/>
                  </a:lnTo>
                  <a:lnTo>
                    <a:pt x="4953393" y="0"/>
                  </a:lnTo>
                  <a:close/>
                </a:path>
              </a:pathLst>
            </a:custGeom>
            <a:ln w="10579">
              <a:solidFill>
                <a:srgbClr val="DFB7BB"/>
              </a:solidFill>
            </a:ln>
          </p:spPr>
          <p:txBody>
            <a:bodyPr wrap="square" lIns="0" tIns="0" rIns="0" bIns="0" rtlCol="0"/>
            <a:lstStyle/>
            <a:p>
              <a:endParaRPr/>
            </a:p>
          </p:txBody>
        </p:sp>
      </p:grpSp>
      <p:sp>
        <p:nvSpPr>
          <p:cNvPr id="6" name="object 6"/>
          <p:cNvSpPr txBox="1"/>
          <p:nvPr/>
        </p:nvSpPr>
        <p:spPr>
          <a:xfrm>
            <a:off x="748842" y="1886102"/>
            <a:ext cx="3919854" cy="1304290"/>
          </a:xfrm>
          <a:prstGeom prst="rect">
            <a:avLst/>
          </a:prstGeom>
        </p:spPr>
        <p:txBody>
          <a:bodyPr vert="horz" wrap="square" lIns="0" tIns="12065" rIns="0" bIns="0" rtlCol="0">
            <a:spAutoFit/>
          </a:bodyPr>
          <a:lstStyle/>
          <a:p>
            <a:pPr marL="889635" algn="ctr">
              <a:lnSpc>
                <a:spcPct val="100000"/>
              </a:lnSpc>
              <a:spcBef>
                <a:spcPts val="95"/>
              </a:spcBef>
            </a:pPr>
            <a:r>
              <a:rPr sz="2000" b="1" spc="-635" dirty="0">
                <a:solidFill>
                  <a:srgbClr val="3A3535"/>
                </a:solidFill>
                <a:latin typeface="Verdana"/>
                <a:cs typeface="Verdana"/>
              </a:rPr>
              <a:t>1</a:t>
            </a:r>
            <a:endParaRPr sz="2000">
              <a:latin typeface="Verdana"/>
              <a:cs typeface="Verdana"/>
            </a:endParaRPr>
          </a:p>
          <a:p>
            <a:pPr>
              <a:lnSpc>
                <a:spcPct val="100000"/>
              </a:lnSpc>
              <a:spcBef>
                <a:spcPts val="445"/>
              </a:spcBef>
            </a:pPr>
            <a:endParaRPr sz="2000">
              <a:latin typeface="Verdana"/>
              <a:cs typeface="Verdana"/>
            </a:endParaRPr>
          </a:p>
          <a:p>
            <a:pPr marL="12700">
              <a:lnSpc>
                <a:spcPct val="100000"/>
              </a:lnSpc>
            </a:pPr>
            <a:r>
              <a:rPr sz="1750" b="1" spc="-10" dirty="0">
                <a:solidFill>
                  <a:srgbClr val="3A3535"/>
                </a:solidFill>
                <a:latin typeface="Verdana"/>
                <a:cs typeface="Verdana"/>
              </a:rPr>
              <a:t>Onboard</a:t>
            </a:r>
            <a:endParaRPr sz="1750">
              <a:latin typeface="Verdana"/>
              <a:cs typeface="Verdana"/>
            </a:endParaRPr>
          </a:p>
          <a:p>
            <a:pPr marL="12700">
              <a:lnSpc>
                <a:spcPct val="100000"/>
              </a:lnSpc>
              <a:spcBef>
                <a:spcPts val="1125"/>
              </a:spcBef>
            </a:pPr>
            <a:r>
              <a:rPr sz="1300" spc="100" dirty="0">
                <a:solidFill>
                  <a:srgbClr val="3A3535"/>
                </a:solidFill>
                <a:latin typeface="Century Gothic"/>
                <a:cs typeface="Century Gothic"/>
              </a:rPr>
              <a:t>Turn</a:t>
            </a:r>
            <a:r>
              <a:rPr sz="1300" spc="-5" dirty="0">
                <a:solidFill>
                  <a:srgbClr val="3A3535"/>
                </a:solidFill>
                <a:latin typeface="Century Gothic"/>
                <a:cs typeface="Century Gothic"/>
              </a:rPr>
              <a:t> </a:t>
            </a:r>
            <a:r>
              <a:rPr sz="1300" spc="-140" dirty="0">
                <a:solidFill>
                  <a:srgbClr val="3A3535"/>
                </a:solidFill>
                <a:latin typeface="Century Gothic"/>
                <a:cs typeface="Century Gothic"/>
              </a:rPr>
              <a:t>a</a:t>
            </a:r>
            <a:r>
              <a:rPr sz="1300" dirty="0">
                <a:solidFill>
                  <a:srgbClr val="3A3535"/>
                </a:solidFill>
                <a:latin typeface="Century Gothic"/>
                <a:cs typeface="Century Gothic"/>
              </a:rPr>
              <a:t> concept </a:t>
            </a:r>
            <a:r>
              <a:rPr sz="1300" spc="80" dirty="0">
                <a:solidFill>
                  <a:srgbClr val="3A3535"/>
                </a:solidFill>
                <a:latin typeface="Century Gothic"/>
                <a:cs typeface="Century Gothic"/>
              </a:rPr>
              <a:t>into</a:t>
            </a:r>
            <a:r>
              <a:rPr sz="1300" dirty="0">
                <a:solidFill>
                  <a:srgbClr val="3A3535"/>
                </a:solidFill>
                <a:latin typeface="Century Gothic"/>
                <a:cs typeface="Century Gothic"/>
              </a:rPr>
              <a:t> </a:t>
            </a:r>
            <a:r>
              <a:rPr sz="1300" spc="-140" dirty="0">
                <a:solidFill>
                  <a:srgbClr val="3A3535"/>
                </a:solidFill>
                <a:latin typeface="Century Gothic"/>
                <a:cs typeface="Century Gothic"/>
              </a:rPr>
              <a:t>a</a:t>
            </a:r>
            <a:r>
              <a:rPr sz="1300" dirty="0">
                <a:solidFill>
                  <a:srgbClr val="3A3535"/>
                </a:solidFill>
                <a:latin typeface="Century Gothic"/>
                <a:cs typeface="Century Gothic"/>
              </a:rPr>
              <a:t> guided </a:t>
            </a:r>
            <a:r>
              <a:rPr sz="1300" spc="55" dirty="0">
                <a:solidFill>
                  <a:srgbClr val="3A3535"/>
                </a:solidFill>
                <a:latin typeface="Century Gothic"/>
                <a:cs typeface="Century Gothic"/>
              </a:rPr>
              <a:t>entry</a:t>
            </a:r>
            <a:r>
              <a:rPr sz="1300" dirty="0">
                <a:solidFill>
                  <a:srgbClr val="3A3535"/>
                </a:solidFill>
                <a:latin typeface="Century Gothic"/>
                <a:cs typeface="Century Gothic"/>
              </a:rPr>
              <a:t> </a:t>
            </a:r>
            <a:r>
              <a:rPr sz="1300" spc="-10" dirty="0">
                <a:solidFill>
                  <a:srgbClr val="3A3535"/>
                </a:solidFill>
                <a:latin typeface="Century Gothic"/>
                <a:cs typeface="Century Gothic"/>
              </a:rPr>
              <a:t>experience</a:t>
            </a:r>
            <a:endParaRPr sz="1300">
              <a:latin typeface="Century Gothic"/>
              <a:cs typeface="Century Gothic"/>
            </a:endParaRPr>
          </a:p>
        </p:txBody>
      </p:sp>
      <p:grpSp>
        <p:nvGrpSpPr>
          <p:cNvPr id="7" name="object 7"/>
          <p:cNvGrpSpPr/>
          <p:nvPr/>
        </p:nvGrpSpPr>
        <p:grpSpPr>
          <a:xfrm>
            <a:off x="5709710" y="1728260"/>
            <a:ext cx="5133340" cy="687705"/>
            <a:chOff x="5709710" y="1728260"/>
            <a:chExt cx="5133340" cy="687705"/>
          </a:xfrm>
        </p:grpSpPr>
        <p:sp>
          <p:nvSpPr>
            <p:cNvPr id="8" name="object 8"/>
            <p:cNvSpPr/>
            <p:nvPr/>
          </p:nvSpPr>
          <p:spPr>
            <a:xfrm>
              <a:off x="5714999" y="1733549"/>
              <a:ext cx="5123180" cy="677545"/>
            </a:xfrm>
            <a:custGeom>
              <a:avLst/>
              <a:gdLst/>
              <a:ahLst/>
              <a:cxnLst/>
              <a:rect l="l" t="t" r="r" b="b"/>
              <a:pathLst>
                <a:path w="5123180" h="677544">
                  <a:moveTo>
                    <a:pt x="4953393" y="0"/>
                  </a:moveTo>
                  <a:lnTo>
                    <a:pt x="0" y="0"/>
                  </a:lnTo>
                  <a:lnTo>
                    <a:pt x="169265" y="338531"/>
                  </a:lnTo>
                  <a:lnTo>
                    <a:pt x="0" y="677062"/>
                  </a:lnTo>
                  <a:lnTo>
                    <a:pt x="4953393" y="677062"/>
                  </a:lnTo>
                  <a:lnTo>
                    <a:pt x="5122659" y="338531"/>
                  </a:lnTo>
                  <a:lnTo>
                    <a:pt x="4953393" y="0"/>
                  </a:lnTo>
                  <a:close/>
                </a:path>
              </a:pathLst>
            </a:custGeom>
            <a:solidFill>
              <a:srgbClr val="F9D2D6"/>
            </a:solidFill>
          </p:spPr>
          <p:txBody>
            <a:bodyPr wrap="square" lIns="0" tIns="0" rIns="0" bIns="0" rtlCol="0"/>
            <a:lstStyle/>
            <a:p>
              <a:endParaRPr/>
            </a:p>
          </p:txBody>
        </p:sp>
        <p:sp>
          <p:nvSpPr>
            <p:cNvPr id="9" name="object 9"/>
            <p:cNvSpPr/>
            <p:nvPr/>
          </p:nvSpPr>
          <p:spPr>
            <a:xfrm>
              <a:off x="5714999" y="1733549"/>
              <a:ext cx="5123180" cy="677545"/>
            </a:xfrm>
            <a:custGeom>
              <a:avLst/>
              <a:gdLst/>
              <a:ahLst/>
              <a:cxnLst/>
              <a:rect l="l" t="t" r="r" b="b"/>
              <a:pathLst>
                <a:path w="5123180" h="677544">
                  <a:moveTo>
                    <a:pt x="4953393" y="0"/>
                  </a:moveTo>
                  <a:lnTo>
                    <a:pt x="5122659" y="338531"/>
                  </a:lnTo>
                  <a:lnTo>
                    <a:pt x="4953393" y="677062"/>
                  </a:lnTo>
                  <a:lnTo>
                    <a:pt x="0" y="677062"/>
                  </a:lnTo>
                  <a:lnTo>
                    <a:pt x="169265" y="338531"/>
                  </a:lnTo>
                  <a:lnTo>
                    <a:pt x="0" y="0"/>
                  </a:lnTo>
                  <a:lnTo>
                    <a:pt x="4953393" y="0"/>
                  </a:lnTo>
                  <a:close/>
                </a:path>
              </a:pathLst>
            </a:custGeom>
            <a:ln w="10579">
              <a:solidFill>
                <a:srgbClr val="DFB7BB"/>
              </a:solidFill>
            </a:ln>
          </p:spPr>
          <p:txBody>
            <a:bodyPr wrap="square" lIns="0" tIns="0" rIns="0" bIns="0" rtlCol="0"/>
            <a:lstStyle/>
            <a:p>
              <a:endParaRPr/>
            </a:p>
          </p:txBody>
        </p:sp>
      </p:grpSp>
      <p:grpSp>
        <p:nvGrpSpPr>
          <p:cNvPr id="10" name="object 10"/>
          <p:cNvGrpSpPr/>
          <p:nvPr/>
        </p:nvGrpSpPr>
        <p:grpSpPr>
          <a:xfrm>
            <a:off x="585152" y="3661727"/>
            <a:ext cx="5133975" cy="688340"/>
            <a:chOff x="585152" y="3661727"/>
            <a:chExt cx="5133975" cy="688340"/>
          </a:xfrm>
        </p:grpSpPr>
        <p:sp>
          <p:nvSpPr>
            <p:cNvPr id="11" name="object 11"/>
            <p:cNvSpPr/>
            <p:nvPr/>
          </p:nvSpPr>
          <p:spPr>
            <a:xfrm>
              <a:off x="590550" y="3667124"/>
              <a:ext cx="5123180" cy="677545"/>
            </a:xfrm>
            <a:custGeom>
              <a:avLst/>
              <a:gdLst/>
              <a:ahLst/>
              <a:cxnLst/>
              <a:rect l="l" t="t" r="r" b="b"/>
              <a:pathLst>
                <a:path w="5123180" h="677545">
                  <a:moveTo>
                    <a:pt x="4953393" y="0"/>
                  </a:moveTo>
                  <a:lnTo>
                    <a:pt x="0" y="0"/>
                  </a:lnTo>
                  <a:lnTo>
                    <a:pt x="169266" y="338531"/>
                  </a:lnTo>
                  <a:lnTo>
                    <a:pt x="0" y="677062"/>
                  </a:lnTo>
                  <a:lnTo>
                    <a:pt x="4953393" y="677062"/>
                  </a:lnTo>
                  <a:lnTo>
                    <a:pt x="5122659" y="338531"/>
                  </a:lnTo>
                  <a:lnTo>
                    <a:pt x="4953393" y="0"/>
                  </a:lnTo>
                  <a:close/>
                </a:path>
              </a:pathLst>
            </a:custGeom>
            <a:solidFill>
              <a:srgbClr val="F9D2D6"/>
            </a:solidFill>
          </p:spPr>
          <p:txBody>
            <a:bodyPr wrap="square" lIns="0" tIns="0" rIns="0" bIns="0" rtlCol="0"/>
            <a:lstStyle/>
            <a:p>
              <a:endParaRPr/>
            </a:p>
          </p:txBody>
        </p:sp>
        <p:sp>
          <p:nvSpPr>
            <p:cNvPr id="12" name="object 12"/>
            <p:cNvSpPr/>
            <p:nvPr/>
          </p:nvSpPr>
          <p:spPr>
            <a:xfrm>
              <a:off x="590550" y="3667124"/>
              <a:ext cx="5123180" cy="677545"/>
            </a:xfrm>
            <a:custGeom>
              <a:avLst/>
              <a:gdLst/>
              <a:ahLst/>
              <a:cxnLst/>
              <a:rect l="l" t="t" r="r" b="b"/>
              <a:pathLst>
                <a:path w="5123180" h="677545">
                  <a:moveTo>
                    <a:pt x="4953393" y="0"/>
                  </a:moveTo>
                  <a:lnTo>
                    <a:pt x="5122659" y="338531"/>
                  </a:lnTo>
                  <a:lnTo>
                    <a:pt x="4953393" y="677062"/>
                  </a:lnTo>
                  <a:lnTo>
                    <a:pt x="0" y="677062"/>
                  </a:lnTo>
                  <a:lnTo>
                    <a:pt x="169266" y="338531"/>
                  </a:lnTo>
                  <a:lnTo>
                    <a:pt x="0" y="0"/>
                  </a:lnTo>
                  <a:lnTo>
                    <a:pt x="4953393" y="0"/>
                  </a:lnTo>
                  <a:close/>
                </a:path>
              </a:pathLst>
            </a:custGeom>
            <a:ln w="10579">
              <a:solidFill>
                <a:srgbClr val="DFB7BB"/>
              </a:solidFill>
            </a:ln>
          </p:spPr>
          <p:txBody>
            <a:bodyPr wrap="square" lIns="0" tIns="0" rIns="0" bIns="0" rtlCol="0"/>
            <a:lstStyle/>
            <a:p>
              <a:endParaRPr/>
            </a:p>
          </p:txBody>
        </p:sp>
      </p:grpSp>
      <p:sp>
        <p:nvSpPr>
          <p:cNvPr id="13" name="object 13"/>
          <p:cNvSpPr txBox="1"/>
          <p:nvPr/>
        </p:nvSpPr>
        <p:spPr>
          <a:xfrm>
            <a:off x="748855" y="3819677"/>
            <a:ext cx="4589145" cy="1580515"/>
          </a:xfrm>
          <a:prstGeom prst="rect">
            <a:avLst/>
          </a:prstGeom>
        </p:spPr>
        <p:txBody>
          <a:bodyPr vert="horz" wrap="square" lIns="0" tIns="12065" rIns="0" bIns="0" rtlCol="0">
            <a:spAutoFit/>
          </a:bodyPr>
          <a:lstStyle/>
          <a:p>
            <a:pPr marL="220345" algn="ctr">
              <a:lnSpc>
                <a:spcPct val="100000"/>
              </a:lnSpc>
              <a:spcBef>
                <a:spcPts val="95"/>
              </a:spcBef>
            </a:pPr>
            <a:r>
              <a:rPr sz="2000" b="1" spc="-50" dirty="0">
                <a:solidFill>
                  <a:srgbClr val="3A3535"/>
                </a:solidFill>
                <a:latin typeface="Verdana"/>
                <a:cs typeface="Verdana"/>
              </a:rPr>
              <a:t>3</a:t>
            </a:r>
            <a:endParaRPr sz="2000" dirty="0">
              <a:latin typeface="Verdana"/>
              <a:cs typeface="Verdana"/>
            </a:endParaRPr>
          </a:p>
          <a:p>
            <a:pPr>
              <a:lnSpc>
                <a:spcPct val="100000"/>
              </a:lnSpc>
              <a:spcBef>
                <a:spcPts val="445"/>
              </a:spcBef>
            </a:pPr>
            <a:endParaRPr sz="2000" dirty="0">
              <a:latin typeface="Verdana"/>
              <a:cs typeface="Verdana"/>
            </a:endParaRPr>
          </a:p>
          <a:p>
            <a:pPr marL="12700">
              <a:lnSpc>
                <a:spcPct val="100000"/>
              </a:lnSpc>
            </a:pPr>
            <a:r>
              <a:rPr sz="1750" b="1" spc="-10" dirty="0">
                <a:solidFill>
                  <a:srgbClr val="3A3535"/>
                </a:solidFill>
                <a:latin typeface="Verdana"/>
                <a:cs typeface="Verdana"/>
              </a:rPr>
              <a:t>Adapt</a:t>
            </a:r>
            <a:endParaRPr sz="1750" dirty="0">
              <a:latin typeface="Verdana"/>
              <a:cs typeface="Verdana"/>
            </a:endParaRPr>
          </a:p>
          <a:p>
            <a:pPr marL="12700" marR="5080">
              <a:lnSpc>
                <a:spcPct val="134600"/>
              </a:lnSpc>
              <a:spcBef>
                <a:spcPts val="660"/>
              </a:spcBef>
            </a:pPr>
            <a:r>
              <a:rPr sz="1300" spc="85" dirty="0">
                <a:solidFill>
                  <a:srgbClr val="3A3535"/>
                </a:solidFill>
                <a:latin typeface="Century Gothic"/>
                <a:cs typeface="Century Gothic"/>
              </a:rPr>
              <a:t>Adjust</a:t>
            </a:r>
            <a:r>
              <a:rPr sz="1300" spc="40" dirty="0">
                <a:solidFill>
                  <a:srgbClr val="3A3535"/>
                </a:solidFill>
                <a:latin typeface="Century Gothic"/>
                <a:cs typeface="Century Gothic"/>
              </a:rPr>
              <a:t> </a:t>
            </a:r>
            <a:r>
              <a:rPr sz="1300" dirty="0">
                <a:solidFill>
                  <a:srgbClr val="3A3535"/>
                </a:solidFill>
                <a:latin typeface="Century Gothic"/>
                <a:cs typeface="Century Gothic"/>
              </a:rPr>
              <a:t>content</a:t>
            </a:r>
            <a:r>
              <a:rPr sz="1300" spc="4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45" dirty="0">
                <a:solidFill>
                  <a:srgbClr val="3A3535"/>
                </a:solidFill>
                <a:latin typeface="Century Gothic"/>
                <a:cs typeface="Century Gothic"/>
              </a:rPr>
              <a:t> </a:t>
            </a:r>
            <a:r>
              <a:rPr sz="1300" spc="80" dirty="0">
                <a:solidFill>
                  <a:srgbClr val="3A3535"/>
                </a:solidFill>
                <a:latin typeface="Century Gothic"/>
                <a:cs typeface="Century Gothic"/>
              </a:rPr>
              <a:t>timing</a:t>
            </a:r>
            <a:r>
              <a:rPr sz="1300" spc="40" dirty="0">
                <a:solidFill>
                  <a:srgbClr val="3A3535"/>
                </a:solidFill>
                <a:latin typeface="Century Gothic"/>
                <a:cs typeface="Century Gothic"/>
              </a:rPr>
              <a:t> </a:t>
            </a:r>
            <a:r>
              <a:rPr sz="1300" dirty="0">
                <a:solidFill>
                  <a:srgbClr val="3A3535"/>
                </a:solidFill>
                <a:latin typeface="Century Gothic"/>
                <a:cs typeface="Century Gothic"/>
              </a:rPr>
              <a:t>by</a:t>
            </a:r>
            <a:r>
              <a:rPr sz="1300" spc="40" dirty="0">
                <a:solidFill>
                  <a:srgbClr val="3A3535"/>
                </a:solidFill>
                <a:latin typeface="Century Gothic"/>
                <a:cs typeface="Century Gothic"/>
              </a:rPr>
              <a:t> </a:t>
            </a:r>
            <a:r>
              <a:rPr sz="1300" dirty="0">
                <a:solidFill>
                  <a:srgbClr val="3A3535"/>
                </a:solidFill>
                <a:latin typeface="Century Gothic"/>
                <a:cs typeface="Century Gothic"/>
              </a:rPr>
              <a:t>role,</a:t>
            </a:r>
            <a:r>
              <a:rPr sz="1300" spc="45" dirty="0">
                <a:solidFill>
                  <a:srgbClr val="3A3535"/>
                </a:solidFill>
                <a:latin typeface="Century Gothic"/>
                <a:cs typeface="Century Gothic"/>
              </a:rPr>
              <a:t> </a:t>
            </a:r>
            <a:r>
              <a:rPr sz="1300" dirty="0">
                <a:solidFill>
                  <a:srgbClr val="3A3535"/>
                </a:solidFill>
                <a:latin typeface="Century Gothic"/>
                <a:cs typeface="Century Gothic"/>
              </a:rPr>
              <a:t>group,</a:t>
            </a:r>
            <a:r>
              <a:rPr sz="1300" spc="40" dirty="0">
                <a:solidFill>
                  <a:srgbClr val="3A3535"/>
                </a:solidFill>
                <a:latin typeface="Century Gothic"/>
                <a:cs typeface="Century Gothic"/>
              </a:rPr>
              <a:t> </a:t>
            </a:r>
            <a:r>
              <a:rPr sz="1300" spc="-10" dirty="0">
                <a:solidFill>
                  <a:srgbClr val="3A3535"/>
                </a:solidFill>
                <a:latin typeface="Century Gothic"/>
                <a:cs typeface="Century Gothic"/>
              </a:rPr>
              <a:t>language,</a:t>
            </a:r>
            <a:r>
              <a:rPr sz="1300" spc="40" dirty="0">
                <a:solidFill>
                  <a:srgbClr val="3A3535"/>
                </a:solidFill>
                <a:latin typeface="Century Gothic"/>
                <a:cs typeface="Century Gothic"/>
              </a:rPr>
              <a:t> </a:t>
            </a:r>
            <a:r>
              <a:rPr sz="1300" spc="65" dirty="0">
                <a:solidFill>
                  <a:srgbClr val="3A3535"/>
                </a:solidFill>
                <a:latin typeface="Century Gothic"/>
                <a:cs typeface="Century Gothic"/>
              </a:rPr>
              <a:t>or </a:t>
            </a:r>
            <a:r>
              <a:rPr sz="1300" spc="85" dirty="0">
                <a:solidFill>
                  <a:srgbClr val="3A3535"/>
                </a:solidFill>
                <a:latin typeface="Century Gothic"/>
                <a:cs typeface="Century Gothic"/>
              </a:rPr>
              <a:t>user</a:t>
            </a:r>
            <a:r>
              <a:rPr sz="1300" spc="-40" dirty="0">
                <a:solidFill>
                  <a:srgbClr val="3A3535"/>
                </a:solidFill>
                <a:latin typeface="Century Gothic"/>
                <a:cs typeface="Century Gothic"/>
              </a:rPr>
              <a:t> </a:t>
            </a:r>
            <a:r>
              <a:rPr sz="1300" spc="40" dirty="0">
                <a:solidFill>
                  <a:srgbClr val="3A3535"/>
                </a:solidFill>
                <a:latin typeface="Century Gothic"/>
                <a:cs typeface="Century Gothic"/>
              </a:rPr>
              <a:t>state</a:t>
            </a:r>
            <a:endParaRPr sz="1300" dirty="0">
              <a:latin typeface="Century Gothic"/>
              <a:cs typeface="Century Gothic"/>
            </a:endParaRPr>
          </a:p>
        </p:txBody>
      </p:sp>
      <p:grpSp>
        <p:nvGrpSpPr>
          <p:cNvPr id="14" name="object 14"/>
          <p:cNvGrpSpPr/>
          <p:nvPr/>
        </p:nvGrpSpPr>
        <p:grpSpPr>
          <a:xfrm>
            <a:off x="5709710" y="3661835"/>
            <a:ext cx="5133340" cy="687705"/>
            <a:chOff x="5709710" y="3661835"/>
            <a:chExt cx="5133340" cy="687705"/>
          </a:xfrm>
        </p:grpSpPr>
        <p:sp>
          <p:nvSpPr>
            <p:cNvPr id="15" name="object 15"/>
            <p:cNvSpPr/>
            <p:nvPr/>
          </p:nvSpPr>
          <p:spPr>
            <a:xfrm>
              <a:off x="5714999" y="3667124"/>
              <a:ext cx="5123180" cy="677545"/>
            </a:xfrm>
            <a:custGeom>
              <a:avLst/>
              <a:gdLst/>
              <a:ahLst/>
              <a:cxnLst/>
              <a:rect l="l" t="t" r="r" b="b"/>
              <a:pathLst>
                <a:path w="5123180" h="677545">
                  <a:moveTo>
                    <a:pt x="4953393" y="0"/>
                  </a:moveTo>
                  <a:lnTo>
                    <a:pt x="0" y="0"/>
                  </a:lnTo>
                  <a:lnTo>
                    <a:pt x="169265" y="338531"/>
                  </a:lnTo>
                  <a:lnTo>
                    <a:pt x="0" y="677062"/>
                  </a:lnTo>
                  <a:lnTo>
                    <a:pt x="4953393" y="677062"/>
                  </a:lnTo>
                  <a:lnTo>
                    <a:pt x="5122659" y="338531"/>
                  </a:lnTo>
                  <a:lnTo>
                    <a:pt x="4953393" y="0"/>
                  </a:lnTo>
                  <a:close/>
                </a:path>
              </a:pathLst>
            </a:custGeom>
            <a:solidFill>
              <a:srgbClr val="F9D2D6"/>
            </a:solidFill>
          </p:spPr>
          <p:txBody>
            <a:bodyPr wrap="square" lIns="0" tIns="0" rIns="0" bIns="0" rtlCol="0"/>
            <a:lstStyle/>
            <a:p>
              <a:endParaRPr/>
            </a:p>
          </p:txBody>
        </p:sp>
        <p:sp>
          <p:nvSpPr>
            <p:cNvPr id="16" name="object 16"/>
            <p:cNvSpPr/>
            <p:nvPr/>
          </p:nvSpPr>
          <p:spPr>
            <a:xfrm>
              <a:off x="5714999" y="3667124"/>
              <a:ext cx="5123180" cy="677545"/>
            </a:xfrm>
            <a:custGeom>
              <a:avLst/>
              <a:gdLst/>
              <a:ahLst/>
              <a:cxnLst/>
              <a:rect l="l" t="t" r="r" b="b"/>
              <a:pathLst>
                <a:path w="5123180" h="677545">
                  <a:moveTo>
                    <a:pt x="4953393" y="0"/>
                  </a:moveTo>
                  <a:lnTo>
                    <a:pt x="5122659" y="338531"/>
                  </a:lnTo>
                  <a:lnTo>
                    <a:pt x="4953393" y="677062"/>
                  </a:lnTo>
                  <a:lnTo>
                    <a:pt x="0" y="677062"/>
                  </a:lnTo>
                  <a:lnTo>
                    <a:pt x="169265" y="338531"/>
                  </a:lnTo>
                  <a:lnTo>
                    <a:pt x="0" y="0"/>
                  </a:lnTo>
                  <a:lnTo>
                    <a:pt x="4953393" y="0"/>
                  </a:lnTo>
                  <a:close/>
                </a:path>
              </a:pathLst>
            </a:custGeom>
            <a:ln w="10579">
              <a:solidFill>
                <a:srgbClr val="DFB7BB"/>
              </a:solidFill>
            </a:ln>
          </p:spPr>
          <p:txBody>
            <a:bodyPr wrap="square" lIns="0" tIns="0" rIns="0" bIns="0" rtlCol="0"/>
            <a:lstStyle/>
            <a:p>
              <a:endParaRPr/>
            </a:p>
          </p:txBody>
        </p:sp>
      </p:grpSp>
      <p:sp>
        <p:nvSpPr>
          <p:cNvPr id="17" name="object 17"/>
          <p:cNvSpPr txBox="1">
            <a:spLocks noGrp="1"/>
          </p:cNvSpPr>
          <p:nvPr>
            <p:ph sz="half" idx="3"/>
          </p:nvPr>
        </p:nvSpPr>
        <p:spPr>
          <a:prstGeom prst="rect">
            <a:avLst/>
          </a:prstGeom>
        </p:spPr>
        <p:txBody>
          <a:bodyPr vert="horz" wrap="square" lIns="0" tIns="12065" rIns="0" bIns="0" rtlCol="0">
            <a:spAutoFit/>
          </a:bodyPr>
          <a:lstStyle/>
          <a:p>
            <a:pPr marL="410845" algn="ctr">
              <a:lnSpc>
                <a:spcPct val="100000"/>
              </a:lnSpc>
              <a:spcBef>
                <a:spcPts val="95"/>
              </a:spcBef>
            </a:pPr>
            <a:r>
              <a:rPr spc="-50" dirty="0"/>
              <a:t>2</a:t>
            </a:r>
          </a:p>
          <a:p>
            <a:pPr>
              <a:lnSpc>
                <a:spcPct val="100000"/>
              </a:lnSpc>
              <a:spcBef>
                <a:spcPts val="445"/>
              </a:spcBef>
            </a:pPr>
            <a:endParaRPr spc="-50" dirty="0"/>
          </a:p>
          <a:p>
            <a:pPr marL="12700">
              <a:lnSpc>
                <a:spcPct val="100000"/>
              </a:lnSpc>
            </a:pPr>
            <a:r>
              <a:rPr sz="1750" spc="-10" dirty="0"/>
              <a:t>Assess</a:t>
            </a:r>
            <a:endParaRPr sz="1750"/>
          </a:p>
          <a:p>
            <a:pPr marL="12700" marR="5080">
              <a:lnSpc>
                <a:spcPct val="139400"/>
              </a:lnSpc>
              <a:spcBef>
                <a:spcPts val="509"/>
              </a:spcBef>
            </a:pPr>
            <a:r>
              <a:rPr sz="1300" b="0" spc="70" dirty="0">
                <a:latin typeface="Century Gothic"/>
                <a:cs typeface="Century Gothic"/>
              </a:rPr>
              <a:t>Run</a:t>
            </a:r>
            <a:r>
              <a:rPr sz="1300" b="0" dirty="0">
                <a:latin typeface="Century Gothic"/>
                <a:cs typeface="Century Gothic"/>
              </a:rPr>
              <a:t> repeated</a:t>
            </a:r>
            <a:r>
              <a:rPr sz="1300" b="0" spc="5" dirty="0">
                <a:latin typeface="Century Gothic"/>
                <a:cs typeface="Century Gothic"/>
              </a:rPr>
              <a:t> </a:t>
            </a:r>
            <a:r>
              <a:rPr sz="1300" b="0" spc="90" dirty="0">
                <a:latin typeface="Century Gothic"/>
                <a:cs typeface="Century Gothic"/>
              </a:rPr>
              <a:t>assessments</a:t>
            </a:r>
            <a:r>
              <a:rPr sz="1300" b="0" spc="5" dirty="0">
                <a:latin typeface="Century Gothic"/>
                <a:cs typeface="Century Gothic"/>
              </a:rPr>
              <a:t> </a:t>
            </a:r>
            <a:r>
              <a:rPr sz="1300" b="0" spc="-10" dirty="0">
                <a:latin typeface="Century Gothic"/>
                <a:cs typeface="Century Gothic"/>
              </a:rPr>
              <a:t>and</a:t>
            </a:r>
            <a:r>
              <a:rPr sz="1300" b="0" dirty="0">
                <a:latin typeface="Century Gothic"/>
                <a:cs typeface="Century Gothic"/>
              </a:rPr>
              <a:t> collect</a:t>
            </a:r>
            <a:r>
              <a:rPr sz="1300" b="0" spc="5" dirty="0">
                <a:latin typeface="Century Gothic"/>
                <a:cs typeface="Century Gothic"/>
              </a:rPr>
              <a:t> </a:t>
            </a:r>
            <a:r>
              <a:rPr sz="1300" b="0" spc="70" dirty="0">
                <a:latin typeface="Century Gothic"/>
                <a:cs typeface="Century Gothic"/>
              </a:rPr>
              <a:t>richer</a:t>
            </a:r>
            <a:r>
              <a:rPr sz="1300" b="0" spc="5" dirty="0">
                <a:latin typeface="Century Gothic"/>
                <a:cs typeface="Century Gothic"/>
              </a:rPr>
              <a:t> </a:t>
            </a:r>
            <a:r>
              <a:rPr sz="1300" b="0" spc="85" dirty="0">
                <a:latin typeface="Century Gothic"/>
                <a:cs typeface="Century Gothic"/>
              </a:rPr>
              <a:t>inputs </a:t>
            </a:r>
            <a:r>
              <a:rPr sz="1300" b="0" dirty="0">
                <a:latin typeface="Century Gothic"/>
                <a:cs typeface="Century Gothic"/>
              </a:rPr>
              <a:t>over</a:t>
            </a:r>
            <a:r>
              <a:rPr sz="1300" b="0" spc="50" dirty="0">
                <a:latin typeface="Century Gothic"/>
                <a:cs typeface="Century Gothic"/>
              </a:rPr>
              <a:t> </a:t>
            </a:r>
            <a:r>
              <a:rPr sz="1300" b="0" spc="45" dirty="0">
                <a:latin typeface="Century Gothic"/>
                <a:cs typeface="Century Gothic"/>
              </a:rPr>
              <a:t>time</a:t>
            </a:r>
            <a:endParaRPr sz="1300">
              <a:latin typeface="Century Gothic"/>
              <a:cs typeface="Century Gothic"/>
            </a:endParaRPr>
          </a:p>
          <a:p>
            <a:pPr>
              <a:lnSpc>
                <a:spcPct val="100000"/>
              </a:lnSpc>
              <a:spcBef>
                <a:spcPts val="1395"/>
              </a:spcBef>
            </a:pPr>
            <a:endParaRPr sz="1300">
              <a:latin typeface="Century Gothic"/>
              <a:cs typeface="Century Gothic"/>
            </a:endParaRPr>
          </a:p>
          <a:p>
            <a:pPr marL="410845" algn="ctr">
              <a:lnSpc>
                <a:spcPct val="100000"/>
              </a:lnSpc>
              <a:spcBef>
                <a:spcPts val="5"/>
              </a:spcBef>
            </a:pPr>
            <a:r>
              <a:rPr spc="-50" dirty="0"/>
              <a:t>4</a:t>
            </a:r>
          </a:p>
          <a:p>
            <a:pPr>
              <a:lnSpc>
                <a:spcPct val="100000"/>
              </a:lnSpc>
              <a:spcBef>
                <a:spcPts val="440"/>
              </a:spcBef>
            </a:pPr>
            <a:endParaRPr spc="-50" dirty="0"/>
          </a:p>
          <a:p>
            <a:pPr marL="12700">
              <a:lnSpc>
                <a:spcPct val="100000"/>
              </a:lnSpc>
            </a:pPr>
            <a:r>
              <a:rPr sz="1750" spc="-100" dirty="0"/>
              <a:t>Follow</a:t>
            </a:r>
            <a:r>
              <a:rPr sz="1750" spc="-165" dirty="0"/>
              <a:t> </a:t>
            </a:r>
            <a:r>
              <a:rPr sz="1750" spc="-25" dirty="0"/>
              <a:t>Up</a:t>
            </a:r>
            <a:endParaRPr sz="1750"/>
          </a:p>
          <a:p>
            <a:pPr marL="12700" marR="236220">
              <a:lnSpc>
                <a:spcPct val="134600"/>
              </a:lnSpc>
              <a:spcBef>
                <a:spcPts val="665"/>
              </a:spcBef>
            </a:pPr>
            <a:r>
              <a:rPr sz="1300" b="0" dirty="0">
                <a:latin typeface="Century Gothic"/>
                <a:cs typeface="Century Gothic"/>
              </a:rPr>
              <a:t>Automate</a:t>
            </a:r>
            <a:r>
              <a:rPr sz="1300" b="0" spc="-10" dirty="0">
                <a:latin typeface="Century Gothic"/>
                <a:cs typeface="Century Gothic"/>
              </a:rPr>
              <a:t> </a:t>
            </a:r>
            <a:r>
              <a:rPr sz="1300" b="0" spc="60" dirty="0">
                <a:latin typeface="Century Gothic"/>
                <a:cs typeface="Century Gothic"/>
              </a:rPr>
              <a:t>reminders,</a:t>
            </a:r>
            <a:r>
              <a:rPr sz="1300" b="0" spc="-5" dirty="0">
                <a:latin typeface="Century Gothic"/>
                <a:cs typeface="Century Gothic"/>
              </a:rPr>
              <a:t> </a:t>
            </a:r>
            <a:r>
              <a:rPr sz="1300" b="0" spc="65" dirty="0">
                <a:latin typeface="Century Gothic"/>
                <a:cs typeface="Century Gothic"/>
              </a:rPr>
              <a:t>tasks,</a:t>
            </a:r>
            <a:r>
              <a:rPr sz="1300" b="0" spc="-5" dirty="0">
                <a:latin typeface="Century Gothic"/>
                <a:cs typeface="Century Gothic"/>
              </a:rPr>
              <a:t> </a:t>
            </a:r>
            <a:r>
              <a:rPr sz="1300" b="0" spc="-10" dirty="0">
                <a:latin typeface="Century Gothic"/>
                <a:cs typeface="Century Gothic"/>
              </a:rPr>
              <a:t>and </a:t>
            </a:r>
            <a:r>
              <a:rPr sz="1300" b="0" spc="55" dirty="0">
                <a:latin typeface="Century Gothic"/>
                <a:cs typeface="Century Gothic"/>
              </a:rPr>
              <a:t>next</a:t>
            </a:r>
            <a:r>
              <a:rPr sz="1300" b="0" spc="-5" dirty="0">
                <a:latin typeface="Century Gothic"/>
                <a:cs typeface="Century Gothic"/>
              </a:rPr>
              <a:t> </a:t>
            </a:r>
            <a:r>
              <a:rPr sz="1300" b="0" spc="95" dirty="0">
                <a:latin typeface="Century Gothic"/>
                <a:cs typeface="Century Gothic"/>
              </a:rPr>
              <a:t>steps</a:t>
            </a:r>
            <a:r>
              <a:rPr sz="1300" b="0" spc="-5" dirty="0">
                <a:latin typeface="Century Gothic"/>
                <a:cs typeface="Century Gothic"/>
              </a:rPr>
              <a:t> </a:t>
            </a:r>
            <a:r>
              <a:rPr sz="1300" b="0" dirty="0">
                <a:latin typeface="Century Gothic"/>
                <a:cs typeface="Century Gothic"/>
              </a:rPr>
              <a:t>as</a:t>
            </a:r>
            <a:r>
              <a:rPr sz="1300" b="0" spc="-10" dirty="0">
                <a:latin typeface="Century Gothic"/>
                <a:cs typeface="Century Gothic"/>
              </a:rPr>
              <a:t> </a:t>
            </a:r>
            <a:r>
              <a:rPr sz="1300" b="0" spc="-25" dirty="0">
                <a:latin typeface="Century Gothic"/>
                <a:cs typeface="Century Gothic"/>
              </a:rPr>
              <a:t>the </a:t>
            </a:r>
            <a:r>
              <a:rPr sz="1300" b="0" dirty="0">
                <a:latin typeface="Century Gothic"/>
                <a:cs typeface="Century Gothic"/>
              </a:rPr>
              <a:t>program</a:t>
            </a:r>
            <a:r>
              <a:rPr sz="1300" b="0" spc="204" dirty="0">
                <a:latin typeface="Century Gothic"/>
                <a:cs typeface="Century Gothic"/>
              </a:rPr>
              <a:t> </a:t>
            </a:r>
            <a:r>
              <a:rPr sz="1300" b="0" spc="70" dirty="0">
                <a:latin typeface="Century Gothic"/>
                <a:cs typeface="Century Gothic"/>
              </a:rPr>
              <a:t>progresses</a:t>
            </a:r>
            <a:endParaRPr sz="1300">
              <a:latin typeface="Century Gothic"/>
              <a:cs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80" dirty="0"/>
              <a:t>How</a:t>
            </a:r>
            <a:r>
              <a:rPr spc="-400" dirty="0"/>
              <a:t> </a:t>
            </a:r>
            <a:r>
              <a:rPr spc="-130" dirty="0"/>
              <a:t>SelfHelp</a:t>
            </a:r>
            <a:r>
              <a:rPr spc="-400" dirty="0"/>
              <a:t> </a:t>
            </a:r>
            <a:r>
              <a:rPr spc="-160" dirty="0"/>
              <a:t>Expands</a:t>
            </a:r>
          </a:p>
        </p:txBody>
      </p:sp>
      <p:sp>
        <p:nvSpPr>
          <p:cNvPr id="3" name="object 3"/>
          <p:cNvSpPr txBox="1"/>
          <p:nvPr/>
        </p:nvSpPr>
        <p:spPr>
          <a:xfrm>
            <a:off x="579640" y="1437297"/>
            <a:ext cx="7090409" cy="228600"/>
          </a:xfrm>
          <a:prstGeom prst="rect">
            <a:avLst/>
          </a:prstGeom>
        </p:spPr>
        <p:txBody>
          <a:bodyPr vert="horz" wrap="square" lIns="0" tIns="16510" rIns="0" bIns="0" rtlCol="0">
            <a:spAutoFit/>
          </a:bodyPr>
          <a:lstStyle/>
          <a:p>
            <a:pPr marL="12700">
              <a:lnSpc>
                <a:spcPct val="100000"/>
              </a:lnSpc>
              <a:spcBef>
                <a:spcPts val="130"/>
              </a:spcBef>
            </a:pPr>
            <a:r>
              <a:rPr sz="1300" dirty="0">
                <a:solidFill>
                  <a:srgbClr val="3A3535"/>
                </a:solidFill>
                <a:latin typeface="Century Gothic"/>
                <a:cs typeface="Century Gothic"/>
              </a:rPr>
              <a:t>New</a:t>
            </a:r>
            <a:r>
              <a:rPr sz="1300" spc="25" dirty="0">
                <a:solidFill>
                  <a:srgbClr val="3A3535"/>
                </a:solidFill>
                <a:latin typeface="Century Gothic"/>
                <a:cs typeface="Century Gothic"/>
              </a:rPr>
              <a:t> </a:t>
            </a:r>
            <a:r>
              <a:rPr sz="1300" dirty="0">
                <a:solidFill>
                  <a:srgbClr val="3A3535"/>
                </a:solidFill>
                <a:latin typeface="Century Gothic"/>
                <a:cs typeface="Century Gothic"/>
              </a:rPr>
              <a:t>capabilities</a:t>
            </a:r>
            <a:r>
              <a:rPr sz="1300" spc="30" dirty="0">
                <a:solidFill>
                  <a:srgbClr val="3A3535"/>
                </a:solidFill>
                <a:latin typeface="Century Gothic"/>
                <a:cs typeface="Century Gothic"/>
              </a:rPr>
              <a:t> </a:t>
            </a:r>
            <a:r>
              <a:rPr sz="1300" dirty="0">
                <a:solidFill>
                  <a:srgbClr val="3A3535"/>
                </a:solidFill>
                <a:latin typeface="Century Gothic"/>
                <a:cs typeface="Century Gothic"/>
              </a:rPr>
              <a:t>are</a:t>
            </a:r>
            <a:r>
              <a:rPr sz="1300" spc="30" dirty="0">
                <a:solidFill>
                  <a:srgbClr val="3A3535"/>
                </a:solidFill>
                <a:latin typeface="Century Gothic"/>
                <a:cs typeface="Century Gothic"/>
              </a:rPr>
              <a:t> </a:t>
            </a:r>
            <a:r>
              <a:rPr sz="1300" spc="-25" dirty="0">
                <a:solidFill>
                  <a:srgbClr val="3A3535"/>
                </a:solidFill>
                <a:latin typeface="Century Gothic"/>
                <a:cs typeface="Century Gothic"/>
              </a:rPr>
              <a:t>added</a:t>
            </a:r>
            <a:r>
              <a:rPr sz="1300" spc="25" dirty="0">
                <a:solidFill>
                  <a:srgbClr val="3A3535"/>
                </a:solidFill>
                <a:latin typeface="Century Gothic"/>
                <a:cs typeface="Century Gothic"/>
              </a:rPr>
              <a:t> </a:t>
            </a:r>
            <a:r>
              <a:rPr sz="1300" spc="60" dirty="0">
                <a:solidFill>
                  <a:srgbClr val="3A3535"/>
                </a:solidFill>
                <a:latin typeface="Century Gothic"/>
                <a:cs typeface="Century Gothic"/>
              </a:rPr>
              <a:t>through</a:t>
            </a:r>
            <a:r>
              <a:rPr sz="1300" spc="30" dirty="0">
                <a:solidFill>
                  <a:srgbClr val="3A3535"/>
                </a:solidFill>
                <a:latin typeface="Century Gothic"/>
                <a:cs typeface="Century Gothic"/>
              </a:rPr>
              <a:t> </a:t>
            </a:r>
            <a:r>
              <a:rPr sz="1300" spc="80" dirty="0">
                <a:solidFill>
                  <a:srgbClr val="3A3535"/>
                </a:solidFill>
                <a:latin typeface="Century Gothic"/>
                <a:cs typeface="Century Gothic"/>
              </a:rPr>
              <a:t>plugins</a:t>
            </a:r>
            <a:r>
              <a:rPr sz="1300" spc="30" dirty="0">
                <a:solidFill>
                  <a:srgbClr val="3A3535"/>
                </a:solidFill>
                <a:latin typeface="Century Gothic"/>
                <a:cs typeface="Century Gothic"/>
              </a:rPr>
              <a:t> </a:t>
            </a:r>
            <a:r>
              <a:rPr sz="1300" spc="-125" dirty="0">
                <a:solidFill>
                  <a:srgbClr val="3A3535"/>
                </a:solidFill>
                <a:latin typeface="Century Gothic"/>
                <a:cs typeface="Century Gothic"/>
              </a:rPr>
              <a:t>—</a:t>
            </a:r>
            <a:r>
              <a:rPr sz="1300" spc="30" dirty="0">
                <a:solidFill>
                  <a:srgbClr val="3A3535"/>
                </a:solidFill>
                <a:latin typeface="Century Gothic"/>
                <a:cs typeface="Century Gothic"/>
              </a:rPr>
              <a:t> </a:t>
            </a:r>
            <a:r>
              <a:rPr sz="1300" spc="70" dirty="0">
                <a:solidFill>
                  <a:srgbClr val="3A3535"/>
                </a:solidFill>
                <a:latin typeface="Century Gothic"/>
                <a:cs typeface="Century Gothic"/>
              </a:rPr>
              <a:t>without</a:t>
            </a:r>
            <a:r>
              <a:rPr sz="1300" spc="15" dirty="0">
                <a:solidFill>
                  <a:srgbClr val="3A3535"/>
                </a:solidFill>
                <a:latin typeface="Century Gothic"/>
                <a:cs typeface="Century Gothic"/>
              </a:rPr>
              <a:t> </a:t>
            </a:r>
            <a:r>
              <a:rPr sz="1300" spc="60" dirty="0">
                <a:solidFill>
                  <a:srgbClr val="3A3535"/>
                </a:solidFill>
                <a:latin typeface="Century Gothic"/>
                <a:cs typeface="Century Gothic"/>
              </a:rPr>
              <a:t>rebuilding</a:t>
            </a:r>
            <a:r>
              <a:rPr sz="1300" spc="30" dirty="0">
                <a:solidFill>
                  <a:srgbClr val="3A3535"/>
                </a:solidFill>
                <a:latin typeface="Century Gothic"/>
                <a:cs typeface="Century Gothic"/>
              </a:rPr>
              <a:t> </a:t>
            </a:r>
            <a:r>
              <a:rPr sz="1300" dirty="0">
                <a:solidFill>
                  <a:srgbClr val="3A3535"/>
                </a:solidFill>
                <a:latin typeface="Century Gothic"/>
                <a:cs typeface="Century Gothic"/>
              </a:rPr>
              <a:t>the</a:t>
            </a:r>
            <a:r>
              <a:rPr sz="1300" spc="25" dirty="0">
                <a:solidFill>
                  <a:srgbClr val="3A3535"/>
                </a:solidFill>
                <a:latin typeface="Century Gothic"/>
                <a:cs typeface="Century Gothic"/>
              </a:rPr>
              <a:t> </a:t>
            </a:r>
            <a:r>
              <a:rPr sz="1300" dirty="0">
                <a:solidFill>
                  <a:srgbClr val="3A3535"/>
                </a:solidFill>
                <a:latin typeface="Century Gothic"/>
                <a:cs typeface="Century Gothic"/>
              </a:rPr>
              <a:t>core</a:t>
            </a:r>
            <a:r>
              <a:rPr sz="1300" spc="30" dirty="0">
                <a:solidFill>
                  <a:srgbClr val="3A3535"/>
                </a:solidFill>
                <a:latin typeface="Century Gothic"/>
                <a:cs typeface="Century Gothic"/>
              </a:rPr>
              <a:t> </a:t>
            </a:r>
            <a:r>
              <a:rPr sz="1300" spc="-10" dirty="0">
                <a:solidFill>
                  <a:srgbClr val="3A3535"/>
                </a:solidFill>
                <a:latin typeface="Century Gothic"/>
                <a:cs typeface="Century Gothic"/>
              </a:rPr>
              <a:t>platform.</a:t>
            </a:r>
            <a:endParaRPr sz="1300">
              <a:latin typeface="Century Gothic"/>
              <a:cs typeface="Century Gothic"/>
            </a:endParaRPr>
          </a:p>
        </p:txBody>
      </p:sp>
      <p:sp>
        <p:nvSpPr>
          <p:cNvPr id="4" name="object 4"/>
          <p:cNvSpPr txBox="1"/>
          <p:nvPr/>
        </p:nvSpPr>
        <p:spPr>
          <a:xfrm>
            <a:off x="579635" y="2041080"/>
            <a:ext cx="2844165" cy="292735"/>
          </a:xfrm>
          <a:prstGeom prst="rect">
            <a:avLst/>
          </a:prstGeom>
        </p:spPr>
        <p:txBody>
          <a:bodyPr vert="horz" wrap="square" lIns="0" tIns="12700" rIns="0" bIns="0" rtlCol="0">
            <a:spAutoFit/>
          </a:bodyPr>
          <a:lstStyle/>
          <a:p>
            <a:pPr marL="12700">
              <a:lnSpc>
                <a:spcPct val="100000"/>
              </a:lnSpc>
              <a:spcBef>
                <a:spcPts val="100"/>
              </a:spcBef>
            </a:pPr>
            <a:r>
              <a:rPr sz="1750" b="1" spc="-40" dirty="0">
                <a:solidFill>
                  <a:srgbClr val="1F1E1E"/>
                </a:solidFill>
                <a:latin typeface="Verdana"/>
                <a:cs typeface="Verdana"/>
              </a:rPr>
              <a:t>Core</a:t>
            </a:r>
            <a:r>
              <a:rPr sz="1750" b="1" spc="-160" dirty="0">
                <a:solidFill>
                  <a:srgbClr val="1F1E1E"/>
                </a:solidFill>
                <a:latin typeface="Verdana"/>
                <a:cs typeface="Verdana"/>
              </a:rPr>
              <a:t> </a:t>
            </a:r>
            <a:r>
              <a:rPr sz="1750" b="1" spc="-65" dirty="0">
                <a:solidFill>
                  <a:srgbClr val="1F1E1E"/>
                </a:solidFill>
                <a:latin typeface="Verdana"/>
                <a:cs typeface="Verdana"/>
              </a:rPr>
              <a:t>Supporting</a:t>
            </a:r>
            <a:r>
              <a:rPr sz="1750" b="1" spc="-160" dirty="0">
                <a:solidFill>
                  <a:srgbClr val="1F1E1E"/>
                </a:solidFill>
                <a:latin typeface="Verdana"/>
                <a:cs typeface="Verdana"/>
              </a:rPr>
              <a:t> </a:t>
            </a:r>
            <a:r>
              <a:rPr sz="1750" b="1" spc="-75" dirty="0">
                <a:solidFill>
                  <a:srgbClr val="1F1E1E"/>
                </a:solidFill>
                <a:latin typeface="Verdana"/>
                <a:cs typeface="Verdana"/>
              </a:rPr>
              <a:t>Plugins</a:t>
            </a:r>
            <a:endParaRPr sz="1750">
              <a:latin typeface="Verdana"/>
              <a:cs typeface="Verdana"/>
            </a:endParaRPr>
          </a:p>
        </p:txBody>
      </p:sp>
      <p:sp>
        <p:nvSpPr>
          <p:cNvPr id="5" name="object 5"/>
          <p:cNvSpPr/>
          <p:nvPr/>
        </p:nvSpPr>
        <p:spPr>
          <a:xfrm>
            <a:off x="600075" y="2543174"/>
            <a:ext cx="2352675" cy="1343025"/>
          </a:xfrm>
          <a:custGeom>
            <a:avLst/>
            <a:gdLst/>
            <a:ahLst/>
            <a:cxnLst/>
            <a:rect l="l" t="t" r="r" b="b"/>
            <a:pathLst>
              <a:path w="2352675" h="1343025">
                <a:moveTo>
                  <a:pt x="0" y="1293304"/>
                </a:moveTo>
                <a:lnTo>
                  <a:pt x="0" y="49720"/>
                </a:lnTo>
                <a:lnTo>
                  <a:pt x="0" y="43129"/>
                </a:lnTo>
                <a:lnTo>
                  <a:pt x="1259" y="36779"/>
                </a:lnTo>
                <a:lnTo>
                  <a:pt x="3784" y="30683"/>
                </a:lnTo>
                <a:lnTo>
                  <a:pt x="6305" y="24599"/>
                </a:lnTo>
                <a:lnTo>
                  <a:pt x="9902" y="19227"/>
                </a:lnTo>
                <a:lnTo>
                  <a:pt x="14560" y="14566"/>
                </a:lnTo>
                <a:lnTo>
                  <a:pt x="19223" y="9893"/>
                </a:lnTo>
                <a:lnTo>
                  <a:pt x="24601" y="6311"/>
                </a:lnTo>
                <a:lnTo>
                  <a:pt x="30693" y="3784"/>
                </a:lnTo>
                <a:lnTo>
                  <a:pt x="36785" y="1257"/>
                </a:lnTo>
                <a:lnTo>
                  <a:pt x="43125" y="0"/>
                </a:lnTo>
                <a:lnTo>
                  <a:pt x="49717" y="0"/>
                </a:lnTo>
                <a:lnTo>
                  <a:pt x="2302954" y="0"/>
                </a:lnTo>
                <a:lnTo>
                  <a:pt x="2309545" y="0"/>
                </a:lnTo>
                <a:lnTo>
                  <a:pt x="2315895" y="1257"/>
                </a:lnTo>
                <a:lnTo>
                  <a:pt x="2321979" y="3784"/>
                </a:lnTo>
                <a:lnTo>
                  <a:pt x="2328075" y="6311"/>
                </a:lnTo>
                <a:lnTo>
                  <a:pt x="2351417" y="36779"/>
                </a:lnTo>
                <a:lnTo>
                  <a:pt x="2352675" y="43129"/>
                </a:lnTo>
                <a:lnTo>
                  <a:pt x="2352675" y="49720"/>
                </a:lnTo>
                <a:lnTo>
                  <a:pt x="2352675" y="1293304"/>
                </a:lnTo>
                <a:lnTo>
                  <a:pt x="2352675" y="1299895"/>
                </a:lnTo>
                <a:lnTo>
                  <a:pt x="2351417" y="1306245"/>
                </a:lnTo>
                <a:lnTo>
                  <a:pt x="2348890" y="1312329"/>
                </a:lnTo>
                <a:lnTo>
                  <a:pt x="2346363" y="1318425"/>
                </a:lnTo>
                <a:lnTo>
                  <a:pt x="2315895" y="1341755"/>
                </a:lnTo>
                <a:lnTo>
                  <a:pt x="2309545" y="1343025"/>
                </a:lnTo>
                <a:lnTo>
                  <a:pt x="2302954" y="1343025"/>
                </a:lnTo>
                <a:lnTo>
                  <a:pt x="49717" y="1343025"/>
                </a:lnTo>
                <a:lnTo>
                  <a:pt x="43125" y="1343025"/>
                </a:lnTo>
                <a:lnTo>
                  <a:pt x="36785" y="1341755"/>
                </a:lnTo>
                <a:lnTo>
                  <a:pt x="6305" y="1318425"/>
                </a:lnTo>
                <a:lnTo>
                  <a:pt x="3784" y="1312329"/>
                </a:lnTo>
                <a:lnTo>
                  <a:pt x="1259" y="1306245"/>
                </a:lnTo>
                <a:lnTo>
                  <a:pt x="0" y="1299895"/>
                </a:lnTo>
                <a:lnTo>
                  <a:pt x="0" y="1293304"/>
                </a:lnTo>
                <a:close/>
              </a:path>
            </a:pathLst>
          </a:custGeom>
          <a:ln w="19050">
            <a:solidFill>
              <a:srgbClr val="DFB7BB"/>
            </a:solidFill>
          </a:ln>
        </p:spPr>
        <p:txBody>
          <a:bodyPr wrap="square" lIns="0" tIns="0" rIns="0" bIns="0" rtlCol="0"/>
          <a:lstStyle/>
          <a:p>
            <a:endParaRPr/>
          </a:p>
        </p:txBody>
      </p:sp>
      <p:sp>
        <p:nvSpPr>
          <p:cNvPr id="6" name="object 6"/>
          <p:cNvSpPr txBox="1"/>
          <p:nvPr/>
        </p:nvSpPr>
        <p:spPr>
          <a:xfrm>
            <a:off x="767902" y="2698305"/>
            <a:ext cx="2022475" cy="977265"/>
          </a:xfrm>
          <a:prstGeom prst="rect">
            <a:avLst/>
          </a:prstGeom>
        </p:spPr>
        <p:txBody>
          <a:bodyPr vert="horz" wrap="square" lIns="0" tIns="12700" rIns="0" bIns="0" rtlCol="0">
            <a:spAutoFit/>
          </a:bodyPr>
          <a:lstStyle/>
          <a:p>
            <a:pPr marL="12700">
              <a:lnSpc>
                <a:spcPct val="100000"/>
              </a:lnSpc>
              <a:spcBef>
                <a:spcPts val="100"/>
              </a:spcBef>
            </a:pPr>
            <a:r>
              <a:rPr sz="1750" b="1" spc="-125" dirty="0">
                <a:solidFill>
                  <a:srgbClr val="3A3535"/>
                </a:solidFill>
                <a:latin typeface="Verdana"/>
                <a:cs typeface="Verdana"/>
              </a:rPr>
              <a:t>External</a:t>
            </a:r>
            <a:r>
              <a:rPr sz="1750" b="1" spc="-155" dirty="0">
                <a:solidFill>
                  <a:srgbClr val="3A3535"/>
                </a:solidFill>
                <a:latin typeface="Verdana"/>
                <a:cs typeface="Verdana"/>
              </a:rPr>
              <a:t> </a:t>
            </a:r>
            <a:r>
              <a:rPr sz="1750" b="1" spc="-20" dirty="0">
                <a:solidFill>
                  <a:srgbClr val="3A3535"/>
                </a:solidFill>
                <a:latin typeface="Verdana"/>
                <a:cs typeface="Verdana"/>
              </a:rPr>
              <a:t>Auth</a:t>
            </a:r>
            <a:endParaRPr sz="1750">
              <a:latin typeface="Verdana"/>
              <a:cs typeface="Verdana"/>
            </a:endParaRPr>
          </a:p>
          <a:p>
            <a:pPr marL="12700" marR="5080">
              <a:lnSpc>
                <a:spcPct val="134600"/>
              </a:lnSpc>
              <a:spcBef>
                <a:spcPts val="1185"/>
              </a:spcBef>
            </a:pPr>
            <a:r>
              <a:rPr sz="1300" spc="135" dirty="0">
                <a:solidFill>
                  <a:srgbClr val="3A3535"/>
                </a:solidFill>
                <a:latin typeface="Century Gothic"/>
                <a:cs typeface="Century Gothic"/>
              </a:rPr>
              <a:t>Fits</a:t>
            </a:r>
            <a:r>
              <a:rPr sz="1300" spc="-40" dirty="0">
                <a:solidFill>
                  <a:srgbClr val="3A3535"/>
                </a:solidFill>
                <a:latin typeface="Century Gothic"/>
                <a:cs typeface="Century Gothic"/>
              </a:rPr>
              <a:t> </a:t>
            </a:r>
            <a:r>
              <a:rPr sz="1300" spc="85" dirty="0">
                <a:solidFill>
                  <a:srgbClr val="3A3535"/>
                </a:solidFill>
                <a:latin typeface="Century Gothic"/>
                <a:cs typeface="Century Gothic"/>
              </a:rPr>
              <a:t>institutional</a:t>
            </a:r>
            <a:r>
              <a:rPr sz="1300" spc="-35" dirty="0">
                <a:solidFill>
                  <a:srgbClr val="3A3535"/>
                </a:solidFill>
                <a:latin typeface="Century Gothic"/>
                <a:cs typeface="Century Gothic"/>
              </a:rPr>
              <a:t> </a:t>
            </a:r>
            <a:r>
              <a:rPr sz="1300" spc="-10" dirty="0">
                <a:solidFill>
                  <a:srgbClr val="3A3535"/>
                </a:solidFill>
                <a:latin typeface="Century Gothic"/>
                <a:cs typeface="Century Gothic"/>
              </a:rPr>
              <a:t>access </a:t>
            </a:r>
            <a:r>
              <a:rPr sz="1300" spc="50" dirty="0">
                <a:solidFill>
                  <a:srgbClr val="3A3535"/>
                </a:solidFill>
                <a:latin typeface="Century Gothic"/>
                <a:cs typeface="Century Gothic"/>
              </a:rPr>
              <a:t>models</a:t>
            </a:r>
            <a:endParaRPr sz="1300">
              <a:latin typeface="Century Gothic"/>
              <a:cs typeface="Century Gothic"/>
            </a:endParaRPr>
          </a:p>
        </p:txBody>
      </p:sp>
      <p:sp>
        <p:nvSpPr>
          <p:cNvPr id="7" name="object 7"/>
          <p:cNvSpPr/>
          <p:nvPr/>
        </p:nvSpPr>
        <p:spPr>
          <a:xfrm>
            <a:off x="3143250" y="2543174"/>
            <a:ext cx="2352675" cy="1343025"/>
          </a:xfrm>
          <a:custGeom>
            <a:avLst/>
            <a:gdLst/>
            <a:ahLst/>
            <a:cxnLst/>
            <a:rect l="l" t="t" r="r" b="b"/>
            <a:pathLst>
              <a:path w="2352675" h="1343025">
                <a:moveTo>
                  <a:pt x="0" y="1293304"/>
                </a:moveTo>
                <a:lnTo>
                  <a:pt x="0" y="49720"/>
                </a:lnTo>
                <a:lnTo>
                  <a:pt x="0" y="43129"/>
                </a:lnTo>
                <a:lnTo>
                  <a:pt x="1257" y="36779"/>
                </a:lnTo>
                <a:lnTo>
                  <a:pt x="3784" y="30683"/>
                </a:lnTo>
                <a:lnTo>
                  <a:pt x="6299" y="24599"/>
                </a:lnTo>
                <a:lnTo>
                  <a:pt x="9893" y="19227"/>
                </a:lnTo>
                <a:lnTo>
                  <a:pt x="14554" y="14566"/>
                </a:lnTo>
                <a:lnTo>
                  <a:pt x="19227" y="9893"/>
                </a:lnTo>
                <a:lnTo>
                  <a:pt x="24599" y="6311"/>
                </a:lnTo>
                <a:lnTo>
                  <a:pt x="30695" y="3784"/>
                </a:lnTo>
                <a:lnTo>
                  <a:pt x="36779" y="1257"/>
                </a:lnTo>
                <a:lnTo>
                  <a:pt x="43129" y="0"/>
                </a:lnTo>
                <a:lnTo>
                  <a:pt x="49720" y="0"/>
                </a:lnTo>
                <a:lnTo>
                  <a:pt x="2302954" y="0"/>
                </a:lnTo>
                <a:lnTo>
                  <a:pt x="2309545" y="0"/>
                </a:lnTo>
                <a:lnTo>
                  <a:pt x="2315895" y="1257"/>
                </a:lnTo>
                <a:lnTo>
                  <a:pt x="2321979" y="3784"/>
                </a:lnTo>
                <a:lnTo>
                  <a:pt x="2328075" y="6311"/>
                </a:lnTo>
                <a:lnTo>
                  <a:pt x="2351405" y="36779"/>
                </a:lnTo>
                <a:lnTo>
                  <a:pt x="2352675" y="43129"/>
                </a:lnTo>
                <a:lnTo>
                  <a:pt x="2352675" y="49720"/>
                </a:lnTo>
                <a:lnTo>
                  <a:pt x="2352675" y="1293304"/>
                </a:lnTo>
                <a:lnTo>
                  <a:pt x="2352675" y="1299895"/>
                </a:lnTo>
                <a:lnTo>
                  <a:pt x="2351405" y="1306245"/>
                </a:lnTo>
                <a:lnTo>
                  <a:pt x="2328075" y="1336713"/>
                </a:lnTo>
                <a:lnTo>
                  <a:pt x="2309545" y="1343025"/>
                </a:lnTo>
                <a:lnTo>
                  <a:pt x="2302954" y="1343025"/>
                </a:lnTo>
                <a:lnTo>
                  <a:pt x="49720" y="1343025"/>
                </a:lnTo>
                <a:lnTo>
                  <a:pt x="43129" y="1343025"/>
                </a:lnTo>
                <a:lnTo>
                  <a:pt x="36779" y="1341755"/>
                </a:lnTo>
                <a:lnTo>
                  <a:pt x="6299" y="1318425"/>
                </a:lnTo>
                <a:lnTo>
                  <a:pt x="3784" y="1312329"/>
                </a:lnTo>
                <a:lnTo>
                  <a:pt x="1257" y="1306245"/>
                </a:lnTo>
                <a:lnTo>
                  <a:pt x="0" y="1299895"/>
                </a:lnTo>
                <a:lnTo>
                  <a:pt x="0" y="1293304"/>
                </a:lnTo>
                <a:close/>
              </a:path>
            </a:pathLst>
          </a:custGeom>
          <a:ln w="19050">
            <a:solidFill>
              <a:srgbClr val="DFB7BB"/>
            </a:solidFill>
          </a:ln>
        </p:spPr>
        <p:txBody>
          <a:bodyPr wrap="square" lIns="0" tIns="0" rIns="0" bIns="0" rtlCol="0"/>
          <a:lstStyle/>
          <a:p>
            <a:endParaRPr/>
          </a:p>
        </p:txBody>
      </p:sp>
      <p:sp>
        <p:nvSpPr>
          <p:cNvPr id="8" name="object 8"/>
          <p:cNvSpPr txBox="1"/>
          <p:nvPr/>
        </p:nvSpPr>
        <p:spPr>
          <a:xfrm>
            <a:off x="3310635" y="2698305"/>
            <a:ext cx="1322070" cy="97726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Lab.js</a:t>
            </a:r>
            <a:endParaRPr sz="1750" dirty="0">
              <a:latin typeface="Verdana"/>
              <a:cs typeface="Verdana"/>
            </a:endParaRPr>
          </a:p>
          <a:p>
            <a:pPr marL="12700" marR="5080">
              <a:lnSpc>
                <a:spcPct val="134600"/>
              </a:lnSpc>
              <a:spcBef>
                <a:spcPts val="1185"/>
              </a:spcBef>
            </a:pPr>
            <a:r>
              <a:rPr sz="1300" spc="75" dirty="0">
                <a:solidFill>
                  <a:srgbClr val="3A3535"/>
                </a:solidFill>
                <a:latin typeface="Century Gothic"/>
                <a:cs typeface="Century Gothic"/>
              </a:rPr>
              <a:t>Browser-</a:t>
            </a:r>
            <a:r>
              <a:rPr sz="1300" spc="45" dirty="0">
                <a:solidFill>
                  <a:srgbClr val="3A3535"/>
                </a:solidFill>
                <a:latin typeface="Century Gothic"/>
                <a:cs typeface="Century Gothic"/>
              </a:rPr>
              <a:t>based </a:t>
            </a:r>
            <a:r>
              <a:rPr sz="1300" spc="55" dirty="0">
                <a:solidFill>
                  <a:srgbClr val="3A3535"/>
                </a:solidFill>
                <a:latin typeface="Century Gothic"/>
                <a:cs typeface="Century Gothic"/>
              </a:rPr>
              <a:t>experiments</a:t>
            </a:r>
            <a:endParaRPr sz="1300" dirty="0">
              <a:latin typeface="Century Gothic"/>
              <a:cs typeface="Century Gothic"/>
            </a:endParaRPr>
          </a:p>
        </p:txBody>
      </p:sp>
      <p:sp>
        <p:nvSpPr>
          <p:cNvPr id="9" name="object 9"/>
          <p:cNvSpPr/>
          <p:nvPr/>
        </p:nvSpPr>
        <p:spPr>
          <a:xfrm>
            <a:off x="600075" y="4076700"/>
            <a:ext cx="2352675" cy="1628775"/>
          </a:xfrm>
          <a:custGeom>
            <a:avLst/>
            <a:gdLst/>
            <a:ahLst/>
            <a:cxnLst/>
            <a:rect l="l" t="t" r="r" b="b"/>
            <a:pathLst>
              <a:path w="2352675" h="1628775">
                <a:moveTo>
                  <a:pt x="0" y="1579057"/>
                </a:moveTo>
                <a:lnTo>
                  <a:pt x="0" y="49720"/>
                </a:lnTo>
                <a:lnTo>
                  <a:pt x="0" y="43129"/>
                </a:lnTo>
                <a:lnTo>
                  <a:pt x="1259" y="36779"/>
                </a:lnTo>
                <a:lnTo>
                  <a:pt x="3784" y="30683"/>
                </a:lnTo>
                <a:lnTo>
                  <a:pt x="6305" y="24599"/>
                </a:lnTo>
                <a:lnTo>
                  <a:pt x="9902" y="19227"/>
                </a:lnTo>
                <a:lnTo>
                  <a:pt x="14560" y="14566"/>
                </a:lnTo>
                <a:lnTo>
                  <a:pt x="19223" y="9893"/>
                </a:lnTo>
                <a:lnTo>
                  <a:pt x="24601" y="6311"/>
                </a:lnTo>
                <a:lnTo>
                  <a:pt x="30693" y="3784"/>
                </a:lnTo>
                <a:lnTo>
                  <a:pt x="36785" y="1257"/>
                </a:lnTo>
                <a:lnTo>
                  <a:pt x="43125" y="0"/>
                </a:lnTo>
                <a:lnTo>
                  <a:pt x="49717" y="0"/>
                </a:lnTo>
                <a:lnTo>
                  <a:pt x="2302954" y="0"/>
                </a:lnTo>
                <a:lnTo>
                  <a:pt x="2309545" y="0"/>
                </a:lnTo>
                <a:lnTo>
                  <a:pt x="2315895" y="1257"/>
                </a:lnTo>
                <a:lnTo>
                  <a:pt x="2321979" y="3784"/>
                </a:lnTo>
                <a:lnTo>
                  <a:pt x="2328075" y="6311"/>
                </a:lnTo>
                <a:lnTo>
                  <a:pt x="2351417" y="36779"/>
                </a:lnTo>
                <a:lnTo>
                  <a:pt x="2352675" y="43129"/>
                </a:lnTo>
                <a:lnTo>
                  <a:pt x="2352675" y="49720"/>
                </a:lnTo>
                <a:lnTo>
                  <a:pt x="2352675" y="1579057"/>
                </a:lnTo>
                <a:lnTo>
                  <a:pt x="2352675" y="1585650"/>
                </a:lnTo>
                <a:lnTo>
                  <a:pt x="2351417" y="1591990"/>
                </a:lnTo>
                <a:lnTo>
                  <a:pt x="2348890" y="1598082"/>
                </a:lnTo>
                <a:lnTo>
                  <a:pt x="2346363" y="1604175"/>
                </a:lnTo>
                <a:lnTo>
                  <a:pt x="2321979" y="1624990"/>
                </a:lnTo>
                <a:lnTo>
                  <a:pt x="2315895" y="1627511"/>
                </a:lnTo>
                <a:lnTo>
                  <a:pt x="2309545" y="1628771"/>
                </a:lnTo>
                <a:lnTo>
                  <a:pt x="2302954" y="1628776"/>
                </a:lnTo>
                <a:lnTo>
                  <a:pt x="49717" y="1628776"/>
                </a:lnTo>
                <a:lnTo>
                  <a:pt x="9902" y="1609547"/>
                </a:lnTo>
                <a:lnTo>
                  <a:pt x="3784" y="1598082"/>
                </a:lnTo>
                <a:lnTo>
                  <a:pt x="1259" y="1591990"/>
                </a:lnTo>
                <a:lnTo>
                  <a:pt x="0" y="1585650"/>
                </a:lnTo>
                <a:lnTo>
                  <a:pt x="0" y="1579057"/>
                </a:lnTo>
                <a:close/>
              </a:path>
            </a:pathLst>
          </a:custGeom>
          <a:ln w="19050">
            <a:solidFill>
              <a:srgbClr val="DFB7BB"/>
            </a:solidFill>
          </a:ln>
        </p:spPr>
        <p:txBody>
          <a:bodyPr wrap="square" lIns="0" tIns="0" rIns="0" bIns="0" rtlCol="0"/>
          <a:lstStyle/>
          <a:p>
            <a:endParaRPr/>
          </a:p>
        </p:txBody>
      </p:sp>
      <p:sp>
        <p:nvSpPr>
          <p:cNvPr id="10" name="object 10"/>
          <p:cNvSpPr txBox="1"/>
          <p:nvPr/>
        </p:nvSpPr>
        <p:spPr>
          <a:xfrm>
            <a:off x="767902" y="4231830"/>
            <a:ext cx="1871980" cy="977265"/>
          </a:xfrm>
          <a:prstGeom prst="rect">
            <a:avLst/>
          </a:prstGeom>
        </p:spPr>
        <p:txBody>
          <a:bodyPr vert="horz" wrap="square" lIns="0" tIns="12700" rIns="0" bIns="0" rtlCol="0">
            <a:spAutoFit/>
          </a:bodyPr>
          <a:lstStyle/>
          <a:p>
            <a:pPr marL="12700">
              <a:lnSpc>
                <a:spcPct val="100000"/>
              </a:lnSpc>
              <a:spcBef>
                <a:spcPts val="100"/>
              </a:spcBef>
            </a:pPr>
            <a:r>
              <a:rPr sz="1750" b="1" spc="-130" dirty="0">
                <a:solidFill>
                  <a:srgbClr val="3A3535"/>
                </a:solidFill>
                <a:latin typeface="Verdana"/>
                <a:cs typeface="Verdana"/>
              </a:rPr>
              <a:t>R</a:t>
            </a:r>
            <a:r>
              <a:rPr sz="1750" b="1" spc="-215" dirty="0">
                <a:solidFill>
                  <a:srgbClr val="3A3535"/>
                </a:solidFill>
                <a:latin typeface="Verdana"/>
                <a:cs typeface="Verdana"/>
              </a:rPr>
              <a:t> </a:t>
            </a:r>
            <a:r>
              <a:rPr sz="1750" b="1" spc="-25" dirty="0">
                <a:solidFill>
                  <a:srgbClr val="3A3535"/>
                </a:solidFill>
                <a:latin typeface="Verdana"/>
                <a:cs typeface="Verdana"/>
              </a:rPr>
              <a:t>Integration</a:t>
            </a:r>
            <a:endParaRPr sz="1750">
              <a:latin typeface="Verdana"/>
              <a:cs typeface="Verdana"/>
            </a:endParaRPr>
          </a:p>
          <a:p>
            <a:pPr marL="12700" marR="5080">
              <a:lnSpc>
                <a:spcPct val="134600"/>
              </a:lnSpc>
              <a:spcBef>
                <a:spcPts val="1185"/>
              </a:spcBef>
            </a:pPr>
            <a:r>
              <a:rPr sz="1300" spc="-10" dirty="0">
                <a:solidFill>
                  <a:srgbClr val="3A3535"/>
                </a:solidFill>
                <a:latin typeface="Century Gothic"/>
                <a:cs typeface="Century Gothic"/>
              </a:rPr>
              <a:t>Advanced</a:t>
            </a:r>
            <a:r>
              <a:rPr sz="1300" spc="-65" dirty="0">
                <a:solidFill>
                  <a:srgbClr val="3A3535"/>
                </a:solidFill>
                <a:latin typeface="Century Gothic"/>
                <a:cs typeface="Century Gothic"/>
              </a:rPr>
              <a:t> </a:t>
            </a:r>
            <a:r>
              <a:rPr sz="1300" spc="50" dirty="0">
                <a:solidFill>
                  <a:srgbClr val="3A3535"/>
                </a:solidFill>
                <a:latin typeface="Century Gothic"/>
                <a:cs typeface="Century Gothic"/>
              </a:rPr>
              <a:t>analysis</a:t>
            </a:r>
            <a:r>
              <a:rPr sz="1300" spc="-65" dirty="0">
                <a:solidFill>
                  <a:srgbClr val="3A3535"/>
                </a:solidFill>
                <a:latin typeface="Century Gothic"/>
                <a:cs typeface="Century Gothic"/>
              </a:rPr>
              <a:t> </a:t>
            </a:r>
            <a:r>
              <a:rPr sz="1300" spc="110" dirty="0">
                <a:solidFill>
                  <a:srgbClr val="3A3535"/>
                </a:solidFill>
                <a:latin typeface="Century Gothic"/>
                <a:cs typeface="Century Gothic"/>
              </a:rPr>
              <a:t>in-</a:t>
            </a:r>
            <a:r>
              <a:rPr sz="1300" spc="40" dirty="0">
                <a:solidFill>
                  <a:srgbClr val="3A3535"/>
                </a:solidFill>
                <a:latin typeface="Century Gothic"/>
                <a:cs typeface="Century Gothic"/>
              </a:rPr>
              <a:t>platform</a:t>
            </a:r>
            <a:endParaRPr sz="1300">
              <a:latin typeface="Century Gothic"/>
              <a:cs typeface="Century Gothic"/>
            </a:endParaRPr>
          </a:p>
        </p:txBody>
      </p:sp>
      <p:sp>
        <p:nvSpPr>
          <p:cNvPr id="11" name="object 11"/>
          <p:cNvSpPr/>
          <p:nvPr/>
        </p:nvSpPr>
        <p:spPr>
          <a:xfrm>
            <a:off x="3143250" y="4076700"/>
            <a:ext cx="2352675" cy="1628775"/>
          </a:xfrm>
          <a:custGeom>
            <a:avLst/>
            <a:gdLst/>
            <a:ahLst/>
            <a:cxnLst/>
            <a:rect l="l" t="t" r="r" b="b"/>
            <a:pathLst>
              <a:path w="2352675" h="1628775">
                <a:moveTo>
                  <a:pt x="0" y="1579057"/>
                </a:moveTo>
                <a:lnTo>
                  <a:pt x="0" y="49720"/>
                </a:lnTo>
                <a:lnTo>
                  <a:pt x="0" y="43129"/>
                </a:lnTo>
                <a:lnTo>
                  <a:pt x="1257" y="36779"/>
                </a:lnTo>
                <a:lnTo>
                  <a:pt x="3784" y="30683"/>
                </a:lnTo>
                <a:lnTo>
                  <a:pt x="6299" y="24599"/>
                </a:lnTo>
                <a:lnTo>
                  <a:pt x="9893" y="19227"/>
                </a:lnTo>
                <a:lnTo>
                  <a:pt x="14554" y="14566"/>
                </a:lnTo>
                <a:lnTo>
                  <a:pt x="19227" y="9893"/>
                </a:lnTo>
                <a:lnTo>
                  <a:pt x="24599" y="6311"/>
                </a:lnTo>
                <a:lnTo>
                  <a:pt x="30695" y="3784"/>
                </a:lnTo>
                <a:lnTo>
                  <a:pt x="36779" y="1257"/>
                </a:lnTo>
                <a:lnTo>
                  <a:pt x="43129" y="0"/>
                </a:lnTo>
                <a:lnTo>
                  <a:pt x="49720" y="0"/>
                </a:lnTo>
                <a:lnTo>
                  <a:pt x="2302954" y="0"/>
                </a:lnTo>
                <a:lnTo>
                  <a:pt x="2309545" y="0"/>
                </a:lnTo>
                <a:lnTo>
                  <a:pt x="2315895" y="1257"/>
                </a:lnTo>
                <a:lnTo>
                  <a:pt x="2321979" y="3784"/>
                </a:lnTo>
                <a:lnTo>
                  <a:pt x="2328075" y="6311"/>
                </a:lnTo>
                <a:lnTo>
                  <a:pt x="2351405" y="36779"/>
                </a:lnTo>
                <a:lnTo>
                  <a:pt x="2352675" y="43129"/>
                </a:lnTo>
                <a:lnTo>
                  <a:pt x="2352675" y="49720"/>
                </a:lnTo>
                <a:lnTo>
                  <a:pt x="2352675" y="1579057"/>
                </a:lnTo>
                <a:lnTo>
                  <a:pt x="2352675" y="1585650"/>
                </a:lnTo>
                <a:lnTo>
                  <a:pt x="2351405" y="1591990"/>
                </a:lnTo>
                <a:lnTo>
                  <a:pt x="2328075" y="1622465"/>
                </a:lnTo>
                <a:lnTo>
                  <a:pt x="2321979" y="1624990"/>
                </a:lnTo>
                <a:lnTo>
                  <a:pt x="2315895" y="1627511"/>
                </a:lnTo>
                <a:lnTo>
                  <a:pt x="2309545" y="1628771"/>
                </a:lnTo>
                <a:lnTo>
                  <a:pt x="2302954" y="1628776"/>
                </a:lnTo>
                <a:lnTo>
                  <a:pt x="49720" y="1628776"/>
                </a:lnTo>
                <a:lnTo>
                  <a:pt x="43129" y="1628771"/>
                </a:lnTo>
                <a:lnTo>
                  <a:pt x="36779" y="1627511"/>
                </a:lnTo>
                <a:lnTo>
                  <a:pt x="30695" y="1624990"/>
                </a:lnTo>
                <a:lnTo>
                  <a:pt x="24599" y="1622465"/>
                </a:lnTo>
                <a:lnTo>
                  <a:pt x="3784" y="1598082"/>
                </a:lnTo>
                <a:lnTo>
                  <a:pt x="1257" y="1591990"/>
                </a:lnTo>
                <a:lnTo>
                  <a:pt x="0" y="1585650"/>
                </a:lnTo>
                <a:lnTo>
                  <a:pt x="0" y="1579057"/>
                </a:lnTo>
                <a:close/>
              </a:path>
            </a:pathLst>
          </a:custGeom>
          <a:ln w="19050">
            <a:solidFill>
              <a:srgbClr val="DFB7BB"/>
            </a:solidFill>
          </a:ln>
        </p:spPr>
        <p:txBody>
          <a:bodyPr wrap="square" lIns="0" tIns="0" rIns="0" bIns="0" rtlCol="0"/>
          <a:lstStyle/>
          <a:p>
            <a:endParaRPr/>
          </a:p>
        </p:txBody>
      </p:sp>
      <p:sp>
        <p:nvSpPr>
          <p:cNvPr id="12" name="object 12"/>
          <p:cNvSpPr txBox="1"/>
          <p:nvPr/>
        </p:nvSpPr>
        <p:spPr>
          <a:xfrm>
            <a:off x="3310635" y="4231830"/>
            <a:ext cx="1744980" cy="1253490"/>
          </a:xfrm>
          <a:prstGeom prst="rect">
            <a:avLst/>
          </a:prstGeom>
        </p:spPr>
        <p:txBody>
          <a:bodyPr vert="horz" wrap="square" lIns="0" tIns="3175" rIns="0" bIns="0" rtlCol="0">
            <a:spAutoFit/>
          </a:bodyPr>
          <a:lstStyle/>
          <a:p>
            <a:pPr marL="12700" marR="676910">
              <a:lnSpc>
                <a:spcPct val="103600"/>
              </a:lnSpc>
              <a:spcBef>
                <a:spcPts val="25"/>
              </a:spcBef>
            </a:pPr>
            <a:r>
              <a:rPr sz="1750" b="1" spc="-10" dirty="0">
                <a:solidFill>
                  <a:srgbClr val="3A3535"/>
                </a:solidFill>
                <a:latin typeface="Verdana"/>
                <a:cs typeface="Verdana"/>
              </a:rPr>
              <a:t>Custom </a:t>
            </a:r>
            <a:r>
              <a:rPr sz="1750" b="1" spc="-120" dirty="0">
                <a:solidFill>
                  <a:srgbClr val="3A3535"/>
                </a:solidFill>
                <a:latin typeface="Verdana"/>
                <a:cs typeface="Verdana"/>
              </a:rPr>
              <a:t>Formulas</a:t>
            </a:r>
            <a:endParaRPr sz="1750">
              <a:latin typeface="Verdana"/>
              <a:cs typeface="Verdana"/>
            </a:endParaRPr>
          </a:p>
          <a:p>
            <a:pPr marL="12700" marR="5080">
              <a:lnSpc>
                <a:spcPct val="134600"/>
              </a:lnSpc>
              <a:spcBef>
                <a:spcPts val="1185"/>
              </a:spcBef>
            </a:pPr>
            <a:r>
              <a:rPr sz="1300" spc="90" dirty="0">
                <a:solidFill>
                  <a:srgbClr val="3A3535"/>
                </a:solidFill>
                <a:latin typeface="Century Gothic"/>
                <a:cs typeface="Century Gothic"/>
              </a:rPr>
              <a:t>Scoring</a:t>
            </a:r>
            <a:r>
              <a:rPr sz="1300" spc="-5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50" dirty="0">
                <a:solidFill>
                  <a:srgbClr val="3A3535"/>
                </a:solidFill>
                <a:latin typeface="Century Gothic"/>
                <a:cs typeface="Century Gothic"/>
              </a:rPr>
              <a:t> </a:t>
            </a:r>
            <a:r>
              <a:rPr sz="1300" spc="-10" dirty="0">
                <a:solidFill>
                  <a:srgbClr val="3A3535"/>
                </a:solidFill>
                <a:latin typeface="Century Gothic"/>
                <a:cs typeface="Century Gothic"/>
              </a:rPr>
              <a:t>derived values</a:t>
            </a:r>
            <a:endParaRPr sz="1300">
              <a:latin typeface="Century Gothic"/>
              <a:cs typeface="Century Gothic"/>
            </a:endParaRPr>
          </a:p>
        </p:txBody>
      </p:sp>
      <p:sp>
        <p:nvSpPr>
          <p:cNvPr id="13" name="object 13"/>
          <p:cNvSpPr/>
          <p:nvPr/>
        </p:nvSpPr>
        <p:spPr>
          <a:xfrm>
            <a:off x="5810250" y="1895474"/>
            <a:ext cx="5162550" cy="4010025"/>
          </a:xfrm>
          <a:custGeom>
            <a:avLst/>
            <a:gdLst/>
            <a:ahLst/>
            <a:cxnLst/>
            <a:rect l="l" t="t" r="r" b="b"/>
            <a:pathLst>
              <a:path w="5162550" h="4010025">
                <a:moveTo>
                  <a:pt x="5067655" y="0"/>
                </a:moveTo>
                <a:lnTo>
                  <a:pt x="94894" y="0"/>
                </a:lnTo>
                <a:lnTo>
                  <a:pt x="88290" y="647"/>
                </a:lnTo>
                <a:lnTo>
                  <a:pt x="50685" y="13411"/>
                </a:lnTo>
                <a:lnTo>
                  <a:pt x="20815" y="39585"/>
                </a:lnTo>
                <a:lnTo>
                  <a:pt x="3251" y="75209"/>
                </a:lnTo>
                <a:lnTo>
                  <a:pt x="0" y="94894"/>
                </a:lnTo>
                <a:lnTo>
                  <a:pt x="0" y="3908465"/>
                </a:lnTo>
                <a:lnTo>
                  <a:pt x="0" y="3915133"/>
                </a:lnTo>
                <a:lnTo>
                  <a:pt x="10287" y="3953491"/>
                </a:lnTo>
                <a:lnTo>
                  <a:pt x="34467" y="3984993"/>
                </a:lnTo>
                <a:lnTo>
                  <a:pt x="68846" y="4004847"/>
                </a:lnTo>
                <a:lnTo>
                  <a:pt x="94894" y="4010026"/>
                </a:lnTo>
                <a:lnTo>
                  <a:pt x="5067655" y="4010026"/>
                </a:lnTo>
                <a:lnTo>
                  <a:pt x="5106009" y="3999741"/>
                </a:lnTo>
                <a:lnTo>
                  <a:pt x="5137518" y="3975562"/>
                </a:lnTo>
                <a:lnTo>
                  <a:pt x="5157368" y="3941168"/>
                </a:lnTo>
                <a:lnTo>
                  <a:pt x="5162550" y="3915133"/>
                </a:lnTo>
                <a:lnTo>
                  <a:pt x="5162550" y="94894"/>
                </a:lnTo>
                <a:lnTo>
                  <a:pt x="5152263" y="56527"/>
                </a:lnTo>
                <a:lnTo>
                  <a:pt x="5128082" y="25031"/>
                </a:lnTo>
                <a:lnTo>
                  <a:pt x="5093690" y="5181"/>
                </a:lnTo>
                <a:lnTo>
                  <a:pt x="5074259" y="647"/>
                </a:lnTo>
                <a:lnTo>
                  <a:pt x="5067655" y="0"/>
                </a:lnTo>
                <a:close/>
              </a:path>
            </a:pathLst>
          </a:custGeom>
          <a:solidFill>
            <a:srgbClr val="F9D2D6"/>
          </a:solidFill>
        </p:spPr>
        <p:txBody>
          <a:bodyPr wrap="square" lIns="0" tIns="0" rIns="0" bIns="0" rtlCol="0"/>
          <a:lstStyle/>
          <a:p>
            <a:endParaRPr/>
          </a:p>
        </p:txBody>
      </p:sp>
      <p:sp>
        <p:nvSpPr>
          <p:cNvPr id="14" name="object 14"/>
          <p:cNvSpPr txBox="1"/>
          <p:nvPr/>
        </p:nvSpPr>
        <p:spPr>
          <a:xfrm>
            <a:off x="5965571" y="2041080"/>
            <a:ext cx="4077335" cy="710565"/>
          </a:xfrm>
          <a:prstGeom prst="rect">
            <a:avLst/>
          </a:prstGeom>
        </p:spPr>
        <p:txBody>
          <a:bodyPr vert="horz" wrap="square" lIns="0" tIns="12700" rIns="0" bIns="0" rtlCol="0">
            <a:spAutoFit/>
          </a:bodyPr>
          <a:lstStyle/>
          <a:p>
            <a:pPr marL="12700">
              <a:lnSpc>
                <a:spcPct val="100000"/>
              </a:lnSpc>
              <a:spcBef>
                <a:spcPts val="100"/>
              </a:spcBef>
            </a:pPr>
            <a:r>
              <a:rPr sz="1750" b="1" spc="-170" dirty="0">
                <a:solidFill>
                  <a:srgbClr val="1F1E1E"/>
                </a:solidFill>
                <a:latin typeface="Verdana"/>
                <a:cs typeface="Verdana"/>
              </a:rPr>
              <a:t>3</a:t>
            </a:r>
            <a:r>
              <a:rPr sz="1750" b="1" spc="-195" dirty="0">
                <a:solidFill>
                  <a:srgbClr val="1F1E1E"/>
                </a:solidFill>
                <a:latin typeface="Verdana"/>
                <a:cs typeface="Verdana"/>
              </a:rPr>
              <a:t> </a:t>
            </a:r>
            <a:r>
              <a:rPr sz="1750" b="1" spc="-114" dirty="0">
                <a:solidFill>
                  <a:srgbClr val="1F1E1E"/>
                </a:solidFill>
                <a:latin typeface="Verdana"/>
                <a:cs typeface="Verdana"/>
              </a:rPr>
              <a:t>Featured</a:t>
            </a:r>
            <a:r>
              <a:rPr sz="1750" b="1" spc="-190" dirty="0">
                <a:solidFill>
                  <a:srgbClr val="1F1E1E"/>
                </a:solidFill>
                <a:latin typeface="Verdana"/>
                <a:cs typeface="Verdana"/>
              </a:rPr>
              <a:t> </a:t>
            </a:r>
            <a:r>
              <a:rPr sz="1750" b="1" spc="-10" dirty="0">
                <a:solidFill>
                  <a:srgbClr val="1F1E1E"/>
                </a:solidFill>
                <a:latin typeface="Verdana"/>
                <a:cs typeface="Verdana"/>
              </a:rPr>
              <a:t>Plugins</a:t>
            </a:r>
            <a:endParaRPr sz="1750" dirty="0">
              <a:latin typeface="Verdana"/>
              <a:cs typeface="Verdana"/>
            </a:endParaRPr>
          </a:p>
          <a:p>
            <a:pPr marL="12700">
              <a:lnSpc>
                <a:spcPct val="100000"/>
              </a:lnSpc>
              <a:spcBef>
                <a:spcPts val="1725"/>
              </a:spcBef>
            </a:pPr>
            <a:r>
              <a:rPr sz="1300" b="1" spc="-45" dirty="0">
                <a:solidFill>
                  <a:srgbClr val="3A3535"/>
                </a:solidFill>
                <a:latin typeface="Verdana"/>
                <a:cs typeface="Verdana"/>
              </a:rPr>
              <a:t>SurveyJS</a:t>
            </a:r>
            <a:r>
              <a:rPr sz="1300" b="1" spc="-110" dirty="0">
                <a:solidFill>
                  <a:srgbClr val="3A3535"/>
                </a:solidFill>
                <a:latin typeface="Verdana"/>
                <a:cs typeface="Verdana"/>
              </a:rPr>
              <a:t> </a:t>
            </a:r>
            <a:r>
              <a:rPr sz="1300" spc="-125" dirty="0">
                <a:solidFill>
                  <a:srgbClr val="3A3535"/>
                </a:solidFill>
                <a:latin typeface="Century Gothic"/>
                <a:cs typeface="Century Gothic"/>
              </a:rPr>
              <a:t>—</a:t>
            </a:r>
            <a:r>
              <a:rPr sz="1300" spc="-20" dirty="0">
                <a:solidFill>
                  <a:srgbClr val="3A3535"/>
                </a:solidFill>
                <a:latin typeface="Century Gothic"/>
                <a:cs typeface="Century Gothic"/>
              </a:rPr>
              <a:t> </a:t>
            </a:r>
            <a:r>
              <a:rPr sz="1300" spc="70" dirty="0">
                <a:solidFill>
                  <a:srgbClr val="3A3535"/>
                </a:solidFill>
                <a:latin typeface="Century Gothic"/>
                <a:cs typeface="Century Gothic"/>
              </a:rPr>
              <a:t>structured</a:t>
            </a:r>
            <a:r>
              <a:rPr sz="1300" spc="-20" dirty="0">
                <a:solidFill>
                  <a:srgbClr val="3A3535"/>
                </a:solidFill>
                <a:latin typeface="Century Gothic"/>
                <a:cs typeface="Century Gothic"/>
              </a:rPr>
              <a:t> </a:t>
            </a:r>
            <a:r>
              <a:rPr sz="1300" spc="55" dirty="0">
                <a:solidFill>
                  <a:srgbClr val="3A3535"/>
                </a:solidFill>
                <a:latin typeface="Century Gothic"/>
                <a:cs typeface="Century Gothic"/>
              </a:rPr>
              <a:t>longitudinal</a:t>
            </a:r>
            <a:r>
              <a:rPr sz="1300" spc="-25" dirty="0">
                <a:solidFill>
                  <a:srgbClr val="3A3535"/>
                </a:solidFill>
                <a:latin typeface="Century Gothic"/>
                <a:cs typeface="Century Gothic"/>
              </a:rPr>
              <a:t> </a:t>
            </a:r>
            <a:r>
              <a:rPr sz="1300" spc="70" dirty="0">
                <a:solidFill>
                  <a:srgbClr val="3A3535"/>
                </a:solidFill>
                <a:latin typeface="Century Gothic"/>
                <a:cs typeface="Century Gothic"/>
              </a:rPr>
              <a:t>assessment</a:t>
            </a:r>
            <a:endParaRPr sz="1300" dirty="0">
              <a:latin typeface="Century Gothic"/>
              <a:cs typeface="Century Gothic"/>
            </a:endParaRPr>
          </a:p>
        </p:txBody>
      </p:sp>
      <p:sp>
        <p:nvSpPr>
          <p:cNvPr id="15" name="object 15"/>
          <p:cNvSpPr txBox="1"/>
          <p:nvPr/>
        </p:nvSpPr>
        <p:spPr>
          <a:xfrm>
            <a:off x="5965571" y="2942247"/>
            <a:ext cx="2603500" cy="228600"/>
          </a:xfrm>
          <a:prstGeom prst="rect">
            <a:avLst/>
          </a:prstGeom>
        </p:spPr>
        <p:txBody>
          <a:bodyPr vert="horz" wrap="square" lIns="0" tIns="16510" rIns="0" bIns="0" rtlCol="0">
            <a:spAutoFit/>
          </a:bodyPr>
          <a:lstStyle/>
          <a:p>
            <a:pPr marL="12700">
              <a:lnSpc>
                <a:spcPct val="100000"/>
              </a:lnSpc>
              <a:spcBef>
                <a:spcPts val="130"/>
              </a:spcBef>
            </a:pPr>
            <a:r>
              <a:rPr sz="1300" b="1" spc="-45" dirty="0">
                <a:solidFill>
                  <a:srgbClr val="3A3535"/>
                </a:solidFill>
                <a:latin typeface="Verdana"/>
                <a:cs typeface="Verdana"/>
              </a:rPr>
              <a:t>LLM</a:t>
            </a:r>
            <a:r>
              <a:rPr sz="1300" b="1" spc="-120" dirty="0">
                <a:solidFill>
                  <a:srgbClr val="3A3535"/>
                </a:solidFill>
                <a:latin typeface="Verdana"/>
                <a:cs typeface="Verdana"/>
              </a:rPr>
              <a:t> </a:t>
            </a:r>
            <a:r>
              <a:rPr sz="1300" spc="-125" dirty="0">
                <a:solidFill>
                  <a:srgbClr val="3A3535"/>
                </a:solidFill>
                <a:latin typeface="Century Gothic"/>
                <a:cs typeface="Century Gothic"/>
              </a:rPr>
              <a:t>—</a:t>
            </a:r>
            <a:r>
              <a:rPr sz="1300" spc="-30" dirty="0">
                <a:solidFill>
                  <a:srgbClr val="3A3535"/>
                </a:solidFill>
                <a:latin typeface="Century Gothic"/>
                <a:cs typeface="Century Gothic"/>
              </a:rPr>
              <a:t> </a:t>
            </a:r>
            <a:r>
              <a:rPr sz="1300" spc="50" dirty="0">
                <a:solidFill>
                  <a:srgbClr val="3A3535"/>
                </a:solidFill>
                <a:latin typeface="Century Gothic"/>
                <a:cs typeface="Century Gothic"/>
              </a:rPr>
              <a:t>controlled</a:t>
            </a:r>
            <a:r>
              <a:rPr sz="1300" spc="-30" dirty="0">
                <a:solidFill>
                  <a:srgbClr val="3A3535"/>
                </a:solidFill>
                <a:latin typeface="Century Gothic"/>
                <a:cs typeface="Century Gothic"/>
              </a:rPr>
              <a:t> </a:t>
            </a:r>
            <a:r>
              <a:rPr sz="1300" spc="65" dirty="0">
                <a:solidFill>
                  <a:srgbClr val="3A3535"/>
                </a:solidFill>
                <a:latin typeface="Century Gothic"/>
                <a:cs typeface="Century Gothic"/>
              </a:rPr>
              <a:t>AI</a:t>
            </a:r>
            <a:r>
              <a:rPr sz="1300" spc="-35" dirty="0">
                <a:solidFill>
                  <a:srgbClr val="3A3535"/>
                </a:solidFill>
                <a:latin typeface="Century Gothic"/>
                <a:cs typeface="Century Gothic"/>
              </a:rPr>
              <a:t> </a:t>
            </a:r>
            <a:r>
              <a:rPr sz="1300" spc="85" dirty="0">
                <a:solidFill>
                  <a:srgbClr val="3A3535"/>
                </a:solidFill>
                <a:latin typeface="Century Gothic"/>
                <a:cs typeface="Century Gothic"/>
              </a:rPr>
              <a:t>assistants</a:t>
            </a:r>
            <a:endParaRPr sz="1300">
              <a:latin typeface="Century Gothic"/>
              <a:cs typeface="Century Gothic"/>
            </a:endParaRPr>
          </a:p>
        </p:txBody>
      </p:sp>
      <p:sp>
        <p:nvSpPr>
          <p:cNvPr id="16" name="object 16"/>
          <p:cNvSpPr txBox="1"/>
          <p:nvPr/>
        </p:nvSpPr>
        <p:spPr>
          <a:xfrm>
            <a:off x="5965571" y="3361347"/>
            <a:ext cx="4125595" cy="228600"/>
          </a:xfrm>
          <a:prstGeom prst="rect">
            <a:avLst/>
          </a:prstGeom>
        </p:spPr>
        <p:txBody>
          <a:bodyPr vert="horz" wrap="square" lIns="0" tIns="16510" rIns="0" bIns="0" rtlCol="0">
            <a:spAutoFit/>
          </a:bodyPr>
          <a:lstStyle/>
          <a:p>
            <a:pPr marL="12700">
              <a:lnSpc>
                <a:spcPct val="100000"/>
              </a:lnSpc>
              <a:spcBef>
                <a:spcPts val="130"/>
              </a:spcBef>
            </a:pPr>
            <a:r>
              <a:rPr sz="1300" b="1" spc="-45" dirty="0">
                <a:solidFill>
                  <a:srgbClr val="3A3535"/>
                </a:solidFill>
                <a:latin typeface="Verdana"/>
                <a:cs typeface="Verdana"/>
              </a:rPr>
              <a:t>LLM</a:t>
            </a:r>
            <a:r>
              <a:rPr sz="1300" b="1" spc="-150" dirty="0">
                <a:solidFill>
                  <a:srgbClr val="3A3535"/>
                </a:solidFill>
                <a:latin typeface="Verdana"/>
                <a:cs typeface="Verdana"/>
              </a:rPr>
              <a:t> </a:t>
            </a:r>
            <a:r>
              <a:rPr sz="1300" b="1" spc="-70" dirty="0">
                <a:solidFill>
                  <a:srgbClr val="3A3535"/>
                </a:solidFill>
                <a:latin typeface="Verdana"/>
                <a:cs typeface="Verdana"/>
              </a:rPr>
              <a:t>Therapy</a:t>
            </a:r>
            <a:r>
              <a:rPr sz="1300" b="1" spc="-145" dirty="0">
                <a:solidFill>
                  <a:srgbClr val="3A3535"/>
                </a:solidFill>
                <a:latin typeface="Verdana"/>
                <a:cs typeface="Verdana"/>
              </a:rPr>
              <a:t> </a:t>
            </a:r>
            <a:r>
              <a:rPr sz="1300" b="1" spc="-10" dirty="0">
                <a:solidFill>
                  <a:srgbClr val="3A3535"/>
                </a:solidFill>
                <a:latin typeface="Verdana"/>
                <a:cs typeface="Verdana"/>
              </a:rPr>
              <a:t>Chat</a:t>
            </a:r>
            <a:r>
              <a:rPr sz="1300" b="1" spc="-110" dirty="0">
                <a:solidFill>
                  <a:srgbClr val="3A3535"/>
                </a:solidFill>
                <a:latin typeface="Verdana"/>
                <a:cs typeface="Verdana"/>
              </a:rPr>
              <a:t> </a:t>
            </a:r>
            <a:r>
              <a:rPr sz="1300" spc="-125" dirty="0">
                <a:solidFill>
                  <a:srgbClr val="3A3535"/>
                </a:solidFill>
                <a:latin typeface="Century Gothic"/>
                <a:cs typeface="Century Gothic"/>
              </a:rPr>
              <a:t>—</a:t>
            </a:r>
            <a:r>
              <a:rPr sz="1300" spc="-30" dirty="0">
                <a:solidFill>
                  <a:srgbClr val="3A3535"/>
                </a:solidFill>
                <a:latin typeface="Century Gothic"/>
                <a:cs typeface="Century Gothic"/>
              </a:rPr>
              <a:t> </a:t>
            </a:r>
            <a:r>
              <a:rPr sz="1300" spc="70" dirty="0">
                <a:solidFill>
                  <a:srgbClr val="3A3535"/>
                </a:solidFill>
                <a:latin typeface="Century Gothic"/>
                <a:cs typeface="Century Gothic"/>
              </a:rPr>
              <a:t>supervised</a:t>
            </a:r>
            <a:r>
              <a:rPr sz="1300" spc="-30" dirty="0">
                <a:solidFill>
                  <a:srgbClr val="3A3535"/>
                </a:solidFill>
                <a:latin typeface="Century Gothic"/>
                <a:cs typeface="Century Gothic"/>
              </a:rPr>
              <a:t> </a:t>
            </a:r>
            <a:r>
              <a:rPr sz="1300" spc="-10" dirty="0">
                <a:solidFill>
                  <a:srgbClr val="3A3535"/>
                </a:solidFill>
                <a:latin typeface="Century Gothic"/>
                <a:cs typeface="Century Gothic"/>
              </a:rPr>
              <a:t>communication</a:t>
            </a:r>
            <a:endParaRPr sz="1300">
              <a:latin typeface="Century Gothic"/>
              <a:cs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9560" rIns="0" bIns="0" rtlCol="0">
            <a:spAutoFit/>
          </a:bodyPr>
          <a:lstStyle/>
          <a:p>
            <a:pPr marL="12700">
              <a:lnSpc>
                <a:spcPct val="100000"/>
              </a:lnSpc>
              <a:spcBef>
                <a:spcPts val="105"/>
              </a:spcBef>
            </a:pPr>
            <a:r>
              <a:rPr spc="-175" dirty="0"/>
              <a:t>Plugin</a:t>
            </a:r>
            <a:r>
              <a:rPr spc="-409" dirty="0"/>
              <a:t> </a:t>
            </a:r>
            <a:r>
              <a:rPr spc="-745" dirty="0"/>
              <a:t>1:</a:t>
            </a:r>
            <a:r>
              <a:rPr spc="-405" dirty="0"/>
              <a:t> </a:t>
            </a:r>
            <a:r>
              <a:rPr spc="-140" dirty="0"/>
              <a:t>SurveyJS</a:t>
            </a:r>
          </a:p>
        </p:txBody>
      </p:sp>
      <p:sp>
        <p:nvSpPr>
          <p:cNvPr id="3" name="object 3"/>
          <p:cNvSpPr/>
          <p:nvPr/>
        </p:nvSpPr>
        <p:spPr>
          <a:xfrm>
            <a:off x="628650" y="2857500"/>
            <a:ext cx="57150" cy="57150"/>
          </a:xfrm>
          <a:custGeom>
            <a:avLst/>
            <a:gdLst/>
            <a:ahLst/>
            <a:cxnLst/>
            <a:rect l="l" t="t" r="r" b="b"/>
            <a:pathLst>
              <a:path w="57150" h="57150">
                <a:moveTo>
                  <a:pt x="32364" y="0"/>
                </a:moveTo>
                <a:lnTo>
                  <a:pt x="24785" y="0"/>
                </a:lnTo>
                <a:lnTo>
                  <a:pt x="21139" y="723"/>
                </a:lnTo>
                <a:lnTo>
                  <a:pt x="0" y="24790"/>
                </a:lnTo>
                <a:lnTo>
                  <a:pt x="0" y="32359"/>
                </a:lnTo>
                <a:lnTo>
                  <a:pt x="24785" y="57150"/>
                </a:lnTo>
                <a:lnTo>
                  <a:pt x="32364" y="57150"/>
                </a:lnTo>
                <a:lnTo>
                  <a:pt x="57150" y="32359"/>
                </a:lnTo>
                <a:lnTo>
                  <a:pt x="57150" y="28575"/>
                </a:lnTo>
                <a:lnTo>
                  <a:pt x="57150" y="24790"/>
                </a:lnTo>
                <a:lnTo>
                  <a:pt x="36010" y="723"/>
                </a:lnTo>
                <a:lnTo>
                  <a:pt x="32364" y="0"/>
                </a:lnTo>
                <a:close/>
              </a:path>
            </a:pathLst>
          </a:custGeom>
          <a:solidFill>
            <a:srgbClr val="3A3535"/>
          </a:solidFill>
        </p:spPr>
        <p:txBody>
          <a:bodyPr wrap="square" lIns="0" tIns="0" rIns="0" bIns="0" rtlCol="0"/>
          <a:lstStyle/>
          <a:p>
            <a:endParaRPr/>
          </a:p>
        </p:txBody>
      </p:sp>
      <p:sp>
        <p:nvSpPr>
          <p:cNvPr id="4" name="object 4"/>
          <p:cNvSpPr/>
          <p:nvPr/>
        </p:nvSpPr>
        <p:spPr>
          <a:xfrm>
            <a:off x="628650" y="3181350"/>
            <a:ext cx="57150" cy="57150"/>
          </a:xfrm>
          <a:custGeom>
            <a:avLst/>
            <a:gdLst/>
            <a:ahLst/>
            <a:cxnLst/>
            <a:rect l="l" t="t" r="r" b="b"/>
            <a:pathLst>
              <a:path w="57150" h="57150">
                <a:moveTo>
                  <a:pt x="32364" y="0"/>
                </a:moveTo>
                <a:lnTo>
                  <a:pt x="24785" y="0"/>
                </a:lnTo>
                <a:lnTo>
                  <a:pt x="21139" y="723"/>
                </a:lnTo>
                <a:lnTo>
                  <a:pt x="0" y="24790"/>
                </a:lnTo>
                <a:lnTo>
                  <a:pt x="0" y="32359"/>
                </a:lnTo>
                <a:lnTo>
                  <a:pt x="24785" y="57150"/>
                </a:lnTo>
                <a:lnTo>
                  <a:pt x="32364" y="57150"/>
                </a:lnTo>
                <a:lnTo>
                  <a:pt x="57150" y="32359"/>
                </a:lnTo>
                <a:lnTo>
                  <a:pt x="57150" y="28575"/>
                </a:lnTo>
                <a:lnTo>
                  <a:pt x="57150" y="24790"/>
                </a:lnTo>
                <a:lnTo>
                  <a:pt x="36010" y="723"/>
                </a:lnTo>
                <a:lnTo>
                  <a:pt x="32364" y="0"/>
                </a:lnTo>
                <a:close/>
              </a:path>
            </a:pathLst>
          </a:custGeom>
          <a:solidFill>
            <a:srgbClr val="3A3535"/>
          </a:solidFill>
        </p:spPr>
        <p:txBody>
          <a:bodyPr wrap="square" lIns="0" tIns="0" rIns="0" bIns="0" rtlCol="0"/>
          <a:lstStyle/>
          <a:p>
            <a:endParaRPr/>
          </a:p>
        </p:txBody>
      </p:sp>
      <p:sp>
        <p:nvSpPr>
          <p:cNvPr id="5" name="object 5"/>
          <p:cNvSpPr/>
          <p:nvPr/>
        </p:nvSpPr>
        <p:spPr>
          <a:xfrm>
            <a:off x="628650" y="3514725"/>
            <a:ext cx="57150" cy="57150"/>
          </a:xfrm>
          <a:custGeom>
            <a:avLst/>
            <a:gdLst/>
            <a:ahLst/>
            <a:cxnLst/>
            <a:rect l="l" t="t" r="r" b="b"/>
            <a:pathLst>
              <a:path w="57150" h="57150">
                <a:moveTo>
                  <a:pt x="32364" y="0"/>
                </a:moveTo>
                <a:lnTo>
                  <a:pt x="24785" y="0"/>
                </a:lnTo>
                <a:lnTo>
                  <a:pt x="21139" y="723"/>
                </a:lnTo>
                <a:lnTo>
                  <a:pt x="0" y="24790"/>
                </a:lnTo>
                <a:lnTo>
                  <a:pt x="0" y="32359"/>
                </a:lnTo>
                <a:lnTo>
                  <a:pt x="24785" y="57150"/>
                </a:lnTo>
                <a:lnTo>
                  <a:pt x="32364" y="57150"/>
                </a:lnTo>
                <a:lnTo>
                  <a:pt x="57150" y="32359"/>
                </a:lnTo>
                <a:lnTo>
                  <a:pt x="57150" y="28575"/>
                </a:lnTo>
                <a:lnTo>
                  <a:pt x="57150" y="24790"/>
                </a:lnTo>
                <a:lnTo>
                  <a:pt x="36010" y="723"/>
                </a:lnTo>
                <a:lnTo>
                  <a:pt x="32364" y="0"/>
                </a:lnTo>
                <a:close/>
              </a:path>
            </a:pathLst>
          </a:custGeom>
          <a:solidFill>
            <a:srgbClr val="3A3535"/>
          </a:solidFill>
        </p:spPr>
        <p:txBody>
          <a:bodyPr wrap="square" lIns="0" tIns="0" rIns="0" bIns="0" rtlCol="0"/>
          <a:lstStyle/>
          <a:p>
            <a:endParaRPr/>
          </a:p>
        </p:txBody>
      </p:sp>
      <p:sp>
        <p:nvSpPr>
          <p:cNvPr id="6" name="object 6"/>
          <p:cNvSpPr txBox="1"/>
          <p:nvPr/>
        </p:nvSpPr>
        <p:spPr>
          <a:xfrm>
            <a:off x="579635" y="1707075"/>
            <a:ext cx="4725670" cy="2197100"/>
          </a:xfrm>
          <a:prstGeom prst="rect">
            <a:avLst/>
          </a:prstGeom>
        </p:spPr>
        <p:txBody>
          <a:bodyPr vert="horz" wrap="square" lIns="0" tIns="16510" rIns="0" bIns="0" rtlCol="0">
            <a:spAutoFit/>
          </a:bodyPr>
          <a:lstStyle/>
          <a:p>
            <a:pPr marL="12700" marR="5080">
              <a:lnSpc>
                <a:spcPct val="137000"/>
              </a:lnSpc>
              <a:spcBef>
                <a:spcPts val="130"/>
              </a:spcBef>
            </a:pPr>
            <a:r>
              <a:rPr sz="1300" spc="114" dirty="0">
                <a:solidFill>
                  <a:srgbClr val="3A3535"/>
                </a:solidFill>
                <a:latin typeface="Century Gothic"/>
                <a:cs typeface="Century Gothic"/>
              </a:rPr>
              <a:t>SurveyJS</a:t>
            </a:r>
            <a:r>
              <a:rPr sz="1300" spc="-5" dirty="0">
                <a:solidFill>
                  <a:srgbClr val="3A3535"/>
                </a:solidFill>
                <a:latin typeface="Century Gothic"/>
                <a:cs typeface="Century Gothic"/>
              </a:rPr>
              <a:t> </a:t>
            </a:r>
            <a:r>
              <a:rPr sz="1300" dirty="0">
                <a:solidFill>
                  <a:srgbClr val="3A3535"/>
                </a:solidFill>
                <a:latin typeface="Century Gothic"/>
                <a:cs typeface="Century Gothic"/>
              </a:rPr>
              <a:t>moves</a:t>
            </a:r>
            <a:r>
              <a:rPr sz="1300" spc="-5" dirty="0">
                <a:solidFill>
                  <a:srgbClr val="3A3535"/>
                </a:solidFill>
                <a:latin typeface="Century Gothic"/>
                <a:cs typeface="Century Gothic"/>
              </a:rPr>
              <a:t> </a:t>
            </a:r>
            <a:r>
              <a:rPr sz="1300" dirty="0">
                <a:solidFill>
                  <a:srgbClr val="3A3535"/>
                </a:solidFill>
                <a:latin typeface="Century Gothic"/>
                <a:cs typeface="Century Gothic"/>
              </a:rPr>
              <a:t>beyond</a:t>
            </a:r>
            <a:r>
              <a:rPr sz="1300" spc="-5" dirty="0">
                <a:solidFill>
                  <a:srgbClr val="3A3535"/>
                </a:solidFill>
                <a:latin typeface="Century Gothic"/>
                <a:cs typeface="Century Gothic"/>
              </a:rPr>
              <a:t> </a:t>
            </a:r>
            <a:r>
              <a:rPr sz="1300" spc="75" dirty="0">
                <a:solidFill>
                  <a:srgbClr val="3A3535"/>
                </a:solidFill>
                <a:latin typeface="Century Gothic"/>
                <a:cs typeface="Century Gothic"/>
              </a:rPr>
              <a:t>simple</a:t>
            </a:r>
            <a:r>
              <a:rPr sz="1300" spc="-5" dirty="0">
                <a:solidFill>
                  <a:srgbClr val="3A3535"/>
                </a:solidFill>
                <a:latin typeface="Century Gothic"/>
                <a:cs typeface="Century Gothic"/>
              </a:rPr>
              <a:t> </a:t>
            </a:r>
            <a:r>
              <a:rPr sz="1300" spc="100" dirty="0">
                <a:solidFill>
                  <a:srgbClr val="3A3535"/>
                </a:solidFill>
                <a:latin typeface="Century Gothic"/>
                <a:cs typeface="Century Gothic"/>
              </a:rPr>
              <a:t>forms</a:t>
            </a:r>
            <a:r>
              <a:rPr sz="1300" dirty="0">
                <a:solidFill>
                  <a:srgbClr val="3A3535"/>
                </a:solidFill>
                <a:latin typeface="Century Gothic"/>
                <a:cs typeface="Century Gothic"/>
              </a:rPr>
              <a:t> </a:t>
            </a:r>
            <a:r>
              <a:rPr sz="1300" spc="-125" dirty="0">
                <a:solidFill>
                  <a:srgbClr val="3A3535"/>
                </a:solidFill>
                <a:latin typeface="Century Gothic"/>
                <a:cs typeface="Century Gothic"/>
              </a:rPr>
              <a:t>—</a:t>
            </a:r>
            <a:r>
              <a:rPr sz="1300" spc="-5" dirty="0">
                <a:solidFill>
                  <a:srgbClr val="3A3535"/>
                </a:solidFill>
                <a:latin typeface="Century Gothic"/>
                <a:cs typeface="Century Gothic"/>
              </a:rPr>
              <a:t> </a:t>
            </a:r>
            <a:r>
              <a:rPr sz="1300" spc="75" dirty="0">
                <a:solidFill>
                  <a:srgbClr val="3A3535"/>
                </a:solidFill>
                <a:latin typeface="Century Gothic"/>
                <a:cs typeface="Century Gothic"/>
              </a:rPr>
              <a:t>surveys</a:t>
            </a:r>
            <a:r>
              <a:rPr sz="1300" spc="-5" dirty="0">
                <a:solidFill>
                  <a:srgbClr val="3A3535"/>
                </a:solidFill>
                <a:latin typeface="Century Gothic"/>
                <a:cs typeface="Century Gothic"/>
              </a:rPr>
              <a:t> </a:t>
            </a:r>
            <a:r>
              <a:rPr sz="1300" spc="-45" dirty="0">
                <a:solidFill>
                  <a:srgbClr val="3A3535"/>
                </a:solidFill>
                <a:latin typeface="Century Gothic"/>
                <a:cs typeface="Century Gothic"/>
              </a:rPr>
              <a:t>can</a:t>
            </a:r>
            <a:r>
              <a:rPr sz="1300" spc="-5" dirty="0">
                <a:solidFill>
                  <a:srgbClr val="3A3535"/>
                </a:solidFill>
                <a:latin typeface="Century Gothic"/>
                <a:cs typeface="Century Gothic"/>
              </a:rPr>
              <a:t> </a:t>
            </a:r>
            <a:r>
              <a:rPr sz="1300" spc="-25" dirty="0">
                <a:solidFill>
                  <a:srgbClr val="3A3535"/>
                </a:solidFill>
                <a:latin typeface="Century Gothic"/>
                <a:cs typeface="Century Gothic"/>
              </a:rPr>
              <a:t>be </a:t>
            </a:r>
            <a:r>
              <a:rPr sz="1300" b="1" spc="-50" dirty="0">
                <a:solidFill>
                  <a:srgbClr val="3A3535"/>
                </a:solidFill>
                <a:latin typeface="Verdana"/>
                <a:cs typeface="Verdana"/>
              </a:rPr>
              <a:t>versioned,</a:t>
            </a:r>
            <a:r>
              <a:rPr sz="1300" b="1" spc="-120" dirty="0">
                <a:solidFill>
                  <a:srgbClr val="3A3535"/>
                </a:solidFill>
                <a:latin typeface="Verdana"/>
                <a:cs typeface="Verdana"/>
              </a:rPr>
              <a:t> </a:t>
            </a:r>
            <a:r>
              <a:rPr sz="1300" b="1" spc="-40" dirty="0">
                <a:solidFill>
                  <a:srgbClr val="3A3535"/>
                </a:solidFill>
                <a:latin typeface="Verdana"/>
                <a:cs typeface="Verdana"/>
              </a:rPr>
              <a:t>scheduled,</a:t>
            </a:r>
            <a:r>
              <a:rPr sz="1300" b="1" spc="-114" dirty="0">
                <a:solidFill>
                  <a:srgbClr val="3A3535"/>
                </a:solidFill>
                <a:latin typeface="Verdana"/>
                <a:cs typeface="Verdana"/>
              </a:rPr>
              <a:t> </a:t>
            </a:r>
            <a:r>
              <a:rPr sz="1300" b="1" spc="-30" dirty="0">
                <a:solidFill>
                  <a:srgbClr val="3A3535"/>
                </a:solidFill>
                <a:latin typeface="Verdana"/>
                <a:cs typeface="Verdana"/>
              </a:rPr>
              <a:t>edited,</a:t>
            </a:r>
            <a:r>
              <a:rPr sz="1300" b="1" spc="-114" dirty="0">
                <a:solidFill>
                  <a:srgbClr val="3A3535"/>
                </a:solidFill>
                <a:latin typeface="Verdana"/>
                <a:cs typeface="Verdana"/>
              </a:rPr>
              <a:t> </a:t>
            </a:r>
            <a:r>
              <a:rPr sz="1300" b="1" spc="-45" dirty="0">
                <a:solidFill>
                  <a:srgbClr val="3A3535"/>
                </a:solidFill>
                <a:latin typeface="Verdana"/>
                <a:cs typeface="Verdana"/>
              </a:rPr>
              <a:t>and</a:t>
            </a:r>
            <a:r>
              <a:rPr sz="1300" b="1" spc="-114" dirty="0">
                <a:solidFill>
                  <a:srgbClr val="3A3535"/>
                </a:solidFill>
                <a:latin typeface="Verdana"/>
                <a:cs typeface="Verdana"/>
              </a:rPr>
              <a:t> </a:t>
            </a:r>
            <a:r>
              <a:rPr sz="1300" b="1" spc="-10" dirty="0">
                <a:solidFill>
                  <a:srgbClr val="3A3535"/>
                </a:solidFill>
                <a:latin typeface="Verdana"/>
                <a:cs typeface="Verdana"/>
              </a:rPr>
              <a:t>connected</a:t>
            </a:r>
            <a:r>
              <a:rPr sz="1300" b="1" spc="-114" dirty="0">
                <a:solidFill>
                  <a:srgbClr val="3A3535"/>
                </a:solidFill>
                <a:latin typeface="Verdana"/>
                <a:cs typeface="Verdana"/>
              </a:rPr>
              <a:t> </a:t>
            </a:r>
            <a:r>
              <a:rPr sz="1300" b="1" spc="-25" dirty="0">
                <a:solidFill>
                  <a:srgbClr val="3A3535"/>
                </a:solidFill>
                <a:latin typeface="Verdana"/>
                <a:cs typeface="Verdana"/>
              </a:rPr>
              <a:t>to </a:t>
            </a:r>
            <a:r>
              <a:rPr sz="1300" b="1" spc="-35" dirty="0">
                <a:solidFill>
                  <a:srgbClr val="3A3535"/>
                </a:solidFill>
                <a:latin typeface="Verdana"/>
                <a:cs typeface="Verdana"/>
              </a:rPr>
              <a:t>dashboards</a:t>
            </a:r>
            <a:r>
              <a:rPr sz="1300" b="1" spc="-70" dirty="0">
                <a:solidFill>
                  <a:srgbClr val="3A3535"/>
                </a:solidFill>
                <a:latin typeface="Verdana"/>
                <a:cs typeface="Verdana"/>
              </a:rPr>
              <a:t> </a:t>
            </a:r>
            <a:r>
              <a:rPr sz="1300" spc="80" dirty="0">
                <a:solidFill>
                  <a:srgbClr val="3A3535"/>
                </a:solidFill>
                <a:latin typeface="Century Gothic"/>
                <a:cs typeface="Century Gothic"/>
              </a:rPr>
              <a:t>inside</a:t>
            </a:r>
            <a:r>
              <a:rPr sz="1300" spc="15" dirty="0">
                <a:solidFill>
                  <a:srgbClr val="3A3535"/>
                </a:solidFill>
                <a:latin typeface="Century Gothic"/>
                <a:cs typeface="Century Gothic"/>
              </a:rPr>
              <a:t> </a:t>
            </a:r>
            <a:r>
              <a:rPr sz="1300" dirty="0">
                <a:solidFill>
                  <a:srgbClr val="3A3535"/>
                </a:solidFill>
                <a:latin typeface="Century Gothic"/>
                <a:cs typeface="Century Gothic"/>
              </a:rPr>
              <a:t>the</a:t>
            </a:r>
            <a:r>
              <a:rPr sz="1300" spc="15" dirty="0">
                <a:solidFill>
                  <a:srgbClr val="3A3535"/>
                </a:solidFill>
                <a:latin typeface="Century Gothic"/>
                <a:cs typeface="Century Gothic"/>
              </a:rPr>
              <a:t> </a:t>
            </a:r>
            <a:r>
              <a:rPr sz="1300" spc="-10" dirty="0">
                <a:solidFill>
                  <a:srgbClr val="3A3535"/>
                </a:solidFill>
                <a:latin typeface="Century Gothic"/>
                <a:cs typeface="Century Gothic"/>
              </a:rPr>
              <a:t>platform.</a:t>
            </a:r>
            <a:endParaRPr sz="1300">
              <a:latin typeface="Century Gothic"/>
              <a:cs typeface="Century Gothic"/>
            </a:endParaRPr>
          </a:p>
          <a:p>
            <a:pPr>
              <a:lnSpc>
                <a:spcPct val="100000"/>
              </a:lnSpc>
              <a:spcBef>
                <a:spcPts val="220"/>
              </a:spcBef>
            </a:pPr>
            <a:endParaRPr sz="1300">
              <a:latin typeface="Century Gothic"/>
              <a:cs typeface="Century Gothic"/>
            </a:endParaRPr>
          </a:p>
          <a:p>
            <a:pPr marL="283210">
              <a:lnSpc>
                <a:spcPct val="100000"/>
              </a:lnSpc>
            </a:pPr>
            <a:r>
              <a:rPr sz="1300" dirty="0">
                <a:solidFill>
                  <a:srgbClr val="3A3535"/>
                </a:solidFill>
                <a:latin typeface="Century Gothic"/>
                <a:cs typeface="Century Gothic"/>
              </a:rPr>
              <a:t>Autosave,</a:t>
            </a:r>
            <a:r>
              <a:rPr sz="1300" spc="-5" dirty="0">
                <a:solidFill>
                  <a:srgbClr val="3A3535"/>
                </a:solidFill>
                <a:latin typeface="Century Gothic"/>
                <a:cs typeface="Century Gothic"/>
              </a:rPr>
              <a:t> </a:t>
            </a:r>
            <a:r>
              <a:rPr sz="1300" spc="60" dirty="0">
                <a:solidFill>
                  <a:srgbClr val="3A3535"/>
                </a:solidFill>
                <a:latin typeface="Century Gothic"/>
                <a:cs typeface="Century Gothic"/>
              </a:rPr>
              <a:t>edit</a:t>
            </a:r>
            <a:r>
              <a:rPr sz="1300" spc="-5" dirty="0">
                <a:solidFill>
                  <a:srgbClr val="3A3535"/>
                </a:solidFill>
                <a:latin typeface="Century Gothic"/>
                <a:cs typeface="Century Gothic"/>
              </a:rPr>
              <a:t> </a:t>
            </a:r>
            <a:r>
              <a:rPr sz="1300" dirty="0">
                <a:solidFill>
                  <a:srgbClr val="3A3535"/>
                </a:solidFill>
                <a:latin typeface="Century Gothic"/>
                <a:cs typeface="Century Gothic"/>
              </a:rPr>
              <a:t>mode,</a:t>
            </a:r>
            <a:r>
              <a:rPr sz="1300" spc="-5" dirty="0">
                <a:solidFill>
                  <a:srgbClr val="3A3535"/>
                </a:solidFill>
                <a:latin typeface="Century Gothic"/>
                <a:cs typeface="Century Gothic"/>
              </a:rPr>
              <a:t> </a:t>
            </a:r>
            <a:r>
              <a:rPr sz="1300" spc="-10" dirty="0">
                <a:solidFill>
                  <a:srgbClr val="3A3535"/>
                </a:solidFill>
                <a:latin typeface="Century Gothic"/>
                <a:cs typeface="Century Gothic"/>
              </a:rPr>
              <a:t>and</a:t>
            </a:r>
            <a:r>
              <a:rPr sz="1300" dirty="0">
                <a:solidFill>
                  <a:srgbClr val="3A3535"/>
                </a:solidFill>
                <a:latin typeface="Century Gothic"/>
                <a:cs typeface="Century Gothic"/>
              </a:rPr>
              <a:t> </a:t>
            </a:r>
            <a:r>
              <a:rPr sz="1300" spc="80" dirty="0">
                <a:solidFill>
                  <a:srgbClr val="3A3535"/>
                </a:solidFill>
                <a:latin typeface="Century Gothic"/>
                <a:cs typeface="Century Gothic"/>
              </a:rPr>
              <a:t>timing</a:t>
            </a:r>
            <a:r>
              <a:rPr sz="1300" spc="-5" dirty="0">
                <a:solidFill>
                  <a:srgbClr val="3A3535"/>
                </a:solidFill>
                <a:latin typeface="Century Gothic"/>
                <a:cs typeface="Century Gothic"/>
              </a:rPr>
              <a:t> </a:t>
            </a:r>
            <a:r>
              <a:rPr sz="1300" spc="-10" dirty="0">
                <a:solidFill>
                  <a:srgbClr val="3A3535"/>
                </a:solidFill>
                <a:latin typeface="Century Gothic"/>
                <a:cs typeface="Century Gothic"/>
              </a:rPr>
              <a:t>metadata</a:t>
            </a:r>
            <a:endParaRPr sz="1300">
              <a:latin typeface="Century Gothic"/>
              <a:cs typeface="Century Gothic"/>
            </a:endParaRPr>
          </a:p>
          <a:p>
            <a:pPr marL="283210">
              <a:lnSpc>
                <a:spcPct val="100000"/>
              </a:lnSpc>
              <a:spcBef>
                <a:spcPts val="990"/>
              </a:spcBef>
            </a:pPr>
            <a:r>
              <a:rPr sz="1300" spc="70" dirty="0">
                <a:solidFill>
                  <a:srgbClr val="3A3535"/>
                </a:solidFill>
                <a:latin typeface="Century Gothic"/>
                <a:cs typeface="Century Gothic"/>
              </a:rPr>
              <a:t>File</a:t>
            </a:r>
            <a:r>
              <a:rPr sz="1300" spc="-10" dirty="0">
                <a:solidFill>
                  <a:srgbClr val="3A3535"/>
                </a:solidFill>
                <a:latin typeface="Century Gothic"/>
                <a:cs typeface="Century Gothic"/>
              </a:rPr>
              <a:t> </a:t>
            </a:r>
            <a:r>
              <a:rPr sz="1300" dirty="0">
                <a:solidFill>
                  <a:srgbClr val="3A3535"/>
                </a:solidFill>
                <a:latin typeface="Century Gothic"/>
                <a:cs typeface="Century Gothic"/>
              </a:rPr>
              <a:t>upload,</a:t>
            </a:r>
            <a:r>
              <a:rPr sz="1300" spc="-10" dirty="0">
                <a:solidFill>
                  <a:srgbClr val="3A3535"/>
                </a:solidFill>
                <a:latin typeface="Century Gothic"/>
                <a:cs typeface="Century Gothic"/>
              </a:rPr>
              <a:t> </a:t>
            </a:r>
            <a:r>
              <a:rPr sz="1300" spc="85" dirty="0">
                <a:solidFill>
                  <a:srgbClr val="3A3535"/>
                </a:solidFill>
                <a:latin typeface="Century Gothic"/>
                <a:cs typeface="Century Gothic"/>
              </a:rPr>
              <a:t>PDF</a:t>
            </a:r>
            <a:r>
              <a:rPr sz="1300" spc="-10" dirty="0">
                <a:solidFill>
                  <a:srgbClr val="3A3535"/>
                </a:solidFill>
                <a:latin typeface="Century Gothic"/>
                <a:cs typeface="Century Gothic"/>
              </a:rPr>
              <a:t> </a:t>
            </a:r>
            <a:r>
              <a:rPr sz="1300" spc="50" dirty="0">
                <a:solidFill>
                  <a:srgbClr val="3A3535"/>
                </a:solidFill>
                <a:latin typeface="Century Gothic"/>
                <a:cs typeface="Century Gothic"/>
              </a:rPr>
              <a:t>export,</a:t>
            </a:r>
            <a:r>
              <a:rPr sz="1300" spc="-5" dirty="0">
                <a:solidFill>
                  <a:srgbClr val="3A3535"/>
                </a:solidFill>
                <a:latin typeface="Century Gothic"/>
                <a:cs typeface="Century Gothic"/>
              </a:rPr>
              <a:t> </a:t>
            </a:r>
            <a:r>
              <a:rPr sz="1300" spc="-10" dirty="0">
                <a:solidFill>
                  <a:srgbClr val="3A3535"/>
                </a:solidFill>
                <a:latin typeface="Century Gothic"/>
                <a:cs typeface="Century Gothic"/>
              </a:rPr>
              <a:t>and </a:t>
            </a:r>
            <a:r>
              <a:rPr sz="1300" spc="65" dirty="0">
                <a:solidFill>
                  <a:srgbClr val="3A3535"/>
                </a:solidFill>
                <a:latin typeface="Century Gothic"/>
                <a:cs typeface="Century Gothic"/>
              </a:rPr>
              <a:t>voice-</a:t>
            </a:r>
            <a:r>
              <a:rPr sz="1300" dirty="0">
                <a:solidFill>
                  <a:srgbClr val="3A3535"/>
                </a:solidFill>
                <a:latin typeface="Century Gothic"/>
                <a:cs typeface="Century Gothic"/>
              </a:rPr>
              <a:t>record</a:t>
            </a:r>
            <a:r>
              <a:rPr sz="1300" spc="-10" dirty="0">
                <a:solidFill>
                  <a:srgbClr val="3A3535"/>
                </a:solidFill>
                <a:latin typeface="Century Gothic"/>
                <a:cs typeface="Century Gothic"/>
              </a:rPr>
              <a:t> </a:t>
            </a:r>
            <a:r>
              <a:rPr sz="1300" spc="75" dirty="0">
                <a:solidFill>
                  <a:srgbClr val="3A3535"/>
                </a:solidFill>
                <a:latin typeface="Century Gothic"/>
                <a:cs typeface="Century Gothic"/>
              </a:rPr>
              <a:t>responses</a:t>
            </a:r>
            <a:endParaRPr sz="1300">
              <a:latin typeface="Century Gothic"/>
              <a:cs typeface="Century Gothic"/>
            </a:endParaRPr>
          </a:p>
          <a:p>
            <a:pPr marL="283210" marR="120014">
              <a:lnSpc>
                <a:spcPct val="134600"/>
              </a:lnSpc>
              <a:spcBef>
                <a:spcPts val="525"/>
              </a:spcBef>
            </a:pPr>
            <a:r>
              <a:rPr sz="1300" spc="95" dirty="0">
                <a:solidFill>
                  <a:srgbClr val="3A3535"/>
                </a:solidFill>
                <a:latin typeface="Century Gothic"/>
                <a:cs typeface="Century Gothic"/>
              </a:rPr>
              <a:t>Stronger</a:t>
            </a:r>
            <a:r>
              <a:rPr sz="1300" spc="5" dirty="0">
                <a:solidFill>
                  <a:srgbClr val="3A3535"/>
                </a:solidFill>
                <a:latin typeface="Century Gothic"/>
                <a:cs typeface="Century Gothic"/>
              </a:rPr>
              <a:t> </a:t>
            </a:r>
            <a:r>
              <a:rPr sz="1300" spc="-40" dirty="0">
                <a:solidFill>
                  <a:srgbClr val="3A3535"/>
                </a:solidFill>
                <a:latin typeface="Century Gothic"/>
                <a:cs typeface="Century Gothic"/>
              </a:rPr>
              <a:t>data</a:t>
            </a:r>
            <a:r>
              <a:rPr sz="1300" spc="5" dirty="0">
                <a:solidFill>
                  <a:srgbClr val="3A3535"/>
                </a:solidFill>
                <a:latin typeface="Century Gothic"/>
                <a:cs typeface="Century Gothic"/>
              </a:rPr>
              <a:t> </a:t>
            </a:r>
            <a:r>
              <a:rPr sz="1300" dirty="0">
                <a:solidFill>
                  <a:srgbClr val="3A3535"/>
                </a:solidFill>
                <a:latin typeface="Century Gothic"/>
                <a:cs typeface="Century Gothic"/>
              </a:rPr>
              <a:t>quality</a:t>
            </a:r>
            <a:r>
              <a:rPr sz="1300" spc="5" dirty="0">
                <a:solidFill>
                  <a:srgbClr val="3A3535"/>
                </a:solidFill>
                <a:latin typeface="Century Gothic"/>
                <a:cs typeface="Century Gothic"/>
              </a:rPr>
              <a:t> </a:t>
            </a:r>
            <a:r>
              <a:rPr sz="1300" spc="85" dirty="0">
                <a:solidFill>
                  <a:srgbClr val="3A3535"/>
                </a:solidFill>
                <a:latin typeface="Century Gothic"/>
                <a:cs typeface="Century Gothic"/>
              </a:rPr>
              <a:t>for</a:t>
            </a:r>
            <a:r>
              <a:rPr sz="1300" spc="5" dirty="0">
                <a:solidFill>
                  <a:srgbClr val="3A3535"/>
                </a:solidFill>
                <a:latin typeface="Century Gothic"/>
                <a:cs typeface="Century Gothic"/>
              </a:rPr>
              <a:t> </a:t>
            </a:r>
            <a:r>
              <a:rPr sz="1300" dirty="0">
                <a:solidFill>
                  <a:srgbClr val="3A3535"/>
                </a:solidFill>
                <a:latin typeface="Century Gothic"/>
                <a:cs typeface="Century Gothic"/>
              </a:rPr>
              <a:t>repeated</a:t>
            </a:r>
            <a:r>
              <a:rPr sz="1300" spc="1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5" dirty="0">
                <a:solidFill>
                  <a:srgbClr val="3A3535"/>
                </a:solidFill>
                <a:latin typeface="Century Gothic"/>
                <a:cs typeface="Century Gothic"/>
              </a:rPr>
              <a:t> </a:t>
            </a:r>
            <a:r>
              <a:rPr sz="1300" spc="45" dirty="0">
                <a:solidFill>
                  <a:srgbClr val="3A3535"/>
                </a:solidFill>
                <a:latin typeface="Century Gothic"/>
                <a:cs typeface="Century Gothic"/>
              </a:rPr>
              <a:t>longitudinal </a:t>
            </a:r>
            <a:r>
              <a:rPr sz="1300" spc="65" dirty="0">
                <a:solidFill>
                  <a:srgbClr val="3A3535"/>
                </a:solidFill>
                <a:latin typeface="Century Gothic"/>
                <a:cs typeface="Century Gothic"/>
              </a:rPr>
              <a:t>assessment</a:t>
            </a:r>
            <a:endParaRPr sz="1300">
              <a:latin typeface="Century Gothic"/>
              <a:cs typeface="Century Gothic"/>
            </a:endParaRPr>
          </a:p>
        </p:txBody>
      </p:sp>
      <p:grpSp>
        <p:nvGrpSpPr>
          <p:cNvPr id="7" name="object 7"/>
          <p:cNvGrpSpPr/>
          <p:nvPr/>
        </p:nvGrpSpPr>
        <p:grpSpPr>
          <a:xfrm>
            <a:off x="5915025" y="1809749"/>
            <a:ext cx="4933950" cy="1095375"/>
            <a:chOff x="5915025" y="1809749"/>
            <a:chExt cx="4933950" cy="1095375"/>
          </a:xfrm>
        </p:grpSpPr>
        <p:sp>
          <p:nvSpPr>
            <p:cNvPr id="8" name="object 8"/>
            <p:cNvSpPr/>
            <p:nvPr/>
          </p:nvSpPr>
          <p:spPr>
            <a:xfrm>
              <a:off x="5934913" y="1809762"/>
              <a:ext cx="4914265" cy="1095375"/>
            </a:xfrm>
            <a:custGeom>
              <a:avLst/>
              <a:gdLst/>
              <a:ahLst/>
              <a:cxnLst/>
              <a:rect l="l" t="t" r="r" b="b"/>
              <a:pathLst>
                <a:path w="4914265" h="1095375">
                  <a:moveTo>
                    <a:pt x="4914023" y="51219"/>
                  </a:moveTo>
                  <a:lnTo>
                    <a:pt x="4912550" y="43827"/>
                  </a:lnTo>
                  <a:lnTo>
                    <a:pt x="4906530" y="29311"/>
                  </a:lnTo>
                  <a:lnTo>
                    <a:pt x="4902251" y="22910"/>
                  </a:lnTo>
                  <a:lnTo>
                    <a:pt x="4897171" y="17830"/>
                  </a:lnTo>
                  <a:lnTo>
                    <a:pt x="4896701" y="17348"/>
                  </a:lnTo>
                  <a:lnTo>
                    <a:pt x="4891138" y="11798"/>
                  </a:lnTo>
                  <a:lnTo>
                    <a:pt x="4884737" y="7518"/>
                  </a:lnTo>
                  <a:lnTo>
                    <a:pt x="4870310" y="1524"/>
                  </a:lnTo>
                  <a:lnTo>
                    <a:pt x="4862665" y="0"/>
                  </a:lnTo>
                  <a:lnTo>
                    <a:pt x="75349" y="0"/>
                  </a:lnTo>
                  <a:lnTo>
                    <a:pt x="67843" y="355"/>
                  </a:lnTo>
                  <a:lnTo>
                    <a:pt x="59931" y="1524"/>
                  </a:lnTo>
                  <a:lnTo>
                    <a:pt x="60159" y="1524"/>
                  </a:lnTo>
                  <a:lnTo>
                    <a:pt x="53263" y="3251"/>
                  </a:lnTo>
                  <a:lnTo>
                    <a:pt x="16421" y="27876"/>
                  </a:lnTo>
                  <a:lnTo>
                    <a:pt x="0" y="65430"/>
                  </a:lnTo>
                  <a:lnTo>
                    <a:pt x="1079" y="61328"/>
                  </a:lnTo>
                  <a:lnTo>
                    <a:pt x="8813" y="47332"/>
                  </a:lnTo>
                  <a:lnTo>
                    <a:pt x="46189" y="23406"/>
                  </a:lnTo>
                  <a:lnTo>
                    <a:pt x="75349" y="19050"/>
                  </a:lnTo>
                  <a:lnTo>
                    <a:pt x="4854803" y="19050"/>
                  </a:lnTo>
                  <a:lnTo>
                    <a:pt x="4892065" y="43827"/>
                  </a:lnTo>
                  <a:lnTo>
                    <a:pt x="4894999" y="59245"/>
                  </a:lnTo>
                  <a:lnTo>
                    <a:pt x="4894999" y="1036129"/>
                  </a:lnTo>
                  <a:lnTo>
                    <a:pt x="4894288" y="1043990"/>
                  </a:lnTo>
                  <a:lnTo>
                    <a:pt x="4894275" y="1044143"/>
                  </a:lnTo>
                  <a:lnTo>
                    <a:pt x="4862830" y="1075588"/>
                  </a:lnTo>
                  <a:lnTo>
                    <a:pt x="4854803" y="1076325"/>
                  </a:lnTo>
                  <a:lnTo>
                    <a:pt x="75349" y="1076325"/>
                  </a:lnTo>
                  <a:lnTo>
                    <a:pt x="33007" y="1066698"/>
                  </a:lnTo>
                  <a:lnTo>
                    <a:pt x="1079" y="1034046"/>
                  </a:lnTo>
                  <a:lnTo>
                    <a:pt x="0" y="1029944"/>
                  </a:lnTo>
                  <a:lnTo>
                    <a:pt x="609" y="1034046"/>
                  </a:lnTo>
                  <a:lnTo>
                    <a:pt x="2413" y="1041247"/>
                  </a:lnTo>
                  <a:lnTo>
                    <a:pt x="4851" y="1048042"/>
                  </a:lnTo>
                  <a:lnTo>
                    <a:pt x="4953" y="1048334"/>
                  </a:lnTo>
                  <a:lnTo>
                    <a:pt x="33007" y="1082535"/>
                  </a:lnTo>
                  <a:lnTo>
                    <a:pt x="75349" y="1095375"/>
                  </a:lnTo>
                  <a:lnTo>
                    <a:pt x="4862665" y="1095375"/>
                  </a:lnTo>
                  <a:lnTo>
                    <a:pt x="4869980" y="1093914"/>
                  </a:lnTo>
                  <a:lnTo>
                    <a:pt x="4870107" y="1093914"/>
                  </a:lnTo>
                  <a:lnTo>
                    <a:pt x="4884737" y="1087856"/>
                  </a:lnTo>
                  <a:lnTo>
                    <a:pt x="4891138" y="1083576"/>
                  </a:lnTo>
                  <a:lnTo>
                    <a:pt x="4896701" y="1078014"/>
                  </a:lnTo>
                  <a:lnTo>
                    <a:pt x="4897171" y="1077544"/>
                  </a:lnTo>
                  <a:lnTo>
                    <a:pt x="4902251" y="1072464"/>
                  </a:lnTo>
                  <a:lnTo>
                    <a:pt x="4906530" y="1066063"/>
                  </a:lnTo>
                  <a:lnTo>
                    <a:pt x="4912550" y="1051560"/>
                  </a:lnTo>
                  <a:lnTo>
                    <a:pt x="4914023" y="1044143"/>
                  </a:lnTo>
                  <a:lnTo>
                    <a:pt x="4914023" y="51219"/>
                  </a:lnTo>
                  <a:close/>
                </a:path>
              </a:pathLst>
            </a:custGeom>
            <a:solidFill>
              <a:srgbClr val="DFB7BB"/>
            </a:solidFill>
          </p:spPr>
          <p:txBody>
            <a:bodyPr wrap="square" lIns="0" tIns="0" rIns="0" bIns="0" rtlCol="0"/>
            <a:lstStyle/>
            <a:p>
              <a:endParaRPr/>
            </a:p>
          </p:txBody>
        </p:sp>
        <p:sp>
          <p:nvSpPr>
            <p:cNvPr id="9" name="object 9"/>
            <p:cNvSpPr/>
            <p:nvPr/>
          </p:nvSpPr>
          <p:spPr>
            <a:xfrm>
              <a:off x="5915025" y="1809749"/>
              <a:ext cx="76200" cy="1095375"/>
            </a:xfrm>
            <a:custGeom>
              <a:avLst/>
              <a:gdLst/>
              <a:ahLst/>
              <a:cxnLst/>
              <a:rect l="l" t="t" r="r" b="b"/>
              <a:pathLst>
                <a:path w="76200" h="1095375">
                  <a:moveTo>
                    <a:pt x="76200" y="0"/>
                  </a:moveTo>
                  <a:lnTo>
                    <a:pt x="55359" y="0"/>
                  </a:lnTo>
                  <a:lnTo>
                    <a:pt x="51498" y="381"/>
                  </a:lnTo>
                  <a:lnTo>
                    <a:pt x="14605" y="20104"/>
                  </a:lnTo>
                  <a:lnTo>
                    <a:pt x="0" y="55359"/>
                  </a:lnTo>
                  <a:lnTo>
                    <a:pt x="0" y="1036129"/>
                  </a:lnTo>
                  <a:lnTo>
                    <a:pt x="0" y="1040015"/>
                  </a:lnTo>
                  <a:lnTo>
                    <a:pt x="14605" y="1075270"/>
                  </a:lnTo>
                  <a:lnTo>
                    <a:pt x="51498" y="1094994"/>
                  </a:lnTo>
                  <a:lnTo>
                    <a:pt x="55359" y="1095375"/>
                  </a:lnTo>
                  <a:lnTo>
                    <a:pt x="76200" y="1095375"/>
                  </a:lnTo>
                  <a:lnTo>
                    <a:pt x="76200" y="0"/>
                  </a:lnTo>
                  <a:close/>
                </a:path>
              </a:pathLst>
            </a:custGeom>
            <a:solidFill>
              <a:srgbClr val="DA1B2D"/>
            </a:solidFill>
          </p:spPr>
          <p:txBody>
            <a:bodyPr wrap="square" lIns="0" tIns="0" rIns="0" bIns="0" rtlCol="0"/>
            <a:lstStyle/>
            <a:p>
              <a:endParaRPr/>
            </a:p>
          </p:txBody>
        </p:sp>
      </p:grpSp>
      <p:sp>
        <p:nvSpPr>
          <p:cNvPr id="10" name="object 10"/>
          <p:cNvSpPr txBox="1"/>
          <p:nvPr/>
        </p:nvSpPr>
        <p:spPr>
          <a:xfrm>
            <a:off x="6163665" y="1974405"/>
            <a:ext cx="3510915" cy="71056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Create</a:t>
            </a:r>
            <a:endParaRPr sz="1750">
              <a:latin typeface="Verdana"/>
              <a:cs typeface="Verdana"/>
            </a:endParaRPr>
          </a:p>
          <a:p>
            <a:pPr marL="12700">
              <a:lnSpc>
                <a:spcPct val="100000"/>
              </a:lnSpc>
              <a:spcBef>
                <a:spcPts val="1725"/>
              </a:spcBef>
            </a:pPr>
            <a:r>
              <a:rPr sz="1300" spc="55" dirty="0">
                <a:solidFill>
                  <a:srgbClr val="3A3535"/>
                </a:solidFill>
                <a:latin typeface="Century Gothic"/>
                <a:cs typeface="Century Gothic"/>
              </a:rPr>
              <a:t>Versioned</a:t>
            </a:r>
            <a:r>
              <a:rPr sz="1300" spc="-40" dirty="0">
                <a:solidFill>
                  <a:srgbClr val="3A3535"/>
                </a:solidFill>
                <a:latin typeface="Century Gothic"/>
                <a:cs typeface="Century Gothic"/>
              </a:rPr>
              <a:t> </a:t>
            </a:r>
            <a:r>
              <a:rPr sz="1300" spc="55" dirty="0">
                <a:solidFill>
                  <a:srgbClr val="3A3535"/>
                </a:solidFill>
                <a:latin typeface="Century Gothic"/>
                <a:cs typeface="Century Gothic"/>
              </a:rPr>
              <a:t>survey</a:t>
            </a:r>
            <a:r>
              <a:rPr sz="1300" spc="-35" dirty="0">
                <a:solidFill>
                  <a:srgbClr val="3A3535"/>
                </a:solidFill>
                <a:latin typeface="Century Gothic"/>
                <a:cs typeface="Century Gothic"/>
              </a:rPr>
              <a:t> </a:t>
            </a:r>
            <a:r>
              <a:rPr sz="1300" spc="60" dirty="0">
                <a:solidFill>
                  <a:srgbClr val="3A3535"/>
                </a:solidFill>
                <a:latin typeface="Century Gothic"/>
                <a:cs typeface="Century Gothic"/>
              </a:rPr>
              <a:t>builder</a:t>
            </a:r>
            <a:r>
              <a:rPr sz="1300" spc="-40" dirty="0">
                <a:solidFill>
                  <a:srgbClr val="3A3535"/>
                </a:solidFill>
                <a:latin typeface="Century Gothic"/>
                <a:cs typeface="Century Gothic"/>
              </a:rPr>
              <a:t> </a:t>
            </a:r>
            <a:r>
              <a:rPr sz="1300" spc="80" dirty="0">
                <a:solidFill>
                  <a:srgbClr val="3A3535"/>
                </a:solidFill>
                <a:latin typeface="Century Gothic"/>
                <a:cs typeface="Century Gothic"/>
              </a:rPr>
              <a:t>with</a:t>
            </a:r>
            <a:r>
              <a:rPr sz="1300" spc="-35" dirty="0">
                <a:solidFill>
                  <a:srgbClr val="3A3535"/>
                </a:solidFill>
                <a:latin typeface="Century Gothic"/>
                <a:cs typeface="Century Gothic"/>
              </a:rPr>
              <a:t> </a:t>
            </a:r>
            <a:r>
              <a:rPr sz="1300" spc="40" dirty="0">
                <a:solidFill>
                  <a:srgbClr val="3A3535"/>
                </a:solidFill>
                <a:latin typeface="Century Gothic"/>
                <a:cs typeface="Century Gothic"/>
              </a:rPr>
              <a:t>scheduling</a:t>
            </a:r>
            <a:endParaRPr sz="1300">
              <a:latin typeface="Century Gothic"/>
              <a:cs typeface="Century Gothic"/>
            </a:endParaRPr>
          </a:p>
        </p:txBody>
      </p:sp>
      <p:grpSp>
        <p:nvGrpSpPr>
          <p:cNvPr id="11" name="object 11"/>
          <p:cNvGrpSpPr/>
          <p:nvPr/>
        </p:nvGrpSpPr>
        <p:grpSpPr>
          <a:xfrm>
            <a:off x="5915025" y="3076575"/>
            <a:ext cx="4933950" cy="1095375"/>
            <a:chOff x="5915025" y="3076575"/>
            <a:chExt cx="4933950" cy="1095375"/>
          </a:xfrm>
        </p:grpSpPr>
        <p:sp>
          <p:nvSpPr>
            <p:cNvPr id="12" name="object 12"/>
            <p:cNvSpPr/>
            <p:nvPr/>
          </p:nvSpPr>
          <p:spPr>
            <a:xfrm>
              <a:off x="5934913" y="3076587"/>
              <a:ext cx="4914265" cy="1095375"/>
            </a:xfrm>
            <a:custGeom>
              <a:avLst/>
              <a:gdLst/>
              <a:ahLst/>
              <a:cxnLst/>
              <a:rect l="l" t="t" r="r" b="b"/>
              <a:pathLst>
                <a:path w="4914265" h="1095375">
                  <a:moveTo>
                    <a:pt x="4914023" y="51219"/>
                  </a:moveTo>
                  <a:lnTo>
                    <a:pt x="4912550" y="43827"/>
                  </a:lnTo>
                  <a:lnTo>
                    <a:pt x="4906530" y="29311"/>
                  </a:lnTo>
                  <a:lnTo>
                    <a:pt x="4902251" y="22910"/>
                  </a:lnTo>
                  <a:lnTo>
                    <a:pt x="4897171" y="17830"/>
                  </a:lnTo>
                  <a:lnTo>
                    <a:pt x="4896701" y="17348"/>
                  </a:lnTo>
                  <a:lnTo>
                    <a:pt x="4891138" y="11798"/>
                  </a:lnTo>
                  <a:lnTo>
                    <a:pt x="4884737" y="7518"/>
                  </a:lnTo>
                  <a:lnTo>
                    <a:pt x="4870310" y="1524"/>
                  </a:lnTo>
                  <a:lnTo>
                    <a:pt x="4862665" y="0"/>
                  </a:lnTo>
                  <a:lnTo>
                    <a:pt x="75349" y="0"/>
                  </a:lnTo>
                  <a:lnTo>
                    <a:pt x="67843" y="355"/>
                  </a:lnTo>
                  <a:lnTo>
                    <a:pt x="59931" y="1524"/>
                  </a:lnTo>
                  <a:lnTo>
                    <a:pt x="60159" y="1524"/>
                  </a:lnTo>
                  <a:lnTo>
                    <a:pt x="53263" y="3251"/>
                  </a:lnTo>
                  <a:lnTo>
                    <a:pt x="16421" y="27876"/>
                  </a:lnTo>
                  <a:lnTo>
                    <a:pt x="0" y="65430"/>
                  </a:lnTo>
                  <a:lnTo>
                    <a:pt x="1079" y="61328"/>
                  </a:lnTo>
                  <a:lnTo>
                    <a:pt x="8813" y="47332"/>
                  </a:lnTo>
                  <a:lnTo>
                    <a:pt x="46189" y="23406"/>
                  </a:lnTo>
                  <a:lnTo>
                    <a:pt x="75349" y="19050"/>
                  </a:lnTo>
                  <a:lnTo>
                    <a:pt x="4854803" y="19050"/>
                  </a:lnTo>
                  <a:lnTo>
                    <a:pt x="4892065" y="43827"/>
                  </a:lnTo>
                  <a:lnTo>
                    <a:pt x="4894999" y="59245"/>
                  </a:lnTo>
                  <a:lnTo>
                    <a:pt x="4894999" y="1036129"/>
                  </a:lnTo>
                  <a:lnTo>
                    <a:pt x="4894288" y="1043990"/>
                  </a:lnTo>
                  <a:lnTo>
                    <a:pt x="4894275" y="1044143"/>
                  </a:lnTo>
                  <a:lnTo>
                    <a:pt x="4862830" y="1075588"/>
                  </a:lnTo>
                  <a:lnTo>
                    <a:pt x="4854803" y="1076325"/>
                  </a:lnTo>
                  <a:lnTo>
                    <a:pt x="75349" y="1076325"/>
                  </a:lnTo>
                  <a:lnTo>
                    <a:pt x="33007" y="1066698"/>
                  </a:lnTo>
                  <a:lnTo>
                    <a:pt x="1079" y="1034046"/>
                  </a:lnTo>
                  <a:lnTo>
                    <a:pt x="0" y="1029931"/>
                  </a:lnTo>
                  <a:lnTo>
                    <a:pt x="609" y="1034046"/>
                  </a:lnTo>
                  <a:lnTo>
                    <a:pt x="2413" y="1041260"/>
                  </a:lnTo>
                  <a:lnTo>
                    <a:pt x="4851" y="1048042"/>
                  </a:lnTo>
                  <a:lnTo>
                    <a:pt x="4953" y="1048334"/>
                  </a:lnTo>
                  <a:lnTo>
                    <a:pt x="33007" y="1082535"/>
                  </a:lnTo>
                  <a:lnTo>
                    <a:pt x="75349" y="1095375"/>
                  </a:lnTo>
                  <a:lnTo>
                    <a:pt x="4862665" y="1095375"/>
                  </a:lnTo>
                  <a:lnTo>
                    <a:pt x="4869980" y="1093914"/>
                  </a:lnTo>
                  <a:lnTo>
                    <a:pt x="4870107" y="1093914"/>
                  </a:lnTo>
                  <a:lnTo>
                    <a:pt x="4884737" y="1087856"/>
                  </a:lnTo>
                  <a:lnTo>
                    <a:pt x="4891138" y="1083576"/>
                  </a:lnTo>
                  <a:lnTo>
                    <a:pt x="4896701" y="1078014"/>
                  </a:lnTo>
                  <a:lnTo>
                    <a:pt x="4897171" y="1077544"/>
                  </a:lnTo>
                  <a:lnTo>
                    <a:pt x="4902251" y="1072464"/>
                  </a:lnTo>
                  <a:lnTo>
                    <a:pt x="4906530" y="1066063"/>
                  </a:lnTo>
                  <a:lnTo>
                    <a:pt x="4912550" y="1051560"/>
                  </a:lnTo>
                  <a:lnTo>
                    <a:pt x="4914023" y="1044143"/>
                  </a:lnTo>
                  <a:lnTo>
                    <a:pt x="4914023" y="51219"/>
                  </a:lnTo>
                  <a:close/>
                </a:path>
              </a:pathLst>
            </a:custGeom>
            <a:solidFill>
              <a:srgbClr val="DFB7BB"/>
            </a:solidFill>
          </p:spPr>
          <p:txBody>
            <a:bodyPr wrap="square" lIns="0" tIns="0" rIns="0" bIns="0" rtlCol="0"/>
            <a:lstStyle/>
            <a:p>
              <a:endParaRPr/>
            </a:p>
          </p:txBody>
        </p:sp>
        <p:sp>
          <p:nvSpPr>
            <p:cNvPr id="13" name="object 13"/>
            <p:cNvSpPr/>
            <p:nvPr/>
          </p:nvSpPr>
          <p:spPr>
            <a:xfrm>
              <a:off x="5915025" y="3076575"/>
              <a:ext cx="76200" cy="1095375"/>
            </a:xfrm>
            <a:custGeom>
              <a:avLst/>
              <a:gdLst/>
              <a:ahLst/>
              <a:cxnLst/>
              <a:rect l="l" t="t" r="r" b="b"/>
              <a:pathLst>
                <a:path w="76200" h="1095375">
                  <a:moveTo>
                    <a:pt x="76200" y="0"/>
                  </a:moveTo>
                  <a:lnTo>
                    <a:pt x="55359" y="0"/>
                  </a:lnTo>
                  <a:lnTo>
                    <a:pt x="51498" y="381"/>
                  </a:lnTo>
                  <a:lnTo>
                    <a:pt x="14605" y="20104"/>
                  </a:lnTo>
                  <a:lnTo>
                    <a:pt x="0" y="55359"/>
                  </a:lnTo>
                  <a:lnTo>
                    <a:pt x="0" y="1036129"/>
                  </a:lnTo>
                  <a:lnTo>
                    <a:pt x="0" y="1040015"/>
                  </a:lnTo>
                  <a:lnTo>
                    <a:pt x="14605" y="1075270"/>
                  </a:lnTo>
                  <a:lnTo>
                    <a:pt x="51498" y="1094994"/>
                  </a:lnTo>
                  <a:lnTo>
                    <a:pt x="55359" y="1095375"/>
                  </a:lnTo>
                  <a:lnTo>
                    <a:pt x="76200" y="1095375"/>
                  </a:lnTo>
                  <a:lnTo>
                    <a:pt x="76200" y="0"/>
                  </a:lnTo>
                  <a:close/>
                </a:path>
              </a:pathLst>
            </a:custGeom>
            <a:solidFill>
              <a:srgbClr val="DA1B2D"/>
            </a:solidFill>
          </p:spPr>
          <p:txBody>
            <a:bodyPr wrap="square" lIns="0" tIns="0" rIns="0" bIns="0" rtlCol="0"/>
            <a:lstStyle/>
            <a:p>
              <a:endParaRPr/>
            </a:p>
          </p:txBody>
        </p:sp>
      </p:grpSp>
      <p:sp>
        <p:nvSpPr>
          <p:cNvPr id="14" name="object 14"/>
          <p:cNvSpPr txBox="1"/>
          <p:nvPr/>
        </p:nvSpPr>
        <p:spPr>
          <a:xfrm>
            <a:off x="6163665" y="3241230"/>
            <a:ext cx="3206750" cy="71056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Collect</a:t>
            </a:r>
            <a:endParaRPr sz="1750">
              <a:latin typeface="Verdana"/>
              <a:cs typeface="Verdana"/>
            </a:endParaRPr>
          </a:p>
          <a:p>
            <a:pPr marL="12700">
              <a:lnSpc>
                <a:spcPct val="100000"/>
              </a:lnSpc>
              <a:spcBef>
                <a:spcPts val="1725"/>
              </a:spcBef>
            </a:pPr>
            <a:r>
              <a:rPr sz="1300" spc="75" dirty="0">
                <a:solidFill>
                  <a:srgbClr val="3A3535"/>
                </a:solidFill>
                <a:latin typeface="Century Gothic"/>
                <a:cs typeface="Century Gothic"/>
              </a:rPr>
              <a:t>Files,</a:t>
            </a:r>
            <a:r>
              <a:rPr sz="1300" spc="-35" dirty="0">
                <a:solidFill>
                  <a:srgbClr val="3A3535"/>
                </a:solidFill>
                <a:latin typeface="Century Gothic"/>
                <a:cs typeface="Century Gothic"/>
              </a:rPr>
              <a:t> </a:t>
            </a:r>
            <a:r>
              <a:rPr sz="1300" dirty="0">
                <a:solidFill>
                  <a:srgbClr val="3A3535"/>
                </a:solidFill>
                <a:latin typeface="Century Gothic"/>
                <a:cs typeface="Century Gothic"/>
              </a:rPr>
              <a:t>voice,</a:t>
            </a:r>
            <a:r>
              <a:rPr sz="1300" spc="-3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30" dirty="0">
                <a:solidFill>
                  <a:srgbClr val="3A3535"/>
                </a:solidFill>
                <a:latin typeface="Century Gothic"/>
                <a:cs typeface="Century Gothic"/>
              </a:rPr>
              <a:t> </a:t>
            </a:r>
            <a:r>
              <a:rPr sz="1300" spc="70" dirty="0">
                <a:solidFill>
                  <a:srgbClr val="3A3535"/>
                </a:solidFill>
                <a:latin typeface="Century Gothic"/>
                <a:cs typeface="Century Gothic"/>
              </a:rPr>
              <a:t>structured</a:t>
            </a:r>
            <a:r>
              <a:rPr sz="1300" spc="-30" dirty="0">
                <a:solidFill>
                  <a:srgbClr val="3A3535"/>
                </a:solidFill>
                <a:latin typeface="Century Gothic"/>
                <a:cs typeface="Century Gothic"/>
              </a:rPr>
              <a:t> </a:t>
            </a:r>
            <a:r>
              <a:rPr sz="1300" spc="75" dirty="0">
                <a:solidFill>
                  <a:srgbClr val="3A3535"/>
                </a:solidFill>
                <a:latin typeface="Century Gothic"/>
                <a:cs typeface="Century Gothic"/>
              </a:rPr>
              <a:t>responses</a:t>
            </a:r>
            <a:endParaRPr sz="1300">
              <a:latin typeface="Century Gothic"/>
              <a:cs typeface="Century Gothic"/>
            </a:endParaRPr>
          </a:p>
        </p:txBody>
      </p:sp>
      <p:grpSp>
        <p:nvGrpSpPr>
          <p:cNvPr id="15" name="object 15"/>
          <p:cNvGrpSpPr/>
          <p:nvPr/>
        </p:nvGrpSpPr>
        <p:grpSpPr>
          <a:xfrm>
            <a:off x="5915025" y="4343400"/>
            <a:ext cx="4933950" cy="1095375"/>
            <a:chOff x="5915025" y="4343400"/>
            <a:chExt cx="4933950" cy="1095375"/>
          </a:xfrm>
        </p:grpSpPr>
        <p:sp>
          <p:nvSpPr>
            <p:cNvPr id="16" name="object 16"/>
            <p:cNvSpPr/>
            <p:nvPr/>
          </p:nvSpPr>
          <p:spPr>
            <a:xfrm>
              <a:off x="5934913" y="4343412"/>
              <a:ext cx="4914265" cy="1095375"/>
            </a:xfrm>
            <a:custGeom>
              <a:avLst/>
              <a:gdLst/>
              <a:ahLst/>
              <a:cxnLst/>
              <a:rect l="l" t="t" r="r" b="b"/>
              <a:pathLst>
                <a:path w="4914265" h="1095375">
                  <a:moveTo>
                    <a:pt x="4914023" y="51219"/>
                  </a:moveTo>
                  <a:lnTo>
                    <a:pt x="4912550" y="43827"/>
                  </a:lnTo>
                  <a:lnTo>
                    <a:pt x="4906530" y="29311"/>
                  </a:lnTo>
                  <a:lnTo>
                    <a:pt x="4902251" y="22910"/>
                  </a:lnTo>
                  <a:lnTo>
                    <a:pt x="4897171" y="17830"/>
                  </a:lnTo>
                  <a:lnTo>
                    <a:pt x="4896701" y="17348"/>
                  </a:lnTo>
                  <a:lnTo>
                    <a:pt x="4891138" y="11798"/>
                  </a:lnTo>
                  <a:lnTo>
                    <a:pt x="4884737" y="7518"/>
                  </a:lnTo>
                  <a:lnTo>
                    <a:pt x="4870310" y="1524"/>
                  </a:lnTo>
                  <a:lnTo>
                    <a:pt x="4862665" y="0"/>
                  </a:lnTo>
                  <a:lnTo>
                    <a:pt x="75349" y="0"/>
                  </a:lnTo>
                  <a:lnTo>
                    <a:pt x="67843" y="355"/>
                  </a:lnTo>
                  <a:lnTo>
                    <a:pt x="59931" y="1524"/>
                  </a:lnTo>
                  <a:lnTo>
                    <a:pt x="60159" y="1524"/>
                  </a:lnTo>
                  <a:lnTo>
                    <a:pt x="53263" y="3251"/>
                  </a:lnTo>
                  <a:lnTo>
                    <a:pt x="16421" y="27876"/>
                  </a:lnTo>
                  <a:lnTo>
                    <a:pt x="0" y="65430"/>
                  </a:lnTo>
                  <a:lnTo>
                    <a:pt x="1079" y="61328"/>
                  </a:lnTo>
                  <a:lnTo>
                    <a:pt x="8813" y="47332"/>
                  </a:lnTo>
                  <a:lnTo>
                    <a:pt x="46189" y="23393"/>
                  </a:lnTo>
                  <a:lnTo>
                    <a:pt x="75349" y="19050"/>
                  </a:lnTo>
                  <a:lnTo>
                    <a:pt x="4854803" y="19050"/>
                  </a:lnTo>
                  <a:lnTo>
                    <a:pt x="4892065" y="43827"/>
                  </a:lnTo>
                  <a:lnTo>
                    <a:pt x="4894999" y="59245"/>
                  </a:lnTo>
                  <a:lnTo>
                    <a:pt x="4894999" y="1036129"/>
                  </a:lnTo>
                  <a:lnTo>
                    <a:pt x="4894288" y="1043978"/>
                  </a:lnTo>
                  <a:lnTo>
                    <a:pt x="4894275" y="1044143"/>
                  </a:lnTo>
                  <a:lnTo>
                    <a:pt x="4892065" y="1051547"/>
                  </a:lnTo>
                  <a:lnTo>
                    <a:pt x="4888382" y="1058354"/>
                  </a:lnTo>
                  <a:lnTo>
                    <a:pt x="4883658" y="1064018"/>
                  </a:lnTo>
                  <a:lnTo>
                    <a:pt x="4883226" y="1064539"/>
                  </a:lnTo>
                  <a:lnTo>
                    <a:pt x="4877041" y="1069695"/>
                  </a:lnTo>
                  <a:lnTo>
                    <a:pt x="4870234" y="1073378"/>
                  </a:lnTo>
                  <a:lnTo>
                    <a:pt x="4862830" y="1075588"/>
                  </a:lnTo>
                  <a:lnTo>
                    <a:pt x="4854803" y="1076325"/>
                  </a:lnTo>
                  <a:lnTo>
                    <a:pt x="75349" y="1076325"/>
                  </a:lnTo>
                  <a:lnTo>
                    <a:pt x="33007" y="1066698"/>
                  </a:lnTo>
                  <a:lnTo>
                    <a:pt x="1079" y="1034034"/>
                  </a:lnTo>
                  <a:lnTo>
                    <a:pt x="0" y="1029931"/>
                  </a:lnTo>
                  <a:lnTo>
                    <a:pt x="609" y="1034034"/>
                  </a:lnTo>
                  <a:lnTo>
                    <a:pt x="2413" y="1041260"/>
                  </a:lnTo>
                  <a:lnTo>
                    <a:pt x="4851" y="1048042"/>
                  </a:lnTo>
                  <a:lnTo>
                    <a:pt x="4953" y="1048334"/>
                  </a:lnTo>
                  <a:lnTo>
                    <a:pt x="33007" y="1082535"/>
                  </a:lnTo>
                  <a:lnTo>
                    <a:pt x="75349" y="1095375"/>
                  </a:lnTo>
                  <a:lnTo>
                    <a:pt x="4862665" y="1095375"/>
                  </a:lnTo>
                  <a:lnTo>
                    <a:pt x="4869942" y="1093914"/>
                  </a:lnTo>
                  <a:lnTo>
                    <a:pt x="4870094" y="1093914"/>
                  </a:lnTo>
                  <a:lnTo>
                    <a:pt x="4884737" y="1087843"/>
                  </a:lnTo>
                  <a:lnTo>
                    <a:pt x="4891138" y="1083576"/>
                  </a:lnTo>
                  <a:lnTo>
                    <a:pt x="4896701" y="1078014"/>
                  </a:lnTo>
                  <a:lnTo>
                    <a:pt x="4897171" y="1077544"/>
                  </a:lnTo>
                  <a:lnTo>
                    <a:pt x="4902251" y="1072464"/>
                  </a:lnTo>
                  <a:lnTo>
                    <a:pt x="4906530" y="1066050"/>
                  </a:lnTo>
                  <a:lnTo>
                    <a:pt x="4912550" y="1051547"/>
                  </a:lnTo>
                  <a:lnTo>
                    <a:pt x="4914023" y="1044143"/>
                  </a:lnTo>
                  <a:lnTo>
                    <a:pt x="4914023" y="51219"/>
                  </a:lnTo>
                  <a:close/>
                </a:path>
              </a:pathLst>
            </a:custGeom>
            <a:solidFill>
              <a:srgbClr val="DFB7BB"/>
            </a:solidFill>
          </p:spPr>
          <p:txBody>
            <a:bodyPr wrap="square" lIns="0" tIns="0" rIns="0" bIns="0" rtlCol="0"/>
            <a:lstStyle/>
            <a:p>
              <a:endParaRPr/>
            </a:p>
          </p:txBody>
        </p:sp>
        <p:sp>
          <p:nvSpPr>
            <p:cNvPr id="17" name="object 17"/>
            <p:cNvSpPr/>
            <p:nvPr/>
          </p:nvSpPr>
          <p:spPr>
            <a:xfrm>
              <a:off x="5915025" y="4343400"/>
              <a:ext cx="76200" cy="1095375"/>
            </a:xfrm>
            <a:custGeom>
              <a:avLst/>
              <a:gdLst/>
              <a:ahLst/>
              <a:cxnLst/>
              <a:rect l="l" t="t" r="r" b="b"/>
              <a:pathLst>
                <a:path w="76200" h="1095375">
                  <a:moveTo>
                    <a:pt x="76200" y="0"/>
                  </a:moveTo>
                  <a:lnTo>
                    <a:pt x="55359" y="0"/>
                  </a:lnTo>
                  <a:lnTo>
                    <a:pt x="51498" y="381"/>
                  </a:lnTo>
                  <a:lnTo>
                    <a:pt x="14605" y="20104"/>
                  </a:lnTo>
                  <a:lnTo>
                    <a:pt x="0" y="55346"/>
                  </a:lnTo>
                  <a:lnTo>
                    <a:pt x="0" y="1036132"/>
                  </a:lnTo>
                  <a:lnTo>
                    <a:pt x="0" y="1040022"/>
                  </a:lnTo>
                  <a:lnTo>
                    <a:pt x="14605" y="1075269"/>
                  </a:lnTo>
                  <a:lnTo>
                    <a:pt x="51498" y="1094994"/>
                  </a:lnTo>
                  <a:lnTo>
                    <a:pt x="55359" y="1095376"/>
                  </a:lnTo>
                  <a:lnTo>
                    <a:pt x="76200" y="1095376"/>
                  </a:lnTo>
                  <a:lnTo>
                    <a:pt x="76200" y="0"/>
                  </a:lnTo>
                  <a:close/>
                </a:path>
              </a:pathLst>
            </a:custGeom>
            <a:solidFill>
              <a:srgbClr val="DA1B2D"/>
            </a:solidFill>
          </p:spPr>
          <p:txBody>
            <a:bodyPr wrap="square" lIns="0" tIns="0" rIns="0" bIns="0" rtlCol="0"/>
            <a:lstStyle/>
            <a:p>
              <a:endParaRPr/>
            </a:p>
          </p:txBody>
        </p:sp>
      </p:grpSp>
      <p:sp>
        <p:nvSpPr>
          <p:cNvPr id="18" name="object 18"/>
          <p:cNvSpPr txBox="1"/>
          <p:nvPr/>
        </p:nvSpPr>
        <p:spPr>
          <a:xfrm>
            <a:off x="6163665" y="4508055"/>
            <a:ext cx="2679065" cy="710565"/>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Analyze</a:t>
            </a:r>
            <a:endParaRPr sz="1750">
              <a:latin typeface="Verdana"/>
              <a:cs typeface="Verdana"/>
            </a:endParaRPr>
          </a:p>
          <a:p>
            <a:pPr marL="12700">
              <a:lnSpc>
                <a:spcPct val="100000"/>
              </a:lnSpc>
              <a:spcBef>
                <a:spcPts val="1725"/>
              </a:spcBef>
            </a:pPr>
            <a:r>
              <a:rPr sz="1300" spc="50" dirty="0">
                <a:solidFill>
                  <a:srgbClr val="3A3535"/>
                </a:solidFill>
                <a:latin typeface="Century Gothic"/>
                <a:cs typeface="Century Gothic"/>
              </a:rPr>
              <a:t>Dashboards</a:t>
            </a:r>
            <a:r>
              <a:rPr sz="1300" spc="-5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50" dirty="0">
                <a:solidFill>
                  <a:srgbClr val="3A3535"/>
                </a:solidFill>
                <a:latin typeface="Century Gothic"/>
                <a:cs typeface="Century Gothic"/>
              </a:rPr>
              <a:t> </a:t>
            </a:r>
            <a:r>
              <a:rPr sz="1300" spc="60" dirty="0">
                <a:solidFill>
                  <a:srgbClr val="3A3535"/>
                </a:solidFill>
                <a:latin typeface="Century Gothic"/>
                <a:cs typeface="Century Gothic"/>
              </a:rPr>
              <a:t>filtered</a:t>
            </a:r>
            <a:r>
              <a:rPr sz="1300" spc="-50" dirty="0">
                <a:solidFill>
                  <a:srgbClr val="3A3535"/>
                </a:solidFill>
                <a:latin typeface="Century Gothic"/>
                <a:cs typeface="Century Gothic"/>
              </a:rPr>
              <a:t> </a:t>
            </a:r>
            <a:r>
              <a:rPr sz="1300" spc="95" dirty="0">
                <a:solidFill>
                  <a:srgbClr val="3A3535"/>
                </a:solidFill>
                <a:latin typeface="Century Gothic"/>
                <a:cs typeface="Century Gothic"/>
              </a:rPr>
              <a:t>results</a:t>
            </a:r>
            <a:endParaRPr sz="1300">
              <a:latin typeface="Century Gothic"/>
              <a:cs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9640" y="1589786"/>
            <a:ext cx="2985770" cy="560070"/>
          </a:xfrm>
          <a:prstGeom prst="rect">
            <a:avLst/>
          </a:prstGeom>
        </p:spPr>
        <p:txBody>
          <a:bodyPr vert="horz" wrap="square" lIns="0" tIns="13335" rIns="0" bIns="0" rtlCol="0">
            <a:spAutoFit/>
          </a:bodyPr>
          <a:lstStyle/>
          <a:p>
            <a:pPr marL="12700">
              <a:lnSpc>
                <a:spcPct val="100000"/>
              </a:lnSpc>
              <a:spcBef>
                <a:spcPts val="105"/>
              </a:spcBef>
            </a:pPr>
            <a:r>
              <a:rPr spc="-175" dirty="0"/>
              <a:t>Plugin</a:t>
            </a:r>
            <a:r>
              <a:rPr spc="-415" dirty="0"/>
              <a:t> </a:t>
            </a:r>
            <a:r>
              <a:rPr spc="-390" dirty="0"/>
              <a:t>2:</a:t>
            </a:r>
            <a:r>
              <a:rPr spc="-409" dirty="0"/>
              <a:t> </a:t>
            </a:r>
            <a:r>
              <a:rPr spc="-155" dirty="0"/>
              <a:t>LLM</a:t>
            </a:r>
          </a:p>
        </p:txBody>
      </p:sp>
      <p:sp>
        <p:nvSpPr>
          <p:cNvPr id="3" name="object 3"/>
          <p:cNvSpPr txBox="1"/>
          <p:nvPr/>
        </p:nvSpPr>
        <p:spPr>
          <a:xfrm>
            <a:off x="579635" y="2469075"/>
            <a:ext cx="10014585" cy="558800"/>
          </a:xfrm>
          <a:prstGeom prst="rect">
            <a:avLst/>
          </a:prstGeom>
        </p:spPr>
        <p:txBody>
          <a:bodyPr vert="horz" wrap="square" lIns="0" tIns="11430" rIns="0" bIns="0" rtlCol="0">
            <a:spAutoFit/>
          </a:bodyPr>
          <a:lstStyle/>
          <a:p>
            <a:pPr marL="12700" marR="5080">
              <a:lnSpc>
                <a:spcPct val="134600"/>
              </a:lnSpc>
              <a:spcBef>
                <a:spcPts val="90"/>
              </a:spcBef>
            </a:pPr>
            <a:r>
              <a:rPr sz="1300" spc="105" dirty="0">
                <a:solidFill>
                  <a:srgbClr val="3A3535"/>
                </a:solidFill>
                <a:latin typeface="Century Gothic"/>
                <a:cs typeface="Century Gothic"/>
              </a:rPr>
              <a:t>Not</a:t>
            </a:r>
            <a:r>
              <a:rPr sz="1300" spc="-15" dirty="0">
                <a:solidFill>
                  <a:srgbClr val="3A3535"/>
                </a:solidFill>
                <a:latin typeface="Century Gothic"/>
                <a:cs typeface="Century Gothic"/>
              </a:rPr>
              <a:t> </a:t>
            </a:r>
            <a:r>
              <a:rPr sz="1300" spc="125" dirty="0">
                <a:solidFill>
                  <a:srgbClr val="3A3535"/>
                </a:solidFill>
                <a:latin typeface="Century Gothic"/>
                <a:cs typeface="Century Gothic"/>
              </a:rPr>
              <a:t>just</a:t>
            </a:r>
            <a:r>
              <a:rPr sz="1300" dirty="0">
                <a:solidFill>
                  <a:srgbClr val="3A3535"/>
                </a:solidFill>
                <a:latin typeface="Century Gothic"/>
                <a:cs typeface="Century Gothic"/>
              </a:rPr>
              <a:t> </a:t>
            </a:r>
            <a:r>
              <a:rPr sz="1300" spc="-140" dirty="0">
                <a:solidFill>
                  <a:srgbClr val="3A3535"/>
                </a:solidFill>
                <a:latin typeface="Century Gothic"/>
                <a:cs typeface="Century Gothic"/>
              </a:rPr>
              <a:t>a</a:t>
            </a:r>
            <a:r>
              <a:rPr sz="1300" spc="-5" dirty="0">
                <a:solidFill>
                  <a:srgbClr val="3A3535"/>
                </a:solidFill>
                <a:latin typeface="Century Gothic"/>
                <a:cs typeface="Century Gothic"/>
              </a:rPr>
              <a:t> </a:t>
            </a:r>
            <a:r>
              <a:rPr sz="1300" dirty="0">
                <a:solidFill>
                  <a:srgbClr val="3A3535"/>
                </a:solidFill>
                <a:latin typeface="Century Gothic"/>
                <a:cs typeface="Century Gothic"/>
              </a:rPr>
              <a:t>chatbot</a:t>
            </a:r>
            <a:r>
              <a:rPr sz="1300" spc="-5" dirty="0">
                <a:solidFill>
                  <a:srgbClr val="3A3535"/>
                </a:solidFill>
                <a:latin typeface="Century Gothic"/>
                <a:cs typeface="Century Gothic"/>
              </a:rPr>
              <a:t> </a:t>
            </a:r>
            <a:r>
              <a:rPr sz="1300" spc="-125" dirty="0">
                <a:solidFill>
                  <a:srgbClr val="3A3535"/>
                </a:solidFill>
                <a:latin typeface="Century Gothic"/>
                <a:cs typeface="Century Gothic"/>
              </a:rPr>
              <a:t>—</a:t>
            </a:r>
            <a:r>
              <a:rPr sz="1300" spc="-5" dirty="0">
                <a:solidFill>
                  <a:srgbClr val="3A3535"/>
                </a:solidFill>
                <a:latin typeface="Century Gothic"/>
                <a:cs typeface="Century Gothic"/>
              </a:rPr>
              <a:t> </a:t>
            </a:r>
            <a:r>
              <a:rPr sz="1300" spc="-140" dirty="0">
                <a:solidFill>
                  <a:srgbClr val="3A3535"/>
                </a:solidFill>
                <a:latin typeface="Century Gothic"/>
                <a:cs typeface="Century Gothic"/>
              </a:rPr>
              <a:t>a</a:t>
            </a:r>
            <a:r>
              <a:rPr sz="1300" spc="-5" dirty="0">
                <a:solidFill>
                  <a:srgbClr val="3A3535"/>
                </a:solidFill>
                <a:latin typeface="Century Gothic"/>
                <a:cs typeface="Century Gothic"/>
              </a:rPr>
              <a:t> </a:t>
            </a:r>
            <a:r>
              <a:rPr sz="1300" b="1" spc="-35" dirty="0">
                <a:solidFill>
                  <a:srgbClr val="3A3535"/>
                </a:solidFill>
                <a:latin typeface="Verdana"/>
                <a:cs typeface="Verdana"/>
              </a:rPr>
              <a:t>controlled,</a:t>
            </a:r>
            <a:r>
              <a:rPr sz="1300" b="1" spc="-125" dirty="0">
                <a:solidFill>
                  <a:srgbClr val="3A3535"/>
                </a:solidFill>
                <a:latin typeface="Verdana"/>
                <a:cs typeface="Verdana"/>
              </a:rPr>
              <a:t> </a:t>
            </a:r>
            <a:r>
              <a:rPr sz="1300" b="1" spc="-35" dirty="0">
                <a:solidFill>
                  <a:srgbClr val="3A3535"/>
                </a:solidFill>
                <a:latin typeface="Verdana"/>
                <a:cs typeface="Verdana"/>
              </a:rPr>
              <a:t>testable</a:t>
            </a:r>
            <a:r>
              <a:rPr sz="1300" b="1" spc="-125" dirty="0">
                <a:solidFill>
                  <a:srgbClr val="3A3535"/>
                </a:solidFill>
                <a:latin typeface="Verdana"/>
                <a:cs typeface="Verdana"/>
              </a:rPr>
              <a:t> </a:t>
            </a:r>
            <a:r>
              <a:rPr sz="1300" b="1" spc="-130" dirty="0">
                <a:solidFill>
                  <a:srgbClr val="3A3535"/>
                </a:solidFill>
                <a:latin typeface="Verdana"/>
                <a:cs typeface="Verdana"/>
              </a:rPr>
              <a:t>AI</a:t>
            </a:r>
            <a:r>
              <a:rPr sz="1300" b="1" spc="-120" dirty="0">
                <a:solidFill>
                  <a:srgbClr val="3A3535"/>
                </a:solidFill>
                <a:latin typeface="Verdana"/>
                <a:cs typeface="Verdana"/>
              </a:rPr>
              <a:t> </a:t>
            </a:r>
            <a:r>
              <a:rPr sz="1300" b="1" spc="-25" dirty="0">
                <a:solidFill>
                  <a:srgbClr val="3A3535"/>
                </a:solidFill>
                <a:latin typeface="Verdana"/>
                <a:cs typeface="Verdana"/>
              </a:rPr>
              <a:t>component</a:t>
            </a:r>
            <a:r>
              <a:rPr sz="1300" b="1" spc="-90" dirty="0">
                <a:solidFill>
                  <a:srgbClr val="3A3535"/>
                </a:solidFill>
                <a:latin typeface="Verdana"/>
                <a:cs typeface="Verdana"/>
              </a:rPr>
              <a:t> </a:t>
            </a:r>
            <a:r>
              <a:rPr sz="1300" spc="-20" dirty="0">
                <a:solidFill>
                  <a:srgbClr val="3A3535"/>
                </a:solidFill>
                <a:latin typeface="Century Gothic"/>
                <a:cs typeface="Century Gothic"/>
              </a:rPr>
              <a:t>placed</a:t>
            </a:r>
            <a:r>
              <a:rPr sz="1300" spc="-5" dirty="0">
                <a:solidFill>
                  <a:srgbClr val="3A3535"/>
                </a:solidFill>
                <a:latin typeface="Century Gothic"/>
                <a:cs typeface="Century Gothic"/>
              </a:rPr>
              <a:t> </a:t>
            </a:r>
            <a:r>
              <a:rPr sz="1300" spc="80" dirty="0">
                <a:solidFill>
                  <a:srgbClr val="3A3535"/>
                </a:solidFill>
                <a:latin typeface="Century Gothic"/>
                <a:cs typeface="Century Gothic"/>
              </a:rPr>
              <a:t>inside</a:t>
            </a:r>
            <a:r>
              <a:rPr sz="1300" spc="-5" dirty="0">
                <a:solidFill>
                  <a:srgbClr val="3A3535"/>
                </a:solidFill>
                <a:latin typeface="Century Gothic"/>
                <a:cs typeface="Century Gothic"/>
              </a:rPr>
              <a:t> </a:t>
            </a:r>
            <a:r>
              <a:rPr sz="1300" spc="-140" dirty="0">
                <a:solidFill>
                  <a:srgbClr val="3A3535"/>
                </a:solidFill>
                <a:latin typeface="Century Gothic"/>
                <a:cs typeface="Century Gothic"/>
              </a:rPr>
              <a:t>a</a:t>
            </a:r>
            <a:r>
              <a:rPr sz="1300" spc="-5" dirty="0">
                <a:solidFill>
                  <a:srgbClr val="3A3535"/>
                </a:solidFill>
                <a:latin typeface="Century Gothic"/>
                <a:cs typeface="Century Gothic"/>
              </a:rPr>
              <a:t> </a:t>
            </a:r>
            <a:r>
              <a:rPr sz="1300" spc="-40" dirty="0">
                <a:solidFill>
                  <a:srgbClr val="3A3535"/>
                </a:solidFill>
                <a:latin typeface="Century Gothic"/>
                <a:cs typeface="Century Gothic"/>
              </a:rPr>
              <a:t>page</a:t>
            </a:r>
            <a:r>
              <a:rPr sz="1300" spc="-5" dirty="0">
                <a:solidFill>
                  <a:srgbClr val="3A3535"/>
                </a:solidFill>
                <a:latin typeface="Century Gothic"/>
                <a:cs typeface="Century Gothic"/>
              </a:rPr>
              <a:t> </a:t>
            </a:r>
            <a:r>
              <a:rPr sz="1300" spc="80" dirty="0">
                <a:solidFill>
                  <a:srgbClr val="3A3535"/>
                </a:solidFill>
                <a:latin typeface="Century Gothic"/>
                <a:cs typeface="Century Gothic"/>
              </a:rPr>
              <a:t>with</a:t>
            </a:r>
            <a:r>
              <a:rPr sz="1300" spc="-5" dirty="0">
                <a:solidFill>
                  <a:srgbClr val="3A3535"/>
                </a:solidFill>
                <a:latin typeface="Century Gothic"/>
                <a:cs typeface="Century Gothic"/>
              </a:rPr>
              <a:t> </a:t>
            </a:r>
            <a:r>
              <a:rPr sz="1300" spc="-140" dirty="0">
                <a:solidFill>
                  <a:srgbClr val="3A3535"/>
                </a:solidFill>
                <a:latin typeface="Century Gothic"/>
                <a:cs typeface="Century Gothic"/>
              </a:rPr>
              <a:t>a</a:t>
            </a:r>
            <a:r>
              <a:rPr sz="1300" spc="-5" dirty="0">
                <a:solidFill>
                  <a:srgbClr val="3A3535"/>
                </a:solidFill>
                <a:latin typeface="Century Gothic"/>
                <a:cs typeface="Century Gothic"/>
              </a:rPr>
              <a:t> </a:t>
            </a:r>
            <a:r>
              <a:rPr sz="1300" dirty="0">
                <a:solidFill>
                  <a:srgbClr val="3A3535"/>
                </a:solidFill>
                <a:latin typeface="Century Gothic"/>
                <a:cs typeface="Century Gothic"/>
              </a:rPr>
              <a:t>clear</a:t>
            </a:r>
            <a:r>
              <a:rPr sz="1300" spc="-5" dirty="0">
                <a:solidFill>
                  <a:srgbClr val="3A3535"/>
                </a:solidFill>
                <a:latin typeface="Century Gothic"/>
                <a:cs typeface="Century Gothic"/>
              </a:rPr>
              <a:t> </a:t>
            </a:r>
            <a:r>
              <a:rPr sz="1300" spc="55" dirty="0">
                <a:solidFill>
                  <a:srgbClr val="3A3535"/>
                </a:solidFill>
                <a:latin typeface="Century Gothic"/>
                <a:cs typeface="Century Gothic"/>
              </a:rPr>
              <a:t>role</a:t>
            </a:r>
            <a:r>
              <a:rPr sz="130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5" dirty="0">
                <a:solidFill>
                  <a:srgbClr val="3A3535"/>
                </a:solidFill>
                <a:latin typeface="Century Gothic"/>
                <a:cs typeface="Century Gothic"/>
              </a:rPr>
              <a:t> </a:t>
            </a:r>
            <a:r>
              <a:rPr sz="1300" dirty="0">
                <a:solidFill>
                  <a:srgbClr val="3A3535"/>
                </a:solidFill>
                <a:latin typeface="Century Gothic"/>
                <a:cs typeface="Century Gothic"/>
              </a:rPr>
              <a:t>context.</a:t>
            </a:r>
            <a:r>
              <a:rPr sz="1300" spc="-5" dirty="0">
                <a:solidFill>
                  <a:srgbClr val="3A3535"/>
                </a:solidFill>
                <a:latin typeface="Century Gothic"/>
                <a:cs typeface="Century Gothic"/>
              </a:rPr>
              <a:t> </a:t>
            </a:r>
            <a:r>
              <a:rPr sz="1300" spc="40" dirty="0">
                <a:solidFill>
                  <a:srgbClr val="3A3535"/>
                </a:solidFill>
                <a:latin typeface="Century Gothic"/>
                <a:cs typeface="Century Gothic"/>
              </a:rPr>
              <a:t>Currently </a:t>
            </a:r>
            <a:r>
              <a:rPr sz="1300" spc="90" dirty="0">
                <a:solidFill>
                  <a:srgbClr val="3A3535"/>
                </a:solidFill>
                <a:latin typeface="Century Gothic"/>
                <a:cs typeface="Century Gothic"/>
              </a:rPr>
              <a:t>using</a:t>
            </a:r>
            <a:r>
              <a:rPr sz="1300" spc="-5" dirty="0">
                <a:solidFill>
                  <a:srgbClr val="3A3535"/>
                </a:solidFill>
                <a:latin typeface="Century Gothic"/>
                <a:cs typeface="Century Gothic"/>
              </a:rPr>
              <a:t> </a:t>
            </a:r>
            <a:r>
              <a:rPr sz="1300" dirty="0">
                <a:solidFill>
                  <a:srgbClr val="3A3535"/>
                </a:solidFill>
                <a:latin typeface="Century Gothic"/>
                <a:cs typeface="Century Gothic"/>
              </a:rPr>
              <a:t>the</a:t>
            </a:r>
            <a:r>
              <a:rPr sz="1300" spc="-5" dirty="0">
                <a:solidFill>
                  <a:srgbClr val="3A3535"/>
                </a:solidFill>
                <a:latin typeface="Century Gothic"/>
                <a:cs typeface="Century Gothic"/>
              </a:rPr>
              <a:t> </a:t>
            </a:r>
            <a:r>
              <a:rPr sz="1300" spc="80" dirty="0">
                <a:solidFill>
                  <a:srgbClr val="3A3535"/>
                </a:solidFill>
                <a:latin typeface="Century Gothic"/>
                <a:cs typeface="Century Gothic"/>
              </a:rPr>
              <a:t>university's</a:t>
            </a:r>
            <a:r>
              <a:rPr sz="1300" spc="-5" dirty="0">
                <a:solidFill>
                  <a:srgbClr val="3A3535"/>
                </a:solidFill>
                <a:latin typeface="Century Gothic"/>
                <a:cs typeface="Century Gothic"/>
              </a:rPr>
              <a:t> </a:t>
            </a:r>
            <a:r>
              <a:rPr sz="1300" dirty="0">
                <a:solidFill>
                  <a:srgbClr val="3A3535"/>
                </a:solidFill>
                <a:latin typeface="Century Gothic"/>
                <a:cs typeface="Century Gothic"/>
              </a:rPr>
              <a:t>local</a:t>
            </a:r>
            <a:r>
              <a:rPr sz="1300" spc="-5" dirty="0">
                <a:solidFill>
                  <a:srgbClr val="3A3535"/>
                </a:solidFill>
                <a:latin typeface="Century Gothic"/>
                <a:cs typeface="Century Gothic"/>
              </a:rPr>
              <a:t> </a:t>
            </a:r>
            <a:r>
              <a:rPr sz="1300" spc="80" dirty="0">
                <a:solidFill>
                  <a:srgbClr val="3A3535"/>
                </a:solidFill>
                <a:latin typeface="Century Gothic"/>
                <a:cs typeface="Century Gothic"/>
              </a:rPr>
              <a:t>LLM</a:t>
            </a:r>
            <a:r>
              <a:rPr sz="1300" dirty="0">
                <a:solidFill>
                  <a:srgbClr val="3A3535"/>
                </a:solidFill>
                <a:latin typeface="Century Gothic"/>
                <a:cs typeface="Century Gothic"/>
              </a:rPr>
              <a:t> </a:t>
            </a:r>
            <a:r>
              <a:rPr sz="1300" spc="55" dirty="0">
                <a:solidFill>
                  <a:srgbClr val="3A3535"/>
                </a:solidFill>
                <a:latin typeface="Century Gothic"/>
                <a:cs typeface="Century Gothic"/>
              </a:rPr>
              <a:t>infrastructure.</a:t>
            </a:r>
            <a:endParaRPr sz="1300" dirty="0">
              <a:latin typeface="Century Gothic"/>
              <a:cs typeface="Century Gothic"/>
            </a:endParaRPr>
          </a:p>
        </p:txBody>
      </p:sp>
      <p:pic>
        <p:nvPicPr>
          <p:cNvPr id="4" name="object 4"/>
          <p:cNvPicPr/>
          <p:nvPr/>
        </p:nvPicPr>
        <p:blipFill>
          <a:blip r:embed="rId3" cstate="print"/>
          <a:stretch>
            <a:fillRect/>
          </a:stretch>
        </p:blipFill>
        <p:spPr>
          <a:xfrm>
            <a:off x="581181" y="3272007"/>
            <a:ext cx="441854" cy="394199"/>
          </a:xfrm>
          <a:prstGeom prst="rect">
            <a:avLst/>
          </a:prstGeom>
        </p:spPr>
      </p:pic>
      <p:sp>
        <p:nvSpPr>
          <p:cNvPr id="5" name="object 5"/>
          <p:cNvSpPr txBox="1"/>
          <p:nvPr/>
        </p:nvSpPr>
        <p:spPr>
          <a:xfrm>
            <a:off x="579640" y="3860355"/>
            <a:ext cx="3086735" cy="643890"/>
          </a:xfrm>
          <a:prstGeom prst="rect">
            <a:avLst/>
          </a:prstGeom>
        </p:spPr>
        <p:txBody>
          <a:bodyPr vert="horz" wrap="square" lIns="0" tIns="12700" rIns="0" bIns="0" rtlCol="0">
            <a:spAutoFit/>
          </a:bodyPr>
          <a:lstStyle/>
          <a:p>
            <a:pPr marL="12700">
              <a:lnSpc>
                <a:spcPct val="100000"/>
              </a:lnSpc>
              <a:spcBef>
                <a:spcPts val="100"/>
              </a:spcBef>
            </a:pPr>
            <a:r>
              <a:rPr sz="1750" b="1" spc="-85" dirty="0">
                <a:solidFill>
                  <a:srgbClr val="3A3535"/>
                </a:solidFill>
                <a:latin typeface="Verdana"/>
                <a:cs typeface="Verdana"/>
              </a:rPr>
              <a:t>Flexible</a:t>
            </a:r>
            <a:r>
              <a:rPr sz="1750" b="1" spc="-170" dirty="0">
                <a:solidFill>
                  <a:srgbClr val="3A3535"/>
                </a:solidFill>
                <a:latin typeface="Verdana"/>
                <a:cs typeface="Verdana"/>
              </a:rPr>
              <a:t> </a:t>
            </a:r>
            <a:r>
              <a:rPr sz="1750" b="1" spc="-10" dirty="0">
                <a:solidFill>
                  <a:srgbClr val="3A3535"/>
                </a:solidFill>
                <a:latin typeface="Verdana"/>
                <a:cs typeface="Verdana"/>
              </a:rPr>
              <a:t>Input</a:t>
            </a:r>
            <a:endParaRPr sz="1750" dirty="0">
              <a:latin typeface="Verdana"/>
              <a:cs typeface="Verdana"/>
            </a:endParaRPr>
          </a:p>
          <a:p>
            <a:pPr marL="12700">
              <a:lnSpc>
                <a:spcPct val="100000"/>
              </a:lnSpc>
              <a:spcBef>
                <a:spcPts val="1200"/>
              </a:spcBef>
            </a:pPr>
            <a:r>
              <a:rPr sz="1300" spc="55" dirty="0">
                <a:solidFill>
                  <a:srgbClr val="3A3535"/>
                </a:solidFill>
                <a:latin typeface="Century Gothic"/>
                <a:cs typeface="Century Gothic"/>
              </a:rPr>
              <a:t>Text,</a:t>
            </a:r>
            <a:r>
              <a:rPr sz="1300" spc="15" dirty="0">
                <a:solidFill>
                  <a:srgbClr val="3A3535"/>
                </a:solidFill>
                <a:latin typeface="Century Gothic"/>
                <a:cs typeface="Century Gothic"/>
              </a:rPr>
              <a:t> </a:t>
            </a:r>
            <a:r>
              <a:rPr sz="1300" dirty="0">
                <a:solidFill>
                  <a:srgbClr val="3A3535"/>
                </a:solidFill>
                <a:latin typeface="Century Gothic"/>
                <a:cs typeface="Century Gothic"/>
              </a:rPr>
              <a:t>file,</a:t>
            </a:r>
            <a:r>
              <a:rPr sz="1300" spc="15" dirty="0">
                <a:solidFill>
                  <a:srgbClr val="3A3535"/>
                </a:solidFill>
                <a:latin typeface="Century Gothic"/>
                <a:cs typeface="Century Gothic"/>
              </a:rPr>
              <a:t> </a:t>
            </a:r>
            <a:r>
              <a:rPr sz="1300" dirty="0">
                <a:solidFill>
                  <a:srgbClr val="3A3535"/>
                </a:solidFill>
                <a:latin typeface="Century Gothic"/>
                <a:cs typeface="Century Gothic"/>
              </a:rPr>
              <a:t>image,</a:t>
            </a:r>
            <a:r>
              <a:rPr sz="1300" spc="15"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15" dirty="0">
                <a:solidFill>
                  <a:srgbClr val="3A3535"/>
                </a:solidFill>
                <a:latin typeface="Century Gothic"/>
                <a:cs typeface="Century Gothic"/>
              </a:rPr>
              <a:t> </a:t>
            </a:r>
            <a:r>
              <a:rPr sz="1300" spc="65" dirty="0">
                <a:solidFill>
                  <a:srgbClr val="3A3535"/>
                </a:solidFill>
                <a:latin typeface="Century Gothic"/>
                <a:cs typeface="Century Gothic"/>
              </a:rPr>
              <a:t>speech-</a:t>
            </a:r>
            <a:r>
              <a:rPr sz="1300" spc="100" dirty="0">
                <a:solidFill>
                  <a:srgbClr val="3A3535"/>
                </a:solidFill>
                <a:latin typeface="Century Gothic"/>
                <a:cs typeface="Century Gothic"/>
              </a:rPr>
              <a:t>to-</a:t>
            </a:r>
            <a:r>
              <a:rPr sz="1300" spc="40" dirty="0">
                <a:solidFill>
                  <a:srgbClr val="3A3535"/>
                </a:solidFill>
                <a:latin typeface="Century Gothic"/>
                <a:cs typeface="Century Gothic"/>
              </a:rPr>
              <a:t>text</a:t>
            </a:r>
            <a:endParaRPr sz="1300" dirty="0">
              <a:latin typeface="Century Gothic"/>
              <a:cs typeface="Century Gothic"/>
            </a:endParaRPr>
          </a:p>
        </p:txBody>
      </p:sp>
      <p:grpSp>
        <p:nvGrpSpPr>
          <p:cNvPr id="6" name="object 6"/>
          <p:cNvGrpSpPr/>
          <p:nvPr/>
        </p:nvGrpSpPr>
        <p:grpSpPr>
          <a:xfrm>
            <a:off x="4067327" y="3250322"/>
            <a:ext cx="441959" cy="438150"/>
            <a:chOff x="4067327" y="3250322"/>
            <a:chExt cx="441959" cy="438150"/>
          </a:xfrm>
        </p:grpSpPr>
        <p:sp>
          <p:nvSpPr>
            <p:cNvPr id="7" name="object 7"/>
            <p:cNvSpPr/>
            <p:nvPr/>
          </p:nvSpPr>
          <p:spPr>
            <a:xfrm>
              <a:off x="4076699" y="3288461"/>
              <a:ext cx="300990" cy="390525"/>
            </a:xfrm>
            <a:custGeom>
              <a:avLst/>
              <a:gdLst/>
              <a:ahLst/>
              <a:cxnLst/>
              <a:rect l="l" t="t" r="r" b="b"/>
              <a:pathLst>
                <a:path w="300989" h="390525">
                  <a:moveTo>
                    <a:pt x="103047" y="0"/>
                  </a:moveTo>
                  <a:lnTo>
                    <a:pt x="71882" y="22364"/>
                  </a:lnTo>
                  <a:lnTo>
                    <a:pt x="41657" y="55133"/>
                  </a:lnTo>
                  <a:lnTo>
                    <a:pt x="20948" y="88813"/>
                  </a:lnTo>
                  <a:lnTo>
                    <a:pt x="6112" y="129952"/>
                  </a:lnTo>
                  <a:lnTo>
                    <a:pt x="206" y="173550"/>
                  </a:lnTo>
                  <a:lnTo>
                    <a:pt x="0" y="180657"/>
                  </a:lnTo>
                  <a:lnTo>
                    <a:pt x="311" y="188182"/>
                  </a:lnTo>
                  <a:lnTo>
                    <a:pt x="5641" y="227703"/>
                  </a:lnTo>
                  <a:lnTo>
                    <a:pt x="19507" y="268274"/>
                  </a:lnTo>
                  <a:lnTo>
                    <a:pt x="39865" y="302615"/>
                  </a:lnTo>
                  <a:lnTo>
                    <a:pt x="65263" y="331483"/>
                  </a:lnTo>
                  <a:lnTo>
                    <a:pt x="98026" y="356923"/>
                  </a:lnTo>
                  <a:lnTo>
                    <a:pt x="137380" y="376861"/>
                  </a:lnTo>
                  <a:lnTo>
                    <a:pt x="179908" y="387934"/>
                  </a:lnTo>
                  <a:lnTo>
                    <a:pt x="209435" y="390093"/>
                  </a:lnTo>
                  <a:lnTo>
                    <a:pt x="219031" y="389649"/>
                  </a:lnTo>
                  <a:lnTo>
                    <a:pt x="259377" y="384365"/>
                  </a:lnTo>
                  <a:lnTo>
                    <a:pt x="294208" y="373405"/>
                  </a:lnTo>
                  <a:lnTo>
                    <a:pt x="300710" y="370674"/>
                  </a:lnTo>
                </a:path>
              </a:pathLst>
            </a:custGeom>
            <a:ln w="18745">
              <a:solidFill>
                <a:srgbClr val="DA1B2D"/>
              </a:solidFill>
            </a:ln>
          </p:spPr>
          <p:txBody>
            <a:bodyPr wrap="square" lIns="0" tIns="0" rIns="0" bIns="0" rtlCol="0"/>
            <a:lstStyle/>
            <a:p>
              <a:endParaRPr/>
            </a:p>
          </p:txBody>
        </p:sp>
        <p:sp>
          <p:nvSpPr>
            <p:cNvPr id="8" name="object 8"/>
            <p:cNvSpPr/>
            <p:nvPr/>
          </p:nvSpPr>
          <p:spPr>
            <a:xfrm>
              <a:off x="4179747" y="3259694"/>
              <a:ext cx="120014" cy="29209"/>
            </a:xfrm>
            <a:custGeom>
              <a:avLst/>
              <a:gdLst/>
              <a:ahLst/>
              <a:cxnLst/>
              <a:rect l="l" t="t" r="r" b="b"/>
              <a:pathLst>
                <a:path w="120014" h="29210">
                  <a:moveTo>
                    <a:pt x="119811" y="39"/>
                  </a:moveTo>
                  <a:lnTo>
                    <a:pt x="71907" y="2541"/>
                  </a:lnTo>
                  <a:lnTo>
                    <a:pt x="28041" y="14961"/>
                  </a:lnTo>
                  <a:lnTo>
                    <a:pt x="6938" y="25116"/>
                  </a:lnTo>
                  <a:lnTo>
                    <a:pt x="0" y="28766"/>
                  </a:lnTo>
                </a:path>
              </a:pathLst>
            </a:custGeom>
            <a:ln w="18745">
              <a:solidFill>
                <a:srgbClr val="DA1B2D"/>
              </a:solidFill>
            </a:ln>
          </p:spPr>
          <p:txBody>
            <a:bodyPr wrap="square" lIns="0" tIns="0" rIns="0" bIns="0" rtlCol="0"/>
            <a:lstStyle/>
            <a:p>
              <a:endParaRPr/>
            </a:p>
          </p:txBody>
        </p:sp>
        <p:sp>
          <p:nvSpPr>
            <p:cNvPr id="9" name="object 9"/>
            <p:cNvSpPr/>
            <p:nvPr/>
          </p:nvSpPr>
          <p:spPr>
            <a:xfrm>
              <a:off x="4342358" y="3382124"/>
              <a:ext cx="85090" cy="85725"/>
            </a:xfrm>
            <a:custGeom>
              <a:avLst/>
              <a:gdLst/>
              <a:ahLst/>
              <a:cxnLst/>
              <a:rect l="l" t="t" r="r" b="b"/>
              <a:pathLst>
                <a:path w="85089" h="85725">
                  <a:moveTo>
                    <a:pt x="0" y="0"/>
                  </a:moveTo>
                  <a:lnTo>
                    <a:pt x="84543" y="85636"/>
                  </a:lnTo>
                </a:path>
              </a:pathLst>
            </a:custGeom>
            <a:ln w="18745">
              <a:solidFill>
                <a:srgbClr val="DA1B2D"/>
              </a:solidFill>
            </a:ln>
          </p:spPr>
          <p:txBody>
            <a:bodyPr wrap="square" lIns="0" tIns="0" rIns="0" bIns="0" rtlCol="0"/>
            <a:lstStyle/>
            <a:p>
              <a:endParaRPr/>
            </a:p>
          </p:txBody>
        </p:sp>
        <p:sp>
          <p:nvSpPr>
            <p:cNvPr id="10" name="object 10"/>
            <p:cNvSpPr/>
            <p:nvPr/>
          </p:nvSpPr>
          <p:spPr>
            <a:xfrm>
              <a:off x="4342396" y="3467760"/>
              <a:ext cx="85090" cy="83820"/>
            </a:xfrm>
            <a:custGeom>
              <a:avLst/>
              <a:gdLst/>
              <a:ahLst/>
              <a:cxnLst/>
              <a:rect l="l" t="t" r="r" b="b"/>
              <a:pathLst>
                <a:path w="85089" h="83820">
                  <a:moveTo>
                    <a:pt x="0" y="83693"/>
                  </a:moveTo>
                  <a:lnTo>
                    <a:pt x="84505" y="0"/>
                  </a:lnTo>
                </a:path>
              </a:pathLst>
            </a:custGeom>
            <a:ln w="18745">
              <a:solidFill>
                <a:srgbClr val="DA1B2D"/>
              </a:solidFill>
            </a:ln>
          </p:spPr>
          <p:txBody>
            <a:bodyPr wrap="square" lIns="0" tIns="0" rIns="0" bIns="0" rtlCol="0"/>
            <a:lstStyle/>
            <a:p>
              <a:endParaRPr/>
            </a:p>
          </p:txBody>
        </p:sp>
        <p:sp>
          <p:nvSpPr>
            <p:cNvPr id="11" name="object 11"/>
            <p:cNvSpPr/>
            <p:nvPr/>
          </p:nvSpPr>
          <p:spPr>
            <a:xfrm>
              <a:off x="4150207" y="3382708"/>
              <a:ext cx="85090" cy="168275"/>
            </a:xfrm>
            <a:custGeom>
              <a:avLst/>
              <a:gdLst/>
              <a:ahLst/>
              <a:cxnLst/>
              <a:rect l="l" t="t" r="r" b="b"/>
              <a:pathLst>
                <a:path w="85089" h="168275">
                  <a:moveTo>
                    <a:pt x="84759" y="0"/>
                  </a:moveTo>
                  <a:lnTo>
                    <a:pt x="0" y="84785"/>
                  </a:lnTo>
                  <a:lnTo>
                    <a:pt x="83756" y="167830"/>
                  </a:lnTo>
                </a:path>
              </a:pathLst>
            </a:custGeom>
            <a:ln w="18745">
              <a:solidFill>
                <a:srgbClr val="DA1B2D"/>
              </a:solidFill>
            </a:ln>
          </p:spPr>
          <p:txBody>
            <a:bodyPr wrap="square" lIns="0" tIns="0" rIns="0" bIns="0" rtlCol="0"/>
            <a:lstStyle/>
            <a:p>
              <a:endParaRPr/>
            </a:p>
          </p:txBody>
        </p:sp>
        <p:sp>
          <p:nvSpPr>
            <p:cNvPr id="12" name="object 12"/>
            <p:cNvSpPr/>
            <p:nvPr/>
          </p:nvSpPr>
          <p:spPr>
            <a:xfrm>
              <a:off x="4377410" y="3459848"/>
              <a:ext cx="122555" cy="199390"/>
            </a:xfrm>
            <a:custGeom>
              <a:avLst/>
              <a:gdLst/>
              <a:ahLst/>
              <a:cxnLst/>
              <a:rect l="l" t="t" r="r" b="b"/>
              <a:pathLst>
                <a:path w="122554" h="199389">
                  <a:moveTo>
                    <a:pt x="0" y="199301"/>
                  </a:moveTo>
                  <a:lnTo>
                    <a:pt x="33667" y="180140"/>
                  </a:lnTo>
                  <a:lnTo>
                    <a:pt x="63198" y="155084"/>
                  </a:lnTo>
                  <a:lnTo>
                    <a:pt x="87562" y="124984"/>
                  </a:lnTo>
                  <a:lnTo>
                    <a:pt x="105930" y="90881"/>
                  </a:lnTo>
                  <a:lnTo>
                    <a:pt x="117654" y="53960"/>
                  </a:lnTo>
                  <a:lnTo>
                    <a:pt x="122329" y="15519"/>
                  </a:lnTo>
                  <a:lnTo>
                    <a:pt x="122398" y="7765"/>
                  </a:lnTo>
                  <a:lnTo>
                    <a:pt x="122174" y="0"/>
                  </a:lnTo>
                </a:path>
              </a:pathLst>
            </a:custGeom>
            <a:ln w="18745">
              <a:solidFill>
                <a:srgbClr val="DA1B2D"/>
              </a:solidFill>
            </a:ln>
          </p:spPr>
          <p:txBody>
            <a:bodyPr wrap="square" lIns="0" tIns="0" rIns="0" bIns="0" rtlCol="0"/>
            <a:lstStyle/>
            <a:p>
              <a:endParaRPr/>
            </a:p>
          </p:txBody>
        </p:sp>
        <p:sp>
          <p:nvSpPr>
            <p:cNvPr id="13" name="object 13"/>
            <p:cNvSpPr/>
            <p:nvPr/>
          </p:nvSpPr>
          <p:spPr>
            <a:xfrm>
              <a:off x="4492561" y="3412655"/>
              <a:ext cx="7620" cy="47625"/>
            </a:xfrm>
            <a:custGeom>
              <a:avLst/>
              <a:gdLst/>
              <a:ahLst/>
              <a:cxnLst/>
              <a:rect l="l" t="t" r="r" b="b"/>
              <a:pathLst>
                <a:path w="7620" h="47625">
                  <a:moveTo>
                    <a:pt x="7213" y="47193"/>
                  </a:moveTo>
                  <a:lnTo>
                    <a:pt x="0" y="0"/>
                  </a:lnTo>
                </a:path>
              </a:pathLst>
            </a:custGeom>
            <a:ln w="18745">
              <a:solidFill>
                <a:srgbClr val="DA1B2D"/>
              </a:solidFill>
            </a:ln>
          </p:spPr>
          <p:txBody>
            <a:bodyPr wrap="square" lIns="0" tIns="0" rIns="0" bIns="0" rtlCol="0"/>
            <a:lstStyle/>
            <a:p>
              <a:endParaRPr/>
            </a:p>
          </p:txBody>
        </p:sp>
        <p:sp>
          <p:nvSpPr>
            <p:cNvPr id="14" name="object 14"/>
            <p:cNvSpPr/>
            <p:nvPr/>
          </p:nvSpPr>
          <p:spPr>
            <a:xfrm>
              <a:off x="4299546" y="3259950"/>
              <a:ext cx="193675" cy="153035"/>
            </a:xfrm>
            <a:custGeom>
              <a:avLst/>
              <a:gdLst/>
              <a:ahLst/>
              <a:cxnLst/>
              <a:rect l="l" t="t" r="r" b="b"/>
              <a:pathLst>
                <a:path w="193675" h="153035">
                  <a:moveTo>
                    <a:pt x="193128" y="152679"/>
                  </a:moveTo>
                  <a:lnTo>
                    <a:pt x="178080" y="114516"/>
                  </a:lnTo>
                  <a:lnTo>
                    <a:pt x="155929" y="80002"/>
                  </a:lnTo>
                  <a:lnTo>
                    <a:pt x="127519" y="50434"/>
                  </a:lnTo>
                  <a:lnTo>
                    <a:pt x="93903" y="26924"/>
                  </a:lnTo>
                  <a:lnTo>
                    <a:pt x="56382" y="10359"/>
                  </a:lnTo>
                  <a:lnTo>
                    <a:pt x="16375" y="1385"/>
                  </a:lnTo>
                  <a:lnTo>
                    <a:pt x="8208" y="536"/>
                  </a:lnTo>
                  <a:lnTo>
                    <a:pt x="0" y="0"/>
                  </a:lnTo>
                </a:path>
              </a:pathLst>
            </a:custGeom>
            <a:ln w="18745">
              <a:solidFill>
                <a:srgbClr val="DA1B2D"/>
              </a:solidFill>
            </a:ln>
          </p:spPr>
          <p:txBody>
            <a:bodyPr wrap="square" lIns="0" tIns="0" rIns="0" bIns="0" rtlCol="0"/>
            <a:lstStyle/>
            <a:p>
              <a:endParaRPr/>
            </a:p>
          </p:txBody>
        </p:sp>
      </p:grpSp>
      <p:sp>
        <p:nvSpPr>
          <p:cNvPr id="15" name="object 15"/>
          <p:cNvSpPr txBox="1"/>
          <p:nvPr/>
        </p:nvSpPr>
        <p:spPr>
          <a:xfrm>
            <a:off x="4065193" y="3860355"/>
            <a:ext cx="2828290" cy="920115"/>
          </a:xfrm>
          <a:prstGeom prst="rect">
            <a:avLst/>
          </a:prstGeom>
        </p:spPr>
        <p:txBody>
          <a:bodyPr vert="horz" wrap="square" lIns="0" tIns="12700" rIns="0" bIns="0" rtlCol="0">
            <a:spAutoFit/>
          </a:bodyPr>
          <a:lstStyle/>
          <a:p>
            <a:pPr marL="12700">
              <a:lnSpc>
                <a:spcPct val="100000"/>
              </a:lnSpc>
              <a:spcBef>
                <a:spcPts val="100"/>
              </a:spcBef>
            </a:pPr>
            <a:r>
              <a:rPr sz="1750" b="1" spc="-85" dirty="0">
                <a:solidFill>
                  <a:srgbClr val="3A3535"/>
                </a:solidFill>
                <a:latin typeface="Verdana"/>
                <a:cs typeface="Verdana"/>
              </a:rPr>
              <a:t>Structured</a:t>
            </a:r>
            <a:r>
              <a:rPr sz="1750" b="1" spc="-125" dirty="0">
                <a:solidFill>
                  <a:srgbClr val="3A3535"/>
                </a:solidFill>
                <a:latin typeface="Verdana"/>
                <a:cs typeface="Verdana"/>
              </a:rPr>
              <a:t> </a:t>
            </a:r>
            <a:r>
              <a:rPr sz="1750" b="1" spc="-10" dirty="0">
                <a:solidFill>
                  <a:srgbClr val="3A3535"/>
                </a:solidFill>
                <a:latin typeface="Verdana"/>
                <a:cs typeface="Verdana"/>
              </a:rPr>
              <a:t>Output</a:t>
            </a:r>
            <a:endParaRPr sz="1750">
              <a:latin typeface="Verdana"/>
              <a:cs typeface="Verdana"/>
            </a:endParaRPr>
          </a:p>
          <a:p>
            <a:pPr marL="12700" marR="5080">
              <a:lnSpc>
                <a:spcPct val="139400"/>
              </a:lnSpc>
              <a:spcBef>
                <a:spcPts val="585"/>
              </a:spcBef>
            </a:pPr>
            <a:r>
              <a:rPr sz="1300" spc="50" dirty="0">
                <a:solidFill>
                  <a:srgbClr val="3A3535"/>
                </a:solidFill>
                <a:latin typeface="Century Gothic"/>
                <a:cs typeface="Century Gothic"/>
              </a:rPr>
              <a:t>Conversation</a:t>
            </a:r>
            <a:r>
              <a:rPr sz="1300" spc="-45" dirty="0">
                <a:solidFill>
                  <a:srgbClr val="3A3535"/>
                </a:solidFill>
                <a:latin typeface="Century Gothic"/>
                <a:cs typeface="Century Gothic"/>
              </a:rPr>
              <a:t> </a:t>
            </a:r>
            <a:r>
              <a:rPr sz="1300" spc="90" dirty="0">
                <a:solidFill>
                  <a:srgbClr val="3A3535"/>
                </a:solidFill>
                <a:latin typeface="Century Gothic"/>
                <a:cs typeface="Century Gothic"/>
              </a:rPr>
              <a:t>or</a:t>
            </a:r>
            <a:r>
              <a:rPr sz="1300" spc="-40" dirty="0">
                <a:solidFill>
                  <a:srgbClr val="3A3535"/>
                </a:solidFill>
                <a:latin typeface="Century Gothic"/>
                <a:cs typeface="Century Gothic"/>
              </a:rPr>
              <a:t> </a:t>
            </a:r>
            <a:r>
              <a:rPr sz="1300" spc="130" dirty="0">
                <a:solidFill>
                  <a:srgbClr val="3A3535"/>
                </a:solidFill>
                <a:latin typeface="Century Gothic"/>
                <a:cs typeface="Century Gothic"/>
              </a:rPr>
              <a:t>JSON,</a:t>
            </a:r>
            <a:r>
              <a:rPr sz="1300" spc="-40" dirty="0">
                <a:solidFill>
                  <a:srgbClr val="3A3535"/>
                </a:solidFill>
                <a:latin typeface="Century Gothic"/>
                <a:cs typeface="Century Gothic"/>
              </a:rPr>
              <a:t> </a:t>
            </a:r>
            <a:r>
              <a:rPr sz="1300" spc="45" dirty="0">
                <a:solidFill>
                  <a:srgbClr val="3A3535"/>
                </a:solidFill>
                <a:latin typeface="Century Gothic"/>
                <a:cs typeface="Century Gothic"/>
              </a:rPr>
              <a:t>including </a:t>
            </a:r>
            <a:r>
              <a:rPr sz="1300" spc="75" dirty="0">
                <a:solidFill>
                  <a:srgbClr val="3A3535"/>
                </a:solidFill>
                <a:latin typeface="Century Gothic"/>
                <a:cs typeface="Century Gothic"/>
              </a:rPr>
              <a:t>OpenAI-</a:t>
            </a:r>
            <a:r>
              <a:rPr sz="1300" spc="55" dirty="0">
                <a:solidFill>
                  <a:srgbClr val="3A3535"/>
                </a:solidFill>
                <a:latin typeface="Century Gothic"/>
                <a:cs typeface="Century Gothic"/>
              </a:rPr>
              <a:t>style</a:t>
            </a:r>
            <a:r>
              <a:rPr sz="1300" spc="-50" dirty="0">
                <a:solidFill>
                  <a:srgbClr val="3A3535"/>
                </a:solidFill>
                <a:latin typeface="Century Gothic"/>
                <a:cs typeface="Century Gothic"/>
              </a:rPr>
              <a:t> </a:t>
            </a:r>
            <a:r>
              <a:rPr sz="1300" spc="60" dirty="0">
                <a:solidFill>
                  <a:srgbClr val="3A3535"/>
                </a:solidFill>
                <a:latin typeface="Century Gothic"/>
                <a:cs typeface="Century Gothic"/>
              </a:rPr>
              <a:t>formats</a:t>
            </a:r>
            <a:endParaRPr sz="1300">
              <a:latin typeface="Century Gothic"/>
              <a:cs typeface="Century Gothic"/>
            </a:endParaRPr>
          </a:p>
        </p:txBody>
      </p:sp>
      <p:grpSp>
        <p:nvGrpSpPr>
          <p:cNvPr id="16" name="object 16"/>
          <p:cNvGrpSpPr/>
          <p:nvPr/>
        </p:nvGrpSpPr>
        <p:grpSpPr>
          <a:xfrm>
            <a:off x="7577672" y="3248178"/>
            <a:ext cx="393700" cy="441959"/>
            <a:chOff x="7577672" y="3248178"/>
            <a:chExt cx="393700" cy="441959"/>
          </a:xfrm>
        </p:grpSpPr>
        <p:sp>
          <p:nvSpPr>
            <p:cNvPr id="17" name="object 17"/>
            <p:cNvSpPr/>
            <p:nvPr/>
          </p:nvSpPr>
          <p:spPr>
            <a:xfrm>
              <a:off x="7656715" y="3488664"/>
              <a:ext cx="236220" cy="31750"/>
            </a:xfrm>
            <a:custGeom>
              <a:avLst/>
              <a:gdLst/>
              <a:ahLst/>
              <a:cxnLst/>
              <a:rect l="l" t="t" r="r" b="b"/>
              <a:pathLst>
                <a:path w="236220" h="31750">
                  <a:moveTo>
                    <a:pt x="235737" y="11747"/>
                  </a:moveTo>
                  <a:lnTo>
                    <a:pt x="196045" y="28254"/>
                  </a:lnTo>
                  <a:lnTo>
                    <a:pt x="168935" y="31711"/>
                  </a:lnTo>
                  <a:lnTo>
                    <a:pt x="160629" y="31457"/>
                  </a:lnTo>
                  <a:lnTo>
                    <a:pt x="117790" y="16610"/>
                  </a:lnTo>
                  <a:lnTo>
                    <a:pt x="108265" y="11267"/>
                  </a:lnTo>
                  <a:lnTo>
                    <a:pt x="69172" y="175"/>
                  </a:lnTo>
                  <a:lnTo>
                    <a:pt x="62812" y="0"/>
                  </a:lnTo>
                  <a:lnTo>
                    <a:pt x="56211" y="53"/>
                  </a:lnTo>
                  <a:lnTo>
                    <a:pt x="49250" y="342"/>
                  </a:lnTo>
                  <a:lnTo>
                    <a:pt x="40553" y="1648"/>
                  </a:lnTo>
                  <a:lnTo>
                    <a:pt x="29802" y="3865"/>
                  </a:lnTo>
                  <a:lnTo>
                    <a:pt x="16462" y="7270"/>
                  </a:lnTo>
                  <a:lnTo>
                    <a:pt x="0" y="12141"/>
                  </a:lnTo>
                </a:path>
              </a:pathLst>
            </a:custGeom>
            <a:ln w="18742">
              <a:solidFill>
                <a:srgbClr val="DA1B2D"/>
              </a:solidFill>
            </a:ln>
          </p:spPr>
          <p:txBody>
            <a:bodyPr wrap="square" lIns="0" tIns="0" rIns="0" bIns="0" rtlCol="0"/>
            <a:lstStyle/>
            <a:p>
              <a:endParaRPr/>
            </a:p>
          </p:txBody>
        </p:sp>
        <p:pic>
          <p:nvPicPr>
            <p:cNvPr id="18" name="object 18"/>
            <p:cNvPicPr/>
            <p:nvPr/>
          </p:nvPicPr>
          <p:blipFill>
            <a:blip r:embed="rId4" cstate="print"/>
            <a:stretch>
              <a:fillRect/>
            </a:stretch>
          </p:blipFill>
          <p:spPr>
            <a:xfrm>
              <a:off x="7577672" y="3248178"/>
              <a:ext cx="393532" cy="441855"/>
            </a:xfrm>
            <a:prstGeom prst="rect">
              <a:avLst/>
            </a:prstGeom>
          </p:spPr>
        </p:pic>
      </p:grpSp>
      <p:sp>
        <p:nvSpPr>
          <p:cNvPr id="19" name="object 19"/>
          <p:cNvSpPr txBox="1"/>
          <p:nvPr/>
        </p:nvSpPr>
        <p:spPr>
          <a:xfrm>
            <a:off x="7550746" y="3860355"/>
            <a:ext cx="2836545" cy="920115"/>
          </a:xfrm>
          <a:prstGeom prst="rect">
            <a:avLst/>
          </a:prstGeom>
        </p:spPr>
        <p:txBody>
          <a:bodyPr vert="horz" wrap="square" lIns="0" tIns="12700" rIns="0" bIns="0" rtlCol="0">
            <a:spAutoFit/>
          </a:bodyPr>
          <a:lstStyle/>
          <a:p>
            <a:pPr marL="12700">
              <a:lnSpc>
                <a:spcPct val="100000"/>
              </a:lnSpc>
              <a:spcBef>
                <a:spcPts val="100"/>
              </a:spcBef>
            </a:pPr>
            <a:r>
              <a:rPr sz="1750" b="1" spc="-90" dirty="0">
                <a:solidFill>
                  <a:srgbClr val="3A3535"/>
                </a:solidFill>
                <a:latin typeface="Verdana"/>
                <a:cs typeface="Verdana"/>
              </a:rPr>
              <a:t>Prompt</a:t>
            </a:r>
            <a:r>
              <a:rPr sz="1750" b="1" spc="-180" dirty="0">
                <a:solidFill>
                  <a:srgbClr val="3A3535"/>
                </a:solidFill>
                <a:latin typeface="Verdana"/>
                <a:cs typeface="Verdana"/>
              </a:rPr>
              <a:t> </a:t>
            </a:r>
            <a:r>
              <a:rPr sz="1750" b="1" spc="-25" dirty="0">
                <a:solidFill>
                  <a:srgbClr val="3A3535"/>
                </a:solidFill>
                <a:latin typeface="Verdana"/>
                <a:cs typeface="Verdana"/>
              </a:rPr>
              <a:t>Lab</a:t>
            </a:r>
            <a:endParaRPr sz="1750">
              <a:latin typeface="Verdana"/>
              <a:cs typeface="Verdana"/>
            </a:endParaRPr>
          </a:p>
          <a:p>
            <a:pPr marL="12700" marR="5080">
              <a:lnSpc>
                <a:spcPct val="139400"/>
              </a:lnSpc>
              <a:spcBef>
                <a:spcPts val="585"/>
              </a:spcBef>
            </a:pPr>
            <a:r>
              <a:rPr sz="1300" spc="60" dirty="0">
                <a:solidFill>
                  <a:srgbClr val="3A3535"/>
                </a:solidFill>
                <a:latin typeface="Century Gothic"/>
                <a:cs typeface="Century Gothic"/>
              </a:rPr>
              <a:t>Version,</a:t>
            </a:r>
            <a:r>
              <a:rPr sz="1300" spc="-50" dirty="0">
                <a:solidFill>
                  <a:srgbClr val="3A3535"/>
                </a:solidFill>
                <a:latin typeface="Century Gothic"/>
                <a:cs typeface="Century Gothic"/>
              </a:rPr>
              <a:t> </a:t>
            </a:r>
            <a:r>
              <a:rPr sz="1300" spc="70" dirty="0">
                <a:solidFill>
                  <a:srgbClr val="3A3535"/>
                </a:solidFill>
                <a:latin typeface="Century Gothic"/>
                <a:cs typeface="Century Gothic"/>
              </a:rPr>
              <a:t>test,</a:t>
            </a:r>
            <a:r>
              <a:rPr sz="1300" spc="-45" dirty="0">
                <a:solidFill>
                  <a:srgbClr val="3A3535"/>
                </a:solidFill>
                <a:latin typeface="Century Gothic"/>
                <a:cs typeface="Century Gothic"/>
              </a:rPr>
              <a:t> </a:t>
            </a:r>
            <a:r>
              <a:rPr sz="1300" dirty="0">
                <a:solidFill>
                  <a:srgbClr val="3A3535"/>
                </a:solidFill>
                <a:latin typeface="Century Gothic"/>
                <a:cs typeface="Century Gothic"/>
              </a:rPr>
              <a:t>replay,</a:t>
            </a:r>
            <a:r>
              <a:rPr sz="1300" spc="-5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45" dirty="0">
                <a:solidFill>
                  <a:srgbClr val="3A3535"/>
                </a:solidFill>
                <a:latin typeface="Century Gothic"/>
                <a:cs typeface="Century Gothic"/>
              </a:rPr>
              <a:t> </a:t>
            </a:r>
            <a:r>
              <a:rPr sz="1300" spc="-10" dirty="0">
                <a:solidFill>
                  <a:srgbClr val="3A3535"/>
                </a:solidFill>
                <a:latin typeface="Century Gothic"/>
                <a:cs typeface="Century Gothic"/>
              </a:rPr>
              <a:t>evaluate </a:t>
            </a:r>
            <a:r>
              <a:rPr sz="1300" dirty="0">
                <a:solidFill>
                  <a:srgbClr val="3A3535"/>
                </a:solidFill>
                <a:latin typeface="Century Gothic"/>
                <a:cs typeface="Century Gothic"/>
              </a:rPr>
              <a:t>before</a:t>
            </a:r>
            <a:r>
              <a:rPr sz="1300" spc="135" dirty="0">
                <a:solidFill>
                  <a:srgbClr val="3A3535"/>
                </a:solidFill>
                <a:latin typeface="Century Gothic"/>
                <a:cs typeface="Century Gothic"/>
              </a:rPr>
              <a:t> </a:t>
            </a:r>
            <a:r>
              <a:rPr sz="1300" spc="70" dirty="0">
                <a:solidFill>
                  <a:srgbClr val="3A3535"/>
                </a:solidFill>
                <a:latin typeface="Century Gothic"/>
                <a:cs typeface="Century Gothic"/>
              </a:rPr>
              <a:t>rollout</a:t>
            </a:r>
            <a:endParaRPr sz="1300">
              <a:latin typeface="Century Gothic"/>
              <a:cs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9640" y="1723135"/>
            <a:ext cx="6115050" cy="560070"/>
          </a:xfrm>
          <a:prstGeom prst="rect">
            <a:avLst/>
          </a:prstGeom>
        </p:spPr>
        <p:txBody>
          <a:bodyPr vert="horz" wrap="square" lIns="0" tIns="13335" rIns="0" bIns="0" rtlCol="0">
            <a:spAutoFit/>
          </a:bodyPr>
          <a:lstStyle/>
          <a:p>
            <a:pPr marL="12700">
              <a:lnSpc>
                <a:spcPct val="100000"/>
              </a:lnSpc>
              <a:spcBef>
                <a:spcPts val="105"/>
              </a:spcBef>
            </a:pPr>
            <a:r>
              <a:rPr spc="-175" dirty="0"/>
              <a:t>Plugin</a:t>
            </a:r>
            <a:r>
              <a:rPr spc="-409" dirty="0"/>
              <a:t> </a:t>
            </a:r>
            <a:r>
              <a:rPr spc="-390" dirty="0"/>
              <a:t>3:</a:t>
            </a:r>
            <a:r>
              <a:rPr spc="-405" dirty="0"/>
              <a:t> </a:t>
            </a:r>
            <a:r>
              <a:rPr spc="-190" dirty="0"/>
              <a:t>LLM</a:t>
            </a:r>
            <a:r>
              <a:rPr spc="-405" dirty="0"/>
              <a:t> </a:t>
            </a:r>
            <a:r>
              <a:rPr spc="-229" dirty="0"/>
              <a:t>Therapy</a:t>
            </a:r>
            <a:r>
              <a:rPr spc="-405" dirty="0"/>
              <a:t> </a:t>
            </a:r>
            <a:r>
              <a:rPr spc="-50" dirty="0"/>
              <a:t>Chat</a:t>
            </a:r>
          </a:p>
        </p:txBody>
      </p:sp>
      <p:sp>
        <p:nvSpPr>
          <p:cNvPr id="3" name="object 3"/>
          <p:cNvSpPr txBox="1"/>
          <p:nvPr/>
        </p:nvSpPr>
        <p:spPr>
          <a:xfrm>
            <a:off x="579635" y="2592900"/>
            <a:ext cx="9813290" cy="577850"/>
          </a:xfrm>
          <a:prstGeom prst="rect">
            <a:avLst/>
          </a:prstGeom>
        </p:spPr>
        <p:txBody>
          <a:bodyPr vert="horz" wrap="square" lIns="0" tIns="11430" rIns="0" bIns="0" rtlCol="0">
            <a:spAutoFit/>
          </a:bodyPr>
          <a:lstStyle/>
          <a:p>
            <a:pPr marL="12700" marR="5080">
              <a:lnSpc>
                <a:spcPct val="139400"/>
              </a:lnSpc>
              <a:spcBef>
                <a:spcPts val="90"/>
              </a:spcBef>
            </a:pPr>
            <a:r>
              <a:rPr sz="1300" spc="75" dirty="0">
                <a:solidFill>
                  <a:srgbClr val="3A3535"/>
                </a:solidFill>
                <a:latin typeface="Century Gothic"/>
                <a:cs typeface="Century Gothic"/>
              </a:rPr>
              <a:t>Supervised</a:t>
            </a:r>
            <a:r>
              <a:rPr sz="1300" spc="25" dirty="0">
                <a:solidFill>
                  <a:srgbClr val="3A3535"/>
                </a:solidFill>
                <a:latin typeface="Century Gothic"/>
                <a:cs typeface="Century Gothic"/>
              </a:rPr>
              <a:t> </a:t>
            </a:r>
            <a:r>
              <a:rPr sz="1300" dirty="0">
                <a:solidFill>
                  <a:srgbClr val="3A3535"/>
                </a:solidFill>
                <a:latin typeface="Century Gothic"/>
                <a:cs typeface="Century Gothic"/>
              </a:rPr>
              <a:t>communication</a:t>
            </a:r>
            <a:r>
              <a:rPr sz="1300" spc="30" dirty="0">
                <a:solidFill>
                  <a:srgbClr val="3A3535"/>
                </a:solidFill>
                <a:latin typeface="Century Gothic"/>
                <a:cs typeface="Century Gothic"/>
              </a:rPr>
              <a:t> </a:t>
            </a:r>
            <a:r>
              <a:rPr sz="1300" spc="-125" dirty="0">
                <a:solidFill>
                  <a:srgbClr val="3A3535"/>
                </a:solidFill>
                <a:latin typeface="Century Gothic"/>
                <a:cs typeface="Century Gothic"/>
              </a:rPr>
              <a:t>—</a:t>
            </a:r>
            <a:r>
              <a:rPr sz="1300" spc="30" dirty="0">
                <a:solidFill>
                  <a:srgbClr val="3A3535"/>
                </a:solidFill>
                <a:latin typeface="Century Gothic"/>
                <a:cs typeface="Century Gothic"/>
              </a:rPr>
              <a:t> </a:t>
            </a:r>
            <a:r>
              <a:rPr sz="1300" spc="65" dirty="0">
                <a:solidFill>
                  <a:srgbClr val="3A3535"/>
                </a:solidFill>
                <a:latin typeface="Century Gothic"/>
                <a:cs typeface="Century Gothic"/>
              </a:rPr>
              <a:t>AI</a:t>
            </a:r>
            <a:r>
              <a:rPr sz="1300" spc="3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25" dirty="0">
                <a:solidFill>
                  <a:srgbClr val="3A3535"/>
                </a:solidFill>
                <a:latin typeface="Century Gothic"/>
                <a:cs typeface="Century Gothic"/>
              </a:rPr>
              <a:t> </a:t>
            </a:r>
            <a:r>
              <a:rPr sz="1300" dirty="0">
                <a:solidFill>
                  <a:srgbClr val="3A3535"/>
                </a:solidFill>
                <a:latin typeface="Century Gothic"/>
                <a:cs typeface="Century Gothic"/>
              </a:rPr>
              <a:t>human</a:t>
            </a:r>
            <a:r>
              <a:rPr sz="1300" spc="30" dirty="0">
                <a:solidFill>
                  <a:srgbClr val="3A3535"/>
                </a:solidFill>
                <a:latin typeface="Century Gothic"/>
                <a:cs typeface="Century Gothic"/>
              </a:rPr>
              <a:t> </a:t>
            </a:r>
            <a:r>
              <a:rPr sz="1300" spc="90" dirty="0">
                <a:solidFill>
                  <a:srgbClr val="3A3535"/>
                </a:solidFill>
                <a:latin typeface="Century Gothic"/>
                <a:cs typeface="Century Gothic"/>
              </a:rPr>
              <a:t>in</a:t>
            </a:r>
            <a:r>
              <a:rPr sz="1300" spc="30" dirty="0">
                <a:solidFill>
                  <a:srgbClr val="3A3535"/>
                </a:solidFill>
                <a:latin typeface="Century Gothic"/>
                <a:cs typeface="Century Gothic"/>
              </a:rPr>
              <a:t> </a:t>
            </a:r>
            <a:r>
              <a:rPr sz="1300" dirty="0">
                <a:solidFill>
                  <a:srgbClr val="3A3535"/>
                </a:solidFill>
                <a:latin typeface="Century Gothic"/>
                <a:cs typeface="Century Gothic"/>
              </a:rPr>
              <a:t>the</a:t>
            </a:r>
            <a:r>
              <a:rPr sz="1300" spc="30" dirty="0">
                <a:solidFill>
                  <a:srgbClr val="3A3535"/>
                </a:solidFill>
                <a:latin typeface="Century Gothic"/>
                <a:cs typeface="Century Gothic"/>
              </a:rPr>
              <a:t> </a:t>
            </a:r>
            <a:r>
              <a:rPr sz="1300" dirty="0">
                <a:solidFill>
                  <a:srgbClr val="3A3535"/>
                </a:solidFill>
                <a:latin typeface="Century Gothic"/>
                <a:cs typeface="Century Gothic"/>
              </a:rPr>
              <a:t>same</a:t>
            </a:r>
            <a:r>
              <a:rPr sz="1300" spc="15" dirty="0">
                <a:solidFill>
                  <a:srgbClr val="3A3535"/>
                </a:solidFill>
                <a:latin typeface="Century Gothic"/>
                <a:cs typeface="Century Gothic"/>
              </a:rPr>
              <a:t> </a:t>
            </a:r>
            <a:r>
              <a:rPr sz="1300" dirty="0">
                <a:solidFill>
                  <a:srgbClr val="3A3535"/>
                </a:solidFill>
                <a:latin typeface="Century Gothic"/>
                <a:cs typeface="Century Gothic"/>
              </a:rPr>
              <a:t>framework.</a:t>
            </a:r>
            <a:r>
              <a:rPr sz="1300" spc="30" dirty="0">
                <a:solidFill>
                  <a:srgbClr val="3A3535"/>
                </a:solidFill>
                <a:latin typeface="Century Gothic"/>
                <a:cs typeface="Century Gothic"/>
              </a:rPr>
              <a:t> </a:t>
            </a:r>
            <a:r>
              <a:rPr sz="1300" spc="95" dirty="0">
                <a:solidFill>
                  <a:srgbClr val="3A3535"/>
                </a:solidFill>
                <a:latin typeface="Century Gothic"/>
                <a:cs typeface="Century Gothic"/>
              </a:rPr>
              <a:t>Useful</a:t>
            </a:r>
            <a:r>
              <a:rPr sz="1300" spc="30" dirty="0">
                <a:solidFill>
                  <a:srgbClr val="3A3535"/>
                </a:solidFill>
                <a:latin typeface="Century Gothic"/>
                <a:cs typeface="Century Gothic"/>
              </a:rPr>
              <a:t> </a:t>
            </a:r>
            <a:r>
              <a:rPr sz="1300" spc="85" dirty="0">
                <a:solidFill>
                  <a:srgbClr val="3A3535"/>
                </a:solidFill>
                <a:latin typeface="Century Gothic"/>
                <a:cs typeface="Century Gothic"/>
              </a:rPr>
              <a:t>for</a:t>
            </a:r>
            <a:r>
              <a:rPr sz="1300" spc="30" dirty="0">
                <a:solidFill>
                  <a:srgbClr val="3A3535"/>
                </a:solidFill>
                <a:latin typeface="Century Gothic"/>
                <a:cs typeface="Century Gothic"/>
              </a:rPr>
              <a:t> </a:t>
            </a:r>
            <a:r>
              <a:rPr sz="1300" spc="55" dirty="0">
                <a:solidFill>
                  <a:srgbClr val="3A3535"/>
                </a:solidFill>
                <a:latin typeface="Century Gothic"/>
                <a:cs typeface="Century Gothic"/>
              </a:rPr>
              <a:t>both</a:t>
            </a:r>
            <a:r>
              <a:rPr sz="1300" spc="25" dirty="0">
                <a:solidFill>
                  <a:srgbClr val="3A3535"/>
                </a:solidFill>
                <a:latin typeface="Century Gothic"/>
                <a:cs typeface="Century Gothic"/>
              </a:rPr>
              <a:t> </a:t>
            </a:r>
            <a:r>
              <a:rPr sz="1300" b="1" spc="-35" dirty="0">
                <a:solidFill>
                  <a:srgbClr val="3A3535"/>
                </a:solidFill>
                <a:latin typeface="Verdana"/>
                <a:cs typeface="Verdana"/>
              </a:rPr>
              <a:t>service</a:t>
            </a:r>
            <a:r>
              <a:rPr sz="1300" b="1" spc="-90" dirty="0">
                <a:solidFill>
                  <a:srgbClr val="3A3535"/>
                </a:solidFill>
                <a:latin typeface="Verdana"/>
                <a:cs typeface="Verdana"/>
              </a:rPr>
              <a:t> </a:t>
            </a:r>
            <a:r>
              <a:rPr sz="1300" b="1" spc="-50" dirty="0">
                <a:solidFill>
                  <a:srgbClr val="3A3535"/>
                </a:solidFill>
                <a:latin typeface="Verdana"/>
                <a:cs typeface="Verdana"/>
              </a:rPr>
              <a:t>delivery</a:t>
            </a:r>
            <a:r>
              <a:rPr sz="1300" b="1" spc="-55" dirty="0">
                <a:solidFill>
                  <a:srgbClr val="3A3535"/>
                </a:solidFill>
                <a:latin typeface="Verdana"/>
                <a:cs typeface="Verdana"/>
              </a:rPr>
              <a:t> </a:t>
            </a:r>
            <a:r>
              <a:rPr sz="1300" spc="-10" dirty="0">
                <a:solidFill>
                  <a:srgbClr val="3A3535"/>
                </a:solidFill>
                <a:latin typeface="Century Gothic"/>
                <a:cs typeface="Century Gothic"/>
              </a:rPr>
              <a:t>and</a:t>
            </a:r>
            <a:r>
              <a:rPr sz="1300" spc="25" dirty="0">
                <a:solidFill>
                  <a:srgbClr val="3A3535"/>
                </a:solidFill>
                <a:latin typeface="Century Gothic"/>
                <a:cs typeface="Century Gothic"/>
              </a:rPr>
              <a:t> </a:t>
            </a:r>
            <a:r>
              <a:rPr sz="1300" b="1" spc="-10" dirty="0">
                <a:solidFill>
                  <a:srgbClr val="3A3535"/>
                </a:solidFill>
                <a:latin typeface="Verdana"/>
                <a:cs typeface="Verdana"/>
              </a:rPr>
              <a:t>controlled </a:t>
            </a:r>
            <a:r>
              <a:rPr sz="1300" b="1" spc="-35" dirty="0">
                <a:solidFill>
                  <a:srgbClr val="3A3535"/>
                </a:solidFill>
                <a:latin typeface="Verdana"/>
                <a:cs typeface="Verdana"/>
              </a:rPr>
              <a:t>comparison</a:t>
            </a:r>
            <a:r>
              <a:rPr sz="1300" b="1" spc="-70" dirty="0">
                <a:solidFill>
                  <a:srgbClr val="3A3535"/>
                </a:solidFill>
                <a:latin typeface="Verdana"/>
                <a:cs typeface="Verdana"/>
              </a:rPr>
              <a:t> </a:t>
            </a:r>
            <a:r>
              <a:rPr sz="1300" b="1" spc="-10" dirty="0">
                <a:solidFill>
                  <a:srgbClr val="3A3535"/>
                </a:solidFill>
                <a:latin typeface="Verdana"/>
                <a:cs typeface="Verdana"/>
              </a:rPr>
              <a:t>studies</a:t>
            </a:r>
            <a:r>
              <a:rPr sz="1300" spc="-10" dirty="0">
                <a:solidFill>
                  <a:srgbClr val="3A3535"/>
                </a:solidFill>
                <a:latin typeface="Century Gothic"/>
                <a:cs typeface="Century Gothic"/>
              </a:rPr>
              <a:t>.</a:t>
            </a:r>
            <a:endParaRPr sz="1300">
              <a:latin typeface="Century Gothic"/>
              <a:cs typeface="Century Gothic"/>
            </a:endParaRPr>
          </a:p>
        </p:txBody>
      </p:sp>
      <p:grpSp>
        <p:nvGrpSpPr>
          <p:cNvPr id="4" name="object 4"/>
          <p:cNvGrpSpPr/>
          <p:nvPr/>
        </p:nvGrpSpPr>
        <p:grpSpPr>
          <a:xfrm>
            <a:off x="590550" y="3390900"/>
            <a:ext cx="3305175" cy="1285875"/>
            <a:chOff x="590550" y="3390900"/>
            <a:chExt cx="3305175" cy="1285875"/>
          </a:xfrm>
        </p:grpSpPr>
        <p:sp>
          <p:nvSpPr>
            <p:cNvPr id="5" name="object 5"/>
            <p:cNvSpPr/>
            <p:nvPr/>
          </p:nvSpPr>
          <p:spPr>
            <a:xfrm>
              <a:off x="595312" y="3395662"/>
              <a:ext cx="3295650" cy="1276350"/>
            </a:xfrm>
            <a:custGeom>
              <a:avLst/>
              <a:gdLst/>
              <a:ahLst/>
              <a:cxnLst/>
              <a:rect l="l" t="t" r="r" b="b"/>
              <a:pathLst>
                <a:path w="3295650" h="1276350">
                  <a:moveTo>
                    <a:pt x="3244748" y="0"/>
                  </a:moveTo>
                  <a:lnTo>
                    <a:pt x="50904" y="0"/>
                  </a:lnTo>
                  <a:lnTo>
                    <a:pt x="47362" y="342"/>
                  </a:lnTo>
                  <a:lnTo>
                    <a:pt x="13428" y="18491"/>
                  </a:lnTo>
                  <a:lnTo>
                    <a:pt x="0" y="50901"/>
                  </a:lnTo>
                  <a:lnTo>
                    <a:pt x="0" y="1221867"/>
                  </a:lnTo>
                  <a:lnTo>
                    <a:pt x="0" y="1225448"/>
                  </a:lnTo>
                  <a:lnTo>
                    <a:pt x="18484" y="1262926"/>
                  </a:lnTo>
                  <a:lnTo>
                    <a:pt x="50904" y="1276350"/>
                  </a:lnTo>
                  <a:lnTo>
                    <a:pt x="3244748" y="1276350"/>
                  </a:lnTo>
                  <a:lnTo>
                    <a:pt x="3282226" y="1257858"/>
                  </a:lnTo>
                  <a:lnTo>
                    <a:pt x="3295650" y="1225448"/>
                  </a:lnTo>
                  <a:lnTo>
                    <a:pt x="3295650" y="50901"/>
                  </a:lnTo>
                  <a:lnTo>
                    <a:pt x="3277158" y="13423"/>
                  </a:lnTo>
                  <a:lnTo>
                    <a:pt x="3248291" y="342"/>
                  </a:lnTo>
                  <a:lnTo>
                    <a:pt x="3244748" y="0"/>
                  </a:lnTo>
                  <a:close/>
                </a:path>
              </a:pathLst>
            </a:custGeom>
            <a:solidFill>
              <a:srgbClr val="F9D2D6"/>
            </a:solidFill>
          </p:spPr>
          <p:txBody>
            <a:bodyPr wrap="square" lIns="0" tIns="0" rIns="0" bIns="0" rtlCol="0"/>
            <a:lstStyle/>
            <a:p>
              <a:endParaRPr/>
            </a:p>
          </p:txBody>
        </p:sp>
        <p:sp>
          <p:nvSpPr>
            <p:cNvPr id="6" name="object 6"/>
            <p:cNvSpPr/>
            <p:nvPr/>
          </p:nvSpPr>
          <p:spPr>
            <a:xfrm>
              <a:off x="595312" y="3395662"/>
              <a:ext cx="3295650" cy="1276350"/>
            </a:xfrm>
            <a:custGeom>
              <a:avLst/>
              <a:gdLst/>
              <a:ahLst/>
              <a:cxnLst/>
              <a:rect l="l" t="t" r="r" b="b"/>
              <a:pathLst>
                <a:path w="3295650" h="1276350">
                  <a:moveTo>
                    <a:pt x="0" y="1221867"/>
                  </a:moveTo>
                  <a:lnTo>
                    <a:pt x="0" y="54483"/>
                  </a:lnTo>
                  <a:lnTo>
                    <a:pt x="0" y="50901"/>
                  </a:lnTo>
                  <a:lnTo>
                    <a:pt x="346" y="47358"/>
                  </a:lnTo>
                  <a:lnTo>
                    <a:pt x="18484" y="13423"/>
                  </a:lnTo>
                  <a:lnTo>
                    <a:pt x="24213" y="9182"/>
                  </a:lnTo>
                  <a:lnTo>
                    <a:pt x="27185" y="7188"/>
                  </a:lnTo>
                  <a:lnTo>
                    <a:pt x="30326" y="5511"/>
                  </a:lnTo>
                  <a:lnTo>
                    <a:pt x="33629" y="4152"/>
                  </a:lnTo>
                  <a:lnTo>
                    <a:pt x="36939" y="2781"/>
                  </a:lnTo>
                  <a:lnTo>
                    <a:pt x="40342" y="1739"/>
                  </a:lnTo>
                  <a:lnTo>
                    <a:pt x="43854" y="1041"/>
                  </a:lnTo>
                  <a:lnTo>
                    <a:pt x="47362" y="342"/>
                  </a:lnTo>
                  <a:lnTo>
                    <a:pt x="50904" y="0"/>
                  </a:lnTo>
                  <a:lnTo>
                    <a:pt x="54480" y="0"/>
                  </a:lnTo>
                  <a:lnTo>
                    <a:pt x="3241167" y="0"/>
                  </a:lnTo>
                  <a:lnTo>
                    <a:pt x="3244748" y="0"/>
                  </a:lnTo>
                  <a:lnTo>
                    <a:pt x="3248291" y="342"/>
                  </a:lnTo>
                  <a:lnTo>
                    <a:pt x="3251796" y="1041"/>
                  </a:lnTo>
                  <a:lnTo>
                    <a:pt x="3255302" y="1739"/>
                  </a:lnTo>
                  <a:lnTo>
                    <a:pt x="3258705" y="2781"/>
                  </a:lnTo>
                  <a:lnTo>
                    <a:pt x="3262020" y="4152"/>
                  </a:lnTo>
                  <a:lnTo>
                    <a:pt x="3265322" y="5511"/>
                  </a:lnTo>
                  <a:lnTo>
                    <a:pt x="3268459" y="7188"/>
                  </a:lnTo>
                  <a:lnTo>
                    <a:pt x="3271431" y="9182"/>
                  </a:lnTo>
                  <a:lnTo>
                    <a:pt x="3274415" y="11163"/>
                  </a:lnTo>
                  <a:lnTo>
                    <a:pt x="3277158" y="13423"/>
                  </a:lnTo>
                  <a:lnTo>
                    <a:pt x="3279686" y="15951"/>
                  </a:lnTo>
                  <a:lnTo>
                    <a:pt x="3282226" y="18491"/>
                  </a:lnTo>
                  <a:lnTo>
                    <a:pt x="3284486" y="21234"/>
                  </a:lnTo>
                  <a:lnTo>
                    <a:pt x="3286467" y="24206"/>
                  </a:lnTo>
                  <a:lnTo>
                    <a:pt x="3288461" y="27190"/>
                  </a:lnTo>
                  <a:lnTo>
                    <a:pt x="3290138" y="30327"/>
                  </a:lnTo>
                  <a:lnTo>
                    <a:pt x="3291497" y="33629"/>
                  </a:lnTo>
                  <a:lnTo>
                    <a:pt x="3292868" y="36931"/>
                  </a:lnTo>
                  <a:lnTo>
                    <a:pt x="3293910" y="40347"/>
                  </a:lnTo>
                  <a:lnTo>
                    <a:pt x="3294608" y="43853"/>
                  </a:lnTo>
                  <a:lnTo>
                    <a:pt x="3295307" y="47358"/>
                  </a:lnTo>
                  <a:lnTo>
                    <a:pt x="3295650" y="50901"/>
                  </a:lnTo>
                  <a:lnTo>
                    <a:pt x="3295650" y="54483"/>
                  </a:lnTo>
                  <a:lnTo>
                    <a:pt x="3295650" y="1221867"/>
                  </a:lnTo>
                  <a:lnTo>
                    <a:pt x="3295650" y="1225448"/>
                  </a:lnTo>
                  <a:lnTo>
                    <a:pt x="3295307" y="1228991"/>
                  </a:lnTo>
                  <a:lnTo>
                    <a:pt x="3294608" y="1232496"/>
                  </a:lnTo>
                  <a:lnTo>
                    <a:pt x="3293910" y="1236002"/>
                  </a:lnTo>
                  <a:lnTo>
                    <a:pt x="3292868" y="1239405"/>
                  </a:lnTo>
                  <a:lnTo>
                    <a:pt x="3291497" y="1242720"/>
                  </a:lnTo>
                  <a:lnTo>
                    <a:pt x="3290138" y="1246022"/>
                  </a:lnTo>
                  <a:lnTo>
                    <a:pt x="3288461" y="1249159"/>
                  </a:lnTo>
                  <a:lnTo>
                    <a:pt x="3286467" y="1252131"/>
                  </a:lnTo>
                  <a:lnTo>
                    <a:pt x="3284486" y="1255102"/>
                  </a:lnTo>
                  <a:lnTo>
                    <a:pt x="3282226" y="1257858"/>
                  </a:lnTo>
                  <a:lnTo>
                    <a:pt x="3279686" y="1260386"/>
                  </a:lnTo>
                  <a:lnTo>
                    <a:pt x="3277158" y="1262926"/>
                  </a:lnTo>
                  <a:lnTo>
                    <a:pt x="3244748" y="1276350"/>
                  </a:lnTo>
                  <a:lnTo>
                    <a:pt x="3241167" y="1276350"/>
                  </a:lnTo>
                  <a:lnTo>
                    <a:pt x="54480" y="1276350"/>
                  </a:lnTo>
                  <a:lnTo>
                    <a:pt x="50904" y="1276350"/>
                  </a:lnTo>
                  <a:lnTo>
                    <a:pt x="47362" y="1275994"/>
                  </a:lnTo>
                  <a:lnTo>
                    <a:pt x="15958" y="1260386"/>
                  </a:lnTo>
                  <a:lnTo>
                    <a:pt x="13428" y="1257858"/>
                  </a:lnTo>
                  <a:lnTo>
                    <a:pt x="11167" y="1255102"/>
                  </a:lnTo>
                  <a:lnTo>
                    <a:pt x="9182" y="1252131"/>
                  </a:lnTo>
                  <a:lnTo>
                    <a:pt x="7193" y="1249159"/>
                  </a:lnTo>
                  <a:lnTo>
                    <a:pt x="1046" y="1232496"/>
                  </a:lnTo>
                  <a:lnTo>
                    <a:pt x="346" y="1228991"/>
                  </a:lnTo>
                  <a:lnTo>
                    <a:pt x="0" y="1225448"/>
                  </a:lnTo>
                  <a:lnTo>
                    <a:pt x="0" y="1221867"/>
                  </a:lnTo>
                  <a:close/>
                </a:path>
              </a:pathLst>
            </a:custGeom>
            <a:ln w="9525">
              <a:solidFill>
                <a:srgbClr val="DFB7BB"/>
              </a:solidFill>
            </a:ln>
          </p:spPr>
          <p:txBody>
            <a:bodyPr wrap="square" lIns="0" tIns="0" rIns="0" bIns="0" rtlCol="0"/>
            <a:lstStyle/>
            <a:p>
              <a:endParaRPr/>
            </a:p>
          </p:txBody>
        </p:sp>
      </p:grpSp>
      <p:sp>
        <p:nvSpPr>
          <p:cNvPr id="7" name="object 7"/>
          <p:cNvSpPr txBox="1"/>
          <p:nvPr/>
        </p:nvSpPr>
        <p:spPr>
          <a:xfrm>
            <a:off x="758377" y="3546030"/>
            <a:ext cx="2616835" cy="910590"/>
          </a:xfrm>
          <a:prstGeom prst="rect">
            <a:avLst/>
          </a:prstGeom>
        </p:spPr>
        <p:txBody>
          <a:bodyPr vert="horz" wrap="square" lIns="0" tIns="12700" rIns="0" bIns="0" rtlCol="0">
            <a:spAutoFit/>
          </a:bodyPr>
          <a:lstStyle/>
          <a:p>
            <a:pPr marL="12700">
              <a:lnSpc>
                <a:spcPct val="100000"/>
              </a:lnSpc>
              <a:spcBef>
                <a:spcPts val="100"/>
              </a:spcBef>
            </a:pPr>
            <a:r>
              <a:rPr sz="1750" b="1" spc="-90" dirty="0">
                <a:solidFill>
                  <a:srgbClr val="3A3535"/>
                </a:solidFill>
                <a:latin typeface="Verdana"/>
                <a:cs typeface="Verdana"/>
              </a:rPr>
              <a:t>User</a:t>
            </a:r>
            <a:r>
              <a:rPr sz="1750" b="1" spc="-220" dirty="0">
                <a:solidFill>
                  <a:srgbClr val="3A3535"/>
                </a:solidFill>
                <a:latin typeface="Verdana"/>
                <a:cs typeface="Verdana"/>
              </a:rPr>
              <a:t> </a:t>
            </a:r>
            <a:r>
              <a:rPr sz="1750" b="1" spc="-20" dirty="0">
                <a:solidFill>
                  <a:srgbClr val="3A3535"/>
                </a:solidFill>
                <a:latin typeface="Verdana"/>
                <a:cs typeface="Verdana"/>
              </a:rPr>
              <a:t>Side</a:t>
            </a:r>
            <a:endParaRPr sz="1750">
              <a:latin typeface="Verdana"/>
              <a:cs typeface="Verdana"/>
            </a:endParaRPr>
          </a:p>
          <a:p>
            <a:pPr marL="12700" marR="5080">
              <a:lnSpc>
                <a:spcPct val="134600"/>
              </a:lnSpc>
              <a:spcBef>
                <a:spcPts val="660"/>
              </a:spcBef>
            </a:pPr>
            <a:r>
              <a:rPr sz="1300" spc="55" dirty="0">
                <a:solidFill>
                  <a:srgbClr val="3A3535"/>
                </a:solidFill>
                <a:latin typeface="Century Gothic"/>
                <a:cs typeface="Century Gothic"/>
              </a:rPr>
              <a:t>Interacts</a:t>
            </a:r>
            <a:r>
              <a:rPr sz="1300" spc="-40" dirty="0">
                <a:solidFill>
                  <a:srgbClr val="3A3535"/>
                </a:solidFill>
                <a:latin typeface="Century Gothic"/>
                <a:cs typeface="Century Gothic"/>
              </a:rPr>
              <a:t> </a:t>
            </a:r>
            <a:r>
              <a:rPr sz="1300" spc="80" dirty="0">
                <a:solidFill>
                  <a:srgbClr val="3A3535"/>
                </a:solidFill>
                <a:latin typeface="Century Gothic"/>
                <a:cs typeface="Century Gothic"/>
              </a:rPr>
              <a:t>with</a:t>
            </a:r>
            <a:r>
              <a:rPr sz="1300" spc="-40" dirty="0">
                <a:solidFill>
                  <a:srgbClr val="3A3535"/>
                </a:solidFill>
                <a:latin typeface="Century Gothic"/>
                <a:cs typeface="Century Gothic"/>
              </a:rPr>
              <a:t> </a:t>
            </a:r>
            <a:r>
              <a:rPr sz="1300" spc="65" dirty="0">
                <a:solidFill>
                  <a:srgbClr val="3A3535"/>
                </a:solidFill>
                <a:latin typeface="Century Gothic"/>
                <a:cs typeface="Century Gothic"/>
              </a:rPr>
              <a:t>AI</a:t>
            </a:r>
            <a:r>
              <a:rPr sz="1300" spc="-40" dirty="0">
                <a:solidFill>
                  <a:srgbClr val="3A3535"/>
                </a:solidFill>
                <a:latin typeface="Century Gothic"/>
                <a:cs typeface="Century Gothic"/>
              </a:rPr>
              <a:t> </a:t>
            </a:r>
            <a:r>
              <a:rPr sz="1300" spc="90" dirty="0">
                <a:solidFill>
                  <a:srgbClr val="3A3535"/>
                </a:solidFill>
                <a:latin typeface="Century Gothic"/>
                <a:cs typeface="Century Gothic"/>
              </a:rPr>
              <a:t>or</a:t>
            </a:r>
            <a:r>
              <a:rPr sz="1300" spc="-40" dirty="0">
                <a:solidFill>
                  <a:srgbClr val="3A3535"/>
                </a:solidFill>
                <a:latin typeface="Century Gothic"/>
                <a:cs typeface="Century Gothic"/>
              </a:rPr>
              <a:t> </a:t>
            </a:r>
            <a:r>
              <a:rPr sz="1300" spc="-10" dirty="0">
                <a:solidFill>
                  <a:srgbClr val="3A3535"/>
                </a:solidFill>
                <a:latin typeface="Century Gothic"/>
                <a:cs typeface="Century Gothic"/>
              </a:rPr>
              <a:t>human </a:t>
            </a:r>
            <a:r>
              <a:rPr sz="1300" spc="60" dirty="0">
                <a:solidFill>
                  <a:srgbClr val="3A3535"/>
                </a:solidFill>
                <a:latin typeface="Century Gothic"/>
                <a:cs typeface="Century Gothic"/>
              </a:rPr>
              <a:t>through</a:t>
            </a:r>
            <a:r>
              <a:rPr sz="1300" spc="-40" dirty="0">
                <a:solidFill>
                  <a:srgbClr val="3A3535"/>
                </a:solidFill>
                <a:latin typeface="Century Gothic"/>
                <a:cs typeface="Century Gothic"/>
              </a:rPr>
              <a:t> </a:t>
            </a:r>
            <a:r>
              <a:rPr sz="1300" spc="-140" dirty="0">
                <a:solidFill>
                  <a:srgbClr val="3A3535"/>
                </a:solidFill>
                <a:latin typeface="Century Gothic"/>
                <a:cs typeface="Century Gothic"/>
              </a:rPr>
              <a:t>a</a:t>
            </a:r>
            <a:r>
              <a:rPr sz="1300" spc="-40" dirty="0">
                <a:solidFill>
                  <a:srgbClr val="3A3535"/>
                </a:solidFill>
                <a:latin typeface="Century Gothic"/>
                <a:cs typeface="Century Gothic"/>
              </a:rPr>
              <a:t> </a:t>
            </a:r>
            <a:r>
              <a:rPr sz="1300" spc="75" dirty="0">
                <a:solidFill>
                  <a:srgbClr val="3A3535"/>
                </a:solidFill>
                <a:latin typeface="Century Gothic"/>
                <a:cs typeface="Century Gothic"/>
              </a:rPr>
              <a:t>single</a:t>
            </a:r>
            <a:r>
              <a:rPr sz="1300" spc="-40" dirty="0">
                <a:solidFill>
                  <a:srgbClr val="3A3535"/>
                </a:solidFill>
                <a:latin typeface="Century Gothic"/>
                <a:cs typeface="Century Gothic"/>
              </a:rPr>
              <a:t> </a:t>
            </a:r>
            <a:r>
              <a:rPr sz="1300" dirty="0">
                <a:solidFill>
                  <a:srgbClr val="3A3535"/>
                </a:solidFill>
                <a:latin typeface="Century Gothic"/>
                <a:cs typeface="Century Gothic"/>
              </a:rPr>
              <a:t>chat</a:t>
            </a:r>
            <a:r>
              <a:rPr sz="1300" spc="-40" dirty="0">
                <a:solidFill>
                  <a:srgbClr val="3A3535"/>
                </a:solidFill>
                <a:latin typeface="Century Gothic"/>
                <a:cs typeface="Century Gothic"/>
              </a:rPr>
              <a:t> </a:t>
            </a:r>
            <a:r>
              <a:rPr sz="1300" spc="-10" dirty="0">
                <a:solidFill>
                  <a:srgbClr val="3A3535"/>
                </a:solidFill>
                <a:latin typeface="Century Gothic"/>
                <a:cs typeface="Century Gothic"/>
              </a:rPr>
              <a:t>interface</a:t>
            </a:r>
            <a:endParaRPr sz="1300">
              <a:latin typeface="Century Gothic"/>
              <a:cs typeface="Century Gothic"/>
            </a:endParaRPr>
          </a:p>
        </p:txBody>
      </p:sp>
      <p:grpSp>
        <p:nvGrpSpPr>
          <p:cNvPr id="8" name="object 8"/>
          <p:cNvGrpSpPr/>
          <p:nvPr/>
        </p:nvGrpSpPr>
        <p:grpSpPr>
          <a:xfrm>
            <a:off x="4067175" y="3390900"/>
            <a:ext cx="3295650" cy="1285875"/>
            <a:chOff x="4067175" y="3390900"/>
            <a:chExt cx="3295650" cy="1285875"/>
          </a:xfrm>
        </p:grpSpPr>
        <p:sp>
          <p:nvSpPr>
            <p:cNvPr id="9" name="object 9"/>
            <p:cNvSpPr/>
            <p:nvPr/>
          </p:nvSpPr>
          <p:spPr>
            <a:xfrm>
              <a:off x="4071937" y="3395662"/>
              <a:ext cx="3286125" cy="1276350"/>
            </a:xfrm>
            <a:custGeom>
              <a:avLst/>
              <a:gdLst/>
              <a:ahLst/>
              <a:cxnLst/>
              <a:rect l="l" t="t" r="r" b="b"/>
              <a:pathLst>
                <a:path w="3286125" h="1276350">
                  <a:moveTo>
                    <a:pt x="3235223" y="0"/>
                  </a:moveTo>
                  <a:lnTo>
                    <a:pt x="50901" y="0"/>
                  </a:lnTo>
                  <a:lnTo>
                    <a:pt x="47358" y="342"/>
                  </a:lnTo>
                  <a:lnTo>
                    <a:pt x="13423" y="18491"/>
                  </a:lnTo>
                  <a:lnTo>
                    <a:pt x="0" y="50901"/>
                  </a:lnTo>
                  <a:lnTo>
                    <a:pt x="0" y="1221867"/>
                  </a:lnTo>
                  <a:lnTo>
                    <a:pt x="0" y="1225448"/>
                  </a:lnTo>
                  <a:lnTo>
                    <a:pt x="15963" y="1260386"/>
                  </a:lnTo>
                  <a:lnTo>
                    <a:pt x="18478" y="1262926"/>
                  </a:lnTo>
                  <a:lnTo>
                    <a:pt x="50901" y="1276350"/>
                  </a:lnTo>
                  <a:lnTo>
                    <a:pt x="3235223" y="1276350"/>
                  </a:lnTo>
                  <a:lnTo>
                    <a:pt x="3272701" y="1257858"/>
                  </a:lnTo>
                  <a:lnTo>
                    <a:pt x="3286125" y="1225448"/>
                  </a:lnTo>
                  <a:lnTo>
                    <a:pt x="3286125" y="50901"/>
                  </a:lnTo>
                  <a:lnTo>
                    <a:pt x="3267633" y="13423"/>
                  </a:lnTo>
                  <a:lnTo>
                    <a:pt x="3238766" y="342"/>
                  </a:lnTo>
                  <a:lnTo>
                    <a:pt x="3235223" y="0"/>
                  </a:lnTo>
                  <a:close/>
                </a:path>
              </a:pathLst>
            </a:custGeom>
            <a:solidFill>
              <a:srgbClr val="F9D2D6"/>
            </a:solidFill>
          </p:spPr>
          <p:txBody>
            <a:bodyPr wrap="square" lIns="0" tIns="0" rIns="0" bIns="0" rtlCol="0"/>
            <a:lstStyle/>
            <a:p>
              <a:endParaRPr/>
            </a:p>
          </p:txBody>
        </p:sp>
        <p:sp>
          <p:nvSpPr>
            <p:cNvPr id="10" name="object 10"/>
            <p:cNvSpPr/>
            <p:nvPr/>
          </p:nvSpPr>
          <p:spPr>
            <a:xfrm>
              <a:off x="4071937" y="3395662"/>
              <a:ext cx="3286125" cy="1276350"/>
            </a:xfrm>
            <a:custGeom>
              <a:avLst/>
              <a:gdLst/>
              <a:ahLst/>
              <a:cxnLst/>
              <a:rect l="l" t="t" r="r" b="b"/>
              <a:pathLst>
                <a:path w="3286125" h="1276350">
                  <a:moveTo>
                    <a:pt x="0" y="1221867"/>
                  </a:moveTo>
                  <a:lnTo>
                    <a:pt x="0" y="54483"/>
                  </a:lnTo>
                  <a:lnTo>
                    <a:pt x="0" y="50901"/>
                  </a:lnTo>
                  <a:lnTo>
                    <a:pt x="342" y="47358"/>
                  </a:lnTo>
                  <a:lnTo>
                    <a:pt x="1041" y="43853"/>
                  </a:lnTo>
                  <a:lnTo>
                    <a:pt x="1752" y="40347"/>
                  </a:lnTo>
                  <a:lnTo>
                    <a:pt x="2781" y="36931"/>
                  </a:lnTo>
                  <a:lnTo>
                    <a:pt x="4152" y="33629"/>
                  </a:lnTo>
                  <a:lnTo>
                    <a:pt x="5511" y="30327"/>
                  </a:lnTo>
                  <a:lnTo>
                    <a:pt x="7188" y="27190"/>
                  </a:lnTo>
                  <a:lnTo>
                    <a:pt x="9182" y="24206"/>
                  </a:lnTo>
                  <a:lnTo>
                    <a:pt x="11163" y="21234"/>
                  </a:lnTo>
                  <a:lnTo>
                    <a:pt x="13423" y="18491"/>
                  </a:lnTo>
                  <a:lnTo>
                    <a:pt x="15963" y="15951"/>
                  </a:lnTo>
                  <a:lnTo>
                    <a:pt x="18478" y="13423"/>
                  </a:lnTo>
                  <a:lnTo>
                    <a:pt x="21234" y="11163"/>
                  </a:lnTo>
                  <a:lnTo>
                    <a:pt x="24218" y="9182"/>
                  </a:lnTo>
                  <a:lnTo>
                    <a:pt x="27190" y="7188"/>
                  </a:lnTo>
                  <a:lnTo>
                    <a:pt x="30327" y="5511"/>
                  </a:lnTo>
                  <a:lnTo>
                    <a:pt x="33629" y="4152"/>
                  </a:lnTo>
                  <a:lnTo>
                    <a:pt x="36931" y="2781"/>
                  </a:lnTo>
                  <a:lnTo>
                    <a:pt x="40347" y="1739"/>
                  </a:lnTo>
                  <a:lnTo>
                    <a:pt x="43853" y="1041"/>
                  </a:lnTo>
                  <a:lnTo>
                    <a:pt x="47358" y="342"/>
                  </a:lnTo>
                  <a:lnTo>
                    <a:pt x="50901" y="0"/>
                  </a:lnTo>
                  <a:lnTo>
                    <a:pt x="54483" y="0"/>
                  </a:lnTo>
                  <a:lnTo>
                    <a:pt x="3231642" y="0"/>
                  </a:lnTo>
                  <a:lnTo>
                    <a:pt x="3235223" y="0"/>
                  </a:lnTo>
                  <a:lnTo>
                    <a:pt x="3238766" y="342"/>
                  </a:lnTo>
                  <a:lnTo>
                    <a:pt x="3242271" y="1041"/>
                  </a:lnTo>
                  <a:lnTo>
                    <a:pt x="3245777" y="1739"/>
                  </a:lnTo>
                  <a:lnTo>
                    <a:pt x="3249180" y="2781"/>
                  </a:lnTo>
                  <a:lnTo>
                    <a:pt x="3252495" y="4152"/>
                  </a:lnTo>
                  <a:lnTo>
                    <a:pt x="3255797" y="5511"/>
                  </a:lnTo>
                  <a:lnTo>
                    <a:pt x="3258934" y="7188"/>
                  </a:lnTo>
                  <a:lnTo>
                    <a:pt x="3261906" y="9182"/>
                  </a:lnTo>
                  <a:lnTo>
                    <a:pt x="3264890" y="11163"/>
                  </a:lnTo>
                  <a:lnTo>
                    <a:pt x="3267633" y="13423"/>
                  </a:lnTo>
                  <a:lnTo>
                    <a:pt x="3270161" y="15951"/>
                  </a:lnTo>
                  <a:lnTo>
                    <a:pt x="3272701" y="18491"/>
                  </a:lnTo>
                  <a:lnTo>
                    <a:pt x="3281972" y="33629"/>
                  </a:lnTo>
                  <a:lnTo>
                    <a:pt x="3283343" y="36931"/>
                  </a:lnTo>
                  <a:lnTo>
                    <a:pt x="3284385" y="40347"/>
                  </a:lnTo>
                  <a:lnTo>
                    <a:pt x="3285083" y="43853"/>
                  </a:lnTo>
                  <a:lnTo>
                    <a:pt x="3285782" y="47358"/>
                  </a:lnTo>
                  <a:lnTo>
                    <a:pt x="3286125" y="50901"/>
                  </a:lnTo>
                  <a:lnTo>
                    <a:pt x="3286125" y="54483"/>
                  </a:lnTo>
                  <a:lnTo>
                    <a:pt x="3286125" y="1221867"/>
                  </a:lnTo>
                  <a:lnTo>
                    <a:pt x="3286125" y="1225448"/>
                  </a:lnTo>
                  <a:lnTo>
                    <a:pt x="3285782" y="1228991"/>
                  </a:lnTo>
                  <a:lnTo>
                    <a:pt x="3285083" y="1232496"/>
                  </a:lnTo>
                  <a:lnTo>
                    <a:pt x="3284385" y="1236002"/>
                  </a:lnTo>
                  <a:lnTo>
                    <a:pt x="3283343" y="1239405"/>
                  </a:lnTo>
                  <a:lnTo>
                    <a:pt x="3281972" y="1242720"/>
                  </a:lnTo>
                  <a:lnTo>
                    <a:pt x="3280613" y="1246022"/>
                  </a:lnTo>
                  <a:lnTo>
                    <a:pt x="3278936" y="1249159"/>
                  </a:lnTo>
                  <a:lnTo>
                    <a:pt x="3276942" y="1252131"/>
                  </a:lnTo>
                  <a:lnTo>
                    <a:pt x="3274949" y="1255102"/>
                  </a:lnTo>
                  <a:lnTo>
                    <a:pt x="3272701" y="1257858"/>
                  </a:lnTo>
                  <a:lnTo>
                    <a:pt x="3270161" y="1260386"/>
                  </a:lnTo>
                  <a:lnTo>
                    <a:pt x="3267633" y="1262926"/>
                  </a:lnTo>
                  <a:lnTo>
                    <a:pt x="3235223" y="1276350"/>
                  </a:lnTo>
                  <a:lnTo>
                    <a:pt x="3231642" y="1276350"/>
                  </a:lnTo>
                  <a:lnTo>
                    <a:pt x="54483" y="1276350"/>
                  </a:lnTo>
                  <a:lnTo>
                    <a:pt x="50901" y="1276350"/>
                  </a:lnTo>
                  <a:lnTo>
                    <a:pt x="47358" y="1275994"/>
                  </a:lnTo>
                  <a:lnTo>
                    <a:pt x="15963" y="1260386"/>
                  </a:lnTo>
                  <a:lnTo>
                    <a:pt x="13423" y="1257858"/>
                  </a:lnTo>
                  <a:lnTo>
                    <a:pt x="11163" y="1255102"/>
                  </a:lnTo>
                  <a:lnTo>
                    <a:pt x="9182" y="1252131"/>
                  </a:lnTo>
                  <a:lnTo>
                    <a:pt x="7188" y="1249159"/>
                  </a:lnTo>
                  <a:lnTo>
                    <a:pt x="5511" y="1246022"/>
                  </a:lnTo>
                  <a:lnTo>
                    <a:pt x="4152" y="1242720"/>
                  </a:lnTo>
                  <a:lnTo>
                    <a:pt x="2781" y="1239405"/>
                  </a:lnTo>
                  <a:lnTo>
                    <a:pt x="1752" y="1236002"/>
                  </a:lnTo>
                  <a:lnTo>
                    <a:pt x="1041" y="1232496"/>
                  </a:lnTo>
                  <a:lnTo>
                    <a:pt x="342" y="1228991"/>
                  </a:lnTo>
                  <a:lnTo>
                    <a:pt x="0" y="1225448"/>
                  </a:lnTo>
                  <a:lnTo>
                    <a:pt x="0" y="1221867"/>
                  </a:lnTo>
                  <a:close/>
                </a:path>
              </a:pathLst>
            </a:custGeom>
            <a:ln w="9525">
              <a:solidFill>
                <a:srgbClr val="DFB7BB"/>
              </a:solidFill>
            </a:ln>
          </p:spPr>
          <p:txBody>
            <a:bodyPr wrap="square" lIns="0" tIns="0" rIns="0" bIns="0" rtlCol="0"/>
            <a:lstStyle/>
            <a:p>
              <a:endParaRPr/>
            </a:p>
          </p:txBody>
        </p:sp>
      </p:grpSp>
      <p:sp>
        <p:nvSpPr>
          <p:cNvPr id="11" name="object 11"/>
          <p:cNvSpPr txBox="1"/>
          <p:nvPr/>
        </p:nvSpPr>
        <p:spPr>
          <a:xfrm>
            <a:off x="4229798" y="3546030"/>
            <a:ext cx="2733675" cy="910590"/>
          </a:xfrm>
          <a:prstGeom prst="rect">
            <a:avLst/>
          </a:prstGeom>
        </p:spPr>
        <p:txBody>
          <a:bodyPr vert="horz" wrap="square" lIns="0" tIns="12700" rIns="0" bIns="0" rtlCol="0">
            <a:spAutoFit/>
          </a:bodyPr>
          <a:lstStyle/>
          <a:p>
            <a:pPr marL="12700">
              <a:lnSpc>
                <a:spcPct val="100000"/>
              </a:lnSpc>
              <a:spcBef>
                <a:spcPts val="100"/>
              </a:spcBef>
            </a:pPr>
            <a:r>
              <a:rPr sz="1750" b="1" spc="-100" dirty="0">
                <a:solidFill>
                  <a:srgbClr val="3A3535"/>
                </a:solidFill>
                <a:latin typeface="Verdana"/>
                <a:cs typeface="Verdana"/>
              </a:rPr>
              <a:t>Therapist</a:t>
            </a:r>
            <a:r>
              <a:rPr sz="1750" b="1" spc="-165" dirty="0">
                <a:solidFill>
                  <a:srgbClr val="3A3535"/>
                </a:solidFill>
                <a:latin typeface="Verdana"/>
                <a:cs typeface="Verdana"/>
              </a:rPr>
              <a:t> </a:t>
            </a:r>
            <a:r>
              <a:rPr sz="1750" b="1" spc="-10" dirty="0">
                <a:solidFill>
                  <a:srgbClr val="3A3535"/>
                </a:solidFill>
                <a:latin typeface="Verdana"/>
                <a:cs typeface="Verdana"/>
              </a:rPr>
              <a:t>Dashboard</a:t>
            </a:r>
            <a:endParaRPr sz="1750">
              <a:latin typeface="Verdana"/>
              <a:cs typeface="Verdana"/>
            </a:endParaRPr>
          </a:p>
          <a:p>
            <a:pPr marL="12700" marR="5080">
              <a:lnSpc>
                <a:spcPct val="134600"/>
              </a:lnSpc>
              <a:spcBef>
                <a:spcPts val="660"/>
              </a:spcBef>
            </a:pPr>
            <a:r>
              <a:rPr sz="1300" spc="70" dirty="0">
                <a:solidFill>
                  <a:srgbClr val="3A3535"/>
                </a:solidFill>
                <a:latin typeface="Century Gothic"/>
                <a:cs typeface="Century Gothic"/>
              </a:rPr>
              <a:t>Alerts,</a:t>
            </a:r>
            <a:r>
              <a:rPr sz="1300" spc="-25" dirty="0">
                <a:solidFill>
                  <a:srgbClr val="3A3535"/>
                </a:solidFill>
                <a:latin typeface="Century Gothic"/>
                <a:cs typeface="Century Gothic"/>
              </a:rPr>
              <a:t> </a:t>
            </a:r>
            <a:r>
              <a:rPr sz="1300" spc="50" dirty="0">
                <a:solidFill>
                  <a:srgbClr val="3A3535"/>
                </a:solidFill>
                <a:latin typeface="Century Gothic"/>
                <a:cs typeface="Century Gothic"/>
              </a:rPr>
              <a:t>notes,</a:t>
            </a:r>
            <a:r>
              <a:rPr sz="1300" spc="-25" dirty="0">
                <a:solidFill>
                  <a:srgbClr val="3A3535"/>
                </a:solidFill>
                <a:latin typeface="Century Gothic"/>
                <a:cs typeface="Century Gothic"/>
              </a:rPr>
              <a:t> </a:t>
            </a:r>
            <a:r>
              <a:rPr sz="1300" spc="60" dirty="0">
                <a:solidFill>
                  <a:srgbClr val="3A3535"/>
                </a:solidFill>
                <a:latin typeface="Century Gothic"/>
                <a:cs typeface="Century Gothic"/>
              </a:rPr>
              <a:t>summaries,</a:t>
            </a:r>
            <a:r>
              <a:rPr sz="1300" spc="-25" dirty="0">
                <a:solidFill>
                  <a:srgbClr val="3A3535"/>
                </a:solidFill>
                <a:latin typeface="Century Gothic"/>
                <a:cs typeface="Century Gothic"/>
              </a:rPr>
              <a:t> </a:t>
            </a:r>
            <a:r>
              <a:rPr sz="1300" spc="45" dirty="0">
                <a:solidFill>
                  <a:srgbClr val="3A3535"/>
                </a:solidFill>
                <a:latin typeface="Century Gothic"/>
                <a:cs typeface="Century Gothic"/>
              </a:rPr>
              <a:t>drafts, </a:t>
            </a:r>
            <a:r>
              <a:rPr sz="1300" spc="-10" dirty="0">
                <a:solidFill>
                  <a:srgbClr val="3A3535"/>
                </a:solidFill>
                <a:latin typeface="Century Gothic"/>
                <a:cs typeface="Century Gothic"/>
              </a:rPr>
              <a:t>and</a:t>
            </a:r>
            <a:r>
              <a:rPr sz="1300" spc="-60" dirty="0">
                <a:solidFill>
                  <a:srgbClr val="3A3535"/>
                </a:solidFill>
                <a:latin typeface="Century Gothic"/>
                <a:cs typeface="Century Gothic"/>
              </a:rPr>
              <a:t> </a:t>
            </a:r>
            <a:r>
              <a:rPr sz="1300" spc="55" dirty="0">
                <a:solidFill>
                  <a:srgbClr val="3A3535"/>
                </a:solidFill>
                <a:latin typeface="Century Gothic"/>
                <a:cs typeface="Century Gothic"/>
              </a:rPr>
              <a:t>direct</a:t>
            </a:r>
            <a:r>
              <a:rPr sz="1300" spc="-55" dirty="0">
                <a:solidFill>
                  <a:srgbClr val="3A3535"/>
                </a:solidFill>
                <a:latin typeface="Century Gothic"/>
                <a:cs typeface="Century Gothic"/>
              </a:rPr>
              <a:t> </a:t>
            </a:r>
            <a:r>
              <a:rPr sz="1300" spc="-10" dirty="0">
                <a:solidFill>
                  <a:srgbClr val="3A3535"/>
                </a:solidFill>
                <a:latin typeface="Century Gothic"/>
                <a:cs typeface="Century Gothic"/>
              </a:rPr>
              <a:t>escalation</a:t>
            </a:r>
            <a:endParaRPr sz="1300">
              <a:latin typeface="Century Gothic"/>
              <a:cs typeface="Century Gothic"/>
            </a:endParaRPr>
          </a:p>
        </p:txBody>
      </p:sp>
      <p:grpSp>
        <p:nvGrpSpPr>
          <p:cNvPr id="12" name="object 12"/>
          <p:cNvGrpSpPr/>
          <p:nvPr/>
        </p:nvGrpSpPr>
        <p:grpSpPr>
          <a:xfrm>
            <a:off x="7534275" y="3390900"/>
            <a:ext cx="3305175" cy="1285875"/>
            <a:chOff x="7534275" y="3390900"/>
            <a:chExt cx="3305175" cy="1285875"/>
          </a:xfrm>
        </p:grpSpPr>
        <p:sp>
          <p:nvSpPr>
            <p:cNvPr id="13" name="object 13"/>
            <p:cNvSpPr/>
            <p:nvPr/>
          </p:nvSpPr>
          <p:spPr>
            <a:xfrm>
              <a:off x="7539037" y="3395662"/>
              <a:ext cx="3295650" cy="1276350"/>
            </a:xfrm>
            <a:custGeom>
              <a:avLst/>
              <a:gdLst/>
              <a:ahLst/>
              <a:cxnLst/>
              <a:rect l="l" t="t" r="r" b="b"/>
              <a:pathLst>
                <a:path w="3295650" h="1276350">
                  <a:moveTo>
                    <a:pt x="3244748" y="0"/>
                  </a:moveTo>
                  <a:lnTo>
                    <a:pt x="50901" y="0"/>
                  </a:lnTo>
                  <a:lnTo>
                    <a:pt x="47358" y="342"/>
                  </a:lnTo>
                  <a:lnTo>
                    <a:pt x="13423" y="18491"/>
                  </a:lnTo>
                  <a:lnTo>
                    <a:pt x="0" y="50901"/>
                  </a:lnTo>
                  <a:lnTo>
                    <a:pt x="0" y="1221867"/>
                  </a:lnTo>
                  <a:lnTo>
                    <a:pt x="0" y="1225448"/>
                  </a:lnTo>
                  <a:lnTo>
                    <a:pt x="18478" y="1262926"/>
                  </a:lnTo>
                  <a:lnTo>
                    <a:pt x="50901" y="1276350"/>
                  </a:lnTo>
                  <a:lnTo>
                    <a:pt x="3244748" y="1276350"/>
                  </a:lnTo>
                  <a:lnTo>
                    <a:pt x="3282226" y="1257858"/>
                  </a:lnTo>
                  <a:lnTo>
                    <a:pt x="3295650" y="1225448"/>
                  </a:lnTo>
                  <a:lnTo>
                    <a:pt x="3295650" y="50901"/>
                  </a:lnTo>
                  <a:lnTo>
                    <a:pt x="3277158" y="13423"/>
                  </a:lnTo>
                  <a:lnTo>
                    <a:pt x="3248291" y="342"/>
                  </a:lnTo>
                  <a:lnTo>
                    <a:pt x="3244748" y="0"/>
                  </a:lnTo>
                  <a:close/>
                </a:path>
              </a:pathLst>
            </a:custGeom>
            <a:solidFill>
              <a:srgbClr val="F9D2D6"/>
            </a:solidFill>
          </p:spPr>
          <p:txBody>
            <a:bodyPr wrap="square" lIns="0" tIns="0" rIns="0" bIns="0" rtlCol="0"/>
            <a:lstStyle/>
            <a:p>
              <a:endParaRPr/>
            </a:p>
          </p:txBody>
        </p:sp>
        <p:sp>
          <p:nvSpPr>
            <p:cNvPr id="14" name="object 14"/>
            <p:cNvSpPr/>
            <p:nvPr/>
          </p:nvSpPr>
          <p:spPr>
            <a:xfrm>
              <a:off x="7539037" y="3395662"/>
              <a:ext cx="3295650" cy="1276350"/>
            </a:xfrm>
            <a:custGeom>
              <a:avLst/>
              <a:gdLst/>
              <a:ahLst/>
              <a:cxnLst/>
              <a:rect l="l" t="t" r="r" b="b"/>
              <a:pathLst>
                <a:path w="3295650" h="1276350">
                  <a:moveTo>
                    <a:pt x="0" y="1221867"/>
                  </a:moveTo>
                  <a:lnTo>
                    <a:pt x="0" y="54483"/>
                  </a:lnTo>
                  <a:lnTo>
                    <a:pt x="0" y="50901"/>
                  </a:lnTo>
                  <a:lnTo>
                    <a:pt x="342" y="47358"/>
                  </a:lnTo>
                  <a:lnTo>
                    <a:pt x="1041" y="43853"/>
                  </a:lnTo>
                  <a:lnTo>
                    <a:pt x="1752" y="40347"/>
                  </a:lnTo>
                  <a:lnTo>
                    <a:pt x="2781" y="36931"/>
                  </a:lnTo>
                  <a:lnTo>
                    <a:pt x="4152" y="33629"/>
                  </a:lnTo>
                  <a:lnTo>
                    <a:pt x="5511" y="30327"/>
                  </a:lnTo>
                  <a:lnTo>
                    <a:pt x="7188" y="27190"/>
                  </a:lnTo>
                  <a:lnTo>
                    <a:pt x="9182" y="24206"/>
                  </a:lnTo>
                  <a:lnTo>
                    <a:pt x="11163" y="21234"/>
                  </a:lnTo>
                  <a:lnTo>
                    <a:pt x="24206" y="9182"/>
                  </a:lnTo>
                  <a:lnTo>
                    <a:pt x="27190" y="7188"/>
                  </a:lnTo>
                  <a:lnTo>
                    <a:pt x="30327" y="5511"/>
                  </a:lnTo>
                  <a:lnTo>
                    <a:pt x="33629" y="4152"/>
                  </a:lnTo>
                  <a:lnTo>
                    <a:pt x="36931" y="2781"/>
                  </a:lnTo>
                  <a:lnTo>
                    <a:pt x="40347" y="1739"/>
                  </a:lnTo>
                  <a:lnTo>
                    <a:pt x="43853" y="1041"/>
                  </a:lnTo>
                  <a:lnTo>
                    <a:pt x="47358" y="342"/>
                  </a:lnTo>
                  <a:lnTo>
                    <a:pt x="50901" y="0"/>
                  </a:lnTo>
                  <a:lnTo>
                    <a:pt x="54483" y="0"/>
                  </a:lnTo>
                  <a:lnTo>
                    <a:pt x="3241167" y="0"/>
                  </a:lnTo>
                  <a:lnTo>
                    <a:pt x="3244748" y="0"/>
                  </a:lnTo>
                  <a:lnTo>
                    <a:pt x="3248291" y="342"/>
                  </a:lnTo>
                  <a:lnTo>
                    <a:pt x="3251796" y="1041"/>
                  </a:lnTo>
                  <a:lnTo>
                    <a:pt x="3255302" y="1739"/>
                  </a:lnTo>
                  <a:lnTo>
                    <a:pt x="3258705" y="2781"/>
                  </a:lnTo>
                  <a:lnTo>
                    <a:pt x="3262020" y="4152"/>
                  </a:lnTo>
                  <a:lnTo>
                    <a:pt x="3265322" y="5511"/>
                  </a:lnTo>
                  <a:lnTo>
                    <a:pt x="3268459" y="7188"/>
                  </a:lnTo>
                  <a:lnTo>
                    <a:pt x="3271431" y="9182"/>
                  </a:lnTo>
                  <a:lnTo>
                    <a:pt x="3274415" y="11163"/>
                  </a:lnTo>
                  <a:lnTo>
                    <a:pt x="3277158" y="13423"/>
                  </a:lnTo>
                  <a:lnTo>
                    <a:pt x="3279686" y="15951"/>
                  </a:lnTo>
                  <a:lnTo>
                    <a:pt x="3282226" y="18491"/>
                  </a:lnTo>
                  <a:lnTo>
                    <a:pt x="3291497" y="33629"/>
                  </a:lnTo>
                  <a:lnTo>
                    <a:pt x="3292868" y="36931"/>
                  </a:lnTo>
                  <a:lnTo>
                    <a:pt x="3293910" y="40347"/>
                  </a:lnTo>
                  <a:lnTo>
                    <a:pt x="3294608" y="43853"/>
                  </a:lnTo>
                  <a:lnTo>
                    <a:pt x="3295307" y="47358"/>
                  </a:lnTo>
                  <a:lnTo>
                    <a:pt x="3295650" y="50901"/>
                  </a:lnTo>
                  <a:lnTo>
                    <a:pt x="3295650" y="54483"/>
                  </a:lnTo>
                  <a:lnTo>
                    <a:pt x="3295650" y="1221867"/>
                  </a:lnTo>
                  <a:lnTo>
                    <a:pt x="3295650" y="1225448"/>
                  </a:lnTo>
                  <a:lnTo>
                    <a:pt x="3295307" y="1228991"/>
                  </a:lnTo>
                  <a:lnTo>
                    <a:pt x="3294608" y="1232496"/>
                  </a:lnTo>
                  <a:lnTo>
                    <a:pt x="3293910" y="1236002"/>
                  </a:lnTo>
                  <a:lnTo>
                    <a:pt x="3292868" y="1239405"/>
                  </a:lnTo>
                  <a:lnTo>
                    <a:pt x="3291497" y="1242720"/>
                  </a:lnTo>
                  <a:lnTo>
                    <a:pt x="3290138" y="1246022"/>
                  </a:lnTo>
                  <a:lnTo>
                    <a:pt x="3288461" y="1249159"/>
                  </a:lnTo>
                  <a:lnTo>
                    <a:pt x="3286467" y="1252131"/>
                  </a:lnTo>
                  <a:lnTo>
                    <a:pt x="3284486" y="1255102"/>
                  </a:lnTo>
                  <a:lnTo>
                    <a:pt x="3282226" y="1257858"/>
                  </a:lnTo>
                  <a:lnTo>
                    <a:pt x="3279686" y="1260386"/>
                  </a:lnTo>
                  <a:lnTo>
                    <a:pt x="3277158" y="1262926"/>
                  </a:lnTo>
                  <a:lnTo>
                    <a:pt x="3244748" y="1276350"/>
                  </a:lnTo>
                  <a:lnTo>
                    <a:pt x="3241167" y="1276350"/>
                  </a:lnTo>
                  <a:lnTo>
                    <a:pt x="54483" y="1276350"/>
                  </a:lnTo>
                  <a:lnTo>
                    <a:pt x="50901" y="1276350"/>
                  </a:lnTo>
                  <a:lnTo>
                    <a:pt x="47358" y="1275994"/>
                  </a:lnTo>
                  <a:lnTo>
                    <a:pt x="15951" y="1260386"/>
                  </a:lnTo>
                  <a:lnTo>
                    <a:pt x="13423" y="1257858"/>
                  </a:lnTo>
                  <a:lnTo>
                    <a:pt x="11163" y="1255102"/>
                  </a:lnTo>
                  <a:lnTo>
                    <a:pt x="9182" y="1252131"/>
                  </a:lnTo>
                  <a:lnTo>
                    <a:pt x="7188" y="1249159"/>
                  </a:lnTo>
                  <a:lnTo>
                    <a:pt x="5511" y="1246022"/>
                  </a:lnTo>
                  <a:lnTo>
                    <a:pt x="4152" y="1242720"/>
                  </a:lnTo>
                  <a:lnTo>
                    <a:pt x="2781" y="1239405"/>
                  </a:lnTo>
                  <a:lnTo>
                    <a:pt x="1752" y="1236002"/>
                  </a:lnTo>
                  <a:lnTo>
                    <a:pt x="1041" y="1232496"/>
                  </a:lnTo>
                  <a:lnTo>
                    <a:pt x="342" y="1228991"/>
                  </a:lnTo>
                  <a:lnTo>
                    <a:pt x="0" y="1225448"/>
                  </a:lnTo>
                  <a:lnTo>
                    <a:pt x="0" y="1221867"/>
                  </a:lnTo>
                  <a:close/>
                </a:path>
              </a:pathLst>
            </a:custGeom>
            <a:ln w="9525">
              <a:solidFill>
                <a:srgbClr val="DFB7BB"/>
              </a:solidFill>
            </a:ln>
          </p:spPr>
          <p:txBody>
            <a:bodyPr wrap="square" lIns="0" tIns="0" rIns="0" bIns="0" rtlCol="0"/>
            <a:lstStyle/>
            <a:p>
              <a:endParaRPr/>
            </a:p>
          </p:txBody>
        </p:sp>
      </p:grpSp>
      <p:sp>
        <p:nvSpPr>
          <p:cNvPr id="15" name="object 15"/>
          <p:cNvSpPr txBox="1"/>
          <p:nvPr/>
        </p:nvSpPr>
        <p:spPr>
          <a:xfrm>
            <a:off x="7701356" y="3546030"/>
            <a:ext cx="2966720" cy="910590"/>
          </a:xfrm>
          <a:prstGeom prst="rect">
            <a:avLst/>
          </a:prstGeom>
        </p:spPr>
        <p:txBody>
          <a:bodyPr vert="horz" wrap="square" lIns="0" tIns="12700" rIns="0" bIns="0" rtlCol="0">
            <a:spAutoFit/>
          </a:bodyPr>
          <a:lstStyle/>
          <a:p>
            <a:pPr marL="12700">
              <a:lnSpc>
                <a:spcPct val="100000"/>
              </a:lnSpc>
              <a:spcBef>
                <a:spcPts val="100"/>
              </a:spcBef>
            </a:pPr>
            <a:r>
              <a:rPr sz="1750" b="1" spc="-100" dirty="0">
                <a:solidFill>
                  <a:srgbClr val="3A3535"/>
                </a:solidFill>
                <a:latin typeface="Verdana"/>
                <a:cs typeface="Verdana"/>
              </a:rPr>
              <a:t>Human-</a:t>
            </a:r>
            <a:r>
              <a:rPr sz="1750" b="1" spc="-85" dirty="0">
                <a:solidFill>
                  <a:srgbClr val="3A3535"/>
                </a:solidFill>
                <a:latin typeface="Verdana"/>
                <a:cs typeface="Verdana"/>
              </a:rPr>
              <a:t>Only</a:t>
            </a:r>
            <a:r>
              <a:rPr sz="1750" b="1" spc="-155" dirty="0">
                <a:solidFill>
                  <a:srgbClr val="3A3535"/>
                </a:solidFill>
                <a:latin typeface="Verdana"/>
                <a:cs typeface="Verdana"/>
              </a:rPr>
              <a:t> </a:t>
            </a:r>
            <a:r>
              <a:rPr sz="1750" b="1" spc="-20" dirty="0">
                <a:solidFill>
                  <a:srgbClr val="3A3535"/>
                </a:solidFill>
                <a:latin typeface="Verdana"/>
                <a:cs typeface="Verdana"/>
              </a:rPr>
              <a:t>Mode</a:t>
            </a:r>
            <a:endParaRPr sz="1750">
              <a:latin typeface="Verdana"/>
              <a:cs typeface="Verdana"/>
            </a:endParaRPr>
          </a:p>
          <a:p>
            <a:pPr marL="12700" marR="5080">
              <a:lnSpc>
                <a:spcPct val="134600"/>
              </a:lnSpc>
              <a:spcBef>
                <a:spcPts val="660"/>
              </a:spcBef>
            </a:pPr>
            <a:r>
              <a:rPr sz="1300" spc="10" dirty="0">
                <a:solidFill>
                  <a:srgbClr val="3A3535"/>
                </a:solidFill>
                <a:latin typeface="Century Gothic"/>
                <a:cs typeface="Century Gothic"/>
              </a:rPr>
              <a:t>Same</a:t>
            </a:r>
            <a:r>
              <a:rPr sz="1300" spc="30" dirty="0">
                <a:solidFill>
                  <a:srgbClr val="3A3535"/>
                </a:solidFill>
                <a:latin typeface="Century Gothic"/>
                <a:cs typeface="Century Gothic"/>
              </a:rPr>
              <a:t> </a:t>
            </a:r>
            <a:r>
              <a:rPr sz="1300" spc="10" dirty="0">
                <a:solidFill>
                  <a:srgbClr val="3A3535"/>
                </a:solidFill>
                <a:latin typeface="Century Gothic"/>
                <a:cs typeface="Century Gothic"/>
              </a:rPr>
              <a:t>framework</a:t>
            </a:r>
            <a:r>
              <a:rPr sz="1300" spc="35" dirty="0">
                <a:solidFill>
                  <a:srgbClr val="3A3535"/>
                </a:solidFill>
                <a:latin typeface="Century Gothic"/>
                <a:cs typeface="Century Gothic"/>
              </a:rPr>
              <a:t> </a:t>
            </a:r>
            <a:r>
              <a:rPr sz="1300" spc="110" dirty="0">
                <a:solidFill>
                  <a:srgbClr val="3A3535"/>
                </a:solidFill>
                <a:latin typeface="Century Gothic"/>
                <a:cs typeface="Century Gothic"/>
              </a:rPr>
              <a:t>runs</a:t>
            </a:r>
            <a:r>
              <a:rPr sz="1300" spc="30" dirty="0">
                <a:solidFill>
                  <a:srgbClr val="3A3535"/>
                </a:solidFill>
                <a:latin typeface="Century Gothic"/>
                <a:cs typeface="Century Gothic"/>
              </a:rPr>
              <a:t> </a:t>
            </a:r>
            <a:r>
              <a:rPr sz="1300" spc="70" dirty="0">
                <a:solidFill>
                  <a:srgbClr val="3A3535"/>
                </a:solidFill>
                <a:latin typeface="Century Gothic"/>
                <a:cs typeface="Century Gothic"/>
              </a:rPr>
              <a:t>without</a:t>
            </a:r>
            <a:r>
              <a:rPr sz="1300" spc="35" dirty="0">
                <a:solidFill>
                  <a:srgbClr val="3A3535"/>
                </a:solidFill>
                <a:latin typeface="Century Gothic"/>
                <a:cs typeface="Century Gothic"/>
              </a:rPr>
              <a:t> </a:t>
            </a:r>
            <a:r>
              <a:rPr sz="1300" spc="65" dirty="0">
                <a:solidFill>
                  <a:srgbClr val="3A3535"/>
                </a:solidFill>
                <a:latin typeface="Century Gothic"/>
                <a:cs typeface="Century Gothic"/>
              </a:rPr>
              <a:t>AI</a:t>
            </a:r>
            <a:r>
              <a:rPr sz="1300" spc="30" dirty="0">
                <a:solidFill>
                  <a:srgbClr val="3A3535"/>
                </a:solidFill>
                <a:latin typeface="Century Gothic"/>
                <a:cs typeface="Century Gothic"/>
              </a:rPr>
              <a:t> </a:t>
            </a:r>
            <a:r>
              <a:rPr sz="1300" spc="-50" dirty="0">
                <a:solidFill>
                  <a:srgbClr val="3A3535"/>
                </a:solidFill>
                <a:latin typeface="Century Gothic"/>
                <a:cs typeface="Century Gothic"/>
              </a:rPr>
              <a:t>— </a:t>
            </a:r>
            <a:r>
              <a:rPr sz="1300" dirty="0">
                <a:solidFill>
                  <a:srgbClr val="3A3535"/>
                </a:solidFill>
                <a:latin typeface="Century Gothic"/>
                <a:cs typeface="Century Gothic"/>
              </a:rPr>
              <a:t>enabling</a:t>
            </a:r>
            <a:r>
              <a:rPr sz="1300" spc="80" dirty="0">
                <a:solidFill>
                  <a:srgbClr val="3A3535"/>
                </a:solidFill>
                <a:latin typeface="Century Gothic"/>
                <a:cs typeface="Century Gothic"/>
              </a:rPr>
              <a:t> </a:t>
            </a:r>
            <a:r>
              <a:rPr sz="1300" spc="50" dirty="0">
                <a:solidFill>
                  <a:srgbClr val="3A3535"/>
                </a:solidFill>
                <a:latin typeface="Century Gothic"/>
                <a:cs typeface="Century Gothic"/>
              </a:rPr>
              <a:t>controlled</a:t>
            </a:r>
            <a:r>
              <a:rPr sz="1300" spc="80" dirty="0">
                <a:solidFill>
                  <a:srgbClr val="3A3535"/>
                </a:solidFill>
                <a:latin typeface="Century Gothic"/>
                <a:cs typeface="Century Gothic"/>
              </a:rPr>
              <a:t> </a:t>
            </a:r>
            <a:r>
              <a:rPr sz="1300" spc="55" dirty="0">
                <a:solidFill>
                  <a:srgbClr val="3A3535"/>
                </a:solidFill>
                <a:latin typeface="Century Gothic"/>
                <a:cs typeface="Century Gothic"/>
              </a:rPr>
              <a:t>comparisons</a:t>
            </a:r>
            <a:endParaRPr sz="1300">
              <a:latin typeface="Century Gothic"/>
              <a:cs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99085" rIns="0" bIns="0" rtlCol="0">
            <a:spAutoFit/>
          </a:bodyPr>
          <a:lstStyle/>
          <a:p>
            <a:pPr marL="12700">
              <a:lnSpc>
                <a:spcPct val="100000"/>
              </a:lnSpc>
              <a:spcBef>
                <a:spcPts val="105"/>
              </a:spcBef>
            </a:pPr>
            <a:r>
              <a:rPr spc="-70" dirty="0"/>
              <a:t>Mobile</a:t>
            </a:r>
            <a:r>
              <a:rPr spc="-409" dirty="0"/>
              <a:t> </a:t>
            </a:r>
            <a:r>
              <a:rPr spc="-25" dirty="0"/>
              <a:t>App</a:t>
            </a:r>
          </a:p>
        </p:txBody>
      </p:sp>
      <p:sp>
        <p:nvSpPr>
          <p:cNvPr id="3" name="object 3"/>
          <p:cNvSpPr txBox="1"/>
          <p:nvPr/>
        </p:nvSpPr>
        <p:spPr>
          <a:xfrm>
            <a:off x="579635" y="1716600"/>
            <a:ext cx="4663440" cy="577850"/>
          </a:xfrm>
          <a:prstGeom prst="rect">
            <a:avLst/>
          </a:prstGeom>
        </p:spPr>
        <p:txBody>
          <a:bodyPr vert="horz" wrap="square" lIns="0" tIns="11430" rIns="0" bIns="0" rtlCol="0">
            <a:spAutoFit/>
          </a:bodyPr>
          <a:lstStyle/>
          <a:p>
            <a:pPr marL="12700" marR="5080">
              <a:lnSpc>
                <a:spcPct val="139400"/>
              </a:lnSpc>
              <a:spcBef>
                <a:spcPts val="90"/>
              </a:spcBef>
            </a:pPr>
            <a:r>
              <a:rPr sz="1300" spc="80" dirty="0">
                <a:solidFill>
                  <a:srgbClr val="3A3535"/>
                </a:solidFill>
                <a:latin typeface="Century Gothic"/>
                <a:cs typeface="Century Gothic"/>
              </a:rPr>
              <a:t>The</a:t>
            </a:r>
            <a:r>
              <a:rPr sz="1300" spc="85" dirty="0">
                <a:solidFill>
                  <a:srgbClr val="3A3535"/>
                </a:solidFill>
                <a:latin typeface="Century Gothic"/>
                <a:cs typeface="Century Gothic"/>
              </a:rPr>
              <a:t> </a:t>
            </a:r>
            <a:r>
              <a:rPr sz="1300" dirty="0">
                <a:solidFill>
                  <a:srgbClr val="3A3535"/>
                </a:solidFill>
                <a:latin typeface="Century Gothic"/>
                <a:cs typeface="Century Gothic"/>
              </a:rPr>
              <a:t>same</a:t>
            </a:r>
            <a:r>
              <a:rPr sz="1300" spc="85" dirty="0">
                <a:solidFill>
                  <a:srgbClr val="3A3535"/>
                </a:solidFill>
                <a:latin typeface="Century Gothic"/>
                <a:cs typeface="Century Gothic"/>
              </a:rPr>
              <a:t> </a:t>
            </a:r>
            <a:r>
              <a:rPr sz="1300" dirty="0">
                <a:solidFill>
                  <a:srgbClr val="3A3535"/>
                </a:solidFill>
                <a:latin typeface="Century Gothic"/>
                <a:cs typeface="Century Gothic"/>
              </a:rPr>
              <a:t>program</a:t>
            </a:r>
            <a:r>
              <a:rPr sz="1300" spc="85" dirty="0">
                <a:solidFill>
                  <a:srgbClr val="3A3535"/>
                </a:solidFill>
                <a:latin typeface="Century Gothic"/>
                <a:cs typeface="Century Gothic"/>
              </a:rPr>
              <a:t> </a:t>
            </a:r>
            <a:r>
              <a:rPr sz="1300" dirty="0">
                <a:solidFill>
                  <a:srgbClr val="3A3535"/>
                </a:solidFill>
                <a:latin typeface="Century Gothic"/>
                <a:cs typeface="Century Gothic"/>
              </a:rPr>
              <a:t>logic</a:t>
            </a:r>
            <a:r>
              <a:rPr sz="1300" spc="85" dirty="0">
                <a:solidFill>
                  <a:srgbClr val="3A3535"/>
                </a:solidFill>
                <a:latin typeface="Century Gothic"/>
                <a:cs typeface="Century Gothic"/>
              </a:rPr>
              <a:t> </a:t>
            </a:r>
            <a:r>
              <a:rPr sz="1300" spc="60" dirty="0">
                <a:solidFill>
                  <a:srgbClr val="3A3535"/>
                </a:solidFill>
                <a:latin typeface="Century Gothic"/>
                <a:cs typeface="Century Gothic"/>
              </a:rPr>
              <a:t>continues</a:t>
            </a:r>
            <a:r>
              <a:rPr sz="1300" spc="90" dirty="0">
                <a:solidFill>
                  <a:srgbClr val="3A3535"/>
                </a:solidFill>
                <a:latin typeface="Century Gothic"/>
                <a:cs typeface="Century Gothic"/>
              </a:rPr>
              <a:t> </a:t>
            </a:r>
            <a:r>
              <a:rPr sz="1300" dirty="0">
                <a:solidFill>
                  <a:srgbClr val="3A3535"/>
                </a:solidFill>
                <a:latin typeface="Century Gothic"/>
                <a:cs typeface="Century Gothic"/>
              </a:rPr>
              <a:t>on</a:t>
            </a:r>
            <a:r>
              <a:rPr sz="1300" spc="85" dirty="0">
                <a:solidFill>
                  <a:srgbClr val="3A3535"/>
                </a:solidFill>
                <a:latin typeface="Century Gothic"/>
                <a:cs typeface="Century Gothic"/>
              </a:rPr>
              <a:t> </a:t>
            </a:r>
            <a:r>
              <a:rPr sz="1300" dirty="0">
                <a:solidFill>
                  <a:srgbClr val="3A3535"/>
                </a:solidFill>
                <a:latin typeface="Century Gothic"/>
                <a:cs typeface="Century Gothic"/>
              </a:rPr>
              <a:t>mobile.</a:t>
            </a:r>
            <a:r>
              <a:rPr sz="1300" spc="85" dirty="0">
                <a:solidFill>
                  <a:srgbClr val="3A3535"/>
                </a:solidFill>
                <a:latin typeface="Century Gothic"/>
                <a:cs typeface="Century Gothic"/>
              </a:rPr>
              <a:t> </a:t>
            </a:r>
            <a:r>
              <a:rPr sz="1300" spc="60" dirty="0">
                <a:solidFill>
                  <a:srgbClr val="3A3535"/>
                </a:solidFill>
                <a:latin typeface="Century Gothic"/>
                <a:cs typeface="Century Gothic"/>
              </a:rPr>
              <a:t>SelfHelp </a:t>
            </a:r>
            <a:r>
              <a:rPr sz="1300" dirty="0">
                <a:solidFill>
                  <a:srgbClr val="3A3535"/>
                </a:solidFill>
                <a:latin typeface="Century Gothic"/>
                <a:cs typeface="Century Gothic"/>
              </a:rPr>
              <a:t>becomes</a:t>
            </a:r>
            <a:r>
              <a:rPr sz="1300" spc="10" dirty="0">
                <a:solidFill>
                  <a:srgbClr val="3A3535"/>
                </a:solidFill>
                <a:latin typeface="Century Gothic"/>
                <a:cs typeface="Century Gothic"/>
              </a:rPr>
              <a:t> </a:t>
            </a:r>
            <a:r>
              <a:rPr sz="1300" dirty="0">
                <a:solidFill>
                  <a:srgbClr val="3A3535"/>
                </a:solidFill>
                <a:latin typeface="Century Gothic"/>
                <a:cs typeface="Century Gothic"/>
              </a:rPr>
              <a:t>part</a:t>
            </a:r>
            <a:r>
              <a:rPr sz="1300" spc="10" dirty="0">
                <a:solidFill>
                  <a:srgbClr val="3A3535"/>
                </a:solidFill>
                <a:latin typeface="Century Gothic"/>
                <a:cs typeface="Century Gothic"/>
              </a:rPr>
              <a:t> </a:t>
            </a:r>
            <a:r>
              <a:rPr sz="1300" spc="60" dirty="0">
                <a:solidFill>
                  <a:srgbClr val="3A3535"/>
                </a:solidFill>
                <a:latin typeface="Century Gothic"/>
                <a:cs typeface="Century Gothic"/>
              </a:rPr>
              <a:t>of</a:t>
            </a:r>
            <a:r>
              <a:rPr sz="1300" spc="10" dirty="0">
                <a:solidFill>
                  <a:srgbClr val="3A3535"/>
                </a:solidFill>
                <a:latin typeface="Century Gothic"/>
                <a:cs typeface="Century Gothic"/>
              </a:rPr>
              <a:t> </a:t>
            </a:r>
            <a:r>
              <a:rPr sz="1300" b="1" spc="-45" dirty="0">
                <a:solidFill>
                  <a:srgbClr val="3A3535"/>
                </a:solidFill>
                <a:latin typeface="Verdana"/>
                <a:cs typeface="Verdana"/>
              </a:rPr>
              <a:t>daily</a:t>
            </a:r>
            <a:r>
              <a:rPr sz="1300" b="1" spc="-110" dirty="0">
                <a:solidFill>
                  <a:srgbClr val="3A3535"/>
                </a:solidFill>
                <a:latin typeface="Verdana"/>
                <a:cs typeface="Verdana"/>
              </a:rPr>
              <a:t> </a:t>
            </a:r>
            <a:r>
              <a:rPr sz="1300" b="1" spc="-50" dirty="0">
                <a:solidFill>
                  <a:srgbClr val="3A3535"/>
                </a:solidFill>
                <a:latin typeface="Verdana"/>
                <a:cs typeface="Verdana"/>
              </a:rPr>
              <a:t>use</a:t>
            </a:r>
            <a:r>
              <a:rPr sz="1300" spc="-50" dirty="0">
                <a:solidFill>
                  <a:srgbClr val="3A3535"/>
                </a:solidFill>
                <a:latin typeface="Century Gothic"/>
                <a:cs typeface="Century Gothic"/>
              </a:rPr>
              <a:t>,</a:t>
            </a:r>
            <a:r>
              <a:rPr sz="1300" spc="10" dirty="0">
                <a:solidFill>
                  <a:srgbClr val="3A3535"/>
                </a:solidFill>
                <a:latin typeface="Century Gothic"/>
                <a:cs typeface="Century Gothic"/>
              </a:rPr>
              <a:t> </a:t>
            </a:r>
            <a:r>
              <a:rPr sz="1300" spc="65" dirty="0">
                <a:solidFill>
                  <a:srgbClr val="3A3535"/>
                </a:solidFill>
                <a:latin typeface="Century Gothic"/>
                <a:cs typeface="Century Gothic"/>
              </a:rPr>
              <a:t>not</a:t>
            </a:r>
            <a:r>
              <a:rPr sz="1300" spc="10" dirty="0">
                <a:solidFill>
                  <a:srgbClr val="3A3535"/>
                </a:solidFill>
                <a:latin typeface="Century Gothic"/>
                <a:cs typeface="Century Gothic"/>
              </a:rPr>
              <a:t> </a:t>
            </a:r>
            <a:r>
              <a:rPr sz="1300" spc="50" dirty="0">
                <a:solidFill>
                  <a:srgbClr val="3A3535"/>
                </a:solidFill>
                <a:latin typeface="Century Gothic"/>
                <a:cs typeface="Century Gothic"/>
              </a:rPr>
              <a:t>only</a:t>
            </a:r>
            <a:r>
              <a:rPr sz="1300" spc="10" dirty="0">
                <a:solidFill>
                  <a:srgbClr val="3A3535"/>
                </a:solidFill>
                <a:latin typeface="Century Gothic"/>
                <a:cs typeface="Century Gothic"/>
              </a:rPr>
              <a:t> </a:t>
            </a:r>
            <a:r>
              <a:rPr sz="1300" spc="55" dirty="0">
                <a:solidFill>
                  <a:srgbClr val="3A3535"/>
                </a:solidFill>
                <a:latin typeface="Century Gothic"/>
                <a:cs typeface="Century Gothic"/>
              </a:rPr>
              <a:t>desktop</a:t>
            </a:r>
            <a:r>
              <a:rPr sz="1300" spc="10" dirty="0">
                <a:solidFill>
                  <a:srgbClr val="3A3535"/>
                </a:solidFill>
                <a:latin typeface="Century Gothic"/>
                <a:cs typeface="Century Gothic"/>
              </a:rPr>
              <a:t> </a:t>
            </a:r>
            <a:r>
              <a:rPr sz="1300" spc="-20" dirty="0">
                <a:solidFill>
                  <a:srgbClr val="3A3535"/>
                </a:solidFill>
                <a:latin typeface="Century Gothic"/>
                <a:cs typeface="Century Gothic"/>
              </a:rPr>
              <a:t>use.</a:t>
            </a:r>
            <a:endParaRPr sz="1300">
              <a:latin typeface="Century Gothic"/>
              <a:cs typeface="Century Gothic"/>
            </a:endParaRPr>
          </a:p>
        </p:txBody>
      </p:sp>
      <p:sp>
        <p:nvSpPr>
          <p:cNvPr id="4" name="object 4"/>
          <p:cNvSpPr txBox="1"/>
          <p:nvPr/>
        </p:nvSpPr>
        <p:spPr>
          <a:xfrm>
            <a:off x="579622" y="2485047"/>
            <a:ext cx="2543175" cy="228600"/>
          </a:xfrm>
          <a:prstGeom prst="rect">
            <a:avLst/>
          </a:prstGeom>
        </p:spPr>
        <p:txBody>
          <a:bodyPr vert="horz" wrap="square" lIns="0" tIns="16510" rIns="0" bIns="0" rtlCol="0">
            <a:spAutoFit/>
          </a:bodyPr>
          <a:lstStyle/>
          <a:p>
            <a:pPr marL="12700">
              <a:lnSpc>
                <a:spcPct val="100000"/>
              </a:lnSpc>
              <a:spcBef>
                <a:spcPts val="130"/>
              </a:spcBef>
            </a:pPr>
            <a:r>
              <a:rPr sz="1300" dirty="0">
                <a:solidFill>
                  <a:srgbClr val="3A3535"/>
                </a:solidFill>
                <a:latin typeface="Century Gothic"/>
                <a:cs typeface="Century Gothic"/>
              </a:rPr>
              <a:t>Already</a:t>
            </a:r>
            <a:r>
              <a:rPr sz="1300" spc="35" dirty="0">
                <a:solidFill>
                  <a:srgbClr val="3A3535"/>
                </a:solidFill>
                <a:latin typeface="Century Gothic"/>
                <a:cs typeface="Century Gothic"/>
              </a:rPr>
              <a:t> </a:t>
            </a:r>
            <a:r>
              <a:rPr sz="1300" spc="60" dirty="0">
                <a:solidFill>
                  <a:srgbClr val="3A3535"/>
                </a:solidFill>
                <a:latin typeface="Century Gothic"/>
                <a:cs typeface="Century Gothic"/>
              </a:rPr>
              <a:t>supported</a:t>
            </a:r>
            <a:r>
              <a:rPr sz="1300" spc="35" dirty="0">
                <a:solidFill>
                  <a:srgbClr val="3A3535"/>
                </a:solidFill>
                <a:latin typeface="Century Gothic"/>
                <a:cs typeface="Century Gothic"/>
              </a:rPr>
              <a:t> </a:t>
            </a:r>
            <a:r>
              <a:rPr sz="1300" dirty="0">
                <a:solidFill>
                  <a:srgbClr val="3A3535"/>
                </a:solidFill>
                <a:latin typeface="Century Gothic"/>
                <a:cs typeface="Century Gothic"/>
              </a:rPr>
              <a:t>on</a:t>
            </a:r>
            <a:r>
              <a:rPr sz="1300" spc="35" dirty="0">
                <a:solidFill>
                  <a:srgbClr val="3A3535"/>
                </a:solidFill>
                <a:latin typeface="Century Gothic"/>
                <a:cs typeface="Century Gothic"/>
              </a:rPr>
              <a:t> </a:t>
            </a:r>
            <a:r>
              <a:rPr sz="1300" spc="-10" dirty="0">
                <a:solidFill>
                  <a:srgbClr val="3A3535"/>
                </a:solidFill>
                <a:latin typeface="Century Gothic"/>
                <a:cs typeface="Century Gothic"/>
              </a:rPr>
              <a:t>mobile:</a:t>
            </a:r>
            <a:endParaRPr sz="1300">
              <a:latin typeface="Century Gothic"/>
              <a:cs typeface="Century Gothic"/>
            </a:endParaRPr>
          </a:p>
        </p:txBody>
      </p:sp>
      <p:sp>
        <p:nvSpPr>
          <p:cNvPr id="5" name="object 5"/>
          <p:cNvSpPr/>
          <p:nvPr/>
        </p:nvSpPr>
        <p:spPr>
          <a:xfrm>
            <a:off x="628650" y="3009900"/>
            <a:ext cx="57150" cy="57150"/>
          </a:xfrm>
          <a:custGeom>
            <a:avLst/>
            <a:gdLst/>
            <a:ahLst/>
            <a:cxnLst/>
            <a:rect l="l" t="t" r="r" b="b"/>
            <a:pathLst>
              <a:path w="57150" h="57150">
                <a:moveTo>
                  <a:pt x="32364" y="0"/>
                </a:moveTo>
                <a:lnTo>
                  <a:pt x="24785" y="0"/>
                </a:lnTo>
                <a:lnTo>
                  <a:pt x="21139" y="723"/>
                </a:lnTo>
                <a:lnTo>
                  <a:pt x="0" y="24790"/>
                </a:lnTo>
                <a:lnTo>
                  <a:pt x="0" y="32359"/>
                </a:lnTo>
                <a:lnTo>
                  <a:pt x="24785" y="57150"/>
                </a:lnTo>
                <a:lnTo>
                  <a:pt x="32364" y="57150"/>
                </a:lnTo>
                <a:lnTo>
                  <a:pt x="57150" y="32359"/>
                </a:lnTo>
                <a:lnTo>
                  <a:pt x="57150" y="28575"/>
                </a:lnTo>
                <a:lnTo>
                  <a:pt x="57150" y="24790"/>
                </a:lnTo>
                <a:lnTo>
                  <a:pt x="36010" y="723"/>
                </a:lnTo>
                <a:lnTo>
                  <a:pt x="32364" y="0"/>
                </a:lnTo>
                <a:close/>
              </a:path>
            </a:pathLst>
          </a:custGeom>
          <a:solidFill>
            <a:srgbClr val="3A3535"/>
          </a:solidFill>
        </p:spPr>
        <p:txBody>
          <a:bodyPr wrap="square" lIns="0" tIns="0" rIns="0" bIns="0" rtlCol="0"/>
          <a:lstStyle/>
          <a:p>
            <a:endParaRPr/>
          </a:p>
        </p:txBody>
      </p:sp>
      <p:sp>
        <p:nvSpPr>
          <p:cNvPr id="6" name="object 6"/>
          <p:cNvSpPr txBox="1"/>
          <p:nvPr/>
        </p:nvSpPr>
        <p:spPr>
          <a:xfrm>
            <a:off x="850201" y="2904147"/>
            <a:ext cx="2617470" cy="895350"/>
          </a:xfrm>
          <a:prstGeom prst="rect">
            <a:avLst/>
          </a:prstGeom>
        </p:spPr>
        <p:txBody>
          <a:bodyPr vert="horz" wrap="square" lIns="0" tIns="16510" rIns="0" bIns="0" rtlCol="0">
            <a:spAutoFit/>
          </a:bodyPr>
          <a:lstStyle/>
          <a:p>
            <a:pPr marL="12700">
              <a:lnSpc>
                <a:spcPct val="100000"/>
              </a:lnSpc>
              <a:spcBef>
                <a:spcPts val="130"/>
              </a:spcBef>
            </a:pPr>
            <a:r>
              <a:rPr sz="1300" spc="70" dirty="0">
                <a:solidFill>
                  <a:srgbClr val="3A3535"/>
                </a:solidFill>
                <a:latin typeface="Century Gothic"/>
                <a:cs typeface="Century Gothic"/>
              </a:rPr>
              <a:t>Surveys,</a:t>
            </a:r>
            <a:r>
              <a:rPr sz="1300" spc="-10" dirty="0">
                <a:solidFill>
                  <a:srgbClr val="3A3535"/>
                </a:solidFill>
                <a:latin typeface="Century Gothic"/>
                <a:cs typeface="Century Gothic"/>
              </a:rPr>
              <a:t> </a:t>
            </a:r>
            <a:r>
              <a:rPr sz="1300" spc="65" dirty="0">
                <a:solidFill>
                  <a:srgbClr val="3A3535"/>
                </a:solidFill>
                <a:latin typeface="Century Gothic"/>
                <a:cs typeface="Century Gothic"/>
              </a:rPr>
              <a:t>AI</a:t>
            </a:r>
            <a:r>
              <a:rPr sz="1300" spc="-5" dirty="0">
                <a:solidFill>
                  <a:srgbClr val="3A3535"/>
                </a:solidFill>
                <a:latin typeface="Century Gothic"/>
                <a:cs typeface="Century Gothic"/>
              </a:rPr>
              <a:t> </a:t>
            </a:r>
            <a:r>
              <a:rPr sz="1300" dirty="0">
                <a:solidFill>
                  <a:srgbClr val="3A3535"/>
                </a:solidFill>
                <a:latin typeface="Century Gothic"/>
                <a:cs typeface="Century Gothic"/>
              </a:rPr>
              <a:t>chat,</a:t>
            </a:r>
            <a:r>
              <a:rPr sz="1300" spc="-5" dirty="0">
                <a:solidFill>
                  <a:srgbClr val="3A3535"/>
                </a:solidFill>
                <a:latin typeface="Century Gothic"/>
                <a:cs typeface="Century Gothic"/>
              </a:rPr>
              <a:t> </a:t>
            </a:r>
            <a:r>
              <a:rPr sz="1300" dirty="0">
                <a:solidFill>
                  <a:srgbClr val="3A3535"/>
                </a:solidFill>
                <a:latin typeface="Century Gothic"/>
                <a:cs typeface="Century Gothic"/>
              </a:rPr>
              <a:t>therapy</a:t>
            </a:r>
            <a:r>
              <a:rPr sz="1300" spc="-5" dirty="0">
                <a:solidFill>
                  <a:srgbClr val="3A3535"/>
                </a:solidFill>
                <a:latin typeface="Century Gothic"/>
                <a:cs typeface="Century Gothic"/>
              </a:rPr>
              <a:t> </a:t>
            </a:r>
            <a:r>
              <a:rPr sz="1300" spc="-20" dirty="0">
                <a:solidFill>
                  <a:srgbClr val="3A3535"/>
                </a:solidFill>
                <a:latin typeface="Century Gothic"/>
                <a:cs typeface="Century Gothic"/>
              </a:rPr>
              <a:t>chat</a:t>
            </a:r>
            <a:endParaRPr sz="1300">
              <a:latin typeface="Century Gothic"/>
              <a:cs typeface="Century Gothic"/>
            </a:endParaRPr>
          </a:p>
          <a:p>
            <a:pPr marL="12700">
              <a:lnSpc>
                <a:spcPct val="100000"/>
              </a:lnSpc>
              <a:spcBef>
                <a:spcPts val="1065"/>
              </a:spcBef>
            </a:pPr>
            <a:r>
              <a:rPr sz="1300" spc="85" dirty="0">
                <a:solidFill>
                  <a:srgbClr val="3A3535"/>
                </a:solidFill>
                <a:latin typeface="Century Gothic"/>
                <a:cs typeface="Century Gothic"/>
              </a:rPr>
              <a:t>Push</a:t>
            </a:r>
            <a:r>
              <a:rPr sz="1300" spc="-50" dirty="0">
                <a:solidFill>
                  <a:srgbClr val="3A3535"/>
                </a:solidFill>
                <a:latin typeface="Century Gothic"/>
                <a:cs typeface="Century Gothic"/>
              </a:rPr>
              <a:t> </a:t>
            </a:r>
            <a:r>
              <a:rPr sz="1300" spc="60" dirty="0">
                <a:solidFill>
                  <a:srgbClr val="3A3535"/>
                </a:solidFill>
                <a:latin typeface="Century Gothic"/>
                <a:cs typeface="Century Gothic"/>
              </a:rPr>
              <a:t>notifications</a:t>
            </a:r>
            <a:endParaRPr sz="1300">
              <a:latin typeface="Century Gothic"/>
              <a:cs typeface="Century Gothic"/>
            </a:endParaRPr>
          </a:p>
          <a:p>
            <a:pPr marL="12700">
              <a:lnSpc>
                <a:spcPct val="100000"/>
              </a:lnSpc>
              <a:spcBef>
                <a:spcPts val="1065"/>
              </a:spcBef>
            </a:pPr>
            <a:r>
              <a:rPr sz="1300" spc="-25" dirty="0">
                <a:solidFill>
                  <a:srgbClr val="3A3535"/>
                </a:solidFill>
                <a:latin typeface="Century Gothic"/>
                <a:cs typeface="Century Gothic"/>
              </a:rPr>
              <a:t>Camera</a:t>
            </a:r>
            <a:r>
              <a:rPr sz="1300" spc="90" dirty="0">
                <a:solidFill>
                  <a:srgbClr val="3A3535"/>
                </a:solidFill>
                <a:latin typeface="Century Gothic"/>
                <a:cs typeface="Century Gothic"/>
              </a:rPr>
              <a:t> </a:t>
            </a:r>
            <a:r>
              <a:rPr sz="1300" spc="-10" dirty="0">
                <a:solidFill>
                  <a:srgbClr val="3A3535"/>
                </a:solidFill>
                <a:latin typeface="Century Gothic"/>
                <a:cs typeface="Century Gothic"/>
              </a:rPr>
              <a:t>and</a:t>
            </a:r>
            <a:r>
              <a:rPr sz="1300" spc="95" dirty="0">
                <a:solidFill>
                  <a:srgbClr val="3A3535"/>
                </a:solidFill>
                <a:latin typeface="Century Gothic"/>
                <a:cs typeface="Century Gothic"/>
              </a:rPr>
              <a:t> </a:t>
            </a:r>
            <a:r>
              <a:rPr sz="1300" dirty="0">
                <a:solidFill>
                  <a:srgbClr val="3A3535"/>
                </a:solidFill>
                <a:latin typeface="Century Gothic"/>
                <a:cs typeface="Century Gothic"/>
              </a:rPr>
              <a:t>microphone</a:t>
            </a:r>
            <a:r>
              <a:rPr sz="1300" spc="90" dirty="0">
                <a:solidFill>
                  <a:srgbClr val="3A3535"/>
                </a:solidFill>
                <a:latin typeface="Century Gothic"/>
                <a:cs typeface="Century Gothic"/>
              </a:rPr>
              <a:t> </a:t>
            </a:r>
            <a:r>
              <a:rPr sz="1300" spc="65" dirty="0">
                <a:solidFill>
                  <a:srgbClr val="3A3535"/>
                </a:solidFill>
                <a:latin typeface="Century Gothic"/>
                <a:cs typeface="Century Gothic"/>
              </a:rPr>
              <a:t>input</a:t>
            </a:r>
            <a:endParaRPr sz="1300">
              <a:latin typeface="Century Gothic"/>
              <a:cs typeface="Century Gothic"/>
            </a:endParaRPr>
          </a:p>
        </p:txBody>
      </p:sp>
      <p:sp>
        <p:nvSpPr>
          <p:cNvPr id="7" name="object 7"/>
          <p:cNvSpPr/>
          <p:nvPr/>
        </p:nvSpPr>
        <p:spPr>
          <a:xfrm>
            <a:off x="628650" y="3343275"/>
            <a:ext cx="57150" cy="57150"/>
          </a:xfrm>
          <a:custGeom>
            <a:avLst/>
            <a:gdLst/>
            <a:ahLst/>
            <a:cxnLst/>
            <a:rect l="l" t="t" r="r" b="b"/>
            <a:pathLst>
              <a:path w="57150" h="57150">
                <a:moveTo>
                  <a:pt x="32364" y="0"/>
                </a:moveTo>
                <a:lnTo>
                  <a:pt x="24785" y="0"/>
                </a:lnTo>
                <a:lnTo>
                  <a:pt x="21139" y="723"/>
                </a:lnTo>
                <a:lnTo>
                  <a:pt x="0" y="24790"/>
                </a:lnTo>
                <a:lnTo>
                  <a:pt x="0" y="32359"/>
                </a:lnTo>
                <a:lnTo>
                  <a:pt x="24785" y="57150"/>
                </a:lnTo>
                <a:lnTo>
                  <a:pt x="32364" y="57150"/>
                </a:lnTo>
                <a:lnTo>
                  <a:pt x="57150" y="32359"/>
                </a:lnTo>
                <a:lnTo>
                  <a:pt x="57150" y="28575"/>
                </a:lnTo>
                <a:lnTo>
                  <a:pt x="57150" y="24790"/>
                </a:lnTo>
                <a:lnTo>
                  <a:pt x="36010" y="723"/>
                </a:lnTo>
                <a:lnTo>
                  <a:pt x="32364" y="0"/>
                </a:lnTo>
                <a:close/>
              </a:path>
            </a:pathLst>
          </a:custGeom>
          <a:solidFill>
            <a:srgbClr val="3A3535"/>
          </a:solidFill>
        </p:spPr>
        <p:txBody>
          <a:bodyPr wrap="square" lIns="0" tIns="0" rIns="0" bIns="0" rtlCol="0"/>
          <a:lstStyle/>
          <a:p>
            <a:endParaRPr/>
          </a:p>
        </p:txBody>
      </p:sp>
      <p:sp>
        <p:nvSpPr>
          <p:cNvPr id="8" name="object 8"/>
          <p:cNvSpPr/>
          <p:nvPr/>
        </p:nvSpPr>
        <p:spPr>
          <a:xfrm>
            <a:off x="628650" y="3676650"/>
            <a:ext cx="57150" cy="57150"/>
          </a:xfrm>
          <a:custGeom>
            <a:avLst/>
            <a:gdLst/>
            <a:ahLst/>
            <a:cxnLst/>
            <a:rect l="l" t="t" r="r" b="b"/>
            <a:pathLst>
              <a:path w="57150" h="57150">
                <a:moveTo>
                  <a:pt x="32364" y="0"/>
                </a:moveTo>
                <a:lnTo>
                  <a:pt x="24785" y="0"/>
                </a:lnTo>
                <a:lnTo>
                  <a:pt x="21139" y="723"/>
                </a:lnTo>
                <a:lnTo>
                  <a:pt x="0" y="24790"/>
                </a:lnTo>
                <a:lnTo>
                  <a:pt x="0" y="32359"/>
                </a:lnTo>
                <a:lnTo>
                  <a:pt x="24785" y="57150"/>
                </a:lnTo>
                <a:lnTo>
                  <a:pt x="32364" y="57150"/>
                </a:lnTo>
                <a:lnTo>
                  <a:pt x="57150" y="32359"/>
                </a:lnTo>
                <a:lnTo>
                  <a:pt x="57150" y="28575"/>
                </a:lnTo>
                <a:lnTo>
                  <a:pt x="57150" y="24790"/>
                </a:lnTo>
                <a:lnTo>
                  <a:pt x="36010" y="723"/>
                </a:lnTo>
                <a:lnTo>
                  <a:pt x="32364" y="0"/>
                </a:lnTo>
                <a:close/>
              </a:path>
            </a:pathLst>
          </a:custGeom>
          <a:solidFill>
            <a:srgbClr val="3A3535"/>
          </a:solidFill>
        </p:spPr>
        <p:txBody>
          <a:bodyPr wrap="square" lIns="0" tIns="0" rIns="0" bIns="0" rtlCol="0"/>
          <a:lstStyle/>
          <a:p>
            <a:endParaRPr/>
          </a:p>
        </p:txBody>
      </p:sp>
      <p:grpSp>
        <p:nvGrpSpPr>
          <p:cNvPr id="9" name="object 9"/>
          <p:cNvGrpSpPr/>
          <p:nvPr/>
        </p:nvGrpSpPr>
        <p:grpSpPr>
          <a:xfrm>
            <a:off x="5934074" y="1819275"/>
            <a:ext cx="2371725" cy="1857375"/>
            <a:chOff x="5934074" y="1819275"/>
            <a:chExt cx="2371725" cy="1857375"/>
          </a:xfrm>
        </p:grpSpPr>
        <p:sp>
          <p:nvSpPr>
            <p:cNvPr id="10" name="object 10"/>
            <p:cNvSpPr/>
            <p:nvPr/>
          </p:nvSpPr>
          <p:spPr>
            <a:xfrm>
              <a:off x="5934062" y="2077300"/>
              <a:ext cx="2371725" cy="1599565"/>
            </a:xfrm>
            <a:custGeom>
              <a:avLst/>
              <a:gdLst/>
              <a:ahLst/>
              <a:cxnLst/>
              <a:rect l="l" t="t" r="r" b="b"/>
              <a:pathLst>
                <a:path w="2371725" h="1599564">
                  <a:moveTo>
                    <a:pt x="2371725" y="75361"/>
                  </a:moveTo>
                  <a:lnTo>
                    <a:pt x="2358898" y="33020"/>
                  </a:lnTo>
                  <a:lnTo>
                    <a:pt x="2324684" y="4965"/>
                  </a:lnTo>
                  <a:lnTo>
                    <a:pt x="2306282" y="0"/>
                  </a:lnTo>
                  <a:lnTo>
                    <a:pt x="2310396" y="1092"/>
                  </a:lnTo>
                  <a:lnTo>
                    <a:pt x="2324392" y="8826"/>
                  </a:lnTo>
                  <a:lnTo>
                    <a:pt x="2348319" y="46202"/>
                  </a:lnTo>
                  <a:lnTo>
                    <a:pt x="2352675" y="75361"/>
                  </a:lnTo>
                  <a:lnTo>
                    <a:pt x="2352675" y="1540116"/>
                  </a:lnTo>
                  <a:lnTo>
                    <a:pt x="2351963" y="1547977"/>
                  </a:lnTo>
                  <a:lnTo>
                    <a:pt x="2351951" y="1548130"/>
                  </a:lnTo>
                  <a:lnTo>
                    <a:pt x="2320506" y="1579575"/>
                  </a:lnTo>
                  <a:lnTo>
                    <a:pt x="2312479" y="1580311"/>
                  </a:lnTo>
                  <a:lnTo>
                    <a:pt x="59245" y="1580311"/>
                  </a:lnTo>
                  <a:lnTo>
                    <a:pt x="51231" y="1579575"/>
                  </a:lnTo>
                  <a:lnTo>
                    <a:pt x="43815" y="1577365"/>
                  </a:lnTo>
                  <a:lnTo>
                    <a:pt x="37020" y="1573682"/>
                  </a:lnTo>
                  <a:lnTo>
                    <a:pt x="31330" y="1568983"/>
                  </a:lnTo>
                  <a:lnTo>
                    <a:pt x="30822" y="1568538"/>
                  </a:lnTo>
                  <a:lnTo>
                    <a:pt x="25679" y="1562341"/>
                  </a:lnTo>
                  <a:lnTo>
                    <a:pt x="21996" y="1555546"/>
                  </a:lnTo>
                  <a:lnTo>
                    <a:pt x="19786" y="1548130"/>
                  </a:lnTo>
                  <a:lnTo>
                    <a:pt x="19050" y="1540116"/>
                  </a:lnTo>
                  <a:lnTo>
                    <a:pt x="19050" y="75361"/>
                  </a:lnTo>
                  <a:lnTo>
                    <a:pt x="28676" y="33020"/>
                  </a:lnTo>
                  <a:lnTo>
                    <a:pt x="61328" y="1092"/>
                  </a:lnTo>
                  <a:lnTo>
                    <a:pt x="65443" y="0"/>
                  </a:lnTo>
                  <a:lnTo>
                    <a:pt x="61341" y="609"/>
                  </a:lnTo>
                  <a:lnTo>
                    <a:pt x="22313" y="21475"/>
                  </a:lnTo>
                  <a:lnTo>
                    <a:pt x="1460" y="60490"/>
                  </a:lnTo>
                  <a:lnTo>
                    <a:pt x="0" y="75361"/>
                  </a:lnTo>
                  <a:lnTo>
                    <a:pt x="0" y="1547977"/>
                  </a:lnTo>
                  <a:lnTo>
                    <a:pt x="1498" y="1555534"/>
                  </a:lnTo>
                  <a:lnTo>
                    <a:pt x="7518" y="1570050"/>
                  </a:lnTo>
                  <a:lnTo>
                    <a:pt x="11798" y="1576451"/>
                  </a:lnTo>
                  <a:lnTo>
                    <a:pt x="17830" y="1582483"/>
                  </a:lnTo>
                  <a:lnTo>
                    <a:pt x="22910" y="1587563"/>
                  </a:lnTo>
                  <a:lnTo>
                    <a:pt x="29311" y="1591843"/>
                  </a:lnTo>
                  <a:lnTo>
                    <a:pt x="43827" y="1597863"/>
                  </a:lnTo>
                  <a:lnTo>
                    <a:pt x="51384" y="1599361"/>
                  </a:lnTo>
                  <a:lnTo>
                    <a:pt x="2320340" y="1599361"/>
                  </a:lnTo>
                  <a:lnTo>
                    <a:pt x="2327897" y="1597863"/>
                  </a:lnTo>
                  <a:lnTo>
                    <a:pt x="2342413" y="1591843"/>
                  </a:lnTo>
                  <a:lnTo>
                    <a:pt x="2348814" y="1587563"/>
                  </a:lnTo>
                  <a:lnTo>
                    <a:pt x="2353894" y="1582483"/>
                  </a:lnTo>
                  <a:lnTo>
                    <a:pt x="2354376" y="1582000"/>
                  </a:lnTo>
                  <a:lnTo>
                    <a:pt x="2359926" y="1576451"/>
                  </a:lnTo>
                  <a:lnTo>
                    <a:pt x="2364206" y="1570050"/>
                  </a:lnTo>
                  <a:lnTo>
                    <a:pt x="2370226" y="1555546"/>
                  </a:lnTo>
                  <a:lnTo>
                    <a:pt x="2371699" y="1548130"/>
                  </a:lnTo>
                  <a:lnTo>
                    <a:pt x="2371725" y="75361"/>
                  </a:lnTo>
                  <a:close/>
                </a:path>
              </a:pathLst>
            </a:custGeom>
            <a:solidFill>
              <a:srgbClr val="DFB7BB"/>
            </a:solidFill>
          </p:spPr>
          <p:txBody>
            <a:bodyPr wrap="square" lIns="0" tIns="0" rIns="0" bIns="0" rtlCol="0"/>
            <a:lstStyle/>
            <a:p>
              <a:endParaRPr/>
            </a:p>
          </p:txBody>
        </p:sp>
        <p:sp>
          <p:nvSpPr>
            <p:cNvPr id="11" name="object 11"/>
            <p:cNvSpPr/>
            <p:nvPr/>
          </p:nvSpPr>
          <p:spPr>
            <a:xfrm>
              <a:off x="5934075" y="1819274"/>
              <a:ext cx="2371725" cy="514350"/>
            </a:xfrm>
            <a:custGeom>
              <a:avLst/>
              <a:gdLst/>
              <a:ahLst/>
              <a:cxnLst/>
              <a:rect l="l" t="t" r="r" b="b"/>
              <a:pathLst>
                <a:path w="2371725" h="514350">
                  <a:moveTo>
                    <a:pt x="2371725" y="293484"/>
                  </a:moveTo>
                  <a:lnTo>
                    <a:pt x="2357120" y="258229"/>
                  </a:lnTo>
                  <a:lnTo>
                    <a:pt x="2320226" y="238506"/>
                  </a:lnTo>
                  <a:lnTo>
                    <a:pt x="2316365" y="238125"/>
                  </a:lnTo>
                  <a:lnTo>
                    <a:pt x="1440903" y="238125"/>
                  </a:lnTo>
                  <a:lnTo>
                    <a:pt x="1439481" y="223583"/>
                  </a:lnTo>
                  <a:lnTo>
                    <a:pt x="1428026" y="174459"/>
                  </a:lnTo>
                  <a:lnTo>
                    <a:pt x="1407210" y="128511"/>
                  </a:lnTo>
                  <a:lnTo>
                    <a:pt x="1377835" y="87515"/>
                  </a:lnTo>
                  <a:lnTo>
                    <a:pt x="1341005" y="53035"/>
                  </a:lnTo>
                  <a:lnTo>
                    <a:pt x="1298181" y="26403"/>
                  </a:lnTo>
                  <a:lnTo>
                    <a:pt x="1250975" y="8623"/>
                  </a:lnTo>
                  <a:lnTo>
                    <a:pt x="1201191" y="406"/>
                  </a:lnTo>
                  <a:lnTo>
                    <a:pt x="1192796" y="0"/>
                  </a:lnTo>
                  <a:lnTo>
                    <a:pt x="1175956" y="0"/>
                  </a:lnTo>
                  <a:lnTo>
                    <a:pt x="1125943" y="6578"/>
                  </a:lnTo>
                  <a:lnTo>
                    <a:pt x="1078179" y="22796"/>
                  </a:lnTo>
                  <a:lnTo>
                    <a:pt x="1034491" y="48018"/>
                  </a:lnTo>
                  <a:lnTo>
                    <a:pt x="996569" y="81280"/>
                  </a:lnTo>
                  <a:lnTo>
                    <a:pt x="965860" y="121297"/>
                  </a:lnTo>
                  <a:lnTo>
                    <a:pt x="943546" y="166535"/>
                  </a:lnTo>
                  <a:lnTo>
                    <a:pt x="930503" y="215265"/>
                  </a:lnTo>
                  <a:lnTo>
                    <a:pt x="927823" y="238125"/>
                  </a:lnTo>
                  <a:lnTo>
                    <a:pt x="55359" y="238125"/>
                  </a:lnTo>
                  <a:lnTo>
                    <a:pt x="20104" y="252730"/>
                  </a:lnTo>
                  <a:lnTo>
                    <a:pt x="381" y="289623"/>
                  </a:lnTo>
                  <a:lnTo>
                    <a:pt x="0" y="293484"/>
                  </a:lnTo>
                  <a:lnTo>
                    <a:pt x="0" y="314325"/>
                  </a:lnTo>
                  <a:lnTo>
                    <a:pt x="933513" y="314325"/>
                  </a:lnTo>
                  <a:lnTo>
                    <a:pt x="933780" y="315607"/>
                  </a:lnTo>
                  <a:lnTo>
                    <a:pt x="949998" y="363372"/>
                  </a:lnTo>
                  <a:lnTo>
                    <a:pt x="975220" y="407060"/>
                  </a:lnTo>
                  <a:lnTo>
                    <a:pt x="1008481" y="444982"/>
                  </a:lnTo>
                  <a:lnTo>
                    <a:pt x="1048499" y="475691"/>
                  </a:lnTo>
                  <a:lnTo>
                    <a:pt x="1093736" y="497992"/>
                  </a:lnTo>
                  <a:lnTo>
                    <a:pt x="1142466" y="511048"/>
                  </a:lnTo>
                  <a:lnTo>
                    <a:pt x="1175956" y="514350"/>
                  </a:lnTo>
                  <a:lnTo>
                    <a:pt x="1192796" y="514350"/>
                  </a:lnTo>
                  <a:lnTo>
                    <a:pt x="1242809" y="507758"/>
                  </a:lnTo>
                  <a:lnTo>
                    <a:pt x="1290574" y="491553"/>
                  </a:lnTo>
                  <a:lnTo>
                    <a:pt x="1334249" y="466331"/>
                  </a:lnTo>
                  <a:lnTo>
                    <a:pt x="1372184" y="433070"/>
                  </a:lnTo>
                  <a:lnTo>
                    <a:pt x="1402892" y="393052"/>
                  </a:lnTo>
                  <a:lnTo>
                    <a:pt x="1425194" y="347802"/>
                  </a:lnTo>
                  <a:lnTo>
                    <a:pt x="1435214" y="314325"/>
                  </a:lnTo>
                  <a:lnTo>
                    <a:pt x="2371725" y="314325"/>
                  </a:lnTo>
                  <a:lnTo>
                    <a:pt x="2371725" y="293484"/>
                  </a:lnTo>
                  <a:close/>
                </a:path>
              </a:pathLst>
            </a:custGeom>
            <a:solidFill>
              <a:srgbClr val="DA1B2D"/>
            </a:solidFill>
          </p:spPr>
          <p:txBody>
            <a:bodyPr wrap="square" lIns="0" tIns="0" rIns="0" bIns="0" rtlCol="0"/>
            <a:lstStyle/>
            <a:p>
              <a:endParaRPr/>
            </a:p>
          </p:txBody>
        </p:sp>
      </p:grpSp>
      <p:sp>
        <p:nvSpPr>
          <p:cNvPr id="12" name="object 12"/>
          <p:cNvSpPr txBox="1"/>
          <p:nvPr/>
        </p:nvSpPr>
        <p:spPr>
          <a:xfrm>
            <a:off x="7061848" y="1927351"/>
            <a:ext cx="111760" cy="269240"/>
          </a:xfrm>
          <a:prstGeom prst="rect">
            <a:avLst/>
          </a:prstGeom>
        </p:spPr>
        <p:txBody>
          <a:bodyPr vert="horz" wrap="square" lIns="0" tIns="12700" rIns="0" bIns="0" rtlCol="0">
            <a:spAutoFit/>
          </a:bodyPr>
          <a:lstStyle/>
          <a:p>
            <a:pPr marL="12700">
              <a:lnSpc>
                <a:spcPct val="100000"/>
              </a:lnSpc>
              <a:spcBef>
                <a:spcPts val="100"/>
              </a:spcBef>
            </a:pPr>
            <a:r>
              <a:rPr sz="1600" b="1" spc="-520" dirty="0">
                <a:solidFill>
                  <a:srgbClr val="FFFFFF"/>
                </a:solidFill>
                <a:latin typeface="Verdana"/>
                <a:cs typeface="Verdana"/>
              </a:rPr>
              <a:t>1</a:t>
            </a:r>
            <a:endParaRPr sz="1600">
              <a:latin typeface="Verdana"/>
              <a:cs typeface="Verdana"/>
            </a:endParaRPr>
          </a:p>
        </p:txBody>
      </p:sp>
      <p:sp>
        <p:nvSpPr>
          <p:cNvPr id="13" name="object 13"/>
          <p:cNvSpPr txBox="1"/>
          <p:nvPr/>
        </p:nvSpPr>
        <p:spPr>
          <a:xfrm>
            <a:off x="6106515" y="2469705"/>
            <a:ext cx="1620520" cy="986790"/>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Respond</a:t>
            </a:r>
            <a:endParaRPr sz="1750">
              <a:latin typeface="Verdana"/>
              <a:cs typeface="Verdana"/>
            </a:endParaRPr>
          </a:p>
          <a:p>
            <a:pPr marL="12700" marR="5080">
              <a:lnSpc>
                <a:spcPct val="139400"/>
              </a:lnSpc>
              <a:spcBef>
                <a:spcPts val="1110"/>
              </a:spcBef>
            </a:pPr>
            <a:r>
              <a:rPr sz="1300" dirty="0">
                <a:solidFill>
                  <a:srgbClr val="3A3535"/>
                </a:solidFill>
                <a:latin typeface="Century Gothic"/>
                <a:cs typeface="Century Gothic"/>
              </a:rPr>
              <a:t>Complete</a:t>
            </a:r>
            <a:r>
              <a:rPr sz="1300" spc="150" dirty="0">
                <a:solidFill>
                  <a:srgbClr val="3A3535"/>
                </a:solidFill>
                <a:latin typeface="Century Gothic"/>
                <a:cs typeface="Century Gothic"/>
              </a:rPr>
              <a:t> </a:t>
            </a:r>
            <a:r>
              <a:rPr sz="1300" spc="65" dirty="0">
                <a:solidFill>
                  <a:srgbClr val="3A3535"/>
                </a:solidFill>
                <a:latin typeface="Century Gothic"/>
                <a:cs typeface="Century Gothic"/>
              </a:rPr>
              <a:t>surveys </a:t>
            </a:r>
            <a:r>
              <a:rPr sz="1300" dirty="0">
                <a:solidFill>
                  <a:srgbClr val="3A3535"/>
                </a:solidFill>
                <a:latin typeface="Century Gothic"/>
                <a:cs typeface="Century Gothic"/>
              </a:rPr>
              <a:t>when</a:t>
            </a:r>
            <a:r>
              <a:rPr sz="1300" spc="10" dirty="0">
                <a:solidFill>
                  <a:srgbClr val="3A3535"/>
                </a:solidFill>
                <a:latin typeface="Century Gothic"/>
                <a:cs typeface="Century Gothic"/>
              </a:rPr>
              <a:t> </a:t>
            </a:r>
            <a:r>
              <a:rPr sz="1300" spc="125" dirty="0">
                <a:solidFill>
                  <a:srgbClr val="3A3535"/>
                </a:solidFill>
                <a:latin typeface="Century Gothic"/>
                <a:cs typeface="Century Gothic"/>
              </a:rPr>
              <a:t>it</a:t>
            </a:r>
            <a:r>
              <a:rPr sz="1300" spc="10" dirty="0">
                <a:solidFill>
                  <a:srgbClr val="3A3535"/>
                </a:solidFill>
                <a:latin typeface="Century Gothic"/>
                <a:cs typeface="Century Gothic"/>
              </a:rPr>
              <a:t> </a:t>
            </a:r>
            <a:r>
              <a:rPr sz="1300" spc="130" dirty="0">
                <a:solidFill>
                  <a:srgbClr val="3A3535"/>
                </a:solidFill>
                <a:latin typeface="Century Gothic"/>
                <a:cs typeface="Century Gothic"/>
              </a:rPr>
              <a:t>fits</a:t>
            </a:r>
            <a:r>
              <a:rPr sz="1300" spc="15" dirty="0">
                <a:solidFill>
                  <a:srgbClr val="3A3535"/>
                </a:solidFill>
                <a:latin typeface="Century Gothic"/>
                <a:cs typeface="Century Gothic"/>
              </a:rPr>
              <a:t> </a:t>
            </a:r>
            <a:r>
              <a:rPr sz="1300" dirty="0">
                <a:solidFill>
                  <a:srgbClr val="3A3535"/>
                </a:solidFill>
                <a:latin typeface="Century Gothic"/>
                <a:cs typeface="Century Gothic"/>
              </a:rPr>
              <a:t>the</a:t>
            </a:r>
            <a:r>
              <a:rPr sz="1300" spc="10" dirty="0">
                <a:solidFill>
                  <a:srgbClr val="3A3535"/>
                </a:solidFill>
                <a:latin typeface="Century Gothic"/>
                <a:cs typeface="Century Gothic"/>
              </a:rPr>
              <a:t> </a:t>
            </a:r>
            <a:r>
              <a:rPr sz="1300" spc="-45" dirty="0">
                <a:solidFill>
                  <a:srgbClr val="3A3535"/>
                </a:solidFill>
                <a:latin typeface="Century Gothic"/>
                <a:cs typeface="Century Gothic"/>
              </a:rPr>
              <a:t>day</a:t>
            </a:r>
            <a:endParaRPr sz="1300">
              <a:latin typeface="Century Gothic"/>
              <a:cs typeface="Century Gothic"/>
            </a:endParaRPr>
          </a:p>
        </p:txBody>
      </p:sp>
      <p:grpSp>
        <p:nvGrpSpPr>
          <p:cNvPr id="14" name="object 14"/>
          <p:cNvGrpSpPr/>
          <p:nvPr/>
        </p:nvGrpSpPr>
        <p:grpSpPr>
          <a:xfrm>
            <a:off x="8477249" y="1819275"/>
            <a:ext cx="2371725" cy="1857375"/>
            <a:chOff x="8477249" y="1819275"/>
            <a:chExt cx="2371725" cy="1857375"/>
          </a:xfrm>
        </p:grpSpPr>
        <p:sp>
          <p:nvSpPr>
            <p:cNvPr id="15" name="object 15"/>
            <p:cNvSpPr/>
            <p:nvPr/>
          </p:nvSpPr>
          <p:spPr>
            <a:xfrm>
              <a:off x="8477237" y="2077300"/>
              <a:ext cx="2371725" cy="1599565"/>
            </a:xfrm>
            <a:custGeom>
              <a:avLst/>
              <a:gdLst/>
              <a:ahLst/>
              <a:cxnLst/>
              <a:rect l="l" t="t" r="r" b="b"/>
              <a:pathLst>
                <a:path w="2371725" h="1599564">
                  <a:moveTo>
                    <a:pt x="2371725" y="75361"/>
                  </a:moveTo>
                  <a:lnTo>
                    <a:pt x="2358898" y="33020"/>
                  </a:lnTo>
                  <a:lnTo>
                    <a:pt x="2324684" y="4965"/>
                  </a:lnTo>
                  <a:lnTo>
                    <a:pt x="2306282" y="0"/>
                  </a:lnTo>
                  <a:lnTo>
                    <a:pt x="2310396" y="1092"/>
                  </a:lnTo>
                  <a:lnTo>
                    <a:pt x="2324392" y="8826"/>
                  </a:lnTo>
                  <a:lnTo>
                    <a:pt x="2348319" y="46202"/>
                  </a:lnTo>
                  <a:lnTo>
                    <a:pt x="2352675" y="75361"/>
                  </a:lnTo>
                  <a:lnTo>
                    <a:pt x="2352675" y="1540116"/>
                  </a:lnTo>
                  <a:lnTo>
                    <a:pt x="2351963" y="1547977"/>
                  </a:lnTo>
                  <a:lnTo>
                    <a:pt x="2351951" y="1548130"/>
                  </a:lnTo>
                  <a:lnTo>
                    <a:pt x="2320506" y="1579575"/>
                  </a:lnTo>
                  <a:lnTo>
                    <a:pt x="2312479" y="1580311"/>
                  </a:lnTo>
                  <a:lnTo>
                    <a:pt x="59245" y="1580311"/>
                  </a:lnTo>
                  <a:lnTo>
                    <a:pt x="51231" y="1579575"/>
                  </a:lnTo>
                  <a:lnTo>
                    <a:pt x="43815" y="1577365"/>
                  </a:lnTo>
                  <a:lnTo>
                    <a:pt x="37020" y="1573682"/>
                  </a:lnTo>
                  <a:lnTo>
                    <a:pt x="31330" y="1568983"/>
                  </a:lnTo>
                  <a:lnTo>
                    <a:pt x="30822" y="1568538"/>
                  </a:lnTo>
                  <a:lnTo>
                    <a:pt x="25679" y="1562341"/>
                  </a:lnTo>
                  <a:lnTo>
                    <a:pt x="21996" y="1555546"/>
                  </a:lnTo>
                  <a:lnTo>
                    <a:pt x="19786" y="1548130"/>
                  </a:lnTo>
                  <a:lnTo>
                    <a:pt x="19050" y="1540116"/>
                  </a:lnTo>
                  <a:lnTo>
                    <a:pt x="19050" y="75361"/>
                  </a:lnTo>
                  <a:lnTo>
                    <a:pt x="28676" y="33020"/>
                  </a:lnTo>
                  <a:lnTo>
                    <a:pt x="61328" y="1092"/>
                  </a:lnTo>
                  <a:lnTo>
                    <a:pt x="65443" y="0"/>
                  </a:lnTo>
                  <a:lnTo>
                    <a:pt x="61341" y="609"/>
                  </a:lnTo>
                  <a:lnTo>
                    <a:pt x="22313" y="21475"/>
                  </a:lnTo>
                  <a:lnTo>
                    <a:pt x="1460" y="60490"/>
                  </a:lnTo>
                  <a:lnTo>
                    <a:pt x="0" y="75361"/>
                  </a:lnTo>
                  <a:lnTo>
                    <a:pt x="0" y="1547977"/>
                  </a:lnTo>
                  <a:lnTo>
                    <a:pt x="1498" y="1555534"/>
                  </a:lnTo>
                  <a:lnTo>
                    <a:pt x="7518" y="1570050"/>
                  </a:lnTo>
                  <a:lnTo>
                    <a:pt x="11798" y="1576451"/>
                  </a:lnTo>
                  <a:lnTo>
                    <a:pt x="17830" y="1582483"/>
                  </a:lnTo>
                  <a:lnTo>
                    <a:pt x="22910" y="1587563"/>
                  </a:lnTo>
                  <a:lnTo>
                    <a:pt x="29311" y="1591843"/>
                  </a:lnTo>
                  <a:lnTo>
                    <a:pt x="43827" y="1597863"/>
                  </a:lnTo>
                  <a:lnTo>
                    <a:pt x="51384" y="1599361"/>
                  </a:lnTo>
                  <a:lnTo>
                    <a:pt x="2320340" y="1599361"/>
                  </a:lnTo>
                  <a:lnTo>
                    <a:pt x="2327897" y="1597863"/>
                  </a:lnTo>
                  <a:lnTo>
                    <a:pt x="2342413" y="1591843"/>
                  </a:lnTo>
                  <a:lnTo>
                    <a:pt x="2348814" y="1587563"/>
                  </a:lnTo>
                  <a:lnTo>
                    <a:pt x="2353894" y="1582483"/>
                  </a:lnTo>
                  <a:lnTo>
                    <a:pt x="2354376" y="1582000"/>
                  </a:lnTo>
                  <a:lnTo>
                    <a:pt x="2359926" y="1576451"/>
                  </a:lnTo>
                  <a:lnTo>
                    <a:pt x="2364206" y="1570050"/>
                  </a:lnTo>
                  <a:lnTo>
                    <a:pt x="2370226" y="1555546"/>
                  </a:lnTo>
                  <a:lnTo>
                    <a:pt x="2371699" y="1548130"/>
                  </a:lnTo>
                  <a:lnTo>
                    <a:pt x="2371725" y="75361"/>
                  </a:lnTo>
                  <a:close/>
                </a:path>
              </a:pathLst>
            </a:custGeom>
            <a:solidFill>
              <a:srgbClr val="DFB7BB"/>
            </a:solidFill>
          </p:spPr>
          <p:txBody>
            <a:bodyPr wrap="square" lIns="0" tIns="0" rIns="0" bIns="0" rtlCol="0"/>
            <a:lstStyle/>
            <a:p>
              <a:endParaRPr/>
            </a:p>
          </p:txBody>
        </p:sp>
        <p:sp>
          <p:nvSpPr>
            <p:cNvPr id="16" name="object 16"/>
            <p:cNvSpPr/>
            <p:nvPr/>
          </p:nvSpPr>
          <p:spPr>
            <a:xfrm>
              <a:off x="8477250" y="1819274"/>
              <a:ext cx="2371725" cy="514350"/>
            </a:xfrm>
            <a:custGeom>
              <a:avLst/>
              <a:gdLst/>
              <a:ahLst/>
              <a:cxnLst/>
              <a:rect l="l" t="t" r="r" b="b"/>
              <a:pathLst>
                <a:path w="2371725" h="514350">
                  <a:moveTo>
                    <a:pt x="2371725" y="293484"/>
                  </a:moveTo>
                  <a:lnTo>
                    <a:pt x="2357120" y="258229"/>
                  </a:lnTo>
                  <a:lnTo>
                    <a:pt x="2320226" y="238506"/>
                  </a:lnTo>
                  <a:lnTo>
                    <a:pt x="2316365" y="238125"/>
                  </a:lnTo>
                  <a:lnTo>
                    <a:pt x="1440903" y="238125"/>
                  </a:lnTo>
                  <a:lnTo>
                    <a:pt x="1439481" y="223583"/>
                  </a:lnTo>
                  <a:lnTo>
                    <a:pt x="1428026" y="174459"/>
                  </a:lnTo>
                  <a:lnTo>
                    <a:pt x="1407210" y="128511"/>
                  </a:lnTo>
                  <a:lnTo>
                    <a:pt x="1377835" y="87515"/>
                  </a:lnTo>
                  <a:lnTo>
                    <a:pt x="1341005" y="53035"/>
                  </a:lnTo>
                  <a:lnTo>
                    <a:pt x="1298181" y="26403"/>
                  </a:lnTo>
                  <a:lnTo>
                    <a:pt x="1250975" y="8623"/>
                  </a:lnTo>
                  <a:lnTo>
                    <a:pt x="1201191" y="406"/>
                  </a:lnTo>
                  <a:lnTo>
                    <a:pt x="1192796" y="0"/>
                  </a:lnTo>
                  <a:lnTo>
                    <a:pt x="1175956" y="0"/>
                  </a:lnTo>
                  <a:lnTo>
                    <a:pt x="1125943" y="6578"/>
                  </a:lnTo>
                  <a:lnTo>
                    <a:pt x="1078179" y="22796"/>
                  </a:lnTo>
                  <a:lnTo>
                    <a:pt x="1034491" y="48018"/>
                  </a:lnTo>
                  <a:lnTo>
                    <a:pt x="996569" y="81280"/>
                  </a:lnTo>
                  <a:lnTo>
                    <a:pt x="965860" y="121297"/>
                  </a:lnTo>
                  <a:lnTo>
                    <a:pt x="943546" y="166535"/>
                  </a:lnTo>
                  <a:lnTo>
                    <a:pt x="930503" y="215265"/>
                  </a:lnTo>
                  <a:lnTo>
                    <a:pt x="927823" y="238125"/>
                  </a:lnTo>
                  <a:lnTo>
                    <a:pt x="55359" y="238125"/>
                  </a:lnTo>
                  <a:lnTo>
                    <a:pt x="20104" y="252730"/>
                  </a:lnTo>
                  <a:lnTo>
                    <a:pt x="381" y="289623"/>
                  </a:lnTo>
                  <a:lnTo>
                    <a:pt x="0" y="293484"/>
                  </a:lnTo>
                  <a:lnTo>
                    <a:pt x="0" y="314325"/>
                  </a:lnTo>
                  <a:lnTo>
                    <a:pt x="933513" y="314325"/>
                  </a:lnTo>
                  <a:lnTo>
                    <a:pt x="933780" y="315607"/>
                  </a:lnTo>
                  <a:lnTo>
                    <a:pt x="949998" y="363372"/>
                  </a:lnTo>
                  <a:lnTo>
                    <a:pt x="975220" y="407060"/>
                  </a:lnTo>
                  <a:lnTo>
                    <a:pt x="1008481" y="444982"/>
                  </a:lnTo>
                  <a:lnTo>
                    <a:pt x="1048499" y="475691"/>
                  </a:lnTo>
                  <a:lnTo>
                    <a:pt x="1093736" y="497992"/>
                  </a:lnTo>
                  <a:lnTo>
                    <a:pt x="1142466" y="511048"/>
                  </a:lnTo>
                  <a:lnTo>
                    <a:pt x="1175956" y="514350"/>
                  </a:lnTo>
                  <a:lnTo>
                    <a:pt x="1192796" y="514350"/>
                  </a:lnTo>
                  <a:lnTo>
                    <a:pt x="1242809" y="507758"/>
                  </a:lnTo>
                  <a:lnTo>
                    <a:pt x="1290574" y="491553"/>
                  </a:lnTo>
                  <a:lnTo>
                    <a:pt x="1334249" y="466331"/>
                  </a:lnTo>
                  <a:lnTo>
                    <a:pt x="1372184" y="433070"/>
                  </a:lnTo>
                  <a:lnTo>
                    <a:pt x="1402892" y="393052"/>
                  </a:lnTo>
                  <a:lnTo>
                    <a:pt x="1425194" y="347802"/>
                  </a:lnTo>
                  <a:lnTo>
                    <a:pt x="1435214" y="314325"/>
                  </a:lnTo>
                  <a:lnTo>
                    <a:pt x="2371725" y="314325"/>
                  </a:lnTo>
                  <a:lnTo>
                    <a:pt x="2371725" y="293484"/>
                  </a:lnTo>
                  <a:close/>
                </a:path>
              </a:pathLst>
            </a:custGeom>
            <a:solidFill>
              <a:srgbClr val="DA1B2D"/>
            </a:solidFill>
          </p:spPr>
          <p:txBody>
            <a:bodyPr wrap="square" lIns="0" tIns="0" rIns="0" bIns="0" rtlCol="0"/>
            <a:lstStyle/>
            <a:p>
              <a:endParaRPr/>
            </a:p>
          </p:txBody>
        </p:sp>
      </p:grpSp>
      <p:sp>
        <p:nvSpPr>
          <p:cNvPr id="17" name="object 17"/>
          <p:cNvSpPr txBox="1"/>
          <p:nvPr/>
        </p:nvSpPr>
        <p:spPr>
          <a:xfrm>
            <a:off x="9584029" y="1927351"/>
            <a:ext cx="153035" cy="269240"/>
          </a:xfrm>
          <a:prstGeom prst="rect">
            <a:avLst/>
          </a:prstGeom>
        </p:spPr>
        <p:txBody>
          <a:bodyPr vert="horz" wrap="square" lIns="0" tIns="12700" rIns="0" bIns="0" rtlCol="0">
            <a:spAutoFit/>
          </a:bodyPr>
          <a:lstStyle/>
          <a:p>
            <a:pPr marL="12700">
              <a:lnSpc>
                <a:spcPct val="100000"/>
              </a:lnSpc>
              <a:spcBef>
                <a:spcPts val="100"/>
              </a:spcBef>
            </a:pPr>
            <a:r>
              <a:rPr sz="1600" b="1" spc="-90" dirty="0">
                <a:solidFill>
                  <a:srgbClr val="FFFFFF"/>
                </a:solidFill>
                <a:latin typeface="Verdana"/>
                <a:cs typeface="Verdana"/>
              </a:rPr>
              <a:t>2</a:t>
            </a:r>
            <a:endParaRPr sz="1600">
              <a:latin typeface="Verdana"/>
              <a:cs typeface="Verdana"/>
            </a:endParaRPr>
          </a:p>
        </p:txBody>
      </p:sp>
      <p:sp>
        <p:nvSpPr>
          <p:cNvPr id="18" name="object 18"/>
          <p:cNvSpPr txBox="1"/>
          <p:nvPr/>
        </p:nvSpPr>
        <p:spPr>
          <a:xfrm>
            <a:off x="8649246" y="2469705"/>
            <a:ext cx="1792605" cy="986790"/>
          </a:xfrm>
          <a:prstGeom prst="rect">
            <a:avLst/>
          </a:prstGeom>
        </p:spPr>
        <p:txBody>
          <a:bodyPr vert="horz" wrap="square" lIns="0" tIns="12700" rIns="0" bIns="0" rtlCol="0">
            <a:spAutoFit/>
          </a:bodyPr>
          <a:lstStyle/>
          <a:p>
            <a:pPr marL="12700">
              <a:lnSpc>
                <a:spcPct val="100000"/>
              </a:lnSpc>
              <a:spcBef>
                <a:spcPts val="100"/>
              </a:spcBef>
            </a:pPr>
            <a:r>
              <a:rPr sz="1750" b="1" spc="-10" dirty="0">
                <a:solidFill>
                  <a:srgbClr val="3A3535"/>
                </a:solidFill>
                <a:latin typeface="Verdana"/>
                <a:cs typeface="Verdana"/>
              </a:rPr>
              <a:t>Interact</a:t>
            </a:r>
            <a:endParaRPr sz="1750">
              <a:latin typeface="Verdana"/>
              <a:cs typeface="Verdana"/>
            </a:endParaRPr>
          </a:p>
          <a:p>
            <a:pPr marL="12700" marR="5080">
              <a:lnSpc>
                <a:spcPct val="139400"/>
              </a:lnSpc>
              <a:spcBef>
                <a:spcPts val="1110"/>
              </a:spcBef>
            </a:pPr>
            <a:r>
              <a:rPr sz="1300" spc="65" dirty="0">
                <a:solidFill>
                  <a:srgbClr val="3A3535"/>
                </a:solidFill>
                <a:latin typeface="Century Gothic"/>
                <a:cs typeface="Century Gothic"/>
              </a:rPr>
              <a:t>AI</a:t>
            </a:r>
            <a:r>
              <a:rPr sz="1300" spc="-15" dirty="0">
                <a:solidFill>
                  <a:srgbClr val="3A3535"/>
                </a:solidFill>
                <a:latin typeface="Century Gothic"/>
                <a:cs typeface="Century Gothic"/>
              </a:rPr>
              <a:t> </a:t>
            </a:r>
            <a:r>
              <a:rPr sz="1300" spc="90" dirty="0">
                <a:solidFill>
                  <a:srgbClr val="3A3535"/>
                </a:solidFill>
                <a:latin typeface="Century Gothic"/>
                <a:cs typeface="Century Gothic"/>
              </a:rPr>
              <a:t>or</a:t>
            </a:r>
            <a:r>
              <a:rPr sz="1300" spc="-10" dirty="0">
                <a:solidFill>
                  <a:srgbClr val="3A3535"/>
                </a:solidFill>
                <a:latin typeface="Century Gothic"/>
                <a:cs typeface="Century Gothic"/>
              </a:rPr>
              <a:t> </a:t>
            </a:r>
            <a:r>
              <a:rPr sz="1300" dirty="0">
                <a:solidFill>
                  <a:srgbClr val="3A3535"/>
                </a:solidFill>
                <a:latin typeface="Century Gothic"/>
                <a:cs typeface="Century Gothic"/>
              </a:rPr>
              <a:t>therapy</a:t>
            </a:r>
            <a:r>
              <a:rPr sz="1300" spc="-10" dirty="0">
                <a:solidFill>
                  <a:srgbClr val="3A3535"/>
                </a:solidFill>
                <a:latin typeface="Century Gothic"/>
                <a:cs typeface="Century Gothic"/>
              </a:rPr>
              <a:t> </a:t>
            </a:r>
            <a:r>
              <a:rPr sz="1300" dirty="0">
                <a:solidFill>
                  <a:srgbClr val="3A3535"/>
                </a:solidFill>
                <a:latin typeface="Century Gothic"/>
                <a:cs typeface="Century Gothic"/>
              </a:rPr>
              <a:t>chat</a:t>
            </a:r>
            <a:r>
              <a:rPr sz="1300" spc="-10" dirty="0">
                <a:solidFill>
                  <a:srgbClr val="3A3535"/>
                </a:solidFill>
                <a:latin typeface="Century Gothic"/>
                <a:cs typeface="Century Gothic"/>
              </a:rPr>
              <a:t> </a:t>
            </a:r>
            <a:r>
              <a:rPr sz="1300" spc="-25" dirty="0">
                <a:solidFill>
                  <a:srgbClr val="3A3535"/>
                </a:solidFill>
                <a:latin typeface="Century Gothic"/>
                <a:cs typeface="Century Gothic"/>
              </a:rPr>
              <a:t>on </a:t>
            </a:r>
            <a:r>
              <a:rPr sz="1300" dirty="0">
                <a:solidFill>
                  <a:srgbClr val="3A3535"/>
                </a:solidFill>
                <a:latin typeface="Century Gothic"/>
                <a:cs typeface="Century Gothic"/>
              </a:rPr>
              <a:t>the</a:t>
            </a:r>
            <a:r>
              <a:rPr sz="1300" spc="70" dirty="0">
                <a:solidFill>
                  <a:srgbClr val="3A3535"/>
                </a:solidFill>
                <a:latin typeface="Century Gothic"/>
                <a:cs typeface="Century Gothic"/>
              </a:rPr>
              <a:t> </a:t>
            </a:r>
            <a:r>
              <a:rPr sz="1300" spc="-25" dirty="0">
                <a:solidFill>
                  <a:srgbClr val="3A3535"/>
                </a:solidFill>
                <a:latin typeface="Century Gothic"/>
                <a:cs typeface="Century Gothic"/>
              </a:rPr>
              <a:t>go</a:t>
            </a:r>
            <a:endParaRPr sz="1300">
              <a:latin typeface="Century Gothic"/>
              <a:cs typeface="Century Gothic"/>
            </a:endParaRPr>
          </a:p>
        </p:txBody>
      </p:sp>
      <p:grpSp>
        <p:nvGrpSpPr>
          <p:cNvPr id="19" name="object 19"/>
          <p:cNvGrpSpPr/>
          <p:nvPr/>
        </p:nvGrpSpPr>
        <p:grpSpPr>
          <a:xfrm>
            <a:off x="5934074" y="3848100"/>
            <a:ext cx="4914900" cy="1581150"/>
            <a:chOff x="5934074" y="3848100"/>
            <a:chExt cx="4914900" cy="1581150"/>
          </a:xfrm>
        </p:grpSpPr>
        <p:sp>
          <p:nvSpPr>
            <p:cNvPr id="20" name="object 20"/>
            <p:cNvSpPr/>
            <p:nvPr/>
          </p:nvSpPr>
          <p:spPr>
            <a:xfrm>
              <a:off x="5934062" y="4096600"/>
              <a:ext cx="4914900" cy="1332865"/>
            </a:xfrm>
            <a:custGeom>
              <a:avLst/>
              <a:gdLst/>
              <a:ahLst/>
              <a:cxnLst/>
              <a:rect l="l" t="t" r="r" b="b"/>
              <a:pathLst>
                <a:path w="4914900" h="1332864">
                  <a:moveTo>
                    <a:pt x="4914900" y="75361"/>
                  </a:moveTo>
                  <a:lnTo>
                    <a:pt x="4902073" y="33020"/>
                  </a:lnTo>
                  <a:lnTo>
                    <a:pt x="4867859" y="4965"/>
                  </a:lnTo>
                  <a:lnTo>
                    <a:pt x="4849457" y="0"/>
                  </a:lnTo>
                  <a:lnTo>
                    <a:pt x="4853571" y="1092"/>
                  </a:lnTo>
                  <a:lnTo>
                    <a:pt x="4867567" y="8826"/>
                  </a:lnTo>
                  <a:lnTo>
                    <a:pt x="4891494" y="46202"/>
                  </a:lnTo>
                  <a:lnTo>
                    <a:pt x="4895850" y="75361"/>
                  </a:lnTo>
                  <a:lnTo>
                    <a:pt x="4895850" y="1273416"/>
                  </a:lnTo>
                  <a:lnTo>
                    <a:pt x="4895139" y="1281264"/>
                  </a:lnTo>
                  <a:lnTo>
                    <a:pt x="4895126" y="1281430"/>
                  </a:lnTo>
                  <a:lnTo>
                    <a:pt x="4892916" y="1288834"/>
                  </a:lnTo>
                  <a:lnTo>
                    <a:pt x="4889233" y="1295641"/>
                  </a:lnTo>
                  <a:lnTo>
                    <a:pt x="4884077" y="1301826"/>
                  </a:lnTo>
                  <a:lnTo>
                    <a:pt x="4883556" y="1302258"/>
                  </a:lnTo>
                  <a:lnTo>
                    <a:pt x="4877892" y="1306982"/>
                  </a:lnTo>
                  <a:lnTo>
                    <a:pt x="4871085" y="1310665"/>
                  </a:lnTo>
                  <a:lnTo>
                    <a:pt x="4863681" y="1312875"/>
                  </a:lnTo>
                  <a:lnTo>
                    <a:pt x="4855654" y="1313611"/>
                  </a:lnTo>
                  <a:lnTo>
                    <a:pt x="59245" y="1313611"/>
                  </a:lnTo>
                  <a:lnTo>
                    <a:pt x="51231" y="1312875"/>
                  </a:lnTo>
                  <a:lnTo>
                    <a:pt x="43815" y="1310665"/>
                  </a:lnTo>
                  <a:lnTo>
                    <a:pt x="37020" y="1306982"/>
                  </a:lnTo>
                  <a:lnTo>
                    <a:pt x="31343" y="1302270"/>
                  </a:lnTo>
                  <a:lnTo>
                    <a:pt x="30835" y="1301826"/>
                  </a:lnTo>
                  <a:lnTo>
                    <a:pt x="25679" y="1295641"/>
                  </a:lnTo>
                  <a:lnTo>
                    <a:pt x="21996" y="1288834"/>
                  </a:lnTo>
                  <a:lnTo>
                    <a:pt x="19786" y="1281430"/>
                  </a:lnTo>
                  <a:lnTo>
                    <a:pt x="19050" y="1273416"/>
                  </a:lnTo>
                  <a:lnTo>
                    <a:pt x="19050" y="75361"/>
                  </a:lnTo>
                  <a:lnTo>
                    <a:pt x="28676" y="33020"/>
                  </a:lnTo>
                  <a:lnTo>
                    <a:pt x="61328" y="1092"/>
                  </a:lnTo>
                  <a:lnTo>
                    <a:pt x="65443" y="0"/>
                  </a:lnTo>
                  <a:lnTo>
                    <a:pt x="61341" y="609"/>
                  </a:lnTo>
                  <a:lnTo>
                    <a:pt x="22313" y="21475"/>
                  </a:lnTo>
                  <a:lnTo>
                    <a:pt x="1460" y="60490"/>
                  </a:lnTo>
                  <a:lnTo>
                    <a:pt x="0" y="75361"/>
                  </a:lnTo>
                  <a:lnTo>
                    <a:pt x="0" y="1281264"/>
                  </a:lnTo>
                  <a:lnTo>
                    <a:pt x="1498" y="1288821"/>
                  </a:lnTo>
                  <a:lnTo>
                    <a:pt x="7518" y="1303337"/>
                  </a:lnTo>
                  <a:lnTo>
                    <a:pt x="11798" y="1309751"/>
                  </a:lnTo>
                  <a:lnTo>
                    <a:pt x="17830" y="1315783"/>
                  </a:lnTo>
                  <a:lnTo>
                    <a:pt x="22910" y="1320863"/>
                  </a:lnTo>
                  <a:lnTo>
                    <a:pt x="29311" y="1325130"/>
                  </a:lnTo>
                  <a:lnTo>
                    <a:pt x="43827" y="1331150"/>
                  </a:lnTo>
                  <a:lnTo>
                    <a:pt x="51384" y="1332661"/>
                  </a:lnTo>
                  <a:lnTo>
                    <a:pt x="4863516" y="1332661"/>
                  </a:lnTo>
                  <a:lnTo>
                    <a:pt x="4871072" y="1331150"/>
                  </a:lnTo>
                  <a:lnTo>
                    <a:pt x="4885588" y="1325130"/>
                  </a:lnTo>
                  <a:lnTo>
                    <a:pt x="4891989" y="1320863"/>
                  </a:lnTo>
                  <a:lnTo>
                    <a:pt x="4897069" y="1315783"/>
                  </a:lnTo>
                  <a:lnTo>
                    <a:pt x="4897552" y="1315300"/>
                  </a:lnTo>
                  <a:lnTo>
                    <a:pt x="4903101" y="1309751"/>
                  </a:lnTo>
                  <a:lnTo>
                    <a:pt x="4907381" y="1303337"/>
                  </a:lnTo>
                  <a:lnTo>
                    <a:pt x="4913401" y="1288834"/>
                  </a:lnTo>
                  <a:lnTo>
                    <a:pt x="4914874" y="1281430"/>
                  </a:lnTo>
                  <a:lnTo>
                    <a:pt x="4914900" y="75361"/>
                  </a:lnTo>
                  <a:close/>
                </a:path>
              </a:pathLst>
            </a:custGeom>
            <a:solidFill>
              <a:srgbClr val="DFB7BB"/>
            </a:solidFill>
          </p:spPr>
          <p:txBody>
            <a:bodyPr wrap="square" lIns="0" tIns="0" rIns="0" bIns="0" rtlCol="0"/>
            <a:lstStyle/>
            <a:p>
              <a:endParaRPr/>
            </a:p>
          </p:txBody>
        </p:sp>
        <p:sp>
          <p:nvSpPr>
            <p:cNvPr id="21" name="object 21"/>
            <p:cNvSpPr/>
            <p:nvPr/>
          </p:nvSpPr>
          <p:spPr>
            <a:xfrm>
              <a:off x="5934075" y="3848099"/>
              <a:ext cx="4914900" cy="504825"/>
            </a:xfrm>
            <a:custGeom>
              <a:avLst/>
              <a:gdLst/>
              <a:ahLst/>
              <a:cxnLst/>
              <a:rect l="l" t="t" r="r" b="b"/>
              <a:pathLst>
                <a:path w="4914900" h="504825">
                  <a:moveTo>
                    <a:pt x="4914900" y="283946"/>
                  </a:moveTo>
                  <a:lnTo>
                    <a:pt x="4900295" y="248704"/>
                  </a:lnTo>
                  <a:lnTo>
                    <a:pt x="4863401" y="228981"/>
                  </a:lnTo>
                  <a:lnTo>
                    <a:pt x="4859540" y="228600"/>
                  </a:lnTo>
                  <a:lnTo>
                    <a:pt x="2707246" y="228600"/>
                  </a:lnTo>
                  <a:lnTo>
                    <a:pt x="2706344" y="219443"/>
                  </a:lnTo>
                  <a:lnTo>
                    <a:pt x="2695105" y="171221"/>
                  </a:lnTo>
                  <a:lnTo>
                    <a:pt x="2674670" y="126136"/>
                  </a:lnTo>
                  <a:lnTo>
                    <a:pt x="2645841" y="85890"/>
                  </a:lnTo>
                  <a:lnTo>
                    <a:pt x="2609697" y="52057"/>
                  </a:lnTo>
                  <a:lnTo>
                    <a:pt x="2567660" y="25908"/>
                  </a:lnTo>
                  <a:lnTo>
                    <a:pt x="2521318" y="8470"/>
                  </a:lnTo>
                  <a:lnTo>
                    <a:pt x="2472474" y="406"/>
                  </a:lnTo>
                  <a:lnTo>
                    <a:pt x="2464231" y="0"/>
                  </a:lnTo>
                  <a:lnTo>
                    <a:pt x="2447696" y="0"/>
                  </a:lnTo>
                  <a:lnTo>
                    <a:pt x="2398611" y="6464"/>
                  </a:lnTo>
                  <a:lnTo>
                    <a:pt x="2351722" y="22377"/>
                  </a:lnTo>
                  <a:lnTo>
                    <a:pt x="2308860" y="47129"/>
                  </a:lnTo>
                  <a:lnTo>
                    <a:pt x="2271636" y="79768"/>
                  </a:lnTo>
                  <a:lnTo>
                    <a:pt x="2241499" y="119049"/>
                  </a:lnTo>
                  <a:lnTo>
                    <a:pt x="2219591" y="163449"/>
                  </a:lnTo>
                  <a:lnTo>
                    <a:pt x="2206790" y="211277"/>
                  </a:lnTo>
                  <a:lnTo>
                    <a:pt x="2204669" y="228600"/>
                  </a:lnTo>
                  <a:lnTo>
                    <a:pt x="55359" y="228600"/>
                  </a:lnTo>
                  <a:lnTo>
                    <a:pt x="20104" y="243205"/>
                  </a:lnTo>
                  <a:lnTo>
                    <a:pt x="381" y="280098"/>
                  </a:lnTo>
                  <a:lnTo>
                    <a:pt x="0" y="283946"/>
                  </a:lnTo>
                  <a:lnTo>
                    <a:pt x="0" y="304800"/>
                  </a:lnTo>
                  <a:lnTo>
                    <a:pt x="2209025" y="304800"/>
                  </a:lnTo>
                  <a:lnTo>
                    <a:pt x="2210016" y="309765"/>
                  </a:lnTo>
                  <a:lnTo>
                    <a:pt x="2225929" y="356641"/>
                  </a:lnTo>
                  <a:lnTo>
                    <a:pt x="2250681" y="399516"/>
                  </a:lnTo>
                  <a:lnTo>
                    <a:pt x="2283320" y="436740"/>
                  </a:lnTo>
                  <a:lnTo>
                    <a:pt x="2322601" y="466877"/>
                  </a:lnTo>
                  <a:lnTo>
                    <a:pt x="2367013" y="488772"/>
                  </a:lnTo>
                  <a:lnTo>
                    <a:pt x="2414828" y="501586"/>
                  </a:lnTo>
                  <a:lnTo>
                    <a:pt x="2447696" y="504825"/>
                  </a:lnTo>
                  <a:lnTo>
                    <a:pt x="2464231" y="504825"/>
                  </a:lnTo>
                  <a:lnTo>
                    <a:pt x="2513304" y="498360"/>
                  </a:lnTo>
                  <a:lnTo>
                    <a:pt x="2560193" y="482447"/>
                  </a:lnTo>
                  <a:lnTo>
                    <a:pt x="2603068" y="457695"/>
                  </a:lnTo>
                  <a:lnTo>
                    <a:pt x="2640292" y="425043"/>
                  </a:lnTo>
                  <a:lnTo>
                    <a:pt x="2670429" y="385775"/>
                  </a:lnTo>
                  <a:lnTo>
                    <a:pt x="2692323" y="341363"/>
                  </a:lnTo>
                  <a:lnTo>
                    <a:pt x="2702890" y="304800"/>
                  </a:lnTo>
                  <a:lnTo>
                    <a:pt x="4914900" y="304800"/>
                  </a:lnTo>
                  <a:lnTo>
                    <a:pt x="4914900" y="283946"/>
                  </a:lnTo>
                  <a:close/>
                </a:path>
              </a:pathLst>
            </a:custGeom>
            <a:solidFill>
              <a:srgbClr val="DA1B2D"/>
            </a:solidFill>
          </p:spPr>
          <p:txBody>
            <a:bodyPr wrap="square" lIns="0" tIns="0" rIns="0" bIns="0" rtlCol="0"/>
            <a:lstStyle/>
            <a:p>
              <a:endParaRPr/>
            </a:p>
          </p:txBody>
        </p:sp>
      </p:grpSp>
      <p:sp>
        <p:nvSpPr>
          <p:cNvPr id="22" name="object 22"/>
          <p:cNvSpPr txBox="1"/>
          <p:nvPr/>
        </p:nvSpPr>
        <p:spPr>
          <a:xfrm>
            <a:off x="8312746" y="3946652"/>
            <a:ext cx="153035" cy="269240"/>
          </a:xfrm>
          <a:prstGeom prst="rect">
            <a:avLst/>
          </a:prstGeom>
        </p:spPr>
        <p:txBody>
          <a:bodyPr vert="horz" wrap="square" lIns="0" tIns="12700" rIns="0" bIns="0" rtlCol="0">
            <a:spAutoFit/>
          </a:bodyPr>
          <a:lstStyle/>
          <a:p>
            <a:pPr marL="12700">
              <a:lnSpc>
                <a:spcPct val="100000"/>
              </a:lnSpc>
              <a:spcBef>
                <a:spcPts val="100"/>
              </a:spcBef>
            </a:pPr>
            <a:r>
              <a:rPr sz="1600" b="1" spc="-90" dirty="0">
                <a:solidFill>
                  <a:srgbClr val="FFFFFF"/>
                </a:solidFill>
                <a:latin typeface="Verdana"/>
                <a:cs typeface="Verdana"/>
              </a:rPr>
              <a:t>3</a:t>
            </a:r>
            <a:endParaRPr sz="1600">
              <a:latin typeface="Verdana"/>
              <a:cs typeface="Verdana"/>
            </a:endParaRPr>
          </a:p>
        </p:txBody>
      </p:sp>
      <p:sp>
        <p:nvSpPr>
          <p:cNvPr id="23" name="object 23"/>
          <p:cNvSpPr txBox="1"/>
          <p:nvPr/>
        </p:nvSpPr>
        <p:spPr>
          <a:xfrm>
            <a:off x="6106515" y="4498530"/>
            <a:ext cx="3392804" cy="710565"/>
          </a:xfrm>
          <a:prstGeom prst="rect">
            <a:avLst/>
          </a:prstGeom>
        </p:spPr>
        <p:txBody>
          <a:bodyPr vert="horz" wrap="square" lIns="0" tIns="12700" rIns="0" bIns="0" rtlCol="0">
            <a:spAutoFit/>
          </a:bodyPr>
          <a:lstStyle/>
          <a:p>
            <a:pPr marL="12700">
              <a:lnSpc>
                <a:spcPct val="100000"/>
              </a:lnSpc>
              <a:spcBef>
                <a:spcPts val="100"/>
              </a:spcBef>
            </a:pPr>
            <a:r>
              <a:rPr sz="1750" b="1" spc="-114" dirty="0">
                <a:solidFill>
                  <a:srgbClr val="3A3535"/>
                </a:solidFill>
                <a:latin typeface="Verdana"/>
                <a:cs typeface="Verdana"/>
              </a:rPr>
              <a:t>Stay</a:t>
            </a:r>
            <a:r>
              <a:rPr sz="1750" b="1" spc="-195" dirty="0">
                <a:solidFill>
                  <a:srgbClr val="3A3535"/>
                </a:solidFill>
                <a:latin typeface="Verdana"/>
                <a:cs typeface="Verdana"/>
              </a:rPr>
              <a:t> </a:t>
            </a:r>
            <a:r>
              <a:rPr sz="1750" b="1" spc="-10" dirty="0">
                <a:solidFill>
                  <a:srgbClr val="3A3535"/>
                </a:solidFill>
                <a:latin typeface="Verdana"/>
                <a:cs typeface="Verdana"/>
              </a:rPr>
              <a:t>Connected</a:t>
            </a:r>
            <a:endParaRPr sz="1750">
              <a:latin typeface="Verdana"/>
              <a:cs typeface="Verdana"/>
            </a:endParaRPr>
          </a:p>
          <a:p>
            <a:pPr marL="12700">
              <a:lnSpc>
                <a:spcPct val="100000"/>
              </a:lnSpc>
              <a:spcBef>
                <a:spcPts val="1725"/>
              </a:spcBef>
            </a:pPr>
            <a:r>
              <a:rPr sz="1300" spc="80" dirty="0">
                <a:solidFill>
                  <a:srgbClr val="3A3535"/>
                </a:solidFill>
                <a:latin typeface="Century Gothic"/>
                <a:cs typeface="Century Gothic"/>
              </a:rPr>
              <a:t>Notifications</a:t>
            </a:r>
            <a:r>
              <a:rPr sz="1300" spc="40" dirty="0">
                <a:solidFill>
                  <a:srgbClr val="3A3535"/>
                </a:solidFill>
                <a:latin typeface="Century Gothic"/>
                <a:cs typeface="Century Gothic"/>
              </a:rPr>
              <a:t> </a:t>
            </a:r>
            <a:r>
              <a:rPr sz="1300" dirty="0">
                <a:solidFill>
                  <a:srgbClr val="3A3535"/>
                </a:solidFill>
                <a:latin typeface="Century Gothic"/>
                <a:cs typeface="Century Gothic"/>
              </a:rPr>
              <a:t>keep</a:t>
            </a:r>
            <a:r>
              <a:rPr sz="1300" spc="40" dirty="0">
                <a:solidFill>
                  <a:srgbClr val="3A3535"/>
                </a:solidFill>
                <a:latin typeface="Century Gothic"/>
                <a:cs typeface="Century Gothic"/>
              </a:rPr>
              <a:t> </a:t>
            </a:r>
            <a:r>
              <a:rPr sz="1300" dirty="0">
                <a:solidFill>
                  <a:srgbClr val="3A3535"/>
                </a:solidFill>
                <a:latin typeface="Century Gothic"/>
                <a:cs typeface="Century Gothic"/>
              </a:rPr>
              <a:t>the</a:t>
            </a:r>
            <a:r>
              <a:rPr sz="1300" spc="45" dirty="0">
                <a:solidFill>
                  <a:srgbClr val="3A3535"/>
                </a:solidFill>
                <a:latin typeface="Century Gothic"/>
                <a:cs typeface="Century Gothic"/>
              </a:rPr>
              <a:t> </a:t>
            </a:r>
            <a:r>
              <a:rPr sz="1300" dirty="0">
                <a:solidFill>
                  <a:srgbClr val="3A3535"/>
                </a:solidFill>
                <a:latin typeface="Century Gothic"/>
                <a:cs typeface="Century Gothic"/>
              </a:rPr>
              <a:t>program</a:t>
            </a:r>
            <a:r>
              <a:rPr sz="1300" spc="40" dirty="0">
                <a:solidFill>
                  <a:srgbClr val="3A3535"/>
                </a:solidFill>
                <a:latin typeface="Century Gothic"/>
                <a:cs typeface="Century Gothic"/>
              </a:rPr>
              <a:t> </a:t>
            </a:r>
            <a:r>
              <a:rPr sz="1300" spc="55" dirty="0">
                <a:solidFill>
                  <a:srgbClr val="3A3535"/>
                </a:solidFill>
                <a:latin typeface="Century Gothic"/>
                <a:cs typeface="Century Gothic"/>
              </a:rPr>
              <a:t>present</a:t>
            </a:r>
            <a:endParaRPr sz="1300">
              <a:latin typeface="Century Gothic"/>
              <a:cs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9560" rIns="0" bIns="0" rtlCol="0">
            <a:spAutoFit/>
          </a:bodyPr>
          <a:lstStyle/>
          <a:p>
            <a:pPr marL="12700">
              <a:lnSpc>
                <a:spcPct val="100000"/>
              </a:lnSpc>
              <a:spcBef>
                <a:spcPts val="105"/>
              </a:spcBef>
            </a:pPr>
            <a:r>
              <a:rPr spc="-180" dirty="0"/>
              <a:t>How</a:t>
            </a:r>
            <a:r>
              <a:rPr spc="-400" dirty="0"/>
              <a:t> </a:t>
            </a:r>
            <a:r>
              <a:rPr spc="-130" dirty="0"/>
              <a:t>SelfHelp</a:t>
            </a:r>
            <a:r>
              <a:rPr spc="-400" dirty="0"/>
              <a:t> </a:t>
            </a:r>
            <a:r>
              <a:rPr spc="-100" dirty="0"/>
              <a:t>Compares</a:t>
            </a:r>
          </a:p>
        </p:txBody>
      </p:sp>
      <p:sp>
        <p:nvSpPr>
          <p:cNvPr id="3" name="object 3"/>
          <p:cNvSpPr txBox="1"/>
          <p:nvPr/>
        </p:nvSpPr>
        <p:spPr>
          <a:xfrm>
            <a:off x="579640" y="1713522"/>
            <a:ext cx="8136255" cy="228600"/>
          </a:xfrm>
          <a:prstGeom prst="rect">
            <a:avLst/>
          </a:prstGeom>
        </p:spPr>
        <p:txBody>
          <a:bodyPr vert="horz" wrap="square" lIns="0" tIns="16510" rIns="0" bIns="0" rtlCol="0">
            <a:spAutoFit/>
          </a:bodyPr>
          <a:lstStyle/>
          <a:p>
            <a:pPr marL="12700">
              <a:lnSpc>
                <a:spcPct val="100000"/>
              </a:lnSpc>
              <a:spcBef>
                <a:spcPts val="130"/>
              </a:spcBef>
            </a:pPr>
            <a:r>
              <a:rPr sz="1300" spc="80" dirty="0">
                <a:solidFill>
                  <a:srgbClr val="3A3535"/>
                </a:solidFill>
                <a:latin typeface="Century Gothic"/>
                <a:cs typeface="Century Gothic"/>
              </a:rPr>
              <a:t>SelfHelp</a:t>
            </a:r>
            <a:r>
              <a:rPr sz="1300" dirty="0">
                <a:solidFill>
                  <a:srgbClr val="3A3535"/>
                </a:solidFill>
                <a:latin typeface="Century Gothic"/>
                <a:cs typeface="Century Gothic"/>
              </a:rPr>
              <a:t> </a:t>
            </a:r>
            <a:r>
              <a:rPr sz="1300" spc="165" dirty="0">
                <a:solidFill>
                  <a:srgbClr val="3A3535"/>
                </a:solidFill>
                <a:latin typeface="Century Gothic"/>
                <a:cs typeface="Century Gothic"/>
              </a:rPr>
              <a:t>is</a:t>
            </a:r>
            <a:r>
              <a:rPr sz="1300" dirty="0">
                <a:solidFill>
                  <a:srgbClr val="3A3535"/>
                </a:solidFill>
                <a:latin typeface="Century Gothic"/>
                <a:cs typeface="Century Gothic"/>
              </a:rPr>
              <a:t> </a:t>
            </a:r>
            <a:r>
              <a:rPr sz="1300" spc="90" dirty="0">
                <a:solidFill>
                  <a:srgbClr val="3A3535"/>
                </a:solidFill>
                <a:latin typeface="Century Gothic"/>
                <a:cs typeface="Century Gothic"/>
              </a:rPr>
              <a:t>strongest</a:t>
            </a:r>
            <a:r>
              <a:rPr sz="1300" dirty="0">
                <a:solidFill>
                  <a:srgbClr val="3A3535"/>
                </a:solidFill>
                <a:latin typeface="Century Gothic"/>
                <a:cs typeface="Century Gothic"/>
              </a:rPr>
              <a:t> </a:t>
            </a:r>
            <a:r>
              <a:rPr sz="1300" spc="20" dirty="0">
                <a:solidFill>
                  <a:srgbClr val="3A3535"/>
                </a:solidFill>
                <a:latin typeface="Century Gothic"/>
                <a:cs typeface="Century Gothic"/>
              </a:rPr>
              <a:t>when</a:t>
            </a:r>
            <a:r>
              <a:rPr sz="1300" dirty="0">
                <a:solidFill>
                  <a:srgbClr val="3A3535"/>
                </a:solidFill>
                <a:latin typeface="Century Gothic"/>
                <a:cs typeface="Century Gothic"/>
              </a:rPr>
              <a:t> </a:t>
            </a:r>
            <a:r>
              <a:rPr sz="1300" spc="20" dirty="0">
                <a:solidFill>
                  <a:srgbClr val="3A3535"/>
                </a:solidFill>
                <a:latin typeface="Century Gothic"/>
                <a:cs typeface="Century Gothic"/>
              </a:rPr>
              <a:t>everything</a:t>
            </a:r>
            <a:r>
              <a:rPr sz="1300" dirty="0">
                <a:solidFill>
                  <a:srgbClr val="3A3535"/>
                </a:solidFill>
                <a:latin typeface="Century Gothic"/>
                <a:cs typeface="Century Gothic"/>
              </a:rPr>
              <a:t> </a:t>
            </a:r>
            <a:r>
              <a:rPr sz="1300" spc="20" dirty="0">
                <a:solidFill>
                  <a:srgbClr val="3A3535"/>
                </a:solidFill>
                <a:latin typeface="Century Gothic"/>
                <a:cs typeface="Century Gothic"/>
              </a:rPr>
              <a:t>needs</a:t>
            </a:r>
            <a:r>
              <a:rPr sz="1300" dirty="0">
                <a:solidFill>
                  <a:srgbClr val="3A3535"/>
                </a:solidFill>
                <a:latin typeface="Century Gothic"/>
                <a:cs typeface="Century Gothic"/>
              </a:rPr>
              <a:t> </a:t>
            </a:r>
            <a:r>
              <a:rPr sz="1300" spc="70" dirty="0">
                <a:solidFill>
                  <a:srgbClr val="3A3535"/>
                </a:solidFill>
                <a:latin typeface="Century Gothic"/>
                <a:cs typeface="Century Gothic"/>
              </a:rPr>
              <a:t>to</a:t>
            </a:r>
            <a:r>
              <a:rPr sz="1300" dirty="0">
                <a:solidFill>
                  <a:srgbClr val="3A3535"/>
                </a:solidFill>
                <a:latin typeface="Century Gothic"/>
                <a:cs typeface="Century Gothic"/>
              </a:rPr>
              <a:t> </a:t>
            </a:r>
            <a:r>
              <a:rPr sz="1300" spc="20" dirty="0">
                <a:solidFill>
                  <a:srgbClr val="3A3535"/>
                </a:solidFill>
                <a:latin typeface="Century Gothic"/>
                <a:cs typeface="Century Gothic"/>
              </a:rPr>
              <a:t>stay</a:t>
            </a:r>
            <a:r>
              <a:rPr sz="1300" spc="-10" dirty="0">
                <a:solidFill>
                  <a:srgbClr val="3A3535"/>
                </a:solidFill>
                <a:latin typeface="Century Gothic"/>
                <a:cs typeface="Century Gothic"/>
              </a:rPr>
              <a:t> </a:t>
            </a:r>
            <a:r>
              <a:rPr sz="1300" spc="10" dirty="0">
                <a:solidFill>
                  <a:srgbClr val="3A3535"/>
                </a:solidFill>
                <a:latin typeface="Century Gothic"/>
                <a:cs typeface="Century Gothic"/>
              </a:rPr>
              <a:t>connected</a:t>
            </a:r>
            <a:r>
              <a:rPr sz="1300" dirty="0">
                <a:solidFill>
                  <a:srgbClr val="3A3535"/>
                </a:solidFill>
                <a:latin typeface="Century Gothic"/>
                <a:cs typeface="Century Gothic"/>
              </a:rPr>
              <a:t> </a:t>
            </a:r>
            <a:r>
              <a:rPr sz="1300" spc="90" dirty="0">
                <a:solidFill>
                  <a:srgbClr val="3A3535"/>
                </a:solidFill>
                <a:latin typeface="Century Gothic"/>
                <a:cs typeface="Century Gothic"/>
              </a:rPr>
              <a:t>in</a:t>
            </a:r>
            <a:r>
              <a:rPr sz="1300" dirty="0">
                <a:solidFill>
                  <a:srgbClr val="3A3535"/>
                </a:solidFill>
                <a:latin typeface="Century Gothic"/>
                <a:cs typeface="Century Gothic"/>
              </a:rPr>
              <a:t> </a:t>
            </a:r>
            <a:r>
              <a:rPr sz="1300" spc="20" dirty="0">
                <a:solidFill>
                  <a:srgbClr val="3A3535"/>
                </a:solidFill>
                <a:latin typeface="Century Gothic"/>
                <a:cs typeface="Century Gothic"/>
              </a:rPr>
              <a:t>one</a:t>
            </a:r>
            <a:r>
              <a:rPr sz="1300" dirty="0">
                <a:solidFill>
                  <a:srgbClr val="3A3535"/>
                </a:solidFill>
                <a:latin typeface="Century Gothic"/>
                <a:cs typeface="Century Gothic"/>
              </a:rPr>
              <a:t> </a:t>
            </a:r>
            <a:r>
              <a:rPr sz="1300" spc="20" dirty="0">
                <a:solidFill>
                  <a:srgbClr val="3A3535"/>
                </a:solidFill>
                <a:latin typeface="Century Gothic"/>
                <a:cs typeface="Century Gothic"/>
              </a:rPr>
              <a:t>locally</a:t>
            </a:r>
            <a:r>
              <a:rPr sz="1300" dirty="0">
                <a:solidFill>
                  <a:srgbClr val="3A3535"/>
                </a:solidFill>
                <a:latin typeface="Century Gothic"/>
                <a:cs typeface="Century Gothic"/>
              </a:rPr>
              <a:t> </a:t>
            </a:r>
            <a:r>
              <a:rPr sz="1300" spc="50" dirty="0">
                <a:solidFill>
                  <a:srgbClr val="3A3535"/>
                </a:solidFill>
                <a:latin typeface="Century Gothic"/>
                <a:cs typeface="Century Gothic"/>
              </a:rPr>
              <a:t>controlled</a:t>
            </a:r>
            <a:r>
              <a:rPr sz="1300" dirty="0">
                <a:solidFill>
                  <a:srgbClr val="3A3535"/>
                </a:solidFill>
                <a:latin typeface="Century Gothic"/>
                <a:cs typeface="Century Gothic"/>
              </a:rPr>
              <a:t> </a:t>
            </a:r>
            <a:r>
              <a:rPr sz="1300" spc="60" dirty="0">
                <a:solidFill>
                  <a:srgbClr val="3A3535"/>
                </a:solidFill>
                <a:latin typeface="Century Gothic"/>
                <a:cs typeface="Century Gothic"/>
              </a:rPr>
              <a:t>system.</a:t>
            </a:r>
            <a:endParaRPr sz="1300">
              <a:latin typeface="Century Gothic"/>
              <a:cs typeface="Century Gothic"/>
            </a:endParaRPr>
          </a:p>
        </p:txBody>
      </p:sp>
      <p:grpSp>
        <p:nvGrpSpPr>
          <p:cNvPr id="4" name="object 4"/>
          <p:cNvGrpSpPr/>
          <p:nvPr/>
        </p:nvGrpSpPr>
        <p:grpSpPr>
          <a:xfrm>
            <a:off x="590550" y="2162174"/>
            <a:ext cx="10248900" cy="3467100"/>
            <a:chOff x="590550" y="2162174"/>
            <a:chExt cx="10248900" cy="3467100"/>
          </a:xfrm>
        </p:grpSpPr>
        <p:sp>
          <p:nvSpPr>
            <p:cNvPr id="5" name="object 5"/>
            <p:cNvSpPr/>
            <p:nvPr/>
          </p:nvSpPr>
          <p:spPr>
            <a:xfrm>
              <a:off x="595312" y="2166937"/>
              <a:ext cx="10239375" cy="3457575"/>
            </a:xfrm>
            <a:custGeom>
              <a:avLst/>
              <a:gdLst/>
              <a:ahLst/>
              <a:cxnLst/>
              <a:rect l="l" t="t" r="r" b="b"/>
              <a:pathLst>
                <a:path w="10239375" h="3457575">
                  <a:moveTo>
                    <a:pt x="0" y="3403094"/>
                  </a:moveTo>
                  <a:lnTo>
                    <a:pt x="0" y="54483"/>
                  </a:lnTo>
                  <a:lnTo>
                    <a:pt x="0" y="50901"/>
                  </a:lnTo>
                  <a:lnTo>
                    <a:pt x="346" y="47358"/>
                  </a:lnTo>
                  <a:lnTo>
                    <a:pt x="1046" y="43853"/>
                  </a:lnTo>
                  <a:lnTo>
                    <a:pt x="1746" y="40347"/>
                  </a:lnTo>
                  <a:lnTo>
                    <a:pt x="2778" y="36931"/>
                  </a:lnTo>
                  <a:lnTo>
                    <a:pt x="4147" y="33629"/>
                  </a:lnTo>
                  <a:lnTo>
                    <a:pt x="5516" y="30327"/>
                  </a:lnTo>
                  <a:lnTo>
                    <a:pt x="24213" y="9182"/>
                  </a:lnTo>
                  <a:lnTo>
                    <a:pt x="27185" y="7188"/>
                  </a:lnTo>
                  <a:lnTo>
                    <a:pt x="30326" y="5511"/>
                  </a:lnTo>
                  <a:lnTo>
                    <a:pt x="33629" y="4152"/>
                  </a:lnTo>
                  <a:lnTo>
                    <a:pt x="36939" y="2781"/>
                  </a:lnTo>
                  <a:lnTo>
                    <a:pt x="40342" y="1739"/>
                  </a:lnTo>
                  <a:lnTo>
                    <a:pt x="43854" y="1041"/>
                  </a:lnTo>
                  <a:lnTo>
                    <a:pt x="47362" y="342"/>
                  </a:lnTo>
                  <a:lnTo>
                    <a:pt x="50904" y="0"/>
                  </a:lnTo>
                  <a:lnTo>
                    <a:pt x="54480" y="0"/>
                  </a:lnTo>
                  <a:lnTo>
                    <a:pt x="10184892" y="0"/>
                  </a:lnTo>
                  <a:lnTo>
                    <a:pt x="10188473" y="0"/>
                  </a:lnTo>
                  <a:lnTo>
                    <a:pt x="10192016" y="342"/>
                  </a:lnTo>
                  <a:lnTo>
                    <a:pt x="10195522" y="1041"/>
                  </a:lnTo>
                  <a:lnTo>
                    <a:pt x="10199027" y="1739"/>
                  </a:lnTo>
                  <a:lnTo>
                    <a:pt x="10202430" y="2781"/>
                  </a:lnTo>
                  <a:lnTo>
                    <a:pt x="10205745" y="4152"/>
                  </a:lnTo>
                  <a:lnTo>
                    <a:pt x="10209047" y="5511"/>
                  </a:lnTo>
                  <a:lnTo>
                    <a:pt x="10212184" y="7188"/>
                  </a:lnTo>
                  <a:lnTo>
                    <a:pt x="10215156" y="9182"/>
                  </a:lnTo>
                  <a:lnTo>
                    <a:pt x="10218140" y="11163"/>
                  </a:lnTo>
                  <a:lnTo>
                    <a:pt x="10220883" y="13423"/>
                  </a:lnTo>
                  <a:lnTo>
                    <a:pt x="10223411" y="15951"/>
                  </a:lnTo>
                  <a:lnTo>
                    <a:pt x="10225951" y="18491"/>
                  </a:lnTo>
                  <a:lnTo>
                    <a:pt x="10235222" y="33629"/>
                  </a:lnTo>
                  <a:lnTo>
                    <a:pt x="10236593" y="36931"/>
                  </a:lnTo>
                  <a:lnTo>
                    <a:pt x="10237635" y="40347"/>
                  </a:lnTo>
                  <a:lnTo>
                    <a:pt x="10238333" y="43853"/>
                  </a:lnTo>
                  <a:lnTo>
                    <a:pt x="10239032" y="47358"/>
                  </a:lnTo>
                  <a:lnTo>
                    <a:pt x="10239375" y="50901"/>
                  </a:lnTo>
                  <a:lnTo>
                    <a:pt x="10239375" y="54483"/>
                  </a:lnTo>
                  <a:lnTo>
                    <a:pt x="10239375" y="3403094"/>
                  </a:lnTo>
                  <a:lnTo>
                    <a:pt x="10239375" y="3406672"/>
                  </a:lnTo>
                  <a:lnTo>
                    <a:pt x="10239032" y="3410214"/>
                  </a:lnTo>
                  <a:lnTo>
                    <a:pt x="10238333" y="3413721"/>
                  </a:lnTo>
                  <a:lnTo>
                    <a:pt x="10237635" y="3417228"/>
                  </a:lnTo>
                  <a:lnTo>
                    <a:pt x="10236593" y="3420637"/>
                  </a:lnTo>
                  <a:lnTo>
                    <a:pt x="10235222" y="3423940"/>
                  </a:lnTo>
                  <a:lnTo>
                    <a:pt x="10233863" y="3427244"/>
                  </a:lnTo>
                  <a:lnTo>
                    <a:pt x="10232186" y="3430385"/>
                  </a:lnTo>
                  <a:lnTo>
                    <a:pt x="10230193" y="3433361"/>
                  </a:lnTo>
                  <a:lnTo>
                    <a:pt x="10228211" y="3436333"/>
                  </a:lnTo>
                  <a:lnTo>
                    <a:pt x="10225951" y="3439086"/>
                  </a:lnTo>
                  <a:lnTo>
                    <a:pt x="10223411" y="3441616"/>
                  </a:lnTo>
                  <a:lnTo>
                    <a:pt x="10220883" y="3444147"/>
                  </a:lnTo>
                  <a:lnTo>
                    <a:pt x="10218140" y="3446404"/>
                  </a:lnTo>
                  <a:lnTo>
                    <a:pt x="10215156" y="3448392"/>
                  </a:lnTo>
                  <a:lnTo>
                    <a:pt x="10212184" y="3450377"/>
                  </a:lnTo>
                  <a:lnTo>
                    <a:pt x="10195522" y="3456524"/>
                  </a:lnTo>
                  <a:lnTo>
                    <a:pt x="10192016" y="3457223"/>
                  </a:lnTo>
                  <a:lnTo>
                    <a:pt x="10188473" y="3457571"/>
                  </a:lnTo>
                  <a:lnTo>
                    <a:pt x="10184892" y="3457576"/>
                  </a:lnTo>
                  <a:lnTo>
                    <a:pt x="54480" y="3457576"/>
                  </a:lnTo>
                  <a:lnTo>
                    <a:pt x="50904" y="3457571"/>
                  </a:lnTo>
                  <a:lnTo>
                    <a:pt x="47362" y="3457223"/>
                  </a:lnTo>
                  <a:lnTo>
                    <a:pt x="43854" y="3456524"/>
                  </a:lnTo>
                  <a:lnTo>
                    <a:pt x="40342" y="3455830"/>
                  </a:lnTo>
                  <a:lnTo>
                    <a:pt x="36939" y="3454792"/>
                  </a:lnTo>
                  <a:lnTo>
                    <a:pt x="33629" y="3453423"/>
                  </a:lnTo>
                  <a:lnTo>
                    <a:pt x="30326" y="3452059"/>
                  </a:lnTo>
                  <a:lnTo>
                    <a:pt x="15958" y="3441616"/>
                  </a:lnTo>
                  <a:lnTo>
                    <a:pt x="13428" y="3439086"/>
                  </a:lnTo>
                  <a:lnTo>
                    <a:pt x="11167" y="3436333"/>
                  </a:lnTo>
                  <a:lnTo>
                    <a:pt x="9182" y="3433361"/>
                  </a:lnTo>
                  <a:lnTo>
                    <a:pt x="7193" y="3430385"/>
                  </a:lnTo>
                  <a:lnTo>
                    <a:pt x="5516" y="3427244"/>
                  </a:lnTo>
                  <a:lnTo>
                    <a:pt x="4147" y="3423940"/>
                  </a:lnTo>
                  <a:lnTo>
                    <a:pt x="2778" y="3420637"/>
                  </a:lnTo>
                  <a:lnTo>
                    <a:pt x="1746" y="3417228"/>
                  </a:lnTo>
                  <a:lnTo>
                    <a:pt x="1046" y="3413721"/>
                  </a:lnTo>
                  <a:lnTo>
                    <a:pt x="346" y="3410214"/>
                  </a:lnTo>
                  <a:lnTo>
                    <a:pt x="0" y="3406672"/>
                  </a:lnTo>
                  <a:lnTo>
                    <a:pt x="0" y="3403094"/>
                  </a:lnTo>
                  <a:close/>
                </a:path>
              </a:pathLst>
            </a:custGeom>
            <a:ln w="9525">
              <a:solidFill>
                <a:srgbClr val="000000"/>
              </a:solidFill>
            </a:ln>
          </p:spPr>
          <p:txBody>
            <a:bodyPr wrap="square" lIns="0" tIns="0" rIns="0" bIns="0" rtlCol="0"/>
            <a:lstStyle/>
            <a:p>
              <a:endParaRPr/>
            </a:p>
          </p:txBody>
        </p:sp>
        <p:sp>
          <p:nvSpPr>
            <p:cNvPr id="6" name="object 6"/>
            <p:cNvSpPr/>
            <p:nvPr/>
          </p:nvSpPr>
          <p:spPr>
            <a:xfrm>
              <a:off x="600062" y="2171699"/>
              <a:ext cx="10229850" cy="495934"/>
            </a:xfrm>
            <a:custGeom>
              <a:avLst/>
              <a:gdLst/>
              <a:ahLst/>
              <a:cxnLst/>
              <a:rect l="l" t="t" r="r" b="b"/>
              <a:pathLst>
                <a:path w="10229850" h="495935">
                  <a:moveTo>
                    <a:pt x="2857500" y="12"/>
                  </a:moveTo>
                  <a:lnTo>
                    <a:pt x="51396" y="12"/>
                  </a:lnTo>
                  <a:lnTo>
                    <a:pt x="43840" y="1511"/>
                  </a:lnTo>
                  <a:lnTo>
                    <a:pt x="11798" y="22923"/>
                  </a:lnTo>
                  <a:lnTo>
                    <a:pt x="0" y="51396"/>
                  </a:lnTo>
                  <a:lnTo>
                    <a:pt x="0" y="495312"/>
                  </a:lnTo>
                  <a:lnTo>
                    <a:pt x="2857500" y="495312"/>
                  </a:lnTo>
                  <a:lnTo>
                    <a:pt x="2857500" y="12"/>
                  </a:lnTo>
                  <a:close/>
                </a:path>
                <a:path w="10229850" h="495935">
                  <a:moveTo>
                    <a:pt x="4705362" y="0"/>
                  </a:moveTo>
                  <a:lnTo>
                    <a:pt x="2867037" y="0"/>
                  </a:lnTo>
                  <a:lnTo>
                    <a:pt x="2867037" y="495300"/>
                  </a:lnTo>
                  <a:lnTo>
                    <a:pt x="4705362" y="495300"/>
                  </a:lnTo>
                  <a:lnTo>
                    <a:pt x="4705362" y="0"/>
                  </a:lnTo>
                  <a:close/>
                </a:path>
                <a:path w="10229850" h="495935">
                  <a:moveTo>
                    <a:pt x="6543675" y="12"/>
                  </a:moveTo>
                  <a:lnTo>
                    <a:pt x="4714875" y="12"/>
                  </a:lnTo>
                  <a:lnTo>
                    <a:pt x="4714875" y="495312"/>
                  </a:lnTo>
                  <a:lnTo>
                    <a:pt x="6543675" y="495312"/>
                  </a:lnTo>
                  <a:lnTo>
                    <a:pt x="6543675" y="12"/>
                  </a:lnTo>
                  <a:close/>
                </a:path>
                <a:path w="10229850" h="495935">
                  <a:moveTo>
                    <a:pt x="8382000" y="12"/>
                  </a:moveTo>
                  <a:lnTo>
                    <a:pt x="6553200" y="12"/>
                  </a:lnTo>
                  <a:lnTo>
                    <a:pt x="6553200" y="495312"/>
                  </a:lnTo>
                  <a:lnTo>
                    <a:pt x="8382000" y="495312"/>
                  </a:lnTo>
                  <a:lnTo>
                    <a:pt x="8382000" y="12"/>
                  </a:lnTo>
                  <a:close/>
                </a:path>
                <a:path w="10229850" h="495935">
                  <a:moveTo>
                    <a:pt x="10229850" y="51396"/>
                  </a:moveTo>
                  <a:lnTo>
                    <a:pt x="10206939" y="11811"/>
                  </a:lnTo>
                  <a:lnTo>
                    <a:pt x="10178466" y="12"/>
                  </a:lnTo>
                  <a:lnTo>
                    <a:pt x="8391525" y="12"/>
                  </a:lnTo>
                  <a:lnTo>
                    <a:pt x="8391525" y="495312"/>
                  </a:lnTo>
                  <a:lnTo>
                    <a:pt x="10229850" y="495312"/>
                  </a:lnTo>
                  <a:lnTo>
                    <a:pt x="10229850" y="51396"/>
                  </a:lnTo>
                  <a:close/>
                </a:path>
              </a:pathLst>
            </a:custGeom>
            <a:solidFill>
              <a:srgbClr val="FFFFFF">
                <a:alpha val="3919"/>
              </a:srgbClr>
            </a:solidFill>
          </p:spPr>
          <p:txBody>
            <a:bodyPr wrap="square" lIns="0" tIns="0" rIns="0" bIns="0" rtlCol="0"/>
            <a:lstStyle/>
            <a:p>
              <a:endParaRPr/>
            </a:p>
          </p:txBody>
        </p:sp>
        <p:sp>
          <p:nvSpPr>
            <p:cNvPr id="7" name="object 7"/>
            <p:cNvSpPr/>
            <p:nvPr/>
          </p:nvSpPr>
          <p:spPr>
            <a:xfrm>
              <a:off x="600062" y="2666999"/>
              <a:ext cx="10230485" cy="495934"/>
            </a:xfrm>
            <a:custGeom>
              <a:avLst/>
              <a:gdLst/>
              <a:ahLst/>
              <a:cxnLst/>
              <a:rect l="l" t="t" r="r" b="b"/>
              <a:pathLst>
                <a:path w="10230485" h="495935">
                  <a:moveTo>
                    <a:pt x="2857500" y="12"/>
                  </a:moveTo>
                  <a:lnTo>
                    <a:pt x="0" y="12"/>
                  </a:lnTo>
                  <a:lnTo>
                    <a:pt x="0" y="495312"/>
                  </a:lnTo>
                  <a:lnTo>
                    <a:pt x="2857500" y="495312"/>
                  </a:lnTo>
                  <a:lnTo>
                    <a:pt x="2857500" y="12"/>
                  </a:lnTo>
                  <a:close/>
                </a:path>
                <a:path w="10230485" h="495935">
                  <a:moveTo>
                    <a:pt x="4705362" y="0"/>
                  </a:moveTo>
                  <a:lnTo>
                    <a:pt x="2867037" y="0"/>
                  </a:lnTo>
                  <a:lnTo>
                    <a:pt x="2867037" y="495312"/>
                  </a:lnTo>
                  <a:lnTo>
                    <a:pt x="4705362" y="495312"/>
                  </a:lnTo>
                  <a:lnTo>
                    <a:pt x="4705362" y="0"/>
                  </a:lnTo>
                  <a:close/>
                </a:path>
                <a:path w="10230485" h="495935">
                  <a:moveTo>
                    <a:pt x="6543675" y="12"/>
                  </a:moveTo>
                  <a:lnTo>
                    <a:pt x="4714875" y="12"/>
                  </a:lnTo>
                  <a:lnTo>
                    <a:pt x="4714875" y="495312"/>
                  </a:lnTo>
                  <a:lnTo>
                    <a:pt x="6543675" y="495312"/>
                  </a:lnTo>
                  <a:lnTo>
                    <a:pt x="6543675" y="12"/>
                  </a:lnTo>
                  <a:close/>
                </a:path>
                <a:path w="10230485" h="495935">
                  <a:moveTo>
                    <a:pt x="8382000" y="12"/>
                  </a:moveTo>
                  <a:lnTo>
                    <a:pt x="6553200" y="12"/>
                  </a:lnTo>
                  <a:lnTo>
                    <a:pt x="6553200" y="495312"/>
                  </a:lnTo>
                  <a:lnTo>
                    <a:pt x="8382000" y="495312"/>
                  </a:lnTo>
                  <a:lnTo>
                    <a:pt x="8382000" y="12"/>
                  </a:lnTo>
                  <a:close/>
                </a:path>
                <a:path w="10230485" h="495935">
                  <a:moveTo>
                    <a:pt x="10229863" y="0"/>
                  </a:moveTo>
                  <a:lnTo>
                    <a:pt x="8391538" y="0"/>
                  </a:lnTo>
                  <a:lnTo>
                    <a:pt x="8391538" y="495312"/>
                  </a:lnTo>
                  <a:lnTo>
                    <a:pt x="10229863" y="495312"/>
                  </a:lnTo>
                  <a:lnTo>
                    <a:pt x="10229863" y="0"/>
                  </a:lnTo>
                  <a:close/>
                </a:path>
              </a:pathLst>
            </a:custGeom>
            <a:solidFill>
              <a:srgbClr val="000000">
                <a:alpha val="3919"/>
              </a:srgbClr>
            </a:solidFill>
          </p:spPr>
          <p:txBody>
            <a:bodyPr wrap="square" lIns="0" tIns="0" rIns="0" bIns="0" rtlCol="0"/>
            <a:lstStyle/>
            <a:p>
              <a:endParaRPr/>
            </a:p>
          </p:txBody>
        </p:sp>
        <p:sp>
          <p:nvSpPr>
            <p:cNvPr id="8" name="object 8"/>
            <p:cNvSpPr/>
            <p:nvPr/>
          </p:nvSpPr>
          <p:spPr>
            <a:xfrm>
              <a:off x="600062" y="3162312"/>
              <a:ext cx="10230485" cy="485775"/>
            </a:xfrm>
            <a:custGeom>
              <a:avLst/>
              <a:gdLst/>
              <a:ahLst/>
              <a:cxnLst/>
              <a:rect l="l" t="t" r="r" b="b"/>
              <a:pathLst>
                <a:path w="10230485" h="485775">
                  <a:moveTo>
                    <a:pt x="2857500" y="0"/>
                  </a:moveTo>
                  <a:lnTo>
                    <a:pt x="0" y="0"/>
                  </a:lnTo>
                  <a:lnTo>
                    <a:pt x="0" y="485775"/>
                  </a:lnTo>
                  <a:lnTo>
                    <a:pt x="2857500" y="485775"/>
                  </a:lnTo>
                  <a:lnTo>
                    <a:pt x="2857500" y="0"/>
                  </a:lnTo>
                  <a:close/>
                </a:path>
                <a:path w="10230485" h="485775">
                  <a:moveTo>
                    <a:pt x="4705362" y="0"/>
                  </a:moveTo>
                  <a:lnTo>
                    <a:pt x="2867037" y="0"/>
                  </a:lnTo>
                  <a:lnTo>
                    <a:pt x="2867037" y="485775"/>
                  </a:lnTo>
                  <a:lnTo>
                    <a:pt x="4705362" y="485775"/>
                  </a:lnTo>
                  <a:lnTo>
                    <a:pt x="4705362" y="0"/>
                  </a:lnTo>
                  <a:close/>
                </a:path>
                <a:path w="10230485" h="485775">
                  <a:moveTo>
                    <a:pt x="6543675" y="0"/>
                  </a:moveTo>
                  <a:lnTo>
                    <a:pt x="4714875" y="0"/>
                  </a:lnTo>
                  <a:lnTo>
                    <a:pt x="4714875" y="485775"/>
                  </a:lnTo>
                  <a:lnTo>
                    <a:pt x="6543675" y="485775"/>
                  </a:lnTo>
                  <a:lnTo>
                    <a:pt x="6543675" y="0"/>
                  </a:lnTo>
                  <a:close/>
                </a:path>
                <a:path w="10230485" h="485775">
                  <a:moveTo>
                    <a:pt x="8382000" y="0"/>
                  </a:moveTo>
                  <a:lnTo>
                    <a:pt x="6553200" y="0"/>
                  </a:lnTo>
                  <a:lnTo>
                    <a:pt x="6553200" y="485775"/>
                  </a:lnTo>
                  <a:lnTo>
                    <a:pt x="8382000" y="485775"/>
                  </a:lnTo>
                  <a:lnTo>
                    <a:pt x="8382000" y="0"/>
                  </a:lnTo>
                  <a:close/>
                </a:path>
                <a:path w="10230485" h="485775">
                  <a:moveTo>
                    <a:pt x="10229863" y="0"/>
                  </a:moveTo>
                  <a:lnTo>
                    <a:pt x="8391538" y="0"/>
                  </a:lnTo>
                  <a:lnTo>
                    <a:pt x="8391538" y="485775"/>
                  </a:lnTo>
                  <a:lnTo>
                    <a:pt x="10229863" y="485775"/>
                  </a:lnTo>
                  <a:lnTo>
                    <a:pt x="10229863" y="0"/>
                  </a:lnTo>
                  <a:close/>
                </a:path>
              </a:pathLst>
            </a:custGeom>
            <a:solidFill>
              <a:srgbClr val="FFFFFF">
                <a:alpha val="3919"/>
              </a:srgbClr>
            </a:solidFill>
          </p:spPr>
          <p:txBody>
            <a:bodyPr wrap="square" lIns="0" tIns="0" rIns="0" bIns="0" rtlCol="0"/>
            <a:lstStyle/>
            <a:p>
              <a:endParaRPr/>
            </a:p>
          </p:txBody>
        </p:sp>
        <p:sp>
          <p:nvSpPr>
            <p:cNvPr id="9" name="object 9"/>
            <p:cNvSpPr/>
            <p:nvPr/>
          </p:nvSpPr>
          <p:spPr>
            <a:xfrm>
              <a:off x="600062" y="3648087"/>
              <a:ext cx="10230485" cy="495300"/>
            </a:xfrm>
            <a:custGeom>
              <a:avLst/>
              <a:gdLst/>
              <a:ahLst/>
              <a:cxnLst/>
              <a:rect l="l" t="t" r="r" b="b"/>
              <a:pathLst>
                <a:path w="10230485" h="495300">
                  <a:moveTo>
                    <a:pt x="2857500" y="0"/>
                  </a:moveTo>
                  <a:lnTo>
                    <a:pt x="0" y="0"/>
                  </a:lnTo>
                  <a:lnTo>
                    <a:pt x="0" y="495300"/>
                  </a:lnTo>
                  <a:lnTo>
                    <a:pt x="2857500" y="495300"/>
                  </a:lnTo>
                  <a:lnTo>
                    <a:pt x="2857500" y="0"/>
                  </a:lnTo>
                  <a:close/>
                </a:path>
                <a:path w="10230485" h="495300">
                  <a:moveTo>
                    <a:pt x="4705362" y="0"/>
                  </a:moveTo>
                  <a:lnTo>
                    <a:pt x="2867037" y="0"/>
                  </a:lnTo>
                  <a:lnTo>
                    <a:pt x="2867037" y="495287"/>
                  </a:lnTo>
                  <a:lnTo>
                    <a:pt x="4705362" y="495287"/>
                  </a:lnTo>
                  <a:lnTo>
                    <a:pt x="4705362" y="0"/>
                  </a:lnTo>
                  <a:close/>
                </a:path>
                <a:path w="10230485" h="495300">
                  <a:moveTo>
                    <a:pt x="6543675" y="0"/>
                  </a:moveTo>
                  <a:lnTo>
                    <a:pt x="4714875" y="0"/>
                  </a:lnTo>
                  <a:lnTo>
                    <a:pt x="4714875" y="495300"/>
                  </a:lnTo>
                  <a:lnTo>
                    <a:pt x="6543675" y="495300"/>
                  </a:lnTo>
                  <a:lnTo>
                    <a:pt x="6543675" y="0"/>
                  </a:lnTo>
                  <a:close/>
                </a:path>
                <a:path w="10230485" h="495300">
                  <a:moveTo>
                    <a:pt x="8382000" y="0"/>
                  </a:moveTo>
                  <a:lnTo>
                    <a:pt x="6553200" y="0"/>
                  </a:lnTo>
                  <a:lnTo>
                    <a:pt x="6553200" y="495300"/>
                  </a:lnTo>
                  <a:lnTo>
                    <a:pt x="8382000" y="495300"/>
                  </a:lnTo>
                  <a:lnTo>
                    <a:pt x="8382000" y="0"/>
                  </a:lnTo>
                  <a:close/>
                </a:path>
                <a:path w="10230485" h="495300">
                  <a:moveTo>
                    <a:pt x="10229863" y="0"/>
                  </a:moveTo>
                  <a:lnTo>
                    <a:pt x="8391538" y="0"/>
                  </a:lnTo>
                  <a:lnTo>
                    <a:pt x="8391538" y="495287"/>
                  </a:lnTo>
                  <a:lnTo>
                    <a:pt x="10229863" y="495287"/>
                  </a:lnTo>
                  <a:lnTo>
                    <a:pt x="10229863" y="0"/>
                  </a:lnTo>
                  <a:close/>
                </a:path>
              </a:pathLst>
            </a:custGeom>
            <a:solidFill>
              <a:srgbClr val="000000">
                <a:alpha val="3919"/>
              </a:srgbClr>
            </a:solidFill>
          </p:spPr>
          <p:txBody>
            <a:bodyPr wrap="square" lIns="0" tIns="0" rIns="0" bIns="0" rtlCol="0"/>
            <a:lstStyle/>
            <a:p>
              <a:endParaRPr/>
            </a:p>
          </p:txBody>
        </p:sp>
        <p:sp>
          <p:nvSpPr>
            <p:cNvPr id="10" name="object 10"/>
            <p:cNvSpPr/>
            <p:nvPr/>
          </p:nvSpPr>
          <p:spPr>
            <a:xfrm>
              <a:off x="600062" y="4143374"/>
              <a:ext cx="10230485" cy="495934"/>
            </a:xfrm>
            <a:custGeom>
              <a:avLst/>
              <a:gdLst/>
              <a:ahLst/>
              <a:cxnLst/>
              <a:rect l="l" t="t" r="r" b="b"/>
              <a:pathLst>
                <a:path w="10230485" h="495935">
                  <a:moveTo>
                    <a:pt x="2857500" y="12"/>
                  </a:moveTo>
                  <a:lnTo>
                    <a:pt x="0" y="12"/>
                  </a:lnTo>
                  <a:lnTo>
                    <a:pt x="0" y="495312"/>
                  </a:lnTo>
                  <a:lnTo>
                    <a:pt x="2857500" y="495312"/>
                  </a:lnTo>
                  <a:lnTo>
                    <a:pt x="2857500" y="12"/>
                  </a:lnTo>
                  <a:close/>
                </a:path>
                <a:path w="10230485" h="495935">
                  <a:moveTo>
                    <a:pt x="4705362" y="0"/>
                  </a:moveTo>
                  <a:lnTo>
                    <a:pt x="2867037" y="0"/>
                  </a:lnTo>
                  <a:lnTo>
                    <a:pt x="2867037" y="495300"/>
                  </a:lnTo>
                  <a:lnTo>
                    <a:pt x="4705362" y="495300"/>
                  </a:lnTo>
                  <a:lnTo>
                    <a:pt x="4705362" y="0"/>
                  </a:lnTo>
                  <a:close/>
                </a:path>
                <a:path w="10230485" h="495935">
                  <a:moveTo>
                    <a:pt x="6543675" y="12"/>
                  </a:moveTo>
                  <a:lnTo>
                    <a:pt x="4714875" y="12"/>
                  </a:lnTo>
                  <a:lnTo>
                    <a:pt x="4714875" y="495312"/>
                  </a:lnTo>
                  <a:lnTo>
                    <a:pt x="6543675" y="495312"/>
                  </a:lnTo>
                  <a:lnTo>
                    <a:pt x="6543675" y="12"/>
                  </a:lnTo>
                  <a:close/>
                </a:path>
                <a:path w="10230485" h="495935">
                  <a:moveTo>
                    <a:pt x="8382000" y="12"/>
                  </a:moveTo>
                  <a:lnTo>
                    <a:pt x="6553200" y="12"/>
                  </a:lnTo>
                  <a:lnTo>
                    <a:pt x="6553200" y="495312"/>
                  </a:lnTo>
                  <a:lnTo>
                    <a:pt x="8382000" y="495312"/>
                  </a:lnTo>
                  <a:lnTo>
                    <a:pt x="8382000" y="12"/>
                  </a:lnTo>
                  <a:close/>
                </a:path>
                <a:path w="10230485" h="495935">
                  <a:moveTo>
                    <a:pt x="10229863" y="0"/>
                  </a:moveTo>
                  <a:lnTo>
                    <a:pt x="8391538" y="0"/>
                  </a:lnTo>
                  <a:lnTo>
                    <a:pt x="8391538" y="495300"/>
                  </a:lnTo>
                  <a:lnTo>
                    <a:pt x="10229863" y="495300"/>
                  </a:lnTo>
                  <a:lnTo>
                    <a:pt x="10229863" y="0"/>
                  </a:lnTo>
                  <a:close/>
                </a:path>
              </a:pathLst>
            </a:custGeom>
            <a:solidFill>
              <a:srgbClr val="FFFFFF">
                <a:alpha val="3919"/>
              </a:srgbClr>
            </a:solidFill>
          </p:spPr>
          <p:txBody>
            <a:bodyPr wrap="square" lIns="0" tIns="0" rIns="0" bIns="0" rtlCol="0"/>
            <a:lstStyle/>
            <a:p>
              <a:endParaRPr/>
            </a:p>
          </p:txBody>
        </p:sp>
        <p:sp>
          <p:nvSpPr>
            <p:cNvPr id="11" name="object 11"/>
            <p:cNvSpPr/>
            <p:nvPr/>
          </p:nvSpPr>
          <p:spPr>
            <a:xfrm>
              <a:off x="600062" y="4638674"/>
              <a:ext cx="10230485" cy="495934"/>
            </a:xfrm>
            <a:custGeom>
              <a:avLst/>
              <a:gdLst/>
              <a:ahLst/>
              <a:cxnLst/>
              <a:rect l="l" t="t" r="r" b="b"/>
              <a:pathLst>
                <a:path w="10230485" h="495935">
                  <a:moveTo>
                    <a:pt x="2857500" y="12"/>
                  </a:moveTo>
                  <a:lnTo>
                    <a:pt x="0" y="12"/>
                  </a:lnTo>
                  <a:lnTo>
                    <a:pt x="0" y="495312"/>
                  </a:lnTo>
                  <a:lnTo>
                    <a:pt x="2857500" y="495312"/>
                  </a:lnTo>
                  <a:lnTo>
                    <a:pt x="2857500" y="12"/>
                  </a:lnTo>
                  <a:close/>
                </a:path>
                <a:path w="10230485" h="495935">
                  <a:moveTo>
                    <a:pt x="4705362" y="0"/>
                  </a:moveTo>
                  <a:lnTo>
                    <a:pt x="2867037" y="0"/>
                  </a:lnTo>
                  <a:lnTo>
                    <a:pt x="2867037" y="495300"/>
                  </a:lnTo>
                  <a:lnTo>
                    <a:pt x="4705362" y="495300"/>
                  </a:lnTo>
                  <a:lnTo>
                    <a:pt x="4705362" y="0"/>
                  </a:lnTo>
                  <a:close/>
                </a:path>
                <a:path w="10230485" h="495935">
                  <a:moveTo>
                    <a:pt x="6543675" y="12"/>
                  </a:moveTo>
                  <a:lnTo>
                    <a:pt x="4714875" y="12"/>
                  </a:lnTo>
                  <a:lnTo>
                    <a:pt x="4714875" y="495312"/>
                  </a:lnTo>
                  <a:lnTo>
                    <a:pt x="6543675" y="495312"/>
                  </a:lnTo>
                  <a:lnTo>
                    <a:pt x="6543675" y="12"/>
                  </a:lnTo>
                  <a:close/>
                </a:path>
                <a:path w="10230485" h="495935">
                  <a:moveTo>
                    <a:pt x="8382000" y="12"/>
                  </a:moveTo>
                  <a:lnTo>
                    <a:pt x="6553200" y="12"/>
                  </a:lnTo>
                  <a:lnTo>
                    <a:pt x="6553200" y="495312"/>
                  </a:lnTo>
                  <a:lnTo>
                    <a:pt x="8382000" y="495312"/>
                  </a:lnTo>
                  <a:lnTo>
                    <a:pt x="8382000" y="12"/>
                  </a:lnTo>
                  <a:close/>
                </a:path>
                <a:path w="10230485" h="495935">
                  <a:moveTo>
                    <a:pt x="10229863" y="0"/>
                  </a:moveTo>
                  <a:lnTo>
                    <a:pt x="8391538" y="0"/>
                  </a:lnTo>
                  <a:lnTo>
                    <a:pt x="8391538" y="495300"/>
                  </a:lnTo>
                  <a:lnTo>
                    <a:pt x="10229863" y="495300"/>
                  </a:lnTo>
                  <a:lnTo>
                    <a:pt x="10229863" y="0"/>
                  </a:lnTo>
                  <a:close/>
                </a:path>
              </a:pathLst>
            </a:custGeom>
            <a:solidFill>
              <a:srgbClr val="000000">
                <a:alpha val="3919"/>
              </a:srgbClr>
            </a:solidFill>
          </p:spPr>
          <p:txBody>
            <a:bodyPr wrap="square" lIns="0" tIns="0" rIns="0" bIns="0" rtlCol="0"/>
            <a:lstStyle/>
            <a:p>
              <a:endParaRPr/>
            </a:p>
          </p:txBody>
        </p:sp>
        <p:sp>
          <p:nvSpPr>
            <p:cNvPr id="12" name="object 12"/>
            <p:cNvSpPr/>
            <p:nvPr/>
          </p:nvSpPr>
          <p:spPr>
            <a:xfrm>
              <a:off x="600062" y="5133987"/>
              <a:ext cx="10229850" cy="485775"/>
            </a:xfrm>
            <a:custGeom>
              <a:avLst/>
              <a:gdLst/>
              <a:ahLst/>
              <a:cxnLst/>
              <a:rect l="l" t="t" r="r" b="b"/>
              <a:pathLst>
                <a:path w="10229850" h="485775">
                  <a:moveTo>
                    <a:pt x="2857500" y="0"/>
                  </a:moveTo>
                  <a:lnTo>
                    <a:pt x="0" y="0"/>
                  </a:lnTo>
                  <a:lnTo>
                    <a:pt x="0" y="434378"/>
                  </a:lnTo>
                  <a:lnTo>
                    <a:pt x="22910" y="473976"/>
                  </a:lnTo>
                  <a:lnTo>
                    <a:pt x="51396" y="485775"/>
                  </a:lnTo>
                  <a:lnTo>
                    <a:pt x="2857500" y="485775"/>
                  </a:lnTo>
                  <a:lnTo>
                    <a:pt x="2857500" y="0"/>
                  </a:lnTo>
                  <a:close/>
                </a:path>
                <a:path w="10229850" h="485775">
                  <a:moveTo>
                    <a:pt x="4705362" y="0"/>
                  </a:moveTo>
                  <a:lnTo>
                    <a:pt x="2867037" y="0"/>
                  </a:lnTo>
                  <a:lnTo>
                    <a:pt x="2867037" y="485775"/>
                  </a:lnTo>
                  <a:lnTo>
                    <a:pt x="4705362" y="485775"/>
                  </a:lnTo>
                  <a:lnTo>
                    <a:pt x="4705362" y="0"/>
                  </a:lnTo>
                  <a:close/>
                </a:path>
                <a:path w="10229850" h="485775">
                  <a:moveTo>
                    <a:pt x="6543675" y="0"/>
                  </a:moveTo>
                  <a:lnTo>
                    <a:pt x="4714875" y="0"/>
                  </a:lnTo>
                  <a:lnTo>
                    <a:pt x="4714875" y="485775"/>
                  </a:lnTo>
                  <a:lnTo>
                    <a:pt x="6543675" y="485775"/>
                  </a:lnTo>
                  <a:lnTo>
                    <a:pt x="6543675" y="0"/>
                  </a:lnTo>
                  <a:close/>
                </a:path>
                <a:path w="10229850" h="485775">
                  <a:moveTo>
                    <a:pt x="8382000" y="0"/>
                  </a:moveTo>
                  <a:lnTo>
                    <a:pt x="6553200" y="0"/>
                  </a:lnTo>
                  <a:lnTo>
                    <a:pt x="6553200" y="485775"/>
                  </a:lnTo>
                  <a:lnTo>
                    <a:pt x="8382000" y="485775"/>
                  </a:lnTo>
                  <a:lnTo>
                    <a:pt x="8382000" y="0"/>
                  </a:lnTo>
                  <a:close/>
                </a:path>
                <a:path w="10229850" h="485775">
                  <a:moveTo>
                    <a:pt x="10229850" y="0"/>
                  </a:moveTo>
                  <a:lnTo>
                    <a:pt x="8391525" y="0"/>
                  </a:lnTo>
                  <a:lnTo>
                    <a:pt x="8391525" y="485775"/>
                  </a:lnTo>
                  <a:lnTo>
                    <a:pt x="10178466" y="485775"/>
                  </a:lnTo>
                  <a:lnTo>
                    <a:pt x="10186022" y="484263"/>
                  </a:lnTo>
                  <a:lnTo>
                    <a:pt x="10218052" y="462864"/>
                  </a:lnTo>
                  <a:lnTo>
                    <a:pt x="10229850" y="434378"/>
                  </a:lnTo>
                  <a:lnTo>
                    <a:pt x="10229850" y="0"/>
                  </a:lnTo>
                  <a:close/>
                </a:path>
              </a:pathLst>
            </a:custGeom>
            <a:solidFill>
              <a:srgbClr val="FFFFFF">
                <a:alpha val="3919"/>
              </a:srgbClr>
            </a:solidFill>
          </p:spPr>
          <p:txBody>
            <a:bodyPr wrap="square" lIns="0" tIns="0" rIns="0" bIns="0" rtlCol="0"/>
            <a:lstStyle/>
            <a:p>
              <a:endParaRPr/>
            </a:p>
          </p:txBody>
        </p:sp>
      </p:grpSp>
      <p:sp>
        <p:nvSpPr>
          <p:cNvPr id="13" name="object 13"/>
          <p:cNvSpPr txBox="1"/>
          <p:nvPr/>
        </p:nvSpPr>
        <p:spPr>
          <a:xfrm>
            <a:off x="3626599" y="2294547"/>
            <a:ext cx="1044575" cy="228600"/>
          </a:xfrm>
          <a:prstGeom prst="rect">
            <a:avLst/>
          </a:prstGeom>
        </p:spPr>
        <p:txBody>
          <a:bodyPr vert="horz" wrap="square" lIns="0" tIns="16510" rIns="0" bIns="0" rtlCol="0">
            <a:spAutoFit/>
          </a:bodyPr>
          <a:lstStyle/>
          <a:p>
            <a:pPr marL="12700">
              <a:lnSpc>
                <a:spcPct val="100000"/>
              </a:lnSpc>
              <a:spcBef>
                <a:spcPts val="130"/>
              </a:spcBef>
            </a:pPr>
            <a:r>
              <a:rPr sz="1300" b="1" spc="-50" dirty="0">
                <a:solidFill>
                  <a:srgbClr val="3A3535"/>
                </a:solidFill>
                <a:latin typeface="Verdana"/>
                <a:cs typeface="Verdana"/>
              </a:rPr>
              <a:t>LimeSurvey</a:t>
            </a:r>
            <a:endParaRPr sz="1300">
              <a:latin typeface="Verdana"/>
              <a:cs typeface="Verdana"/>
            </a:endParaRPr>
          </a:p>
        </p:txBody>
      </p:sp>
      <p:sp>
        <p:nvSpPr>
          <p:cNvPr id="14" name="object 14"/>
          <p:cNvSpPr txBox="1"/>
          <p:nvPr/>
        </p:nvSpPr>
        <p:spPr>
          <a:xfrm>
            <a:off x="5467400" y="2294547"/>
            <a:ext cx="1239520" cy="228600"/>
          </a:xfrm>
          <a:prstGeom prst="rect">
            <a:avLst/>
          </a:prstGeom>
        </p:spPr>
        <p:txBody>
          <a:bodyPr vert="horz" wrap="square" lIns="0" tIns="16510" rIns="0" bIns="0" rtlCol="0">
            <a:spAutoFit/>
          </a:bodyPr>
          <a:lstStyle/>
          <a:p>
            <a:pPr marL="12700">
              <a:lnSpc>
                <a:spcPct val="100000"/>
              </a:lnSpc>
              <a:spcBef>
                <a:spcPts val="130"/>
              </a:spcBef>
            </a:pPr>
            <a:r>
              <a:rPr sz="1300" b="1" spc="-25" dirty="0">
                <a:solidFill>
                  <a:srgbClr val="3A3535"/>
                </a:solidFill>
                <a:latin typeface="Verdana"/>
                <a:cs typeface="Verdana"/>
              </a:rPr>
              <a:t>JATOS</a:t>
            </a:r>
            <a:r>
              <a:rPr sz="1300" b="1" spc="-145" dirty="0">
                <a:solidFill>
                  <a:srgbClr val="3A3535"/>
                </a:solidFill>
                <a:latin typeface="Verdana"/>
                <a:cs typeface="Verdana"/>
              </a:rPr>
              <a:t> </a:t>
            </a:r>
            <a:r>
              <a:rPr sz="1300" b="1" spc="-360" dirty="0">
                <a:solidFill>
                  <a:srgbClr val="3A3535"/>
                </a:solidFill>
                <a:latin typeface="Verdana"/>
                <a:cs typeface="Verdana"/>
              </a:rPr>
              <a:t>/</a:t>
            </a:r>
            <a:r>
              <a:rPr sz="1300" b="1" spc="-140" dirty="0">
                <a:solidFill>
                  <a:srgbClr val="3A3535"/>
                </a:solidFill>
                <a:latin typeface="Verdana"/>
                <a:cs typeface="Verdana"/>
              </a:rPr>
              <a:t> </a:t>
            </a:r>
            <a:r>
              <a:rPr sz="1300" b="1" spc="-45" dirty="0">
                <a:solidFill>
                  <a:srgbClr val="3A3535"/>
                </a:solidFill>
                <a:latin typeface="Verdana"/>
                <a:cs typeface="Verdana"/>
              </a:rPr>
              <a:t>formr</a:t>
            </a:r>
            <a:endParaRPr sz="1300">
              <a:latin typeface="Verdana"/>
              <a:cs typeface="Verdana"/>
            </a:endParaRPr>
          </a:p>
        </p:txBody>
      </p:sp>
      <p:sp>
        <p:nvSpPr>
          <p:cNvPr id="15" name="object 15"/>
          <p:cNvSpPr txBox="1"/>
          <p:nvPr/>
        </p:nvSpPr>
        <p:spPr>
          <a:xfrm>
            <a:off x="7308184" y="2294547"/>
            <a:ext cx="698500" cy="228600"/>
          </a:xfrm>
          <a:prstGeom prst="rect">
            <a:avLst/>
          </a:prstGeom>
        </p:spPr>
        <p:txBody>
          <a:bodyPr vert="horz" wrap="square" lIns="0" tIns="16510" rIns="0" bIns="0" rtlCol="0">
            <a:spAutoFit/>
          </a:bodyPr>
          <a:lstStyle/>
          <a:p>
            <a:pPr marL="12700">
              <a:lnSpc>
                <a:spcPct val="100000"/>
              </a:lnSpc>
              <a:spcBef>
                <a:spcPts val="130"/>
              </a:spcBef>
            </a:pPr>
            <a:r>
              <a:rPr sz="1300" b="1" spc="-10" dirty="0">
                <a:solidFill>
                  <a:srgbClr val="3A3535"/>
                </a:solidFill>
                <a:latin typeface="Verdana"/>
                <a:cs typeface="Verdana"/>
              </a:rPr>
              <a:t>Moodle</a:t>
            </a:r>
            <a:endParaRPr sz="1300">
              <a:latin typeface="Verdana"/>
              <a:cs typeface="Verdana"/>
            </a:endParaRPr>
          </a:p>
        </p:txBody>
      </p:sp>
      <p:sp>
        <p:nvSpPr>
          <p:cNvPr id="16" name="object 16"/>
          <p:cNvSpPr txBox="1"/>
          <p:nvPr/>
        </p:nvSpPr>
        <p:spPr>
          <a:xfrm>
            <a:off x="9148711" y="2294547"/>
            <a:ext cx="775335" cy="228600"/>
          </a:xfrm>
          <a:prstGeom prst="rect">
            <a:avLst/>
          </a:prstGeom>
        </p:spPr>
        <p:txBody>
          <a:bodyPr vert="horz" wrap="square" lIns="0" tIns="16510" rIns="0" bIns="0" rtlCol="0">
            <a:spAutoFit/>
          </a:bodyPr>
          <a:lstStyle/>
          <a:p>
            <a:pPr marL="12700">
              <a:lnSpc>
                <a:spcPct val="100000"/>
              </a:lnSpc>
              <a:spcBef>
                <a:spcPts val="130"/>
              </a:spcBef>
            </a:pPr>
            <a:r>
              <a:rPr sz="1300" b="1" spc="-25" dirty="0">
                <a:solidFill>
                  <a:srgbClr val="3A3535"/>
                </a:solidFill>
                <a:latin typeface="Verdana"/>
                <a:cs typeface="Verdana"/>
              </a:rPr>
              <a:t>SelfHelp</a:t>
            </a:r>
            <a:endParaRPr sz="1300">
              <a:latin typeface="Verdana"/>
              <a:cs typeface="Verdana"/>
            </a:endParaRPr>
          </a:p>
        </p:txBody>
      </p:sp>
      <p:sp>
        <p:nvSpPr>
          <p:cNvPr id="17" name="object 17"/>
          <p:cNvSpPr txBox="1"/>
          <p:nvPr/>
        </p:nvSpPr>
        <p:spPr>
          <a:xfrm>
            <a:off x="758532" y="2789847"/>
            <a:ext cx="692785" cy="228600"/>
          </a:xfrm>
          <a:prstGeom prst="rect">
            <a:avLst/>
          </a:prstGeom>
        </p:spPr>
        <p:txBody>
          <a:bodyPr vert="horz" wrap="square" lIns="0" tIns="16510" rIns="0" bIns="0" rtlCol="0">
            <a:spAutoFit/>
          </a:bodyPr>
          <a:lstStyle/>
          <a:p>
            <a:pPr marL="12700">
              <a:lnSpc>
                <a:spcPct val="100000"/>
              </a:lnSpc>
              <a:spcBef>
                <a:spcPts val="130"/>
              </a:spcBef>
            </a:pPr>
            <a:r>
              <a:rPr sz="1300" spc="75" dirty="0">
                <a:solidFill>
                  <a:srgbClr val="3A3535"/>
                </a:solidFill>
                <a:latin typeface="Century Gothic"/>
                <a:cs typeface="Century Gothic"/>
              </a:rPr>
              <a:t>Surveys</a:t>
            </a:r>
            <a:endParaRPr sz="1300">
              <a:latin typeface="Century Gothic"/>
              <a:cs typeface="Century Gothic"/>
            </a:endParaRPr>
          </a:p>
        </p:txBody>
      </p:sp>
      <p:sp>
        <p:nvSpPr>
          <p:cNvPr id="18" name="object 18"/>
          <p:cNvSpPr txBox="1"/>
          <p:nvPr/>
        </p:nvSpPr>
        <p:spPr>
          <a:xfrm>
            <a:off x="3626599" y="2773049"/>
            <a:ext cx="86614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95" dirty="0">
                <a:solidFill>
                  <a:srgbClr val="3A3535"/>
                </a:solidFill>
                <a:latin typeface="Century Gothic"/>
                <a:cs typeface="Century Gothic"/>
              </a:rPr>
              <a:t>Strong</a:t>
            </a:r>
            <a:endParaRPr sz="1300">
              <a:latin typeface="Century Gothic"/>
              <a:cs typeface="Century Gothic"/>
            </a:endParaRPr>
          </a:p>
        </p:txBody>
      </p:sp>
      <p:sp>
        <p:nvSpPr>
          <p:cNvPr id="19" name="object 19"/>
          <p:cNvSpPr txBox="1"/>
          <p:nvPr/>
        </p:nvSpPr>
        <p:spPr>
          <a:xfrm>
            <a:off x="5467299" y="2773049"/>
            <a:ext cx="86614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95" dirty="0">
                <a:solidFill>
                  <a:srgbClr val="3A3535"/>
                </a:solidFill>
                <a:latin typeface="Century Gothic"/>
                <a:cs typeface="Century Gothic"/>
              </a:rPr>
              <a:t>Strong</a:t>
            </a:r>
            <a:endParaRPr sz="1300">
              <a:latin typeface="Century Gothic"/>
              <a:cs typeface="Century Gothic"/>
            </a:endParaRPr>
          </a:p>
        </p:txBody>
      </p:sp>
      <p:sp>
        <p:nvSpPr>
          <p:cNvPr id="20" name="object 20"/>
          <p:cNvSpPr txBox="1"/>
          <p:nvPr/>
        </p:nvSpPr>
        <p:spPr>
          <a:xfrm>
            <a:off x="7308012" y="2789847"/>
            <a:ext cx="561975" cy="228600"/>
          </a:xfrm>
          <a:prstGeom prst="rect">
            <a:avLst/>
          </a:prstGeom>
        </p:spPr>
        <p:txBody>
          <a:bodyPr vert="horz" wrap="square" lIns="0" tIns="16510" rIns="0" bIns="0" rtlCol="0">
            <a:spAutoFit/>
          </a:bodyPr>
          <a:lstStyle/>
          <a:p>
            <a:pPr marL="12700">
              <a:lnSpc>
                <a:spcPct val="100000"/>
              </a:lnSpc>
              <a:spcBef>
                <a:spcPts val="130"/>
              </a:spcBef>
            </a:pPr>
            <a:r>
              <a:rPr sz="1300" spc="-10" dirty="0">
                <a:solidFill>
                  <a:srgbClr val="3A3535"/>
                </a:solidFill>
                <a:latin typeface="Century Gothic"/>
                <a:cs typeface="Century Gothic"/>
              </a:rPr>
              <a:t>Partial</a:t>
            </a:r>
            <a:endParaRPr sz="1300">
              <a:latin typeface="Century Gothic"/>
              <a:cs typeface="Century Gothic"/>
            </a:endParaRPr>
          </a:p>
        </p:txBody>
      </p:sp>
      <p:sp>
        <p:nvSpPr>
          <p:cNvPr id="21" name="object 21"/>
          <p:cNvSpPr txBox="1"/>
          <p:nvPr/>
        </p:nvSpPr>
        <p:spPr>
          <a:xfrm>
            <a:off x="9148711" y="2773049"/>
            <a:ext cx="56896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30" dirty="0">
                <a:solidFill>
                  <a:srgbClr val="3A3535"/>
                </a:solidFill>
                <a:latin typeface="Century Gothic"/>
                <a:cs typeface="Century Gothic"/>
              </a:rPr>
              <a:t>Yes</a:t>
            </a:r>
            <a:endParaRPr sz="1300">
              <a:latin typeface="Century Gothic"/>
              <a:cs typeface="Century Gothic"/>
            </a:endParaRPr>
          </a:p>
        </p:txBody>
      </p:sp>
      <p:sp>
        <p:nvSpPr>
          <p:cNvPr id="22" name="object 22"/>
          <p:cNvSpPr txBox="1"/>
          <p:nvPr/>
        </p:nvSpPr>
        <p:spPr>
          <a:xfrm>
            <a:off x="758532" y="3275622"/>
            <a:ext cx="1280160" cy="228600"/>
          </a:xfrm>
          <a:prstGeom prst="rect">
            <a:avLst/>
          </a:prstGeom>
        </p:spPr>
        <p:txBody>
          <a:bodyPr vert="horz" wrap="square" lIns="0" tIns="16510" rIns="0" bIns="0" rtlCol="0">
            <a:spAutoFit/>
          </a:bodyPr>
          <a:lstStyle/>
          <a:p>
            <a:pPr marL="12700">
              <a:lnSpc>
                <a:spcPct val="100000"/>
              </a:lnSpc>
              <a:spcBef>
                <a:spcPts val="130"/>
              </a:spcBef>
            </a:pPr>
            <a:r>
              <a:rPr sz="1300" spc="50" dirty="0">
                <a:solidFill>
                  <a:srgbClr val="3A3535"/>
                </a:solidFill>
                <a:latin typeface="Century Gothic"/>
                <a:cs typeface="Century Gothic"/>
              </a:rPr>
              <a:t>Online</a:t>
            </a:r>
            <a:r>
              <a:rPr sz="1300" spc="-40" dirty="0">
                <a:solidFill>
                  <a:srgbClr val="3A3535"/>
                </a:solidFill>
                <a:latin typeface="Century Gothic"/>
                <a:cs typeface="Century Gothic"/>
              </a:rPr>
              <a:t> </a:t>
            </a:r>
            <a:r>
              <a:rPr sz="1300" spc="95" dirty="0">
                <a:solidFill>
                  <a:srgbClr val="3A3535"/>
                </a:solidFill>
                <a:latin typeface="Century Gothic"/>
                <a:cs typeface="Century Gothic"/>
              </a:rPr>
              <a:t>Studies</a:t>
            </a:r>
            <a:endParaRPr sz="1300">
              <a:latin typeface="Century Gothic"/>
              <a:cs typeface="Century Gothic"/>
            </a:endParaRPr>
          </a:p>
        </p:txBody>
      </p:sp>
      <p:sp>
        <p:nvSpPr>
          <p:cNvPr id="23" name="object 23"/>
          <p:cNvSpPr txBox="1"/>
          <p:nvPr/>
        </p:nvSpPr>
        <p:spPr>
          <a:xfrm>
            <a:off x="3626599" y="3275622"/>
            <a:ext cx="561975" cy="228600"/>
          </a:xfrm>
          <a:prstGeom prst="rect">
            <a:avLst/>
          </a:prstGeom>
        </p:spPr>
        <p:txBody>
          <a:bodyPr vert="horz" wrap="square" lIns="0" tIns="16510" rIns="0" bIns="0" rtlCol="0">
            <a:spAutoFit/>
          </a:bodyPr>
          <a:lstStyle/>
          <a:p>
            <a:pPr marL="12700">
              <a:lnSpc>
                <a:spcPct val="100000"/>
              </a:lnSpc>
              <a:spcBef>
                <a:spcPts val="130"/>
              </a:spcBef>
            </a:pPr>
            <a:r>
              <a:rPr sz="1300" spc="-10" dirty="0">
                <a:solidFill>
                  <a:srgbClr val="3A3535"/>
                </a:solidFill>
                <a:latin typeface="Century Gothic"/>
                <a:cs typeface="Century Gothic"/>
              </a:rPr>
              <a:t>Partial</a:t>
            </a:r>
            <a:endParaRPr sz="1300">
              <a:latin typeface="Century Gothic"/>
              <a:cs typeface="Century Gothic"/>
            </a:endParaRPr>
          </a:p>
        </p:txBody>
      </p:sp>
      <p:sp>
        <p:nvSpPr>
          <p:cNvPr id="24" name="object 24"/>
          <p:cNvSpPr txBox="1"/>
          <p:nvPr/>
        </p:nvSpPr>
        <p:spPr>
          <a:xfrm>
            <a:off x="5467299" y="3258824"/>
            <a:ext cx="86614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95" dirty="0">
                <a:solidFill>
                  <a:srgbClr val="3A3535"/>
                </a:solidFill>
                <a:latin typeface="Century Gothic"/>
                <a:cs typeface="Century Gothic"/>
              </a:rPr>
              <a:t>Strong</a:t>
            </a:r>
            <a:endParaRPr sz="1300">
              <a:latin typeface="Century Gothic"/>
              <a:cs typeface="Century Gothic"/>
            </a:endParaRPr>
          </a:p>
        </p:txBody>
      </p:sp>
      <p:sp>
        <p:nvSpPr>
          <p:cNvPr id="25" name="object 25"/>
          <p:cNvSpPr txBox="1"/>
          <p:nvPr/>
        </p:nvSpPr>
        <p:spPr>
          <a:xfrm>
            <a:off x="7308012" y="3275622"/>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26" name="object 26"/>
          <p:cNvSpPr txBox="1"/>
          <p:nvPr/>
        </p:nvSpPr>
        <p:spPr>
          <a:xfrm>
            <a:off x="9148711" y="3258824"/>
            <a:ext cx="56896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30" dirty="0">
                <a:solidFill>
                  <a:srgbClr val="3A3535"/>
                </a:solidFill>
                <a:latin typeface="Century Gothic"/>
                <a:cs typeface="Century Gothic"/>
              </a:rPr>
              <a:t>Yes</a:t>
            </a:r>
            <a:endParaRPr sz="1300">
              <a:latin typeface="Century Gothic"/>
              <a:cs typeface="Century Gothic"/>
            </a:endParaRPr>
          </a:p>
        </p:txBody>
      </p:sp>
      <p:sp>
        <p:nvSpPr>
          <p:cNvPr id="27" name="object 27"/>
          <p:cNvSpPr txBox="1"/>
          <p:nvPr/>
        </p:nvSpPr>
        <p:spPr>
          <a:xfrm>
            <a:off x="758532" y="3770922"/>
            <a:ext cx="922655" cy="228600"/>
          </a:xfrm>
          <a:prstGeom prst="rect">
            <a:avLst/>
          </a:prstGeom>
        </p:spPr>
        <p:txBody>
          <a:bodyPr vert="horz" wrap="square" lIns="0" tIns="16510" rIns="0" bIns="0" rtlCol="0">
            <a:spAutoFit/>
          </a:bodyPr>
          <a:lstStyle/>
          <a:p>
            <a:pPr marL="12700">
              <a:lnSpc>
                <a:spcPct val="100000"/>
              </a:lnSpc>
              <a:spcBef>
                <a:spcPts val="130"/>
              </a:spcBef>
            </a:pPr>
            <a:r>
              <a:rPr sz="1300" spc="75" dirty="0">
                <a:solidFill>
                  <a:srgbClr val="3A3535"/>
                </a:solidFill>
                <a:latin typeface="Century Gothic"/>
                <a:cs typeface="Century Gothic"/>
              </a:rPr>
              <a:t>Workflows</a:t>
            </a:r>
            <a:endParaRPr sz="1300">
              <a:latin typeface="Century Gothic"/>
              <a:cs typeface="Century Gothic"/>
            </a:endParaRPr>
          </a:p>
        </p:txBody>
      </p:sp>
      <p:sp>
        <p:nvSpPr>
          <p:cNvPr id="28" name="object 28"/>
          <p:cNvSpPr txBox="1"/>
          <p:nvPr/>
        </p:nvSpPr>
        <p:spPr>
          <a:xfrm>
            <a:off x="3626599" y="3770922"/>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29" name="object 29"/>
          <p:cNvSpPr txBox="1"/>
          <p:nvPr/>
        </p:nvSpPr>
        <p:spPr>
          <a:xfrm>
            <a:off x="5467299" y="3770922"/>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30" name="object 30"/>
          <p:cNvSpPr txBox="1"/>
          <p:nvPr/>
        </p:nvSpPr>
        <p:spPr>
          <a:xfrm>
            <a:off x="7307998" y="3770922"/>
            <a:ext cx="561975" cy="228600"/>
          </a:xfrm>
          <a:prstGeom prst="rect">
            <a:avLst/>
          </a:prstGeom>
        </p:spPr>
        <p:txBody>
          <a:bodyPr vert="horz" wrap="square" lIns="0" tIns="16510" rIns="0" bIns="0" rtlCol="0">
            <a:spAutoFit/>
          </a:bodyPr>
          <a:lstStyle/>
          <a:p>
            <a:pPr marL="12700">
              <a:lnSpc>
                <a:spcPct val="100000"/>
              </a:lnSpc>
              <a:spcBef>
                <a:spcPts val="130"/>
              </a:spcBef>
            </a:pPr>
            <a:r>
              <a:rPr sz="1300" spc="-10" dirty="0">
                <a:solidFill>
                  <a:srgbClr val="3A3535"/>
                </a:solidFill>
                <a:latin typeface="Century Gothic"/>
                <a:cs typeface="Century Gothic"/>
              </a:rPr>
              <a:t>Partial</a:t>
            </a:r>
            <a:endParaRPr sz="1300">
              <a:latin typeface="Century Gothic"/>
              <a:cs typeface="Century Gothic"/>
            </a:endParaRPr>
          </a:p>
        </p:txBody>
      </p:sp>
      <p:sp>
        <p:nvSpPr>
          <p:cNvPr id="31" name="object 31"/>
          <p:cNvSpPr txBox="1"/>
          <p:nvPr/>
        </p:nvSpPr>
        <p:spPr>
          <a:xfrm>
            <a:off x="9148698" y="3754124"/>
            <a:ext cx="86614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95" dirty="0">
                <a:solidFill>
                  <a:srgbClr val="3A3535"/>
                </a:solidFill>
                <a:latin typeface="Century Gothic"/>
                <a:cs typeface="Century Gothic"/>
              </a:rPr>
              <a:t>Strong</a:t>
            </a:r>
            <a:endParaRPr sz="1300">
              <a:latin typeface="Century Gothic"/>
              <a:cs typeface="Century Gothic"/>
            </a:endParaRPr>
          </a:p>
        </p:txBody>
      </p:sp>
      <p:sp>
        <p:nvSpPr>
          <p:cNvPr id="32" name="object 32"/>
          <p:cNvSpPr txBox="1"/>
          <p:nvPr/>
        </p:nvSpPr>
        <p:spPr>
          <a:xfrm>
            <a:off x="758520" y="4266222"/>
            <a:ext cx="1548765" cy="228600"/>
          </a:xfrm>
          <a:prstGeom prst="rect">
            <a:avLst/>
          </a:prstGeom>
        </p:spPr>
        <p:txBody>
          <a:bodyPr vert="horz" wrap="square" lIns="0" tIns="16510" rIns="0" bIns="0" rtlCol="0">
            <a:spAutoFit/>
          </a:bodyPr>
          <a:lstStyle/>
          <a:p>
            <a:pPr marL="12700">
              <a:lnSpc>
                <a:spcPct val="100000"/>
              </a:lnSpc>
              <a:spcBef>
                <a:spcPts val="130"/>
              </a:spcBef>
            </a:pPr>
            <a:r>
              <a:rPr sz="1300" dirty="0">
                <a:solidFill>
                  <a:srgbClr val="3A3535"/>
                </a:solidFill>
                <a:latin typeface="Century Gothic"/>
                <a:cs typeface="Century Gothic"/>
              </a:rPr>
              <a:t>Mobile</a:t>
            </a:r>
            <a:r>
              <a:rPr sz="1300" spc="190" dirty="0">
                <a:solidFill>
                  <a:srgbClr val="3A3535"/>
                </a:solidFill>
                <a:latin typeface="Century Gothic"/>
                <a:cs typeface="Century Gothic"/>
              </a:rPr>
              <a:t> </a:t>
            </a:r>
            <a:r>
              <a:rPr sz="1300" spc="60" dirty="0">
                <a:solidFill>
                  <a:srgbClr val="3A3535"/>
                </a:solidFill>
                <a:latin typeface="Century Gothic"/>
                <a:cs typeface="Century Gothic"/>
              </a:rPr>
              <a:t>Continuity</a:t>
            </a:r>
            <a:endParaRPr sz="1300">
              <a:latin typeface="Century Gothic"/>
              <a:cs typeface="Century Gothic"/>
            </a:endParaRPr>
          </a:p>
        </p:txBody>
      </p:sp>
      <p:sp>
        <p:nvSpPr>
          <p:cNvPr id="33" name="object 33"/>
          <p:cNvSpPr txBox="1"/>
          <p:nvPr/>
        </p:nvSpPr>
        <p:spPr>
          <a:xfrm>
            <a:off x="3626599" y="4266222"/>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34" name="object 34"/>
          <p:cNvSpPr txBox="1"/>
          <p:nvPr/>
        </p:nvSpPr>
        <p:spPr>
          <a:xfrm>
            <a:off x="5467299" y="4266222"/>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35" name="object 35"/>
          <p:cNvSpPr txBox="1"/>
          <p:nvPr/>
        </p:nvSpPr>
        <p:spPr>
          <a:xfrm>
            <a:off x="7307998" y="4266222"/>
            <a:ext cx="561975" cy="228600"/>
          </a:xfrm>
          <a:prstGeom prst="rect">
            <a:avLst/>
          </a:prstGeom>
        </p:spPr>
        <p:txBody>
          <a:bodyPr vert="horz" wrap="square" lIns="0" tIns="16510" rIns="0" bIns="0" rtlCol="0">
            <a:spAutoFit/>
          </a:bodyPr>
          <a:lstStyle/>
          <a:p>
            <a:pPr marL="12700">
              <a:lnSpc>
                <a:spcPct val="100000"/>
              </a:lnSpc>
              <a:spcBef>
                <a:spcPts val="130"/>
              </a:spcBef>
            </a:pPr>
            <a:r>
              <a:rPr sz="1300" spc="-10" dirty="0">
                <a:solidFill>
                  <a:srgbClr val="3A3535"/>
                </a:solidFill>
                <a:latin typeface="Century Gothic"/>
                <a:cs typeface="Century Gothic"/>
              </a:rPr>
              <a:t>Partial</a:t>
            </a:r>
            <a:endParaRPr sz="1300">
              <a:latin typeface="Century Gothic"/>
              <a:cs typeface="Century Gothic"/>
            </a:endParaRPr>
          </a:p>
        </p:txBody>
      </p:sp>
      <p:sp>
        <p:nvSpPr>
          <p:cNvPr id="36" name="object 36"/>
          <p:cNvSpPr txBox="1"/>
          <p:nvPr/>
        </p:nvSpPr>
        <p:spPr>
          <a:xfrm>
            <a:off x="9148698" y="4249424"/>
            <a:ext cx="86614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95" dirty="0">
                <a:solidFill>
                  <a:srgbClr val="3A3535"/>
                </a:solidFill>
                <a:latin typeface="Century Gothic"/>
                <a:cs typeface="Century Gothic"/>
              </a:rPr>
              <a:t>Strong</a:t>
            </a:r>
            <a:endParaRPr sz="1300">
              <a:latin typeface="Century Gothic"/>
              <a:cs typeface="Century Gothic"/>
            </a:endParaRPr>
          </a:p>
        </p:txBody>
      </p:sp>
      <p:sp>
        <p:nvSpPr>
          <p:cNvPr id="37" name="object 37"/>
          <p:cNvSpPr txBox="1"/>
          <p:nvPr/>
        </p:nvSpPr>
        <p:spPr>
          <a:xfrm>
            <a:off x="758520" y="4751997"/>
            <a:ext cx="1197610" cy="228600"/>
          </a:xfrm>
          <a:prstGeom prst="rect">
            <a:avLst/>
          </a:prstGeom>
        </p:spPr>
        <p:txBody>
          <a:bodyPr vert="horz" wrap="square" lIns="0" tIns="16510" rIns="0" bIns="0" rtlCol="0">
            <a:spAutoFit/>
          </a:bodyPr>
          <a:lstStyle/>
          <a:p>
            <a:pPr marL="12700">
              <a:lnSpc>
                <a:spcPct val="100000"/>
              </a:lnSpc>
              <a:spcBef>
                <a:spcPts val="130"/>
              </a:spcBef>
            </a:pPr>
            <a:r>
              <a:rPr sz="1300" spc="65" dirty="0">
                <a:solidFill>
                  <a:srgbClr val="3A3535"/>
                </a:solidFill>
                <a:latin typeface="Century Gothic"/>
                <a:cs typeface="Century Gothic"/>
              </a:rPr>
              <a:t>AI</a:t>
            </a:r>
            <a:r>
              <a:rPr sz="1300" spc="-50" dirty="0">
                <a:solidFill>
                  <a:srgbClr val="3A3535"/>
                </a:solidFill>
                <a:latin typeface="Century Gothic"/>
                <a:cs typeface="Century Gothic"/>
              </a:rPr>
              <a:t> </a:t>
            </a:r>
            <a:r>
              <a:rPr sz="1300" spc="45" dirty="0">
                <a:solidFill>
                  <a:srgbClr val="3A3535"/>
                </a:solidFill>
                <a:latin typeface="Century Gothic"/>
                <a:cs typeface="Century Gothic"/>
              </a:rPr>
              <a:t>Integration</a:t>
            </a:r>
            <a:endParaRPr sz="1300">
              <a:latin typeface="Century Gothic"/>
              <a:cs typeface="Century Gothic"/>
            </a:endParaRPr>
          </a:p>
        </p:txBody>
      </p:sp>
      <p:sp>
        <p:nvSpPr>
          <p:cNvPr id="38" name="object 38"/>
          <p:cNvSpPr txBox="1"/>
          <p:nvPr/>
        </p:nvSpPr>
        <p:spPr>
          <a:xfrm>
            <a:off x="3626599" y="4751997"/>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39" name="object 39"/>
          <p:cNvSpPr txBox="1"/>
          <p:nvPr/>
        </p:nvSpPr>
        <p:spPr>
          <a:xfrm>
            <a:off x="5467299" y="4751997"/>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40" name="object 40"/>
          <p:cNvSpPr txBox="1"/>
          <p:nvPr/>
        </p:nvSpPr>
        <p:spPr>
          <a:xfrm>
            <a:off x="7307998" y="4751997"/>
            <a:ext cx="177165" cy="228600"/>
          </a:xfrm>
          <a:prstGeom prst="rect">
            <a:avLst/>
          </a:prstGeom>
        </p:spPr>
        <p:txBody>
          <a:bodyPr vert="horz" wrap="square" lIns="0" tIns="16510" rIns="0" bIns="0" rtlCol="0">
            <a:spAutoFit/>
          </a:bodyPr>
          <a:lstStyle/>
          <a:p>
            <a:pPr marL="12700">
              <a:lnSpc>
                <a:spcPct val="100000"/>
              </a:lnSpc>
              <a:spcBef>
                <a:spcPts val="130"/>
              </a:spcBef>
            </a:pPr>
            <a:r>
              <a:rPr sz="1300" spc="-55" dirty="0">
                <a:solidFill>
                  <a:srgbClr val="3A3535"/>
                </a:solidFill>
                <a:latin typeface="Century Gothic"/>
                <a:cs typeface="Century Gothic"/>
              </a:rPr>
              <a:t>—</a:t>
            </a:r>
            <a:endParaRPr sz="1300">
              <a:latin typeface="Century Gothic"/>
              <a:cs typeface="Century Gothic"/>
            </a:endParaRPr>
          </a:p>
        </p:txBody>
      </p:sp>
      <p:sp>
        <p:nvSpPr>
          <p:cNvPr id="41" name="object 41"/>
          <p:cNvSpPr txBox="1"/>
          <p:nvPr/>
        </p:nvSpPr>
        <p:spPr>
          <a:xfrm>
            <a:off x="9148698" y="4735199"/>
            <a:ext cx="86614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95" dirty="0">
                <a:solidFill>
                  <a:srgbClr val="3A3535"/>
                </a:solidFill>
                <a:latin typeface="Century Gothic"/>
                <a:cs typeface="Century Gothic"/>
              </a:rPr>
              <a:t>Strong</a:t>
            </a:r>
            <a:endParaRPr sz="1300">
              <a:latin typeface="Century Gothic"/>
              <a:cs typeface="Century Gothic"/>
            </a:endParaRPr>
          </a:p>
        </p:txBody>
      </p:sp>
      <p:sp>
        <p:nvSpPr>
          <p:cNvPr id="42" name="object 42"/>
          <p:cNvSpPr txBox="1"/>
          <p:nvPr/>
        </p:nvSpPr>
        <p:spPr>
          <a:xfrm>
            <a:off x="758520" y="5247297"/>
            <a:ext cx="1167130" cy="228600"/>
          </a:xfrm>
          <a:prstGeom prst="rect">
            <a:avLst/>
          </a:prstGeom>
        </p:spPr>
        <p:txBody>
          <a:bodyPr vert="horz" wrap="square" lIns="0" tIns="16510" rIns="0" bIns="0" rtlCol="0">
            <a:spAutoFit/>
          </a:bodyPr>
          <a:lstStyle/>
          <a:p>
            <a:pPr marL="12700">
              <a:lnSpc>
                <a:spcPct val="100000"/>
              </a:lnSpc>
              <a:spcBef>
                <a:spcPts val="130"/>
              </a:spcBef>
            </a:pPr>
            <a:r>
              <a:rPr sz="1300" dirty="0">
                <a:solidFill>
                  <a:srgbClr val="3A3535"/>
                </a:solidFill>
                <a:latin typeface="Century Gothic"/>
                <a:cs typeface="Century Gothic"/>
              </a:rPr>
              <a:t>Local</a:t>
            </a:r>
            <a:r>
              <a:rPr sz="1300" spc="30" dirty="0">
                <a:solidFill>
                  <a:srgbClr val="3A3535"/>
                </a:solidFill>
                <a:latin typeface="Century Gothic"/>
                <a:cs typeface="Century Gothic"/>
              </a:rPr>
              <a:t> </a:t>
            </a:r>
            <a:r>
              <a:rPr sz="1300" spc="55" dirty="0">
                <a:solidFill>
                  <a:srgbClr val="3A3535"/>
                </a:solidFill>
                <a:latin typeface="Century Gothic"/>
                <a:cs typeface="Century Gothic"/>
              </a:rPr>
              <a:t>Control</a:t>
            </a:r>
            <a:endParaRPr sz="1300">
              <a:latin typeface="Century Gothic"/>
              <a:cs typeface="Century Gothic"/>
            </a:endParaRPr>
          </a:p>
        </p:txBody>
      </p:sp>
      <p:sp>
        <p:nvSpPr>
          <p:cNvPr id="43" name="object 43"/>
          <p:cNvSpPr txBox="1"/>
          <p:nvPr/>
        </p:nvSpPr>
        <p:spPr>
          <a:xfrm>
            <a:off x="3626599" y="5230499"/>
            <a:ext cx="56896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30" dirty="0">
                <a:solidFill>
                  <a:srgbClr val="3A3535"/>
                </a:solidFill>
                <a:latin typeface="Century Gothic"/>
                <a:cs typeface="Century Gothic"/>
              </a:rPr>
              <a:t>Yes</a:t>
            </a:r>
            <a:endParaRPr sz="1300">
              <a:latin typeface="Century Gothic"/>
              <a:cs typeface="Century Gothic"/>
            </a:endParaRPr>
          </a:p>
        </p:txBody>
      </p:sp>
      <p:sp>
        <p:nvSpPr>
          <p:cNvPr id="44" name="object 44"/>
          <p:cNvSpPr txBox="1"/>
          <p:nvPr/>
        </p:nvSpPr>
        <p:spPr>
          <a:xfrm>
            <a:off x="5467299" y="5230499"/>
            <a:ext cx="56896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30" dirty="0">
                <a:solidFill>
                  <a:srgbClr val="3A3535"/>
                </a:solidFill>
                <a:latin typeface="Century Gothic"/>
                <a:cs typeface="Century Gothic"/>
              </a:rPr>
              <a:t>Yes</a:t>
            </a:r>
            <a:endParaRPr sz="1300">
              <a:latin typeface="Century Gothic"/>
              <a:cs typeface="Century Gothic"/>
            </a:endParaRPr>
          </a:p>
        </p:txBody>
      </p:sp>
      <p:sp>
        <p:nvSpPr>
          <p:cNvPr id="45" name="object 45"/>
          <p:cNvSpPr txBox="1"/>
          <p:nvPr/>
        </p:nvSpPr>
        <p:spPr>
          <a:xfrm>
            <a:off x="7308012" y="5230499"/>
            <a:ext cx="56896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30" dirty="0">
                <a:solidFill>
                  <a:srgbClr val="3A3535"/>
                </a:solidFill>
                <a:latin typeface="Century Gothic"/>
                <a:cs typeface="Century Gothic"/>
              </a:rPr>
              <a:t>Yes</a:t>
            </a:r>
            <a:endParaRPr sz="1300">
              <a:latin typeface="Century Gothic"/>
              <a:cs typeface="Century Gothic"/>
            </a:endParaRPr>
          </a:p>
        </p:txBody>
      </p:sp>
      <p:sp>
        <p:nvSpPr>
          <p:cNvPr id="46" name="object 46"/>
          <p:cNvSpPr txBox="1"/>
          <p:nvPr/>
        </p:nvSpPr>
        <p:spPr>
          <a:xfrm>
            <a:off x="9148711" y="5230499"/>
            <a:ext cx="568960" cy="248920"/>
          </a:xfrm>
          <a:prstGeom prst="rect">
            <a:avLst/>
          </a:prstGeom>
        </p:spPr>
        <p:txBody>
          <a:bodyPr vert="horz" wrap="square" lIns="0" tIns="14605" rIns="0" bIns="0" rtlCol="0">
            <a:spAutoFit/>
          </a:bodyPr>
          <a:lstStyle/>
          <a:p>
            <a:pPr marL="12700">
              <a:lnSpc>
                <a:spcPct val="100000"/>
              </a:lnSpc>
              <a:spcBef>
                <a:spcPts val="115"/>
              </a:spcBef>
              <a:tabLst>
                <a:tab pos="262255" algn="l"/>
              </a:tabLst>
            </a:pPr>
            <a:r>
              <a:rPr sz="1450" spc="-1450" dirty="0">
                <a:latin typeface="Segoe UI Symbol"/>
                <a:cs typeface="Segoe UI Symbol"/>
              </a:rPr>
              <a:t>✅</a:t>
            </a:r>
            <a:r>
              <a:rPr sz="1450" dirty="0">
                <a:latin typeface="Segoe UI Symbol"/>
                <a:cs typeface="Segoe UI Symbol"/>
              </a:rPr>
              <a:t>	</a:t>
            </a:r>
            <a:r>
              <a:rPr sz="1300" spc="30" dirty="0">
                <a:solidFill>
                  <a:srgbClr val="3A3535"/>
                </a:solidFill>
                <a:latin typeface="Century Gothic"/>
                <a:cs typeface="Century Gothic"/>
              </a:rPr>
              <a:t>Yes</a:t>
            </a:r>
            <a:endParaRPr sz="1300">
              <a:latin typeface="Century Gothic"/>
              <a:cs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79640" y="1723135"/>
            <a:ext cx="4058285" cy="560070"/>
          </a:xfrm>
          <a:prstGeom prst="rect">
            <a:avLst/>
          </a:prstGeom>
        </p:spPr>
        <p:txBody>
          <a:bodyPr vert="horz" wrap="square" lIns="0" tIns="13335" rIns="0" bIns="0" rtlCol="0">
            <a:spAutoFit/>
          </a:bodyPr>
          <a:lstStyle/>
          <a:p>
            <a:pPr marL="12700">
              <a:lnSpc>
                <a:spcPct val="100000"/>
              </a:lnSpc>
              <a:spcBef>
                <a:spcPts val="105"/>
              </a:spcBef>
            </a:pPr>
            <a:r>
              <a:rPr spc="-265" dirty="0"/>
              <a:t>Why</a:t>
            </a:r>
            <a:r>
              <a:rPr spc="-430" dirty="0"/>
              <a:t> </a:t>
            </a:r>
            <a:r>
              <a:rPr spc="-150" dirty="0"/>
              <a:t>Use</a:t>
            </a:r>
            <a:r>
              <a:rPr spc="-425" dirty="0"/>
              <a:t> </a:t>
            </a:r>
            <a:r>
              <a:rPr spc="-110" dirty="0"/>
              <a:t>SelfHelp</a:t>
            </a:r>
          </a:p>
        </p:txBody>
      </p:sp>
      <p:pic>
        <p:nvPicPr>
          <p:cNvPr id="3" name="object 3"/>
          <p:cNvPicPr/>
          <p:nvPr/>
        </p:nvPicPr>
        <p:blipFill>
          <a:blip r:embed="rId3" cstate="print"/>
          <a:stretch>
            <a:fillRect/>
          </a:stretch>
        </p:blipFill>
        <p:spPr>
          <a:xfrm>
            <a:off x="586802" y="2684296"/>
            <a:ext cx="176712" cy="153672"/>
          </a:xfrm>
          <a:prstGeom prst="rect">
            <a:avLst/>
          </a:prstGeom>
        </p:spPr>
      </p:pic>
      <p:sp>
        <p:nvSpPr>
          <p:cNvPr id="4" name="object 4"/>
          <p:cNvSpPr/>
          <p:nvPr/>
        </p:nvSpPr>
        <p:spPr>
          <a:xfrm>
            <a:off x="590550" y="2924174"/>
            <a:ext cx="5038725" cy="19050"/>
          </a:xfrm>
          <a:custGeom>
            <a:avLst/>
            <a:gdLst/>
            <a:ahLst/>
            <a:cxnLst/>
            <a:rect l="l" t="t" r="r" b="b"/>
            <a:pathLst>
              <a:path w="5038725" h="19050">
                <a:moveTo>
                  <a:pt x="5038725" y="0"/>
                </a:moveTo>
                <a:lnTo>
                  <a:pt x="0" y="0"/>
                </a:lnTo>
                <a:lnTo>
                  <a:pt x="0" y="19050"/>
                </a:lnTo>
                <a:lnTo>
                  <a:pt x="5038725" y="19050"/>
                </a:lnTo>
                <a:lnTo>
                  <a:pt x="5038725" y="0"/>
                </a:lnTo>
                <a:close/>
              </a:path>
            </a:pathLst>
          </a:custGeom>
          <a:solidFill>
            <a:srgbClr val="DA1B2D"/>
          </a:solidFill>
        </p:spPr>
        <p:txBody>
          <a:bodyPr wrap="square" lIns="0" tIns="0" rIns="0" bIns="0" rtlCol="0"/>
          <a:lstStyle/>
          <a:p>
            <a:endParaRPr/>
          </a:p>
        </p:txBody>
      </p:sp>
      <p:sp>
        <p:nvSpPr>
          <p:cNvPr id="5" name="object 5"/>
          <p:cNvSpPr txBox="1"/>
          <p:nvPr/>
        </p:nvSpPr>
        <p:spPr>
          <a:xfrm>
            <a:off x="579640" y="3056547"/>
            <a:ext cx="3747770" cy="228600"/>
          </a:xfrm>
          <a:prstGeom prst="rect">
            <a:avLst/>
          </a:prstGeom>
        </p:spPr>
        <p:txBody>
          <a:bodyPr vert="horz" wrap="square" lIns="0" tIns="16510" rIns="0" bIns="0" rtlCol="0">
            <a:spAutoFit/>
          </a:bodyPr>
          <a:lstStyle/>
          <a:p>
            <a:pPr marL="12700">
              <a:lnSpc>
                <a:spcPct val="100000"/>
              </a:lnSpc>
              <a:spcBef>
                <a:spcPts val="130"/>
              </a:spcBef>
            </a:pPr>
            <a:r>
              <a:rPr sz="1300" dirty="0">
                <a:solidFill>
                  <a:srgbClr val="3A3535"/>
                </a:solidFill>
                <a:latin typeface="Century Gothic"/>
                <a:cs typeface="Century Gothic"/>
              </a:rPr>
              <a:t>One</a:t>
            </a:r>
            <a:r>
              <a:rPr sz="1300" spc="5" dirty="0">
                <a:solidFill>
                  <a:srgbClr val="3A3535"/>
                </a:solidFill>
                <a:latin typeface="Century Gothic"/>
                <a:cs typeface="Century Gothic"/>
              </a:rPr>
              <a:t> </a:t>
            </a:r>
            <a:r>
              <a:rPr sz="1300" spc="50" dirty="0">
                <a:solidFill>
                  <a:srgbClr val="3A3535"/>
                </a:solidFill>
                <a:latin typeface="Century Gothic"/>
                <a:cs typeface="Century Gothic"/>
              </a:rPr>
              <a:t>platform</a:t>
            </a:r>
            <a:r>
              <a:rPr sz="1300" spc="10" dirty="0">
                <a:solidFill>
                  <a:srgbClr val="3A3535"/>
                </a:solidFill>
                <a:latin typeface="Century Gothic"/>
                <a:cs typeface="Century Gothic"/>
              </a:rPr>
              <a:t> </a:t>
            </a:r>
            <a:r>
              <a:rPr sz="1300" spc="85" dirty="0">
                <a:solidFill>
                  <a:srgbClr val="3A3535"/>
                </a:solidFill>
                <a:latin typeface="Century Gothic"/>
                <a:cs typeface="Century Gothic"/>
              </a:rPr>
              <a:t>for</a:t>
            </a:r>
            <a:r>
              <a:rPr sz="1300" spc="10" dirty="0">
                <a:solidFill>
                  <a:srgbClr val="3A3535"/>
                </a:solidFill>
                <a:latin typeface="Century Gothic"/>
                <a:cs typeface="Century Gothic"/>
              </a:rPr>
              <a:t> </a:t>
            </a:r>
            <a:r>
              <a:rPr sz="1300" dirty="0">
                <a:solidFill>
                  <a:srgbClr val="3A3535"/>
                </a:solidFill>
                <a:latin typeface="Century Gothic"/>
                <a:cs typeface="Century Gothic"/>
              </a:rPr>
              <a:t>complete</a:t>
            </a:r>
            <a:r>
              <a:rPr sz="1300" spc="10" dirty="0">
                <a:solidFill>
                  <a:srgbClr val="3A3535"/>
                </a:solidFill>
                <a:latin typeface="Century Gothic"/>
                <a:cs typeface="Century Gothic"/>
              </a:rPr>
              <a:t> </a:t>
            </a:r>
            <a:r>
              <a:rPr sz="1300" spc="55" dirty="0">
                <a:solidFill>
                  <a:srgbClr val="3A3535"/>
                </a:solidFill>
                <a:latin typeface="Century Gothic"/>
                <a:cs typeface="Century Gothic"/>
              </a:rPr>
              <a:t>digital</a:t>
            </a:r>
            <a:r>
              <a:rPr sz="1300" spc="10" dirty="0">
                <a:solidFill>
                  <a:srgbClr val="3A3535"/>
                </a:solidFill>
                <a:latin typeface="Century Gothic"/>
                <a:cs typeface="Century Gothic"/>
              </a:rPr>
              <a:t> </a:t>
            </a:r>
            <a:r>
              <a:rPr sz="1300" spc="45" dirty="0">
                <a:solidFill>
                  <a:srgbClr val="3A3535"/>
                </a:solidFill>
                <a:latin typeface="Century Gothic"/>
                <a:cs typeface="Century Gothic"/>
              </a:rPr>
              <a:t>programs</a:t>
            </a:r>
            <a:endParaRPr sz="1300">
              <a:latin typeface="Century Gothic"/>
              <a:cs typeface="Century Gothic"/>
            </a:endParaRPr>
          </a:p>
        </p:txBody>
      </p:sp>
      <p:pic>
        <p:nvPicPr>
          <p:cNvPr id="6" name="object 6"/>
          <p:cNvPicPr/>
          <p:nvPr/>
        </p:nvPicPr>
        <p:blipFill>
          <a:blip r:embed="rId4" cstate="print"/>
          <a:stretch>
            <a:fillRect/>
          </a:stretch>
        </p:blipFill>
        <p:spPr>
          <a:xfrm>
            <a:off x="5797081" y="2672767"/>
            <a:ext cx="176450" cy="176729"/>
          </a:xfrm>
          <a:prstGeom prst="rect">
            <a:avLst/>
          </a:prstGeom>
        </p:spPr>
      </p:pic>
      <p:sp>
        <p:nvSpPr>
          <p:cNvPr id="7" name="object 7"/>
          <p:cNvSpPr/>
          <p:nvPr/>
        </p:nvSpPr>
        <p:spPr>
          <a:xfrm>
            <a:off x="5800725" y="2924174"/>
            <a:ext cx="5038725" cy="19050"/>
          </a:xfrm>
          <a:custGeom>
            <a:avLst/>
            <a:gdLst/>
            <a:ahLst/>
            <a:cxnLst/>
            <a:rect l="l" t="t" r="r" b="b"/>
            <a:pathLst>
              <a:path w="5038725" h="19050">
                <a:moveTo>
                  <a:pt x="5038725" y="0"/>
                </a:moveTo>
                <a:lnTo>
                  <a:pt x="0" y="0"/>
                </a:lnTo>
                <a:lnTo>
                  <a:pt x="0" y="19050"/>
                </a:lnTo>
                <a:lnTo>
                  <a:pt x="5038725" y="19050"/>
                </a:lnTo>
                <a:lnTo>
                  <a:pt x="5038725" y="0"/>
                </a:lnTo>
                <a:close/>
              </a:path>
            </a:pathLst>
          </a:custGeom>
          <a:solidFill>
            <a:srgbClr val="DA1B2D"/>
          </a:solidFill>
        </p:spPr>
        <p:txBody>
          <a:bodyPr wrap="square" lIns="0" tIns="0" rIns="0" bIns="0" rtlCol="0"/>
          <a:lstStyle/>
          <a:p>
            <a:endParaRPr/>
          </a:p>
        </p:txBody>
      </p:sp>
      <p:sp>
        <p:nvSpPr>
          <p:cNvPr id="8" name="object 8"/>
          <p:cNvSpPr txBox="1"/>
          <p:nvPr/>
        </p:nvSpPr>
        <p:spPr>
          <a:xfrm>
            <a:off x="5786831" y="3056547"/>
            <a:ext cx="4361815" cy="228600"/>
          </a:xfrm>
          <a:prstGeom prst="rect">
            <a:avLst/>
          </a:prstGeom>
        </p:spPr>
        <p:txBody>
          <a:bodyPr vert="horz" wrap="square" lIns="0" tIns="16510" rIns="0" bIns="0" rtlCol="0">
            <a:spAutoFit/>
          </a:bodyPr>
          <a:lstStyle/>
          <a:p>
            <a:pPr marL="12700">
              <a:lnSpc>
                <a:spcPct val="100000"/>
              </a:lnSpc>
              <a:spcBef>
                <a:spcPts val="130"/>
              </a:spcBef>
            </a:pPr>
            <a:r>
              <a:rPr sz="1300" dirty="0">
                <a:solidFill>
                  <a:srgbClr val="3A3535"/>
                </a:solidFill>
                <a:latin typeface="Century Gothic"/>
                <a:cs typeface="Century Gothic"/>
              </a:rPr>
              <a:t>Local</a:t>
            </a:r>
            <a:r>
              <a:rPr sz="1300" spc="-30" dirty="0">
                <a:solidFill>
                  <a:srgbClr val="3A3535"/>
                </a:solidFill>
                <a:latin typeface="Century Gothic"/>
                <a:cs typeface="Century Gothic"/>
              </a:rPr>
              <a:t> </a:t>
            </a:r>
            <a:r>
              <a:rPr sz="1300" spc="60" dirty="0">
                <a:solidFill>
                  <a:srgbClr val="3A3535"/>
                </a:solidFill>
                <a:latin typeface="Century Gothic"/>
                <a:cs typeface="Century Gothic"/>
              </a:rPr>
              <a:t>control</a:t>
            </a:r>
            <a:r>
              <a:rPr sz="1300" spc="-25" dirty="0">
                <a:solidFill>
                  <a:srgbClr val="3A3535"/>
                </a:solidFill>
                <a:latin typeface="Century Gothic"/>
                <a:cs typeface="Century Gothic"/>
              </a:rPr>
              <a:t> </a:t>
            </a:r>
            <a:r>
              <a:rPr sz="1300" spc="90" dirty="0">
                <a:solidFill>
                  <a:srgbClr val="3A3535"/>
                </a:solidFill>
                <a:latin typeface="Century Gothic"/>
                <a:cs typeface="Century Gothic"/>
              </a:rPr>
              <a:t>plus</a:t>
            </a:r>
            <a:r>
              <a:rPr sz="1300" spc="-25" dirty="0">
                <a:solidFill>
                  <a:srgbClr val="3A3535"/>
                </a:solidFill>
                <a:latin typeface="Century Gothic"/>
                <a:cs typeface="Century Gothic"/>
              </a:rPr>
              <a:t> </a:t>
            </a:r>
            <a:r>
              <a:rPr sz="1300" spc="80" dirty="0">
                <a:solidFill>
                  <a:srgbClr val="3A3535"/>
                </a:solidFill>
                <a:latin typeface="Century Gothic"/>
                <a:cs typeface="Century Gothic"/>
              </a:rPr>
              <a:t>flexibility</a:t>
            </a:r>
            <a:r>
              <a:rPr sz="1300" spc="-25" dirty="0">
                <a:solidFill>
                  <a:srgbClr val="3A3535"/>
                </a:solidFill>
                <a:latin typeface="Century Gothic"/>
                <a:cs typeface="Century Gothic"/>
              </a:rPr>
              <a:t> </a:t>
            </a:r>
            <a:r>
              <a:rPr sz="1300" spc="85" dirty="0">
                <a:solidFill>
                  <a:srgbClr val="3A3535"/>
                </a:solidFill>
                <a:latin typeface="Century Gothic"/>
                <a:cs typeface="Century Gothic"/>
              </a:rPr>
              <a:t>for</a:t>
            </a:r>
            <a:r>
              <a:rPr sz="1300" spc="-25" dirty="0">
                <a:solidFill>
                  <a:srgbClr val="3A3535"/>
                </a:solidFill>
                <a:latin typeface="Century Gothic"/>
                <a:cs typeface="Century Gothic"/>
              </a:rPr>
              <a:t> </a:t>
            </a:r>
            <a:r>
              <a:rPr sz="1300" spc="60" dirty="0">
                <a:solidFill>
                  <a:srgbClr val="3A3535"/>
                </a:solidFill>
                <a:latin typeface="Century Gothic"/>
                <a:cs typeface="Century Gothic"/>
              </a:rPr>
              <a:t>future</a:t>
            </a:r>
            <a:r>
              <a:rPr sz="1300" spc="-25" dirty="0">
                <a:solidFill>
                  <a:srgbClr val="3A3535"/>
                </a:solidFill>
                <a:latin typeface="Century Gothic"/>
                <a:cs typeface="Century Gothic"/>
              </a:rPr>
              <a:t> </a:t>
            </a:r>
            <a:r>
              <a:rPr sz="1300" spc="-10" dirty="0">
                <a:solidFill>
                  <a:srgbClr val="3A3535"/>
                </a:solidFill>
                <a:latin typeface="Century Gothic"/>
                <a:cs typeface="Century Gothic"/>
              </a:rPr>
              <a:t>development</a:t>
            </a:r>
            <a:endParaRPr sz="1300">
              <a:latin typeface="Century Gothic"/>
              <a:cs typeface="Century Gothic"/>
            </a:endParaRPr>
          </a:p>
        </p:txBody>
      </p:sp>
      <p:pic>
        <p:nvPicPr>
          <p:cNvPr id="9" name="object 9"/>
          <p:cNvPicPr/>
          <p:nvPr/>
        </p:nvPicPr>
        <p:blipFill>
          <a:blip r:embed="rId5" cstate="print"/>
          <a:stretch>
            <a:fillRect/>
          </a:stretch>
        </p:blipFill>
        <p:spPr>
          <a:xfrm>
            <a:off x="590188" y="3634800"/>
            <a:ext cx="169835" cy="176714"/>
          </a:xfrm>
          <a:prstGeom prst="rect">
            <a:avLst/>
          </a:prstGeom>
        </p:spPr>
      </p:pic>
      <p:sp>
        <p:nvSpPr>
          <p:cNvPr id="10" name="object 10"/>
          <p:cNvSpPr/>
          <p:nvPr/>
        </p:nvSpPr>
        <p:spPr>
          <a:xfrm>
            <a:off x="590550" y="3886200"/>
            <a:ext cx="5038725" cy="19050"/>
          </a:xfrm>
          <a:custGeom>
            <a:avLst/>
            <a:gdLst/>
            <a:ahLst/>
            <a:cxnLst/>
            <a:rect l="l" t="t" r="r" b="b"/>
            <a:pathLst>
              <a:path w="5038725" h="19050">
                <a:moveTo>
                  <a:pt x="5038725" y="0"/>
                </a:moveTo>
                <a:lnTo>
                  <a:pt x="0" y="0"/>
                </a:lnTo>
                <a:lnTo>
                  <a:pt x="0" y="19050"/>
                </a:lnTo>
                <a:lnTo>
                  <a:pt x="5038725" y="19050"/>
                </a:lnTo>
                <a:lnTo>
                  <a:pt x="5038725" y="0"/>
                </a:lnTo>
                <a:close/>
              </a:path>
            </a:pathLst>
          </a:custGeom>
          <a:solidFill>
            <a:srgbClr val="DA1B2D"/>
          </a:solidFill>
        </p:spPr>
        <p:txBody>
          <a:bodyPr wrap="square" lIns="0" tIns="0" rIns="0" bIns="0" rtlCol="0"/>
          <a:lstStyle/>
          <a:p>
            <a:endParaRPr/>
          </a:p>
        </p:txBody>
      </p:sp>
      <p:sp>
        <p:nvSpPr>
          <p:cNvPr id="11" name="object 11"/>
          <p:cNvSpPr txBox="1"/>
          <p:nvPr/>
        </p:nvSpPr>
        <p:spPr>
          <a:xfrm>
            <a:off x="579635" y="3954975"/>
            <a:ext cx="5000625" cy="558800"/>
          </a:xfrm>
          <a:prstGeom prst="rect">
            <a:avLst/>
          </a:prstGeom>
        </p:spPr>
        <p:txBody>
          <a:bodyPr vert="horz" wrap="square" lIns="0" tIns="11430" rIns="0" bIns="0" rtlCol="0">
            <a:spAutoFit/>
          </a:bodyPr>
          <a:lstStyle/>
          <a:p>
            <a:pPr marL="12700" marR="5080">
              <a:lnSpc>
                <a:spcPct val="134600"/>
              </a:lnSpc>
              <a:spcBef>
                <a:spcPts val="90"/>
              </a:spcBef>
            </a:pPr>
            <a:r>
              <a:rPr sz="1300" dirty="0">
                <a:solidFill>
                  <a:srgbClr val="3A3535"/>
                </a:solidFill>
                <a:latin typeface="Century Gothic"/>
                <a:cs typeface="Century Gothic"/>
              </a:rPr>
              <a:t>One</a:t>
            </a:r>
            <a:r>
              <a:rPr sz="1300" spc="35" dirty="0">
                <a:solidFill>
                  <a:srgbClr val="3A3535"/>
                </a:solidFill>
                <a:latin typeface="Century Gothic"/>
                <a:cs typeface="Century Gothic"/>
              </a:rPr>
              <a:t> </a:t>
            </a:r>
            <a:r>
              <a:rPr sz="1300" spc="80" dirty="0">
                <a:solidFill>
                  <a:srgbClr val="3A3535"/>
                </a:solidFill>
                <a:latin typeface="Century Gothic"/>
                <a:cs typeface="Century Gothic"/>
              </a:rPr>
              <a:t>structure</a:t>
            </a:r>
            <a:r>
              <a:rPr sz="1300" spc="40" dirty="0">
                <a:solidFill>
                  <a:srgbClr val="3A3535"/>
                </a:solidFill>
                <a:latin typeface="Century Gothic"/>
                <a:cs typeface="Century Gothic"/>
              </a:rPr>
              <a:t> </a:t>
            </a:r>
            <a:r>
              <a:rPr sz="1300" spc="65" dirty="0">
                <a:solidFill>
                  <a:srgbClr val="3A3535"/>
                </a:solidFill>
                <a:latin typeface="Century Gothic"/>
                <a:cs typeface="Century Gothic"/>
              </a:rPr>
              <a:t>across</a:t>
            </a:r>
            <a:r>
              <a:rPr sz="1300" spc="35" dirty="0">
                <a:solidFill>
                  <a:srgbClr val="3A3535"/>
                </a:solidFill>
                <a:latin typeface="Century Gothic"/>
                <a:cs typeface="Century Gothic"/>
              </a:rPr>
              <a:t> </a:t>
            </a:r>
            <a:r>
              <a:rPr sz="1300" dirty="0">
                <a:solidFill>
                  <a:srgbClr val="3A3535"/>
                </a:solidFill>
                <a:latin typeface="Century Gothic"/>
                <a:cs typeface="Century Gothic"/>
              </a:rPr>
              <a:t>content,</a:t>
            </a:r>
            <a:r>
              <a:rPr sz="1300" spc="40" dirty="0">
                <a:solidFill>
                  <a:srgbClr val="3A3535"/>
                </a:solidFill>
                <a:latin typeface="Century Gothic"/>
                <a:cs typeface="Century Gothic"/>
              </a:rPr>
              <a:t> </a:t>
            </a:r>
            <a:r>
              <a:rPr sz="1300" spc="-30" dirty="0">
                <a:solidFill>
                  <a:srgbClr val="3A3535"/>
                </a:solidFill>
                <a:latin typeface="Century Gothic"/>
                <a:cs typeface="Century Gothic"/>
              </a:rPr>
              <a:t>data,</a:t>
            </a:r>
            <a:r>
              <a:rPr sz="1300" spc="35" dirty="0">
                <a:solidFill>
                  <a:srgbClr val="3A3535"/>
                </a:solidFill>
                <a:latin typeface="Century Gothic"/>
                <a:cs typeface="Century Gothic"/>
              </a:rPr>
              <a:t> </a:t>
            </a:r>
            <a:r>
              <a:rPr sz="1300" spc="65" dirty="0">
                <a:solidFill>
                  <a:srgbClr val="3A3535"/>
                </a:solidFill>
                <a:latin typeface="Century Gothic"/>
                <a:cs typeface="Century Gothic"/>
              </a:rPr>
              <a:t>workflows,</a:t>
            </a:r>
            <a:r>
              <a:rPr sz="1300" spc="40" dirty="0">
                <a:solidFill>
                  <a:srgbClr val="3A3535"/>
                </a:solidFill>
                <a:latin typeface="Century Gothic"/>
                <a:cs typeface="Century Gothic"/>
              </a:rPr>
              <a:t> </a:t>
            </a:r>
            <a:r>
              <a:rPr sz="1300" dirty="0">
                <a:solidFill>
                  <a:srgbClr val="3A3535"/>
                </a:solidFill>
                <a:latin typeface="Century Gothic"/>
                <a:cs typeface="Century Gothic"/>
              </a:rPr>
              <a:t>mobile,</a:t>
            </a:r>
            <a:r>
              <a:rPr sz="1300" spc="40" dirty="0">
                <a:solidFill>
                  <a:srgbClr val="3A3535"/>
                </a:solidFill>
                <a:latin typeface="Century Gothic"/>
                <a:cs typeface="Century Gothic"/>
              </a:rPr>
              <a:t> </a:t>
            </a:r>
            <a:r>
              <a:rPr sz="1300" spc="-25" dirty="0">
                <a:solidFill>
                  <a:srgbClr val="3A3535"/>
                </a:solidFill>
                <a:latin typeface="Century Gothic"/>
                <a:cs typeface="Century Gothic"/>
              </a:rPr>
              <a:t>and </a:t>
            </a:r>
            <a:r>
              <a:rPr sz="1300" spc="40" dirty="0">
                <a:solidFill>
                  <a:srgbClr val="3A3535"/>
                </a:solidFill>
                <a:latin typeface="Century Gothic"/>
                <a:cs typeface="Century Gothic"/>
              </a:rPr>
              <a:t>AI</a:t>
            </a:r>
            <a:endParaRPr sz="1300">
              <a:latin typeface="Century Gothic"/>
              <a:cs typeface="Century Gothic"/>
            </a:endParaRPr>
          </a:p>
        </p:txBody>
      </p:sp>
      <p:grpSp>
        <p:nvGrpSpPr>
          <p:cNvPr id="12" name="object 12"/>
          <p:cNvGrpSpPr/>
          <p:nvPr/>
        </p:nvGrpSpPr>
        <p:grpSpPr>
          <a:xfrm>
            <a:off x="5822924" y="3634802"/>
            <a:ext cx="125095" cy="173355"/>
            <a:chOff x="5822924" y="3634802"/>
            <a:chExt cx="125095" cy="173355"/>
          </a:xfrm>
        </p:grpSpPr>
        <p:sp>
          <p:nvSpPr>
            <p:cNvPr id="13" name="object 13"/>
            <p:cNvSpPr/>
            <p:nvPr/>
          </p:nvSpPr>
          <p:spPr>
            <a:xfrm>
              <a:off x="5849556" y="3680256"/>
              <a:ext cx="36830" cy="36830"/>
            </a:xfrm>
            <a:custGeom>
              <a:avLst/>
              <a:gdLst/>
              <a:ahLst/>
              <a:cxnLst/>
              <a:rect l="l" t="t" r="r" b="b"/>
              <a:pathLst>
                <a:path w="36829" h="36829">
                  <a:moveTo>
                    <a:pt x="0" y="36258"/>
                  </a:moveTo>
                  <a:lnTo>
                    <a:pt x="36309" y="0"/>
                  </a:lnTo>
                </a:path>
              </a:pathLst>
            </a:custGeom>
            <a:ln w="7494">
              <a:solidFill>
                <a:srgbClr val="3A3535"/>
              </a:solidFill>
            </a:ln>
          </p:spPr>
          <p:txBody>
            <a:bodyPr wrap="square" lIns="0" tIns="0" rIns="0" bIns="0" rtlCol="0"/>
            <a:lstStyle/>
            <a:p>
              <a:endParaRPr/>
            </a:p>
          </p:txBody>
        </p:sp>
        <p:sp>
          <p:nvSpPr>
            <p:cNvPr id="14" name="object 14"/>
            <p:cNvSpPr/>
            <p:nvPr/>
          </p:nvSpPr>
          <p:spPr>
            <a:xfrm>
              <a:off x="5885751" y="3680256"/>
              <a:ext cx="635" cy="127635"/>
            </a:xfrm>
            <a:custGeom>
              <a:avLst/>
              <a:gdLst/>
              <a:ahLst/>
              <a:cxnLst/>
              <a:rect l="l" t="t" r="r" b="b"/>
              <a:pathLst>
                <a:path w="635" h="127635">
                  <a:moveTo>
                    <a:pt x="0" y="127508"/>
                  </a:moveTo>
                  <a:lnTo>
                    <a:pt x="114" y="0"/>
                  </a:lnTo>
                </a:path>
              </a:pathLst>
            </a:custGeom>
            <a:ln w="7494">
              <a:solidFill>
                <a:srgbClr val="3A3535"/>
              </a:solidFill>
            </a:ln>
          </p:spPr>
          <p:txBody>
            <a:bodyPr wrap="square" lIns="0" tIns="0" rIns="0" bIns="0" rtlCol="0"/>
            <a:lstStyle/>
            <a:p>
              <a:endParaRPr/>
            </a:p>
          </p:txBody>
        </p:sp>
        <p:sp>
          <p:nvSpPr>
            <p:cNvPr id="15" name="object 15"/>
            <p:cNvSpPr/>
            <p:nvPr/>
          </p:nvSpPr>
          <p:spPr>
            <a:xfrm>
              <a:off x="5885865" y="3680256"/>
              <a:ext cx="36830" cy="37465"/>
            </a:xfrm>
            <a:custGeom>
              <a:avLst/>
              <a:gdLst/>
              <a:ahLst/>
              <a:cxnLst/>
              <a:rect l="l" t="t" r="r" b="b"/>
              <a:pathLst>
                <a:path w="36829" h="37464">
                  <a:moveTo>
                    <a:pt x="36525" y="36906"/>
                  </a:moveTo>
                  <a:lnTo>
                    <a:pt x="0" y="0"/>
                  </a:lnTo>
                </a:path>
              </a:pathLst>
            </a:custGeom>
            <a:ln w="7494">
              <a:solidFill>
                <a:srgbClr val="3A3535"/>
              </a:solidFill>
            </a:ln>
          </p:spPr>
          <p:txBody>
            <a:bodyPr wrap="square" lIns="0" tIns="0" rIns="0" bIns="0" rtlCol="0"/>
            <a:lstStyle/>
            <a:p>
              <a:endParaRPr/>
            </a:p>
          </p:txBody>
        </p:sp>
        <p:sp>
          <p:nvSpPr>
            <p:cNvPr id="16" name="object 16"/>
            <p:cNvSpPr/>
            <p:nvPr/>
          </p:nvSpPr>
          <p:spPr>
            <a:xfrm>
              <a:off x="5826671" y="3638549"/>
              <a:ext cx="59690" cy="59055"/>
            </a:xfrm>
            <a:custGeom>
              <a:avLst/>
              <a:gdLst/>
              <a:ahLst/>
              <a:cxnLst/>
              <a:rect l="l" t="t" r="r" b="b"/>
              <a:pathLst>
                <a:path w="59689" h="59054">
                  <a:moveTo>
                    <a:pt x="0" y="58889"/>
                  </a:moveTo>
                  <a:lnTo>
                    <a:pt x="59232" y="0"/>
                  </a:lnTo>
                </a:path>
              </a:pathLst>
            </a:custGeom>
            <a:ln w="7494">
              <a:solidFill>
                <a:srgbClr val="3A3535"/>
              </a:solidFill>
            </a:ln>
          </p:spPr>
          <p:txBody>
            <a:bodyPr wrap="square" lIns="0" tIns="0" rIns="0" bIns="0" rtlCol="0"/>
            <a:lstStyle/>
            <a:p>
              <a:endParaRPr/>
            </a:p>
          </p:txBody>
        </p:sp>
        <p:sp>
          <p:nvSpPr>
            <p:cNvPr id="17" name="object 17"/>
            <p:cNvSpPr/>
            <p:nvPr/>
          </p:nvSpPr>
          <p:spPr>
            <a:xfrm>
              <a:off x="5885903" y="3638549"/>
              <a:ext cx="58419" cy="58419"/>
            </a:xfrm>
            <a:custGeom>
              <a:avLst/>
              <a:gdLst/>
              <a:ahLst/>
              <a:cxnLst/>
              <a:rect l="l" t="t" r="r" b="b"/>
              <a:pathLst>
                <a:path w="58420" h="58420">
                  <a:moveTo>
                    <a:pt x="58089" y="57835"/>
                  </a:moveTo>
                  <a:lnTo>
                    <a:pt x="0" y="0"/>
                  </a:lnTo>
                </a:path>
              </a:pathLst>
            </a:custGeom>
            <a:ln w="7494">
              <a:solidFill>
                <a:srgbClr val="3A3535"/>
              </a:solidFill>
            </a:ln>
          </p:spPr>
          <p:txBody>
            <a:bodyPr wrap="square" lIns="0" tIns="0" rIns="0" bIns="0" rtlCol="0"/>
            <a:lstStyle/>
            <a:p>
              <a:endParaRPr/>
            </a:p>
          </p:txBody>
        </p:sp>
      </p:grpSp>
      <p:sp>
        <p:nvSpPr>
          <p:cNvPr id="18" name="object 18"/>
          <p:cNvSpPr/>
          <p:nvPr/>
        </p:nvSpPr>
        <p:spPr>
          <a:xfrm>
            <a:off x="5800725" y="3886200"/>
            <a:ext cx="5038725" cy="19050"/>
          </a:xfrm>
          <a:custGeom>
            <a:avLst/>
            <a:gdLst/>
            <a:ahLst/>
            <a:cxnLst/>
            <a:rect l="l" t="t" r="r" b="b"/>
            <a:pathLst>
              <a:path w="5038725" h="19050">
                <a:moveTo>
                  <a:pt x="5038725" y="0"/>
                </a:moveTo>
                <a:lnTo>
                  <a:pt x="0" y="0"/>
                </a:lnTo>
                <a:lnTo>
                  <a:pt x="0" y="19050"/>
                </a:lnTo>
                <a:lnTo>
                  <a:pt x="5038725" y="19050"/>
                </a:lnTo>
                <a:lnTo>
                  <a:pt x="5038725" y="0"/>
                </a:lnTo>
                <a:close/>
              </a:path>
            </a:pathLst>
          </a:custGeom>
          <a:solidFill>
            <a:srgbClr val="DA1B2D"/>
          </a:solidFill>
        </p:spPr>
        <p:txBody>
          <a:bodyPr wrap="square" lIns="0" tIns="0" rIns="0" bIns="0" rtlCol="0"/>
          <a:lstStyle/>
          <a:p>
            <a:endParaRPr/>
          </a:p>
        </p:txBody>
      </p:sp>
      <p:sp>
        <p:nvSpPr>
          <p:cNvPr id="19" name="object 19"/>
          <p:cNvSpPr txBox="1"/>
          <p:nvPr/>
        </p:nvSpPr>
        <p:spPr>
          <a:xfrm>
            <a:off x="5786831" y="3954975"/>
            <a:ext cx="5061585" cy="558800"/>
          </a:xfrm>
          <a:prstGeom prst="rect">
            <a:avLst/>
          </a:prstGeom>
        </p:spPr>
        <p:txBody>
          <a:bodyPr vert="horz" wrap="square" lIns="0" tIns="11430" rIns="0" bIns="0" rtlCol="0">
            <a:spAutoFit/>
          </a:bodyPr>
          <a:lstStyle/>
          <a:p>
            <a:pPr marL="12700" marR="5080">
              <a:lnSpc>
                <a:spcPct val="134600"/>
              </a:lnSpc>
              <a:spcBef>
                <a:spcPts val="90"/>
              </a:spcBef>
            </a:pPr>
            <a:r>
              <a:rPr sz="1300" spc="80" dirty="0">
                <a:solidFill>
                  <a:srgbClr val="3A3535"/>
                </a:solidFill>
                <a:latin typeface="Century Gothic"/>
                <a:cs typeface="Century Gothic"/>
              </a:rPr>
              <a:t>SelfHelp</a:t>
            </a:r>
            <a:r>
              <a:rPr sz="1300" spc="-10" dirty="0">
                <a:solidFill>
                  <a:srgbClr val="3A3535"/>
                </a:solidFill>
                <a:latin typeface="Century Gothic"/>
                <a:cs typeface="Century Gothic"/>
              </a:rPr>
              <a:t> </a:t>
            </a:r>
            <a:r>
              <a:rPr sz="1300" spc="85" dirty="0">
                <a:solidFill>
                  <a:srgbClr val="3A3535"/>
                </a:solidFill>
                <a:latin typeface="Century Gothic"/>
                <a:cs typeface="Century Gothic"/>
              </a:rPr>
              <a:t>2</a:t>
            </a:r>
            <a:r>
              <a:rPr sz="1300" spc="-5" dirty="0">
                <a:solidFill>
                  <a:srgbClr val="3A3535"/>
                </a:solidFill>
                <a:latin typeface="Century Gothic"/>
                <a:cs typeface="Century Gothic"/>
              </a:rPr>
              <a:t> </a:t>
            </a:r>
            <a:r>
              <a:rPr sz="1300" spc="-45" dirty="0">
                <a:solidFill>
                  <a:srgbClr val="3A3535"/>
                </a:solidFill>
                <a:latin typeface="Century Gothic"/>
                <a:cs typeface="Century Gothic"/>
              </a:rPr>
              <a:t>can</a:t>
            </a:r>
            <a:r>
              <a:rPr sz="1300" spc="-10" dirty="0">
                <a:solidFill>
                  <a:srgbClr val="3A3535"/>
                </a:solidFill>
                <a:latin typeface="Century Gothic"/>
                <a:cs typeface="Century Gothic"/>
              </a:rPr>
              <a:t> make</a:t>
            </a:r>
            <a:r>
              <a:rPr sz="1300" spc="-5" dirty="0">
                <a:solidFill>
                  <a:srgbClr val="3A3535"/>
                </a:solidFill>
                <a:latin typeface="Century Gothic"/>
                <a:cs typeface="Century Gothic"/>
              </a:rPr>
              <a:t> </a:t>
            </a:r>
            <a:r>
              <a:rPr sz="1300" dirty="0">
                <a:solidFill>
                  <a:srgbClr val="3A3535"/>
                </a:solidFill>
                <a:latin typeface="Century Gothic"/>
                <a:cs typeface="Century Gothic"/>
              </a:rPr>
              <a:t>the</a:t>
            </a:r>
            <a:r>
              <a:rPr sz="1300" spc="-5" dirty="0">
                <a:solidFill>
                  <a:srgbClr val="3A3535"/>
                </a:solidFill>
                <a:latin typeface="Century Gothic"/>
                <a:cs typeface="Century Gothic"/>
              </a:rPr>
              <a:t> </a:t>
            </a:r>
            <a:r>
              <a:rPr sz="1300" spc="50" dirty="0">
                <a:solidFill>
                  <a:srgbClr val="3A3535"/>
                </a:solidFill>
                <a:latin typeface="Century Gothic"/>
                <a:cs typeface="Century Gothic"/>
              </a:rPr>
              <a:t>platform</a:t>
            </a:r>
            <a:r>
              <a:rPr sz="1300" spc="-10" dirty="0">
                <a:solidFill>
                  <a:srgbClr val="3A3535"/>
                </a:solidFill>
                <a:latin typeface="Century Gothic"/>
                <a:cs typeface="Century Gothic"/>
              </a:rPr>
              <a:t> even</a:t>
            </a:r>
            <a:r>
              <a:rPr sz="1300" spc="-5" dirty="0">
                <a:solidFill>
                  <a:srgbClr val="3A3535"/>
                </a:solidFill>
                <a:latin typeface="Century Gothic"/>
                <a:cs typeface="Century Gothic"/>
              </a:rPr>
              <a:t> </a:t>
            </a:r>
            <a:r>
              <a:rPr sz="1300" dirty="0">
                <a:solidFill>
                  <a:srgbClr val="3A3535"/>
                </a:solidFill>
                <a:latin typeface="Century Gothic"/>
                <a:cs typeface="Century Gothic"/>
              </a:rPr>
              <a:t>more</a:t>
            </a:r>
            <a:r>
              <a:rPr sz="1300" spc="-5" dirty="0">
                <a:solidFill>
                  <a:srgbClr val="3A3535"/>
                </a:solidFill>
                <a:latin typeface="Century Gothic"/>
                <a:cs typeface="Century Gothic"/>
              </a:rPr>
              <a:t> </a:t>
            </a:r>
            <a:r>
              <a:rPr sz="1300" spc="70" dirty="0">
                <a:solidFill>
                  <a:srgbClr val="3A3535"/>
                </a:solidFill>
                <a:latin typeface="Century Gothic"/>
                <a:cs typeface="Century Gothic"/>
              </a:rPr>
              <a:t>structured</a:t>
            </a:r>
            <a:r>
              <a:rPr sz="1300" spc="-10" dirty="0">
                <a:solidFill>
                  <a:srgbClr val="3A3535"/>
                </a:solidFill>
                <a:latin typeface="Century Gothic"/>
                <a:cs typeface="Century Gothic"/>
              </a:rPr>
              <a:t> </a:t>
            </a:r>
            <a:r>
              <a:rPr sz="1300" spc="-25" dirty="0">
                <a:solidFill>
                  <a:srgbClr val="3A3535"/>
                </a:solidFill>
                <a:latin typeface="Century Gothic"/>
                <a:cs typeface="Century Gothic"/>
              </a:rPr>
              <a:t>and </a:t>
            </a:r>
            <a:r>
              <a:rPr sz="1300" dirty="0">
                <a:solidFill>
                  <a:srgbClr val="3A3535"/>
                </a:solidFill>
                <a:latin typeface="Century Gothic"/>
                <a:cs typeface="Century Gothic"/>
              </a:rPr>
              <a:t>easier</a:t>
            </a:r>
            <a:r>
              <a:rPr sz="1300" spc="80" dirty="0">
                <a:solidFill>
                  <a:srgbClr val="3A3535"/>
                </a:solidFill>
                <a:latin typeface="Century Gothic"/>
                <a:cs typeface="Century Gothic"/>
              </a:rPr>
              <a:t> </a:t>
            </a:r>
            <a:r>
              <a:rPr sz="1300" spc="70" dirty="0">
                <a:solidFill>
                  <a:srgbClr val="3A3535"/>
                </a:solidFill>
                <a:latin typeface="Century Gothic"/>
                <a:cs typeface="Century Gothic"/>
              </a:rPr>
              <a:t>to</a:t>
            </a:r>
            <a:r>
              <a:rPr sz="1300" spc="85" dirty="0">
                <a:solidFill>
                  <a:srgbClr val="3A3535"/>
                </a:solidFill>
                <a:latin typeface="Century Gothic"/>
                <a:cs typeface="Century Gothic"/>
              </a:rPr>
              <a:t> </a:t>
            </a:r>
            <a:r>
              <a:rPr sz="1300" spc="-10" dirty="0">
                <a:solidFill>
                  <a:srgbClr val="3A3535"/>
                </a:solidFill>
                <a:latin typeface="Century Gothic"/>
                <a:cs typeface="Century Gothic"/>
              </a:rPr>
              <a:t>extend</a:t>
            </a:r>
            <a:endParaRPr sz="1300">
              <a:latin typeface="Century Gothic"/>
              <a:cs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34598" y="1526296"/>
            <a:ext cx="2361565" cy="1149985"/>
          </a:xfrm>
          <a:prstGeom prst="rect">
            <a:avLst/>
          </a:prstGeom>
        </p:spPr>
        <p:txBody>
          <a:bodyPr vert="horz" wrap="square" lIns="0" tIns="181610" rIns="0" bIns="0" rtlCol="0">
            <a:spAutoFit/>
          </a:bodyPr>
          <a:lstStyle/>
          <a:p>
            <a:pPr algn="ctr">
              <a:lnSpc>
                <a:spcPct val="100000"/>
              </a:lnSpc>
              <a:spcBef>
                <a:spcPts val="1430"/>
              </a:spcBef>
            </a:pPr>
            <a:r>
              <a:rPr spc="-250" dirty="0"/>
              <a:t>Thank</a:t>
            </a:r>
            <a:r>
              <a:rPr spc="-395" dirty="0"/>
              <a:t> </a:t>
            </a:r>
            <a:r>
              <a:rPr spc="-280" dirty="0"/>
              <a:t>You</a:t>
            </a:r>
          </a:p>
          <a:p>
            <a:pPr algn="ctr">
              <a:lnSpc>
                <a:spcPct val="100000"/>
              </a:lnSpc>
              <a:spcBef>
                <a:spcPts val="800"/>
              </a:spcBef>
            </a:pPr>
            <a:r>
              <a:rPr sz="2100" spc="-10" dirty="0"/>
              <a:t>Questions?</a:t>
            </a:r>
            <a:endParaRPr sz="2100"/>
          </a:p>
        </p:txBody>
      </p:sp>
      <p:sp>
        <p:nvSpPr>
          <p:cNvPr id="3" name="object 3"/>
          <p:cNvSpPr txBox="1"/>
          <p:nvPr/>
        </p:nvSpPr>
        <p:spPr>
          <a:xfrm>
            <a:off x="4529683" y="4490618"/>
            <a:ext cx="2371725" cy="187960"/>
          </a:xfrm>
          <a:prstGeom prst="rect">
            <a:avLst/>
          </a:prstGeom>
        </p:spPr>
        <p:txBody>
          <a:bodyPr vert="horz" wrap="square" lIns="0" tIns="14604" rIns="0" bIns="0" rtlCol="0">
            <a:spAutoFit/>
          </a:bodyPr>
          <a:lstStyle/>
          <a:p>
            <a:pPr marL="12700">
              <a:lnSpc>
                <a:spcPct val="100000"/>
              </a:lnSpc>
              <a:spcBef>
                <a:spcPts val="114"/>
              </a:spcBef>
            </a:pPr>
            <a:r>
              <a:rPr sz="1050" dirty="0">
                <a:solidFill>
                  <a:srgbClr val="3A3535"/>
                </a:solidFill>
                <a:latin typeface="Century Gothic"/>
                <a:cs typeface="Century Gothic"/>
              </a:rPr>
              <a:t>Stefan</a:t>
            </a:r>
            <a:r>
              <a:rPr sz="1050" spc="80" dirty="0">
                <a:solidFill>
                  <a:srgbClr val="3A3535"/>
                </a:solidFill>
                <a:latin typeface="Century Gothic"/>
                <a:cs typeface="Century Gothic"/>
              </a:rPr>
              <a:t> </a:t>
            </a:r>
            <a:r>
              <a:rPr sz="1050" dirty="0">
                <a:solidFill>
                  <a:srgbClr val="3A3535"/>
                </a:solidFill>
                <a:latin typeface="Century Gothic"/>
                <a:cs typeface="Century Gothic"/>
              </a:rPr>
              <a:t>Kodzhabashev</a:t>
            </a:r>
            <a:r>
              <a:rPr sz="1050" spc="85" dirty="0">
                <a:solidFill>
                  <a:srgbClr val="3A3535"/>
                </a:solidFill>
                <a:latin typeface="Century Gothic"/>
                <a:cs typeface="Century Gothic"/>
              </a:rPr>
              <a:t> </a:t>
            </a:r>
            <a:r>
              <a:rPr sz="1050" spc="-85" dirty="0">
                <a:solidFill>
                  <a:srgbClr val="3A3535"/>
                </a:solidFill>
                <a:latin typeface="Century Gothic"/>
                <a:cs typeface="Century Gothic"/>
              </a:rPr>
              <a:t>·</a:t>
            </a:r>
            <a:r>
              <a:rPr sz="1050" spc="85" dirty="0">
                <a:solidFill>
                  <a:srgbClr val="3A3535"/>
                </a:solidFill>
                <a:latin typeface="Century Gothic"/>
                <a:cs typeface="Century Gothic"/>
              </a:rPr>
              <a:t> </a:t>
            </a:r>
            <a:r>
              <a:rPr sz="1050" spc="75" dirty="0">
                <a:solidFill>
                  <a:srgbClr val="3A3535"/>
                </a:solidFill>
                <a:latin typeface="Century Gothic"/>
                <a:cs typeface="Century Gothic"/>
              </a:rPr>
              <a:t>30.03.2026</a:t>
            </a:r>
            <a:endParaRPr sz="1050">
              <a:latin typeface="Century Gothic"/>
              <a:cs typeface="Century Gothi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267</TotalTime>
  <Words>2577</Words>
  <Application>Microsoft Office PowerPoint</Application>
  <PresentationFormat>Custom</PresentationFormat>
  <Paragraphs>279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Century Gothic</vt:lpstr>
      <vt:lpstr>Segoe UI Symbol</vt:lpstr>
      <vt:lpstr>Verdana</vt:lpstr>
      <vt:lpstr>Office Theme</vt:lpstr>
      <vt:lpstr>SelfHelp</vt:lpstr>
      <vt:lpstr>What SelfHelp Is</vt:lpstr>
      <vt:lpstr>How SelfHelp Evolved</vt:lpstr>
      <vt:lpstr>What Teams Can Do With It</vt:lpstr>
      <vt:lpstr>How SelfHelp Expands</vt:lpstr>
      <vt:lpstr>Plugin 1: SurveyJS</vt:lpstr>
      <vt:lpstr>Plugin 2: LLM</vt:lpstr>
      <vt:lpstr>Plugin 3: LLM Therapy Chat</vt:lpstr>
      <vt:lpstr>Mobile App</vt:lpstr>
      <vt:lpstr>How SelfHelp Compares</vt:lpstr>
      <vt:lpstr>Why Use SelfHelp</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Kodzhabashev, Stefan Tiholov (HUMDEK)</cp:lastModifiedBy>
  <cp:revision>46</cp:revision>
  <dcterms:created xsi:type="dcterms:W3CDTF">2026-03-24T15:22:41Z</dcterms:created>
  <dcterms:modified xsi:type="dcterms:W3CDTF">2026-03-26T10:13:26Z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2026-03-24T00:00:00Z</vt:filetime>
  </property>
  <property fmtid="{D5CDD505-2E9C-101B-9397-08002B2CF9AE}" pid="3" name="Creator">
    <vt:lpwstr>pdf-lib (https://github.com/Hopding/pdf-lib)</vt:lpwstr>
  </property>
  <property fmtid="{D5CDD505-2E9C-101B-9397-08002B2CF9AE}" pid="4" name="LastSaved">
    <vt:filetime>2026-03-24T00:00:00Z</vt:filetime>
  </property>
  <property fmtid="{D5CDD505-2E9C-101B-9397-08002B2CF9AE}" pid="5" name="Producer">
    <vt:lpwstr>GPL Ghostscript 9.56.1</vt:lpwstr>
  </property>
</Properties>
</file>